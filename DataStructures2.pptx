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31" r:id="rId2"/>
    <p:sldId id="332" r:id="rId3"/>
    <p:sldId id="333" r:id="rId4"/>
    <p:sldId id="334" r:id="rId5"/>
    <p:sldId id="335" r:id="rId6"/>
    <p:sldId id="336" r:id="rId7"/>
    <p:sldId id="338" r:id="rId8"/>
    <p:sldId id="340" r:id="rId9"/>
    <p:sldId id="341" r:id="rId10"/>
    <p:sldId id="342" r:id="rId11"/>
    <p:sldId id="343" r:id="rId12"/>
    <p:sldId id="344" r:id="rId13"/>
    <p:sldId id="337" r:id="rId14"/>
    <p:sldId id="339" r:id="rId15"/>
    <p:sldId id="345" r:id="rId16"/>
    <p:sldId id="346" r:id="rId17"/>
    <p:sldId id="347" r:id="rId18"/>
    <p:sldId id="348" r:id="rId19"/>
    <p:sldId id="349" r:id="rId20"/>
    <p:sldId id="350" r:id="rId21"/>
    <p:sldId id="351" r:id="rId22"/>
    <p:sldId id="352" r:id="rId23"/>
    <p:sldId id="353" r:id="rId24"/>
    <p:sldId id="354" r:id="rId25"/>
    <p:sldId id="355" r:id="rId26"/>
    <p:sldId id="356" r:id="rId27"/>
    <p:sldId id="357" r:id="rId28"/>
    <p:sldId id="358" r:id="rId29"/>
    <p:sldId id="359" r:id="rId30"/>
    <p:sldId id="360" r:id="rId31"/>
    <p:sldId id="361" r:id="rId32"/>
    <p:sldId id="362" r:id="rId33"/>
    <p:sldId id="363" r:id="rId34"/>
    <p:sldId id="364" r:id="rId35"/>
    <p:sldId id="365" r:id="rId36"/>
    <p:sldId id="366" r:id="rId37"/>
    <p:sldId id="367" r:id="rId38"/>
    <p:sldId id="368" r:id="rId39"/>
    <p:sldId id="369" r:id="rId40"/>
    <p:sldId id="370" r:id="rId41"/>
    <p:sldId id="371" r:id="rId42"/>
    <p:sldId id="372" r:id="rId43"/>
    <p:sldId id="373" r:id="rId44"/>
    <p:sldId id="380" r:id="rId45"/>
    <p:sldId id="374" r:id="rId46"/>
    <p:sldId id="375" r:id="rId47"/>
    <p:sldId id="376" r:id="rId48"/>
    <p:sldId id="377" r:id="rId49"/>
    <p:sldId id="378" r:id="rId50"/>
    <p:sldId id="379" r:id="rId51"/>
    <p:sldId id="381" r:id="rId52"/>
    <p:sldId id="382" r:id="rId53"/>
    <p:sldId id="383" r:id="rId54"/>
    <p:sldId id="384" r:id="rId55"/>
    <p:sldId id="385" r:id="rId56"/>
    <p:sldId id="386" r:id="rId57"/>
    <p:sldId id="387" r:id="rId58"/>
    <p:sldId id="388" r:id="rId59"/>
    <p:sldId id="389" r:id="rId60"/>
    <p:sldId id="390" r:id="rId61"/>
    <p:sldId id="391" r:id="rId62"/>
    <p:sldId id="392" r:id="rId63"/>
    <p:sldId id="393" r:id="rId64"/>
    <p:sldId id="394" r:id="rId65"/>
    <p:sldId id="395" r:id="rId66"/>
    <p:sldId id="396" r:id="rId67"/>
    <p:sldId id="397" r:id="rId68"/>
    <p:sldId id="398" r:id="rId69"/>
    <p:sldId id="399" r:id="rId70"/>
    <p:sldId id="400" r:id="rId71"/>
    <p:sldId id="401"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71DBA90E-DD96-458D-ACE7-89A0584897CD}" type="datetimeFigureOut">
              <a:rPr lang="en-IN" smtClean="0"/>
              <a:t>26-04-2026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742645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1DBA90E-DD96-458D-ACE7-89A0584897CD}" type="datetimeFigureOut">
              <a:rPr lang="en-IN" smtClean="0"/>
              <a:t>26-04-2026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3047602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1DBA90E-DD96-458D-ACE7-89A0584897CD}" type="datetimeFigureOut">
              <a:rPr lang="en-IN" smtClean="0"/>
              <a:t>26-04-2026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375171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71DBA90E-DD96-458D-ACE7-89A0584897CD}" type="datetimeFigureOut">
              <a:rPr lang="en-IN" smtClean="0"/>
              <a:t>26-04-2026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726110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71DBA90E-DD96-458D-ACE7-89A0584897CD}" type="datetimeFigureOut">
              <a:rPr lang="en-IN" smtClean="0"/>
              <a:t>26-04-2026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507251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71DBA90E-DD96-458D-ACE7-89A0584897CD}" type="datetimeFigureOut">
              <a:rPr lang="en-IN" smtClean="0"/>
              <a:t>26-04-2026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139227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DBA90E-DD96-458D-ACE7-89A0584897CD}" type="datetimeFigureOut">
              <a:rPr lang="en-IN" smtClean="0"/>
              <a:t>26-04-2026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2586456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1DBA90E-DD96-458D-ACE7-89A0584897CD}" type="datetimeFigureOut">
              <a:rPr lang="en-IN" smtClean="0"/>
              <a:t>26-04-2026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3931497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1DBA90E-DD96-458D-ACE7-89A0584897CD}" type="datetimeFigureOut">
              <a:rPr lang="en-IN" smtClean="0"/>
              <a:t>26-04-2026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4182762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1DBA90E-DD96-458D-ACE7-89A0584897CD}" type="datetimeFigureOut">
              <a:rPr lang="en-IN" smtClean="0"/>
              <a:t>26-04-2026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10098507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1DBA90E-DD96-458D-ACE7-89A0584897CD}" type="datetimeFigureOut">
              <a:rPr lang="en-IN" smtClean="0"/>
              <a:t>26-04-2026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2417582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DBA90E-DD96-458D-ACE7-89A0584897CD}" type="datetimeFigureOut">
              <a:rPr lang="en-IN" smtClean="0"/>
              <a:t>26-04-2026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76182D-1858-435D-A8BA-618F8D4916E9}" type="slidenum">
              <a:rPr lang="en-IN" smtClean="0"/>
              <a:t>‹#›</a:t>
            </a:fld>
            <a:endParaRPr lang="en-IN"/>
          </a:p>
        </p:txBody>
      </p:sp>
    </p:spTree>
    <p:extLst>
      <p:ext uri="{BB962C8B-B14F-4D97-AF65-F5344CB8AC3E}">
        <p14:creationId xmlns:p14="http://schemas.microsoft.com/office/powerpoint/2010/main" val="3187993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43.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5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6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6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68.png"/></Relationships>
</file>

<file path=ppt/slides/_rels/slide6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71.png"/><Relationship Id="rId4" Type="http://schemas.openxmlformats.org/officeDocument/2006/relationships/image" Target="../media/image70.png"/></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740307"/>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a:t>
            </a:r>
          </a:p>
          <a:p>
            <a:endParaRPr lang="en-US" b="1" dirty="0" smtClean="0"/>
          </a:p>
          <a:p>
            <a:r>
              <a:rPr lang="en-US" b="1" dirty="0"/>
              <a:t>Self-balancing trees are special types of binary search trees (BSTs) that automatically adjust their structure during insertions and deletions to keep the tree’s height small, ensuring efficient operations like search, insert, and delete in O(log n) time.</a:t>
            </a:r>
            <a:r>
              <a:rPr lang="en-US" dirty="0"/>
              <a:t> They prevent the tree from degenerating into a skewed linked-list-like structure</a:t>
            </a:r>
            <a:r>
              <a:rPr lang="en-US" dirty="0" smtClean="0"/>
              <a:t>.</a:t>
            </a:r>
          </a:p>
          <a:p>
            <a:endParaRPr lang="en-US" b="1" dirty="0"/>
          </a:p>
          <a:p>
            <a:r>
              <a:rPr lang="en-US" dirty="0"/>
              <a:t>In a normal BST, inserting sorted data can make the tree skewed (height = n), leading to </a:t>
            </a:r>
            <a:r>
              <a:rPr lang="en-US" b="1" dirty="0"/>
              <a:t>O(n)</a:t>
            </a:r>
            <a:r>
              <a:rPr lang="en-US" dirty="0"/>
              <a:t> operations.</a:t>
            </a:r>
          </a:p>
          <a:p>
            <a:r>
              <a:rPr lang="en-US" dirty="0"/>
              <a:t>A </a:t>
            </a:r>
            <a:r>
              <a:rPr lang="en-US" b="1" dirty="0"/>
              <a:t>self-balancing tree</a:t>
            </a:r>
            <a:r>
              <a:rPr lang="en-US" dirty="0"/>
              <a:t> uses </a:t>
            </a:r>
            <a:r>
              <a:rPr lang="en-US" b="1" dirty="0"/>
              <a:t>rotations</a:t>
            </a:r>
            <a:r>
              <a:rPr lang="en-US" dirty="0"/>
              <a:t> or restructuring to keep the height close to </a:t>
            </a:r>
            <a:r>
              <a:rPr lang="en-US" b="1" dirty="0"/>
              <a:t>log₂(n)</a:t>
            </a:r>
            <a:r>
              <a:rPr lang="en-US" dirty="0"/>
              <a:t>.</a:t>
            </a:r>
          </a:p>
          <a:p>
            <a:r>
              <a:rPr lang="en-US" dirty="0"/>
              <a:t>This guarantees efficiency even with arbitrary insertions and deletions.</a:t>
            </a:r>
          </a:p>
          <a:p>
            <a:endParaRPr lang="en-US" b="1" dirty="0" smtClean="0"/>
          </a:p>
          <a:p>
            <a:r>
              <a:rPr lang="en-US" b="1" dirty="0"/>
              <a:t>How They Work</a:t>
            </a:r>
          </a:p>
          <a:p>
            <a:pPr marL="285750" indent="-285750">
              <a:buFont typeface="Arial" panose="020B0604020202020204" pitchFamily="34" charset="0"/>
              <a:buChar char="•"/>
            </a:pPr>
            <a:r>
              <a:rPr lang="en-US" b="1" dirty="0"/>
              <a:t>Rotations</a:t>
            </a:r>
            <a:r>
              <a:rPr lang="en-US" dirty="0"/>
              <a:t>: Rearranging nodes while preserving BST property.</a:t>
            </a:r>
          </a:p>
          <a:p>
            <a:pPr marL="742950" lvl="1" indent="-285750">
              <a:buFont typeface="Arial" panose="020B0604020202020204" pitchFamily="34" charset="0"/>
              <a:buChar char="•"/>
            </a:pPr>
            <a:r>
              <a:rPr lang="en-US" dirty="0"/>
              <a:t>Example: Left rotation, right rotation.</a:t>
            </a:r>
          </a:p>
          <a:p>
            <a:pPr marL="285750" indent="-285750">
              <a:buFont typeface="Arial" panose="020B0604020202020204" pitchFamily="34" charset="0"/>
              <a:buChar char="•"/>
            </a:pPr>
            <a:r>
              <a:rPr lang="en-US" b="1" dirty="0"/>
              <a:t>Rebalancing</a:t>
            </a:r>
            <a:r>
              <a:rPr lang="en-US" dirty="0"/>
              <a:t>: After insertion/deletion, check balance rules → apply rotations if violated.</a:t>
            </a:r>
          </a:p>
          <a:p>
            <a:pPr marL="285750" indent="-285750">
              <a:buFont typeface="Arial" panose="020B0604020202020204" pitchFamily="34" charset="0"/>
              <a:buChar char="•"/>
            </a:pPr>
            <a:r>
              <a:rPr lang="en-US" b="1" dirty="0"/>
              <a:t>Guarantee</a:t>
            </a:r>
            <a:r>
              <a:rPr lang="en-US" dirty="0"/>
              <a:t>: Height ≈ log₂(n), so operations are efficient.</a:t>
            </a:r>
          </a:p>
          <a:p>
            <a:endParaRPr lang="en-US" b="1" dirty="0" smtClean="0"/>
          </a:p>
          <a:p>
            <a:r>
              <a:rPr lang="en-IN" b="1" dirty="0" smtClean="0"/>
              <a:t>Why They Matter</a:t>
            </a:r>
          </a:p>
          <a:p>
            <a:pPr marL="285750" indent="-285750">
              <a:buFont typeface="Arial" panose="020B0604020202020204" pitchFamily="34" charset="0"/>
              <a:buChar char="•"/>
            </a:pPr>
            <a:r>
              <a:rPr lang="en-US" b="1" dirty="0" smtClean="0"/>
              <a:t>Efficiency</a:t>
            </a:r>
            <a:r>
              <a:rPr lang="en-US" b="1" dirty="0"/>
              <a:t>:</a:t>
            </a:r>
            <a:r>
              <a:rPr lang="en-US" dirty="0"/>
              <a:t> Search, insert, delete all in O(log n).</a:t>
            </a:r>
          </a:p>
          <a:p>
            <a:pPr marL="285750" indent="-285750">
              <a:buFont typeface="Arial" panose="020B0604020202020204" pitchFamily="34" charset="0"/>
              <a:buChar char="•"/>
            </a:pPr>
            <a:r>
              <a:rPr lang="en-US" b="1" dirty="0" smtClean="0"/>
              <a:t>Reliability</a:t>
            </a:r>
            <a:r>
              <a:rPr lang="en-US" b="1" dirty="0"/>
              <a:t>:</a:t>
            </a:r>
            <a:r>
              <a:rPr lang="en-US" dirty="0"/>
              <a:t> Prevents worst-case scenarios of skewed trees.</a:t>
            </a:r>
          </a:p>
          <a:p>
            <a:pPr marL="285750" indent="-285750">
              <a:buFont typeface="Arial" panose="020B0604020202020204" pitchFamily="34" charset="0"/>
              <a:buChar char="•"/>
            </a:pPr>
            <a:r>
              <a:rPr lang="en-IN" b="1" dirty="0" smtClean="0"/>
              <a:t>Applications</a:t>
            </a:r>
            <a:r>
              <a:rPr lang="en-IN" b="1" dirty="0"/>
              <a:t>:</a:t>
            </a:r>
          </a:p>
          <a:p>
            <a:pPr marL="742950" lvl="1" indent="-285750">
              <a:buFont typeface="Arial" panose="020B0604020202020204" pitchFamily="34" charset="0"/>
              <a:buChar char="•"/>
            </a:pPr>
            <a:r>
              <a:rPr lang="en-IN" dirty="0" smtClean="0"/>
              <a:t>Databases </a:t>
            </a:r>
            <a:r>
              <a:rPr lang="en-IN" dirty="0"/>
              <a:t>(B-Trees, B+ Trees).</a:t>
            </a:r>
          </a:p>
          <a:p>
            <a:pPr marL="742950" lvl="1" indent="-285750">
              <a:buFont typeface="Arial" panose="020B0604020202020204" pitchFamily="34" charset="0"/>
              <a:buChar char="•"/>
            </a:pPr>
            <a:r>
              <a:rPr lang="en-IN" dirty="0" smtClean="0"/>
              <a:t>Compilers </a:t>
            </a:r>
            <a:r>
              <a:rPr lang="en-IN" dirty="0"/>
              <a:t>(expression parsing).</a:t>
            </a:r>
          </a:p>
          <a:p>
            <a:pPr marL="742950" lvl="1" indent="-285750">
              <a:buFont typeface="Arial" panose="020B0604020202020204" pitchFamily="34" charset="0"/>
              <a:buChar char="•"/>
            </a:pPr>
            <a:r>
              <a:rPr lang="en-US" dirty="0" smtClean="0"/>
              <a:t>Libraries </a:t>
            </a:r>
            <a:r>
              <a:rPr lang="en-US" dirty="0"/>
              <a:t>(</a:t>
            </a:r>
            <a:r>
              <a:rPr lang="en-US" dirty="0" err="1"/>
              <a:t>TreeMap</a:t>
            </a:r>
            <a:r>
              <a:rPr lang="en-US" dirty="0"/>
              <a:t> in Java, map/set in C++).</a:t>
            </a:r>
          </a:p>
          <a:p>
            <a:endParaRPr lang="en-US" b="1" dirty="0" smtClean="0"/>
          </a:p>
        </p:txBody>
      </p:sp>
    </p:spTree>
    <p:extLst>
      <p:ext uri="{BB962C8B-B14F-4D97-AF65-F5344CB8AC3E}">
        <p14:creationId xmlns:p14="http://schemas.microsoft.com/office/powerpoint/2010/main" val="17331083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1200329"/>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a:t>
            </a:r>
          </a:p>
          <a:p>
            <a:endParaRPr lang="en-US" b="1" dirty="0" smtClean="0"/>
          </a:p>
          <a:p>
            <a:r>
              <a:rPr lang="en-US" dirty="0"/>
              <a:t>Self-balancing trees are BSTs that </a:t>
            </a:r>
            <a:r>
              <a:rPr lang="en-US" b="1" dirty="0"/>
              <a:t>automatically restructure themselves</a:t>
            </a:r>
            <a:r>
              <a:rPr lang="en-US" dirty="0"/>
              <a:t> to stay efficient. They are the backbone of many real-world systems like databases, compilers, and programming language libraries.</a:t>
            </a:r>
            <a:endParaRPr lang="en-US" b="1" dirty="0" smtClean="0"/>
          </a:p>
        </p:txBody>
      </p:sp>
      <p:pic>
        <p:nvPicPr>
          <p:cNvPr id="2050" name="Picture 2" descr="Normal BST vs Self-Balancing BST line diagra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622" y="2004633"/>
            <a:ext cx="5257799" cy="35052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6256713" y="2634397"/>
            <a:ext cx="3560618" cy="1754326"/>
          </a:xfrm>
          <a:prstGeom prst="rect">
            <a:avLst/>
          </a:prstGeom>
        </p:spPr>
        <p:txBody>
          <a:bodyPr wrap="square">
            <a:spAutoFit/>
          </a:bodyPr>
          <a:lstStyle/>
          <a:p>
            <a:r>
              <a:rPr lang="en-US" dirty="0" smtClean="0"/>
              <a:t>It </a:t>
            </a:r>
            <a:r>
              <a:rPr lang="en-US" dirty="0"/>
              <a:t>shows how a normal BST can become skewed </a:t>
            </a:r>
            <a:endParaRPr lang="en-US" dirty="0" smtClean="0"/>
          </a:p>
          <a:p>
            <a:r>
              <a:rPr lang="en-US" dirty="0" smtClean="0"/>
              <a:t>                        versus </a:t>
            </a:r>
          </a:p>
          <a:p>
            <a:r>
              <a:rPr lang="en-US" dirty="0" smtClean="0"/>
              <a:t>How </a:t>
            </a:r>
            <a:r>
              <a:rPr lang="en-US" dirty="0"/>
              <a:t>a self‑balancing BST restructures itself with rotations to stay efficient.</a:t>
            </a:r>
            <a:endParaRPr lang="en-IN" dirty="0"/>
          </a:p>
        </p:txBody>
      </p:sp>
    </p:spTree>
    <p:extLst>
      <p:ext uri="{BB962C8B-B14F-4D97-AF65-F5344CB8AC3E}">
        <p14:creationId xmlns:p14="http://schemas.microsoft.com/office/powerpoint/2010/main" val="9627093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632311"/>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a:t>
            </a:r>
          </a:p>
          <a:p>
            <a:endParaRPr lang="en-US" b="1" dirty="0" smtClean="0"/>
          </a:p>
          <a:p>
            <a:r>
              <a:rPr lang="en-US" dirty="0"/>
              <a:t>On the </a:t>
            </a:r>
            <a:r>
              <a:rPr lang="en-US" b="1" dirty="0"/>
              <a:t>left side (Normal BST</a:t>
            </a:r>
            <a:r>
              <a:rPr lang="en-US" b="1" dirty="0" smtClean="0"/>
              <a:t>)</a:t>
            </a:r>
            <a:r>
              <a:rPr lang="en-US" dirty="0" smtClean="0"/>
              <a:t>:</a:t>
            </a:r>
          </a:p>
          <a:p>
            <a:r>
              <a:rPr lang="en-US" dirty="0"/>
              <a:t>This is </a:t>
            </a:r>
            <a:r>
              <a:rPr lang="en-US" b="1" dirty="0"/>
              <a:t>unbalanced (skewed)</a:t>
            </a:r>
            <a:r>
              <a:rPr lang="en-US" dirty="0"/>
              <a:t>. Height ≈ n, so operations are </a:t>
            </a:r>
            <a:r>
              <a:rPr lang="en-US" b="1" dirty="0"/>
              <a:t>slow (O(n</a:t>
            </a:r>
            <a:r>
              <a:rPr lang="en-US" b="1" dirty="0" smtClean="0"/>
              <a:t>))</a:t>
            </a:r>
            <a:r>
              <a:rPr lang="en-US" dirty="0" smtClean="0"/>
              <a:t>.</a:t>
            </a:r>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r>
              <a:rPr lang="en-US" dirty="0"/>
              <a:t>On the </a:t>
            </a:r>
            <a:r>
              <a:rPr lang="en-US" b="1" dirty="0"/>
              <a:t>right side (Self-Balancing BST</a:t>
            </a:r>
            <a:r>
              <a:rPr lang="en-US" b="1" dirty="0" smtClean="0"/>
              <a:t>)</a:t>
            </a:r>
            <a:r>
              <a:rPr lang="en-US" dirty="0" smtClean="0"/>
              <a:t>:</a:t>
            </a:r>
          </a:p>
          <a:p>
            <a:endParaRPr lang="en-US" b="1" dirty="0"/>
          </a:p>
          <a:p>
            <a:endParaRPr lang="en-US" b="1" dirty="0" smtClean="0"/>
          </a:p>
          <a:p>
            <a:endParaRPr lang="en-US" b="1" dirty="0"/>
          </a:p>
          <a:p>
            <a:endParaRPr lang="en-US" b="1" dirty="0" smtClean="0"/>
          </a:p>
          <a:p>
            <a:endParaRPr lang="en-US" b="1" dirty="0"/>
          </a:p>
          <a:p>
            <a:endParaRPr lang="en-US" b="1" dirty="0" smtClean="0"/>
          </a:p>
          <a:p>
            <a:r>
              <a:rPr lang="en-US" dirty="0"/>
              <a:t>➝ After </a:t>
            </a:r>
            <a:r>
              <a:rPr lang="en-US" b="1" dirty="0"/>
              <a:t>rotations</a:t>
            </a:r>
            <a:r>
              <a:rPr lang="en-US" dirty="0"/>
              <a:t>, the tree becomes </a:t>
            </a:r>
            <a:r>
              <a:rPr lang="en-US" b="1" dirty="0"/>
              <a:t>balanced</a:t>
            </a:r>
            <a:r>
              <a:rPr lang="en-US" dirty="0"/>
              <a:t>. Height ≈ log n, so operations are </a:t>
            </a:r>
            <a:r>
              <a:rPr lang="en-US" b="1" dirty="0"/>
              <a:t>fast (O(log n))</a:t>
            </a:r>
            <a:r>
              <a:rPr lang="en-US" dirty="0"/>
              <a:t>.</a:t>
            </a:r>
            <a:endParaRPr lang="en-US" b="1" dirty="0" smtClean="0"/>
          </a:p>
        </p:txBody>
      </p:sp>
      <p:pic>
        <p:nvPicPr>
          <p:cNvPr id="3" name="Picture 2"/>
          <p:cNvPicPr>
            <a:picLocks noChangeAspect="1"/>
          </p:cNvPicPr>
          <p:nvPr/>
        </p:nvPicPr>
        <p:blipFill>
          <a:blip r:embed="rId3"/>
          <a:stretch>
            <a:fillRect/>
          </a:stretch>
        </p:blipFill>
        <p:spPr>
          <a:xfrm>
            <a:off x="1171161" y="1929305"/>
            <a:ext cx="971686" cy="1619476"/>
          </a:xfrm>
          <a:prstGeom prst="rect">
            <a:avLst/>
          </a:prstGeom>
        </p:spPr>
      </p:pic>
      <p:pic>
        <p:nvPicPr>
          <p:cNvPr id="7" name="Picture 6"/>
          <p:cNvPicPr>
            <a:picLocks noChangeAspect="1"/>
          </p:cNvPicPr>
          <p:nvPr/>
        </p:nvPicPr>
        <p:blipFill>
          <a:blip r:embed="rId4"/>
          <a:stretch>
            <a:fillRect/>
          </a:stretch>
        </p:blipFill>
        <p:spPr>
          <a:xfrm>
            <a:off x="1165619" y="4376496"/>
            <a:ext cx="1200318" cy="981212"/>
          </a:xfrm>
          <a:prstGeom prst="rect">
            <a:avLst/>
          </a:prstGeom>
        </p:spPr>
      </p:pic>
    </p:spTree>
    <p:extLst>
      <p:ext uri="{BB962C8B-B14F-4D97-AF65-F5344CB8AC3E}">
        <p14:creationId xmlns:p14="http://schemas.microsoft.com/office/powerpoint/2010/main" val="3872469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355312"/>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a:t>
            </a:r>
          </a:p>
          <a:p>
            <a:endParaRPr lang="en-US" b="1" dirty="0" smtClean="0"/>
          </a:p>
          <a:p>
            <a:r>
              <a:rPr lang="en-US" b="1" dirty="0"/>
              <a:t>What “After Rotations” Means</a:t>
            </a:r>
          </a:p>
          <a:p>
            <a:r>
              <a:rPr lang="en-US" dirty="0"/>
              <a:t>When you insert or delete nodes in a </a:t>
            </a:r>
            <a:r>
              <a:rPr lang="en-US" b="1" dirty="0"/>
              <a:t>self‑balancing binary search tree</a:t>
            </a:r>
            <a:r>
              <a:rPr lang="en-US" dirty="0"/>
              <a:t>, the tree may temporarily become uneven — one side taller than the other. To fix this, the tree performs </a:t>
            </a:r>
            <a:r>
              <a:rPr lang="en-US" b="1" dirty="0"/>
              <a:t>rotations</a:t>
            </a:r>
            <a:r>
              <a:rPr lang="en-US" dirty="0"/>
              <a:t>, which are small rearrangements of nodes that restore balance while keeping the BST order intact.</a:t>
            </a:r>
          </a:p>
          <a:p>
            <a:endParaRPr lang="en-US" b="1" dirty="0" smtClean="0"/>
          </a:p>
          <a:p>
            <a:r>
              <a:rPr lang="en-IN" dirty="0"/>
              <a:t>Example</a:t>
            </a:r>
          </a:p>
          <a:p>
            <a:r>
              <a:rPr lang="en-US" dirty="0"/>
              <a:t>Suppose you insert nodes in this order: 10, 20, 30.</a:t>
            </a:r>
          </a:p>
          <a:p>
            <a:r>
              <a:rPr lang="en-US" dirty="0"/>
              <a:t>A normal BST becomes skewed:</a:t>
            </a:r>
          </a:p>
          <a:p>
            <a:r>
              <a:rPr lang="en-IN" dirty="0"/>
              <a:t>Height = 3 → inefficient</a:t>
            </a:r>
            <a:r>
              <a:rPr lang="en-IN" dirty="0" smtClean="0"/>
              <a:t>.</a:t>
            </a:r>
          </a:p>
          <a:p>
            <a:endParaRPr lang="en-IN" b="1" dirty="0"/>
          </a:p>
          <a:p>
            <a:r>
              <a:rPr lang="en-US" dirty="0"/>
              <a:t>A </a:t>
            </a:r>
            <a:r>
              <a:rPr lang="en-US" b="1" dirty="0"/>
              <a:t>self‑balancing tree</a:t>
            </a:r>
            <a:r>
              <a:rPr lang="en-US" dirty="0"/>
              <a:t> (like an AVL tree) detects imbalance and performs a </a:t>
            </a:r>
            <a:r>
              <a:rPr lang="en-US" b="1" dirty="0"/>
              <a:t>left rotation</a:t>
            </a:r>
            <a:r>
              <a:rPr lang="en-US" dirty="0"/>
              <a:t> around 10</a:t>
            </a:r>
            <a:r>
              <a:rPr lang="en-US" dirty="0" smtClean="0"/>
              <a:t>:</a:t>
            </a:r>
          </a:p>
          <a:p>
            <a:endParaRPr lang="en-US" b="1" dirty="0"/>
          </a:p>
          <a:p>
            <a:endParaRPr lang="en-US" b="1" dirty="0" smtClean="0"/>
          </a:p>
          <a:p>
            <a:endParaRPr lang="en-US" b="1" dirty="0"/>
          </a:p>
          <a:p>
            <a:endParaRPr lang="en-US" b="1" dirty="0" smtClean="0"/>
          </a:p>
          <a:p>
            <a:r>
              <a:rPr lang="en-US" dirty="0"/>
              <a:t>Now height ≈ log₂(3) ≈ 1.6 → efficient.</a:t>
            </a:r>
            <a:endParaRPr lang="en-US" b="1" dirty="0"/>
          </a:p>
          <a:p>
            <a:endParaRPr lang="en-US" b="1" dirty="0" smtClean="0"/>
          </a:p>
        </p:txBody>
      </p:sp>
      <p:pic>
        <p:nvPicPr>
          <p:cNvPr id="8" name="Picture 7"/>
          <p:cNvPicPr>
            <a:picLocks noChangeAspect="1"/>
          </p:cNvPicPr>
          <p:nvPr/>
        </p:nvPicPr>
        <p:blipFill>
          <a:blip r:embed="rId3"/>
          <a:stretch>
            <a:fillRect/>
          </a:stretch>
        </p:blipFill>
        <p:spPr>
          <a:xfrm>
            <a:off x="4977632" y="2602142"/>
            <a:ext cx="657317" cy="1019317"/>
          </a:xfrm>
          <a:prstGeom prst="rect">
            <a:avLst/>
          </a:prstGeom>
        </p:spPr>
      </p:pic>
      <p:pic>
        <p:nvPicPr>
          <p:cNvPr id="9" name="Picture 8"/>
          <p:cNvPicPr>
            <a:picLocks noChangeAspect="1"/>
          </p:cNvPicPr>
          <p:nvPr/>
        </p:nvPicPr>
        <p:blipFill>
          <a:blip r:embed="rId4"/>
          <a:stretch>
            <a:fillRect/>
          </a:stretch>
        </p:blipFill>
        <p:spPr>
          <a:xfrm>
            <a:off x="1404099" y="4353136"/>
            <a:ext cx="838317" cy="695422"/>
          </a:xfrm>
          <a:prstGeom prst="rect">
            <a:avLst/>
          </a:prstGeom>
        </p:spPr>
      </p:pic>
    </p:spTree>
    <p:extLst>
      <p:ext uri="{BB962C8B-B14F-4D97-AF65-F5344CB8AC3E}">
        <p14:creationId xmlns:p14="http://schemas.microsoft.com/office/powerpoint/2010/main" val="19101762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3416320"/>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a:t>
            </a:r>
          </a:p>
          <a:p>
            <a:endParaRPr lang="en-US" b="1" dirty="0" smtClean="0"/>
          </a:p>
          <a:p>
            <a:r>
              <a:rPr lang="en-US" b="1" dirty="0"/>
              <a:t>Why Height ≈ log n</a:t>
            </a:r>
          </a:p>
          <a:p>
            <a:pPr marL="285750" indent="-285750">
              <a:buFont typeface="Arial" panose="020B0604020202020204" pitchFamily="34" charset="0"/>
              <a:buChar char="•"/>
            </a:pPr>
            <a:r>
              <a:rPr lang="en-US" dirty="0"/>
              <a:t>In a balanced tree, each level roughly doubles the number of nodes.</a:t>
            </a:r>
          </a:p>
          <a:p>
            <a:pPr marL="285750" indent="-285750">
              <a:buFont typeface="Arial" panose="020B0604020202020204" pitchFamily="34" charset="0"/>
              <a:buChar char="•"/>
            </a:pPr>
            <a:r>
              <a:rPr lang="en-US" dirty="0"/>
              <a:t>So the number of levels (height) grows logarithmically with the number of nodes.</a:t>
            </a:r>
          </a:p>
          <a:p>
            <a:pPr marL="285750" indent="-285750">
              <a:buFont typeface="Arial" panose="020B0604020202020204" pitchFamily="34" charset="0"/>
              <a:buChar char="•"/>
            </a:pPr>
            <a:r>
              <a:rPr lang="en-US" dirty="0"/>
              <a:t>That’s why operations like search, insert, and delete take </a:t>
            </a:r>
            <a:r>
              <a:rPr lang="en-US" b="1" dirty="0"/>
              <a:t>O(log n)</a:t>
            </a:r>
            <a:r>
              <a:rPr lang="en-US" dirty="0"/>
              <a:t> time — they only need to traverse a few levels, not every node</a:t>
            </a:r>
            <a:r>
              <a:rPr lang="en-US" dirty="0" smtClean="0"/>
              <a:t>.</a:t>
            </a:r>
          </a:p>
          <a:p>
            <a:endParaRPr lang="en-US" dirty="0"/>
          </a:p>
          <a:p>
            <a:endParaRPr lang="en-US" dirty="0" smtClean="0"/>
          </a:p>
          <a:p>
            <a:r>
              <a:rPr lang="en-US" dirty="0"/>
              <a:t>“After rotations” means the tree automatically rearranges itself to stay balanced. This keeps its height small (≈ log n), making all operations fast and predictable.</a:t>
            </a:r>
          </a:p>
          <a:p>
            <a:endParaRPr lang="en-US" b="1" dirty="0" smtClean="0"/>
          </a:p>
        </p:txBody>
      </p:sp>
    </p:spTree>
    <p:extLst>
      <p:ext uri="{BB962C8B-B14F-4D97-AF65-F5344CB8AC3E}">
        <p14:creationId xmlns:p14="http://schemas.microsoft.com/office/powerpoint/2010/main" val="402171477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3693319"/>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AVL Tree</a:t>
            </a:r>
          </a:p>
          <a:p>
            <a:endParaRPr lang="en-US" b="1" dirty="0" smtClean="0"/>
          </a:p>
          <a:p>
            <a:r>
              <a:rPr lang="en-US" dirty="0"/>
              <a:t>An </a:t>
            </a:r>
            <a:r>
              <a:rPr lang="en-US" b="1" dirty="0"/>
              <a:t>AVL Tree</a:t>
            </a:r>
            <a:r>
              <a:rPr lang="en-US" dirty="0"/>
              <a:t> is one of the earliest and most widely used </a:t>
            </a:r>
            <a:r>
              <a:rPr lang="en-US" b="1" dirty="0"/>
              <a:t>self‑balancing binary search trees (BSTs)</a:t>
            </a:r>
            <a:r>
              <a:rPr lang="en-US" dirty="0"/>
              <a:t>. It was invented by </a:t>
            </a:r>
            <a:r>
              <a:rPr lang="en-US" b="1" dirty="0" err="1"/>
              <a:t>Adelson‑Velsky</a:t>
            </a:r>
            <a:r>
              <a:rPr lang="en-US" b="1" dirty="0"/>
              <a:t> and Landis</a:t>
            </a:r>
            <a:r>
              <a:rPr lang="en-US" dirty="0"/>
              <a:t> in 1962 — hence the name </a:t>
            </a:r>
            <a:r>
              <a:rPr lang="en-US" b="1" dirty="0"/>
              <a:t>AVL</a:t>
            </a:r>
            <a:r>
              <a:rPr lang="en-US" dirty="0" smtClean="0"/>
              <a:t>.</a:t>
            </a:r>
          </a:p>
          <a:p>
            <a:endParaRPr lang="en-US" b="1" dirty="0"/>
          </a:p>
          <a:p>
            <a:r>
              <a:rPr lang="en-US" dirty="0"/>
              <a:t>An AVL tree automatically keeps itself balanced after every insertion or deletion. It does this by ensuring that </a:t>
            </a:r>
            <a:r>
              <a:rPr lang="en-US" b="1" dirty="0"/>
              <a:t>the height difference (balance factor)</a:t>
            </a:r>
            <a:r>
              <a:rPr lang="en-US" dirty="0"/>
              <a:t> between the left and right </a:t>
            </a:r>
            <a:r>
              <a:rPr lang="en-US" dirty="0" err="1"/>
              <a:t>subtrees</a:t>
            </a:r>
            <a:r>
              <a:rPr lang="en-US" dirty="0"/>
              <a:t> of any node is </a:t>
            </a:r>
            <a:r>
              <a:rPr lang="en-US" b="1" dirty="0"/>
              <a:t>at most 1</a:t>
            </a:r>
            <a:r>
              <a:rPr lang="en-US" dirty="0" smtClean="0"/>
              <a:t>.</a:t>
            </a:r>
          </a:p>
          <a:p>
            <a:endParaRPr lang="en-US" dirty="0"/>
          </a:p>
          <a:p>
            <a:r>
              <a:rPr lang="en-US" dirty="0" smtClean="0"/>
              <a:t>			Balance</a:t>
            </a:r>
            <a:r>
              <a:rPr lang="en-US" dirty="0"/>
              <a:t> Factor=Height(left </a:t>
            </a:r>
            <a:r>
              <a:rPr lang="en-US" dirty="0" err="1"/>
              <a:t>subtree</a:t>
            </a:r>
            <a:r>
              <a:rPr lang="en-US" dirty="0"/>
              <a:t>)−Height(right </a:t>
            </a:r>
            <a:r>
              <a:rPr lang="en-US" dirty="0" err="1"/>
              <a:t>subtree</a:t>
            </a:r>
            <a:r>
              <a:rPr lang="en-US" dirty="0"/>
              <a:t>)</a:t>
            </a:r>
          </a:p>
          <a:p>
            <a:endParaRPr lang="en-US" dirty="0" smtClean="0"/>
          </a:p>
          <a:p>
            <a:pPr marL="285750" indent="-285750">
              <a:buFont typeface="Arial" panose="020B0604020202020204" pitchFamily="34" charset="0"/>
              <a:buChar char="•"/>
            </a:pPr>
            <a:r>
              <a:rPr lang="en-US" dirty="0" smtClean="0"/>
              <a:t>If </a:t>
            </a:r>
            <a:r>
              <a:rPr lang="en-US" dirty="0"/>
              <a:t>the balance factor is </a:t>
            </a:r>
            <a:r>
              <a:rPr lang="en-US" b="1" dirty="0"/>
              <a:t>−1, 0, or +1</a:t>
            </a:r>
            <a:r>
              <a:rPr lang="en-US" dirty="0"/>
              <a:t>, the tree is balanced.</a:t>
            </a:r>
          </a:p>
          <a:p>
            <a:pPr marL="285750" indent="-285750">
              <a:buFont typeface="Arial" panose="020B0604020202020204" pitchFamily="34" charset="0"/>
              <a:buChar char="•"/>
            </a:pPr>
            <a:r>
              <a:rPr lang="en-US" dirty="0"/>
              <a:t>If it becomes </a:t>
            </a:r>
            <a:r>
              <a:rPr lang="en-US" b="1" dirty="0"/>
              <a:t>less than −1 or greater than +1</a:t>
            </a:r>
            <a:r>
              <a:rPr lang="en-US" dirty="0"/>
              <a:t>, the tree performs </a:t>
            </a:r>
            <a:r>
              <a:rPr lang="en-US" b="1" dirty="0"/>
              <a:t>rotations</a:t>
            </a:r>
            <a:r>
              <a:rPr lang="en-US" dirty="0"/>
              <a:t> to restore balance.</a:t>
            </a:r>
          </a:p>
          <a:p>
            <a:endParaRPr lang="en-US" b="1" dirty="0" smtClean="0"/>
          </a:p>
        </p:txBody>
      </p:sp>
    </p:spTree>
    <p:extLst>
      <p:ext uri="{BB962C8B-B14F-4D97-AF65-F5344CB8AC3E}">
        <p14:creationId xmlns:p14="http://schemas.microsoft.com/office/powerpoint/2010/main" val="12565122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2031325"/>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AVL Tree</a:t>
            </a:r>
          </a:p>
          <a:p>
            <a:endParaRPr lang="en-US" b="1" dirty="0" smtClean="0"/>
          </a:p>
          <a:p>
            <a:r>
              <a:rPr lang="en-US" b="1" dirty="0"/>
              <a:t>Rotations Used for Balancing</a:t>
            </a:r>
          </a:p>
          <a:p>
            <a:r>
              <a:rPr lang="en-US" dirty="0"/>
              <a:t>When imbalance occurs, the tree performs one of four types of rotations:</a:t>
            </a:r>
          </a:p>
          <a:p>
            <a:endParaRPr lang="en-US" b="1" dirty="0" smtClean="0"/>
          </a:p>
          <a:p>
            <a:r>
              <a:rPr lang="en-US" dirty="0"/>
              <a:t>These rotations rearrange nodes while keeping the BST property intact.</a:t>
            </a:r>
            <a:endParaRPr lang="en-US" b="1" dirty="0"/>
          </a:p>
          <a:p>
            <a:endParaRPr lang="en-US" b="1" dirty="0" smtClean="0"/>
          </a:p>
        </p:txBody>
      </p:sp>
      <p:graphicFrame>
        <p:nvGraphicFramePr>
          <p:cNvPr id="2" name="Table 1"/>
          <p:cNvGraphicFramePr>
            <a:graphicFrameLocks noGrp="1"/>
          </p:cNvGraphicFramePr>
          <p:nvPr>
            <p:extLst>
              <p:ext uri="{D42A27DB-BD31-4B8C-83A1-F6EECF244321}">
                <p14:modId xmlns:p14="http://schemas.microsoft.com/office/powerpoint/2010/main" val="2639031403"/>
              </p:ext>
            </p:extLst>
          </p:nvPr>
        </p:nvGraphicFramePr>
        <p:xfrm>
          <a:off x="249381" y="2588131"/>
          <a:ext cx="10515600" cy="2926080"/>
        </p:xfrm>
        <a:graphic>
          <a:graphicData uri="http://schemas.openxmlformats.org/drawingml/2006/table">
            <a:tbl>
              <a:tblPr/>
              <a:tblGrid>
                <a:gridCol w="2628900"/>
                <a:gridCol w="2628900"/>
                <a:gridCol w="2628900"/>
                <a:gridCol w="2628900"/>
              </a:tblGrid>
              <a:tr h="0">
                <a:tc>
                  <a:txBody>
                    <a:bodyPr/>
                    <a:lstStyle/>
                    <a:p>
                      <a:pPr algn="ctr"/>
                      <a:r>
                        <a:rPr lang="en-IN" b="1" dirty="0"/>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IN" b="1" dirty="0"/>
                        <a:t>When It Happens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IN" b="1" dirty="0"/>
                        <a:t>Example Pattern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IN" b="1" dirty="0"/>
                        <a:t>Fix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r h="0">
                <a:tc>
                  <a:txBody>
                    <a:bodyPr/>
                    <a:lstStyle/>
                    <a:p>
                      <a:r>
                        <a:rPr lang="en-IN" b="1" dirty="0"/>
                        <a:t>Right Rotation (LL)</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Left </a:t>
                      </a:r>
                      <a:r>
                        <a:rPr lang="en-IN" dirty="0" err="1"/>
                        <a:t>subtree</a:t>
                      </a:r>
                      <a:r>
                        <a:rPr lang="en-IN" dirty="0"/>
                        <a:t> too heavy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Inserted into left of left child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Rotate right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dirty="0"/>
                        <a:t>Left Rotation (RR)</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Right </a:t>
                      </a:r>
                      <a:r>
                        <a:rPr lang="en-IN" dirty="0" err="1"/>
                        <a:t>subtree</a:t>
                      </a:r>
                      <a:r>
                        <a:rPr lang="en-IN" dirty="0"/>
                        <a:t> too heavy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Inserted into right of right child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Rotate left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dirty="0"/>
                        <a:t>Left‑Right Rotation (LR)</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Left </a:t>
                      </a:r>
                      <a:r>
                        <a:rPr lang="en-US" dirty="0" err="1"/>
                        <a:t>subtree’s</a:t>
                      </a:r>
                      <a:r>
                        <a:rPr lang="en-US" dirty="0"/>
                        <a:t> right child causes imbalance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Rotate left on child, then right on parent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Right‑Left Rotation (RL)</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Right </a:t>
                      </a:r>
                      <a:r>
                        <a:rPr lang="en-US" dirty="0" err="1"/>
                        <a:t>subtree’s</a:t>
                      </a:r>
                      <a:r>
                        <a:rPr lang="en-US" dirty="0"/>
                        <a:t> left child causes imbalance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Rotate right on child, then left on parent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2826257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4247317"/>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AVL Tree</a:t>
            </a:r>
          </a:p>
          <a:p>
            <a:endParaRPr lang="en-US" b="1" dirty="0" smtClean="0"/>
          </a:p>
          <a:p>
            <a:r>
              <a:rPr lang="en-US" b="1" dirty="0"/>
              <a:t>Rotations Used for </a:t>
            </a:r>
            <a:r>
              <a:rPr lang="en-US" b="1" dirty="0" smtClean="0"/>
              <a:t>Balancing</a:t>
            </a:r>
          </a:p>
          <a:p>
            <a:endParaRPr lang="en-US" b="1" dirty="0"/>
          </a:p>
          <a:p>
            <a:r>
              <a:rPr lang="en-US" b="1" dirty="0"/>
              <a:t>1. Right Rotation (LL Case)</a:t>
            </a:r>
          </a:p>
          <a:p>
            <a:r>
              <a:rPr lang="en-US" b="1" dirty="0"/>
              <a:t>When</a:t>
            </a:r>
            <a:r>
              <a:rPr lang="en-US" dirty="0"/>
              <a:t>: The imbalance happens because a node was inserted into the </a:t>
            </a:r>
            <a:r>
              <a:rPr lang="en-US" b="1" dirty="0"/>
              <a:t>left child’s left </a:t>
            </a:r>
            <a:r>
              <a:rPr lang="en-US" b="1" dirty="0" err="1"/>
              <a:t>subtree</a:t>
            </a:r>
            <a:r>
              <a:rPr lang="en-US" dirty="0"/>
              <a:t>.</a:t>
            </a:r>
          </a:p>
          <a:p>
            <a:r>
              <a:rPr lang="en-US" b="1" dirty="0"/>
              <a:t>Fix</a:t>
            </a:r>
            <a:r>
              <a:rPr lang="en-US" dirty="0"/>
              <a:t>: Perform a </a:t>
            </a:r>
            <a:r>
              <a:rPr lang="en-US" b="1" dirty="0"/>
              <a:t>right rotation</a:t>
            </a:r>
            <a:r>
              <a:rPr lang="en-US" dirty="0" smtClean="0"/>
              <a:t>.</a:t>
            </a:r>
          </a:p>
          <a:p>
            <a:endParaRPr lang="en-US" dirty="0"/>
          </a:p>
          <a:p>
            <a:r>
              <a:rPr lang="en-US" dirty="0"/>
              <a:t>Example:</a:t>
            </a:r>
          </a:p>
          <a:p>
            <a:endParaRPr lang="en-US" b="1" dirty="0" smtClean="0"/>
          </a:p>
          <a:p>
            <a:endParaRPr lang="en-US" b="1" dirty="0" smtClean="0"/>
          </a:p>
          <a:p>
            <a:endParaRPr lang="en-US" b="1" dirty="0"/>
          </a:p>
          <a:p>
            <a:endParaRPr lang="en-US" b="1" dirty="0" smtClean="0"/>
          </a:p>
          <a:p>
            <a:endParaRPr lang="en-US" b="1" dirty="0"/>
          </a:p>
          <a:p>
            <a:r>
              <a:rPr lang="en-US" dirty="0"/>
              <a:t>After </a:t>
            </a:r>
            <a:r>
              <a:rPr lang="en-US" b="1" dirty="0"/>
              <a:t>Right Rotation</a:t>
            </a:r>
            <a:r>
              <a:rPr lang="en-US" dirty="0"/>
              <a:t> around 30:</a:t>
            </a:r>
            <a:endParaRPr lang="en-US" b="1" dirty="0"/>
          </a:p>
        </p:txBody>
      </p:sp>
      <p:pic>
        <p:nvPicPr>
          <p:cNvPr id="3" name="Picture 2"/>
          <p:cNvPicPr>
            <a:picLocks noChangeAspect="1"/>
          </p:cNvPicPr>
          <p:nvPr/>
        </p:nvPicPr>
        <p:blipFill>
          <a:blip r:embed="rId3"/>
          <a:stretch>
            <a:fillRect/>
          </a:stretch>
        </p:blipFill>
        <p:spPr>
          <a:xfrm>
            <a:off x="531200" y="3190111"/>
            <a:ext cx="876422" cy="1009791"/>
          </a:xfrm>
          <a:prstGeom prst="rect">
            <a:avLst/>
          </a:prstGeom>
        </p:spPr>
      </p:pic>
      <p:pic>
        <p:nvPicPr>
          <p:cNvPr id="7" name="Picture 6"/>
          <p:cNvPicPr>
            <a:picLocks noChangeAspect="1"/>
          </p:cNvPicPr>
          <p:nvPr/>
        </p:nvPicPr>
        <p:blipFill>
          <a:blip r:embed="rId4"/>
          <a:stretch>
            <a:fillRect/>
          </a:stretch>
        </p:blipFill>
        <p:spPr>
          <a:xfrm>
            <a:off x="531200" y="4842261"/>
            <a:ext cx="943107" cy="695422"/>
          </a:xfrm>
          <a:prstGeom prst="rect">
            <a:avLst/>
          </a:prstGeom>
        </p:spPr>
      </p:pic>
    </p:spTree>
    <p:extLst>
      <p:ext uri="{BB962C8B-B14F-4D97-AF65-F5344CB8AC3E}">
        <p14:creationId xmlns:p14="http://schemas.microsoft.com/office/powerpoint/2010/main" val="42073255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4247317"/>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AVL Tree</a:t>
            </a:r>
          </a:p>
          <a:p>
            <a:endParaRPr lang="en-US" b="1" dirty="0" smtClean="0"/>
          </a:p>
          <a:p>
            <a:r>
              <a:rPr lang="en-US" b="1" dirty="0"/>
              <a:t>Rotations Used for </a:t>
            </a:r>
            <a:r>
              <a:rPr lang="en-US" b="1" dirty="0" smtClean="0"/>
              <a:t>Balancing</a:t>
            </a:r>
          </a:p>
          <a:p>
            <a:endParaRPr lang="en-US" b="1" dirty="0"/>
          </a:p>
          <a:p>
            <a:r>
              <a:rPr lang="en-US" b="1" dirty="0" smtClean="0"/>
              <a:t>2. </a:t>
            </a:r>
            <a:r>
              <a:rPr lang="en-US" b="1" dirty="0"/>
              <a:t>Left Rotation (RR Case)</a:t>
            </a:r>
          </a:p>
          <a:p>
            <a:r>
              <a:rPr lang="en-US" b="1" dirty="0"/>
              <a:t>When</a:t>
            </a:r>
            <a:r>
              <a:rPr lang="en-US" dirty="0"/>
              <a:t>: The imbalance happens because a node was inserted into the </a:t>
            </a:r>
            <a:r>
              <a:rPr lang="en-US" b="1" dirty="0"/>
              <a:t>right child’s right </a:t>
            </a:r>
            <a:r>
              <a:rPr lang="en-US" b="1" dirty="0" err="1"/>
              <a:t>subtree</a:t>
            </a:r>
            <a:r>
              <a:rPr lang="en-US" dirty="0"/>
              <a:t>.</a:t>
            </a:r>
          </a:p>
          <a:p>
            <a:r>
              <a:rPr lang="en-US" b="1" dirty="0"/>
              <a:t>Fix</a:t>
            </a:r>
            <a:r>
              <a:rPr lang="en-US" dirty="0"/>
              <a:t>: Perform a </a:t>
            </a:r>
            <a:r>
              <a:rPr lang="en-US" b="1" dirty="0"/>
              <a:t>left rotation</a:t>
            </a:r>
            <a:r>
              <a:rPr lang="en-US" dirty="0"/>
              <a:t>.</a:t>
            </a:r>
          </a:p>
          <a:p>
            <a:endParaRPr lang="en-US" dirty="0"/>
          </a:p>
          <a:p>
            <a:r>
              <a:rPr lang="en-US" dirty="0"/>
              <a:t>Example:</a:t>
            </a:r>
          </a:p>
          <a:p>
            <a:endParaRPr lang="en-US" b="1" dirty="0" smtClean="0"/>
          </a:p>
          <a:p>
            <a:endParaRPr lang="en-US" b="1" dirty="0" smtClean="0"/>
          </a:p>
          <a:p>
            <a:endParaRPr lang="en-US" b="1" dirty="0"/>
          </a:p>
          <a:p>
            <a:endParaRPr lang="en-US" b="1" dirty="0" smtClean="0"/>
          </a:p>
          <a:p>
            <a:endParaRPr lang="en-US" b="1" dirty="0"/>
          </a:p>
          <a:p>
            <a:r>
              <a:rPr lang="en-US" dirty="0"/>
              <a:t>After </a:t>
            </a:r>
            <a:r>
              <a:rPr lang="en-US" b="1" dirty="0"/>
              <a:t>Left Rotation</a:t>
            </a:r>
            <a:r>
              <a:rPr lang="en-US" dirty="0"/>
              <a:t> around 10:</a:t>
            </a:r>
            <a:endParaRPr lang="en-US" b="1" dirty="0"/>
          </a:p>
        </p:txBody>
      </p:sp>
      <p:pic>
        <p:nvPicPr>
          <p:cNvPr id="2" name="Picture 1"/>
          <p:cNvPicPr>
            <a:picLocks noChangeAspect="1"/>
          </p:cNvPicPr>
          <p:nvPr/>
        </p:nvPicPr>
        <p:blipFill>
          <a:blip r:embed="rId3"/>
          <a:stretch>
            <a:fillRect/>
          </a:stretch>
        </p:blipFill>
        <p:spPr>
          <a:xfrm>
            <a:off x="834252" y="3057107"/>
            <a:ext cx="714475" cy="1009791"/>
          </a:xfrm>
          <a:prstGeom prst="rect">
            <a:avLst/>
          </a:prstGeom>
        </p:spPr>
      </p:pic>
      <p:pic>
        <p:nvPicPr>
          <p:cNvPr id="8" name="Picture 7"/>
          <p:cNvPicPr>
            <a:picLocks noChangeAspect="1"/>
          </p:cNvPicPr>
          <p:nvPr/>
        </p:nvPicPr>
        <p:blipFill>
          <a:blip r:embed="rId4"/>
          <a:stretch>
            <a:fillRect/>
          </a:stretch>
        </p:blipFill>
        <p:spPr>
          <a:xfrm>
            <a:off x="834252" y="4842261"/>
            <a:ext cx="876422" cy="714475"/>
          </a:xfrm>
          <a:prstGeom prst="rect">
            <a:avLst/>
          </a:prstGeom>
        </p:spPr>
      </p:pic>
    </p:spTree>
    <p:extLst>
      <p:ext uri="{BB962C8B-B14F-4D97-AF65-F5344CB8AC3E}">
        <p14:creationId xmlns:p14="http://schemas.microsoft.com/office/powerpoint/2010/main" val="9237087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4247317"/>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AVL Tree</a:t>
            </a:r>
          </a:p>
          <a:p>
            <a:endParaRPr lang="en-US" b="1" dirty="0" smtClean="0"/>
          </a:p>
          <a:p>
            <a:r>
              <a:rPr lang="en-US" b="1" dirty="0"/>
              <a:t>Rotations Used for </a:t>
            </a:r>
            <a:r>
              <a:rPr lang="en-US" b="1" dirty="0" smtClean="0"/>
              <a:t>Balancing</a:t>
            </a:r>
          </a:p>
          <a:p>
            <a:endParaRPr lang="en-US" b="1" dirty="0"/>
          </a:p>
          <a:p>
            <a:r>
              <a:rPr lang="en-US" b="1" dirty="0"/>
              <a:t>3. Left‑Right Rotation (LR Case)</a:t>
            </a:r>
          </a:p>
          <a:p>
            <a:r>
              <a:rPr lang="en-US" b="1" dirty="0"/>
              <a:t>When</a:t>
            </a:r>
            <a:r>
              <a:rPr lang="en-US" dirty="0"/>
              <a:t>: The imbalance happens because a node was inserted into the </a:t>
            </a:r>
            <a:r>
              <a:rPr lang="en-US" b="1" dirty="0"/>
              <a:t>left child’s right </a:t>
            </a:r>
            <a:r>
              <a:rPr lang="en-US" b="1" dirty="0" err="1"/>
              <a:t>subtree</a:t>
            </a:r>
            <a:r>
              <a:rPr lang="en-US" dirty="0"/>
              <a:t>.</a:t>
            </a:r>
          </a:p>
          <a:p>
            <a:r>
              <a:rPr lang="en-US" b="1" dirty="0"/>
              <a:t>Fix</a:t>
            </a:r>
            <a:r>
              <a:rPr lang="en-US" dirty="0"/>
              <a:t>: First </a:t>
            </a:r>
            <a:r>
              <a:rPr lang="en-US" b="1" dirty="0"/>
              <a:t>left rotation</a:t>
            </a:r>
            <a:r>
              <a:rPr lang="en-US" dirty="0"/>
              <a:t> on the child, then </a:t>
            </a:r>
            <a:r>
              <a:rPr lang="en-US" b="1" dirty="0"/>
              <a:t>right rotation</a:t>
            </a:r>
            <a:r>
              <a:rPr lang="en-US" dirty="0"/>
              <a:t> on the parent.</a:t>
            </a:r>
          </a:p>
          <a:p>
            <a:endParaRPr lang="en-US" dirty="0"/>
          </a:p>
          <a:p>
            <a:r>
              <a:rPr lang="en-US" dirty="0"/>
              <a:t>Example:</a:t>
            </a:r>
          </a:p>
          <a:p>
            <a:endParaRPr lang="en-US" b="1" dirty="0" smtClean="0"/>
          </a:p>
          <a:p>
            <a:endParaRPr lang="en-US" b="1" dirty="0" smtClean="0"/>
          </a:p>
          <a:p>
            <a:endParaRPr lang="en-US" b="1" dirty="0"/>
          </a:p>
          <a:p>
            <a:endParaRPr lang="en-US" b="1" dirty="0" smtClean="0"/>
          </a:p>
          <a:p>
            <a:endParaRPr lang="en-US" b="1" dirty="0"/>
          </a:p>
          <a:p>
            <a:r>
              <a:rPr lang="en-US" dirty="0"/>
              <a:t>Step 1: Left rotation on 10:</a:t>
            </a:r>
            <a:endParaRPr lang="en-US" b="1" dirty="0"/>
          </a:p>
        </p:txBody>
      </p:sp>
      <p:pic>
        <p:nvPicPr>
          <p:cNvPr id="3" name="Picture 2"/>
          <p:cNvPicPr>
            <a:picLocks noChangeAspect="1"/>
          </p:cNvPicPr>
          <p:nvPr/>
        </p:nvPicPr>
        <p:blipFill>
          <a:blip r:embed="rId3"/>
          <a:stretch>
            <a:fillRect/>
          </a:stretch>
        </p:blipFill>
        <p:spPr>
          <a:xfrm>
            <a:off x="967256" y="3159288"/>
            <a:ext cx="714475" cy="971686"/>
          </a:xfrm>
          <a:prstGeom prst="rect">
            <a:avLst/>
          </a:prstGeom>
        </p:spPr>
      </p:pic>
      <p:pic>
        <p:nvPicPr>
          <p:cNvPr id="7" name="Picture 6"/>
          <p:cNvPicPr>
            <a:picLocks noChangeAspect="1"/>
          </p:cNvPicPr>
          <p:nvPr/>
        </p:nvPicPr>
        <p:blipFill>
          <a:blip r:embed="rId4"/>
          <a:stretch>
            <a:fillRect/>
          </a:stretch>
        </p:blipFill>
        <p:spPr>
          <a:xfrm>
            <a:off x="1084758" y="4842261"/>
            <a:ext cx="762106" cy="981212"/>
          </a:xfrm>
          <a:prstGeom prst="rect">
            <a:avLst/>
          </a:prstGeom>
        </p:spPr>
      </p:pic>
      <p:sp>
        <p:nvSpPr>
          <p:cNvPr id="9" name="Rectangle 8"/>
          <p:cNvSpPr/>
          <p:nvPr/>
        </p:nvSpPr>
        <p:spPr>
          <a:xfrm>
            <a:off x="4085302" y="4291738"/>
            <a:ext cx="2824363" cy="369332"/>
          </a:xfrm>
          <a:prstGeom prst="rect">
            <a:avLst/>
          </a:prstGeom>
        </p:spPr>
        <p:txBody>
          <a:bodyPr wrap="none">
            <a:spAutoFit/>
          </a:bodyPr>
          <a:lstStyle/>
          <a:p>
            <a:r>
              <a:rPr lang="en-US" dirty="0"/>
              <a:t>Step 2: Right rotation on 30:</a:t>
            </a:r>
            <a:endParaRPr lang="en-IN" dirty="0"/>
          </a:p>
        </p:txBody>
      </p:sp>
      <p:pic>
        <p:nvPicPr>
          <p:cNvPr id="10" name="Picture 9"/>
          <p:cNvPicPr>
            <a:picLocks noChangeAspect="1"/>
          </p:cNvPicPr>
          <p:nvPr/>
        </p:nvPicPr>
        <p:blipFill>
          <a:blip r:embed="rId5"/>
          <a:stretch>
            <a:fillRect/>
          </a:stretch>
        </p:blipFill>
        <p:spPr>
          <a:xfrm>
            <a:off x="5136870" y="4911045"/>
            <a:ext cx="880159" cy="843644"/>
          </a:xfrm>
          <a:prstGeom prst="rect">
            <a:avLst/>
          </a:prstGeom>
        </p:spPr>
      </p:pic>
    </p:spTree>
    <p:extLst>
      <p:ext uri="{BB962C8B-B14F-4D97-AF65-F5344CB8AC3E}">
        <p14:creationId xmlns:p14="http://schemas.microsoft.com/office/powerpoint/2010/main" val="16533635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4247317"/>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AVL Tree</a:t>
            </a:r>
          </a:p>
          <a:p>
            <a:endParaRPr lang="en-US" b="1" dirty="0" smtClean="0"/>
          </a:p>
          <a:p>
            <a:r>
              <a:rPr lang="en-US" b="1" dirty="0"/>
              <a:t>Rotations Used for </a:t>
            </a:r>
            <a:r>
              <a:rPr lang="en-US" b="1" dirty="0" smtClean="0"/>
              <a:t>Balancing</a:t>
            </a:r>
          </a:p>
          <a:p>
            <a:endParaRPr lang="en-US" b="1" dirty="0"/>
          </a:p>
          <a:p>
            <a:r>
              <a:rPr lang="en-US" b="1" dirty="0"/>
              <a:t>4. Right‑Left Rotation (RL Case)</a:t>
            </a:r>
          </a:p>
          <a:p>
            <a:r>
              <a:rPr lang="en-US" b="1" dirty="0"/>
              <a:t>When</a:t>
            </a:r>
            <a:r>
              <a:rPr lang="en-US" dirty="0"/>
              <a:t>: The imbalance happens because a node was inserted into the </a:t>
            </a:r>
            <a:r>
              <a:rPr lang="en-US" b="1" dirty="0"/>
              <a:t>right child’s left </a:t>
            </a:r>
            <a:r>
              <a:rPr lang="en-US" b="1" dirty="0" err="1"/>
              <a:t>subtree</a:t>
            </a:r>
            <a:r>
              <a:rPr lang="en-US" dirty="0"/>
              <a:t>.</a:t>
            </a:r>
          </a:p>
          <a:p>
            <a:r>
              <a:rPr lang="en-US" b="1" dirty="0"/>
              <a:t>Fix</a:t>
            </a:r>
            <a:r>
              <a:rPr lang="en-US" dirty="0"/>
              <a:t>: First </a:t>
            </a:r>
            <a:r>
              <a:rPr lang="en-US" b="1" dirty="0"/>
              <a:t>right rotation</a:t>
            </a:r>
            <a:r>
              <a:rPr lang="en-US" dirty="0"/>
              <a:t> on the child, then </a:t>
            </a:r>
            <a:r>
              <a:rPr lang="en-US" b="1" dirty="0"/>
              <a:t>left rotation</a:t>
            </a:r>
            <a:r>
              <a:rPr lang="en-US" dirty="0"/>
              <a:t> on the parent</a:t>
            </a:r>
            <a:r>
              <a:rPr lang="en-US" dirty="0" smtClean="0"/>
              <a:t>.</a:t>
            </a:r>
          </a:p>
          <a:p>
            <a:endParaRPr lang="en-US" dirty="0"/>
          </a:p>
          <a:p>
            <a:r>
              <a:rPr lang="en-US" dirty="0" smtClean="0"/>
              <a:t>Example</a:t>
            </a:r>
            <a:r>
              <a:rPr lang="en-US" dirty="0"/>
              <a:t>:</a:t>
            </a:r>
          </a:p>
          <a:p>
            <a:endParaRPr lang="en-US" b="1" dirty="0" smtClean="0"/>
          </a:p>
          <a:p>
            <a:endParaRPr lang="en-US" b="1" dirty="0" smtClean="0"/>
          </a:p>
          <a:p>
            <a:endParaRPr lang="en-US" b="1" dirty="0"/>
          </a:p>
          <a:p>
            <a:endParaRPr lang="en-US" b="1" dirty="0" smtClean="0"/>
          </a:p>
          <a:p>
            <a:endParaRPr lang="en-US" b="1" dirty="0"/>
          </a:p>
          <a:p>
            <a:r>
              <a:rPr lang="en-US" dirty="0"/>
              <a:t>Step 1: Right rotation on 30:</a:t>
            </a:r>
            <a:endParaRPr lang="en-US" b="1" dirty="0"/>
          </a:p>
        </p:txBody>
      </p:sp>
      <p:sp>
        <p:nvSpPr>
          <p:cNvPr id="9" name="Rectangle 8"/>
          <p:cNvSpPr/>
          <p:nvPr/>
        </p:nvSpPr>
        <p:spPr>
          <a:xfrm>
            <a:off x="4085302" y="4291738"/>
            <a:ext cx="2699393" cy="369332"/>
          </a:xfrm>
          <a:prstGeom prst="rect">
            <a:avLst/>
          </a:prstGeom>
        </p:spPr>
        <p:txBody>
          <a:bodyPr wrap="none">
            <a:spAutoFit/>
          </a:bodyPr>
          <a:lstStyle/>
          <a:p>
            <a:r>
              <a:rPr lang="en-US" dirty="0"/>
              <a:t>Step 2: Left rotation on 10:</a:t>
            </a:r>
            <a:endParaRPr lang="en-IN" dirty="0"/>
          </a:p>
        </p:txBody>
      </p:sp>
      <p:pic>
        <p:nvPicPr>
          <p:cNvPr id="2" name="Picture 1"/>
          <p:cNvPicPr>
            <a:picLocks noChangeAspect="1"/>
          </p:cNvPicPr>
          <p:nvPr/>
        </p:nvPicPr>
        <p:blipFill>
          <a:blip r:embed="rId3"/>
          <a:stretch>
            <a:fillRect/>
          </a:stretch>
        </p:blipFill>
        <p:spPr>
          <a:xfrm>
            <a:off x="824909" y="3076070"/>
            <a:ext cx="600159" cy="1038370"/>
          </a:xfrm>
          <a:prstGeom prst="rect">
            <a:avLst/>
          </a:prstGeom>
        </p:spPr>
      </p:pic>
      <p:pic>
        <p:nvPicPr>
          <p:cNvPr id="8" name="Picture 7"/>
          <p:cNvPicPr>
            <a:picLocks noChangeAspect="1"/>
          </p:cNvPicPr>
          <p:nvPr/>
        </p:nvPicPr>
        <p:blipFill>
          <a:blip r:embed="rId4"/>
          <a:stretch>
            <a:fillRect/>
          </a:stretch>
        </p:blipFill>
        <p:spPr>
          <a:xfrm>
            <a:off x="824909" y="4910755"/>
            <a:ext cx="828791" cy="1076475"/>
          </a:xfrm>
          <a:prstGeom prst="rect">
            <a:avLst/>
          </a:prstGeom>
        </p:spPr>
      </p:pic>
      <p:pic>
        <p:nvPicPr>
          <p:cNvPr id="11" name="Picture 10"/>
          <p:cNvPicPr>
            <a:picLocks noChangeAspect="1"/>
          </p:cNvPicPr>
          <p:nvPr/>
        </p:nvPicPr>
        <p:blipFill>
          <a:blip r:embed="rId5"/>
          <a:stretch>
            <a:fillRect/>
          </a:stretch>
        </p:blipFill>
        <p:spPr>
          <a:xfrm>
            <a:off x="5254923" y="4987239"/>
            <a:ext cx="762106" cy="724001"/>
          </a:xfrm>
          <a:prstGeom prst="rect">
            <a:avLst/>
          </a:prstGeom>
        </p:spPr>
      </p:pic>
    </p:spTree>
    <p:extLst>
      <p:ext uri="{BB962C8B-B14F-4D97-AF65-F5344CB8AC3E}">
        <p14:creationId xmlns:p14="http://schemas.microsoft.com/office/powerpoint/2010/main" val="159916569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4247317"/>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AVL Tree</a:t>
            </a:r>
          </a:p>
          <a:p>
            <a:endParaRPr lang="en-US" b="1" dirty="0" smtClean="0"/>
          </a:p>
          <a:p>
            <a:r>
              <a:rPr lang="en-US" b="1" dirty="0"/>
              <a:t>Rotations Used for </a:t>
            </a:r>
            <a:r>
              <a:rPr lang="en-US" b="1" dirty="0" smtClean="0"/>
              <a:t>Balancing</a:t>
            </a:r>
          </a:p>
          <a:p>
            <a:endParaRPr lang="en-US" b="1" dirty="0" smtClean="0"/>
          </a:p>
          <a:p>
            <a:r>
              <a:rPr lang="en-IN" dirty="0"/>
              <a:t>LL → Right Rotation</a:t>
            </a:r>
          </a:p>
          <a:p>
            <a:endParaRPr lang="en-IN" dirty="0"/>
          </a:p>
          <a:p>
            <a:r>
              <a:rPr lang="en-IN" dirty="0"/>
              <a:t>RR → Left Rotation</a:t>
            </a:r>
          </a:p>
          <a:p>
            <a:endParaRPr lang="en-IN" dirty="0"/>
          </a:p>
          <a:p>
            <a:r>
              <a:rPr lang="en-US" dirty="0"/>
              <a:t>LR → Left then Right Rotation</a:t>
            </a:r>
          </a:p>
          <a:p>
            <a:endParaRPr lang="en-IN" dirty="0"/>
          </a:p>
          <a:p>
            <a:r>
              <a:rPr lang="en-US" dirty="0"/>
              <a:t>RL → Right then Left Rotation</a:t>
            </a:r>
          </a:p>
          <a:p>
            <a:endParaRPr lang="en-US" b="1" dirty="0" smtClean="0"/>
          </a:p>
          <a:p>
            <a:r>
              <a:rPr lang="en-US" dirty="0"/>
              <a:t>These rotations are the “self‑balancing” mechanism of AVL trees, ensuring the height difference never exceeds 1, keeping operations efficient.</a:t>
            </a:r>
          </a:p>
          <a:p>
            <a:endParaRPr lang="en-US" b="1" dirty="0"/>
          </a:p>
        </p:txBody>
      </p:sp>
    </p:spTree>
    <p:extLst>
      <p:ext uri="{BB962C8B-B14F-4D97-AF65-F5344CB8AC3E}">
        <p14:creationId xmlns:p14="http://schemas.microsoft.com/office/powerpoint/2010/main" val="320159286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186309"/>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AVL Tree</a:t>
            </a:r>
          </a:p>
          <a:p>
            <a:endParaRPr lang="en-US" b="1" dirty="0" smtClean="0"/>
          </a:p>
          <a:p>
            <a:r>
              <a:rPr lang="en-IN" dirty="0" smtClean="0"/>
              <a:t>Example:</a:t>
            </a:r>
          </a:p>
          <a:p>
            <a:endParaRPr lang="en-IN" dirty="0"/>
          </a:p>
          <a:p>
            <a:r>
              <a:rPr lang="en-US" dirty="0"/>
              <a:t>Insert nodes in order: 10, 20, 30</a:t>
            </a:r>
          </a:p>
          <a:p>
            <a:endParaRPr lang="en-IN" dirty="0"/>
          </a:p>
          <a:p>
            <a:pPr marL="342900" indent="-342900">
              <a:buFont typeface="+mj-lt"/>
              <a:buAutoNum type="arabicPeriod"/>
            </a:pPr>
            <a:r>
              <a:rPr lang="en-IN" dirty="0"/>
              <a:t>Normal BST becomes skewed</a:t>
            </a:r>
            <a:r>
              <a:rPr lang="en-IN" dirty="0" smtClean="0"/>
              <a:t>:</a:t>
            </a:r>
          </a:p>
          <a:p>
            <a:endParaRPr lang="en-IN" dirty="0"/>
          </a:p>
          <a:p>
            <a:endParaRPr lang="en-IN" dirty="0" smtClean="0"/>
          </a:p>
          <a:p>
            <a:endParaRPr lang="en-IN" dirty="0"/>
          </a:p>
          <a:p>
            <a:endParaRPr lang="en-IN" dirty="0" smtClean="0"/>
          </a:p>
          <a:p>
            <a:endParaRPr lang="en-IN" dirty="0"/>
          </a:p>
          <a:p>
            <a:r>
              <a:rPr lang="en-IN" dirty="0"/>
              <a:t>→ Unbalanced (Right‑Right case</a:t>
            </a:r>
            <a:r>
              <a:rPr lang="en-IN" dirty="0" smtClean="0"/>
              <a:t>)</a:t>
            </a:r>
          </a:p>
          <a:p>
            <a:endParaRPr lang="en-IN" dirty="0"/>
          </a:p>
          <a:p>
            <a:r>
              <a:rPr lang="en-US" dirty="0" smtClean="0"/>
              <a:t>2. AVL </a:t>
            </a:r>
            <a:r>
              <a:rPr lang="en-US" dirty="0"/>
              <a:t>tree performs a </a:t>
            </a:r>
            <a:r>
              <a:rPr lang="en-US" b="1" dirty="0"/>
              <a:t>left rotation</a:t>
            </a:r>
            <a:r>
              <a:rPr lang="en-US" dirty="0"/>
              <a:t> around 10:</a:t>
            </a:r>
            <a:endParaRPr lang="en-IN" dirty="0"/>
          </a:p>
          <a:p>
            <a:endParaRPr lang="en-US" b="1" dirty="0" smtClean="0"/>
          </a:p>
          <a:p>
            <a:endParaRPr lang="en-US" b="1" dirty="0"/>
          </a:p>
          <a:p>
            <a:endParaRPr lang="en-US" b="1" dirty="0" smtClean="0"/>
          </a:p>
          <a:p>
            <a:endParaRPr lang="en-US" b="1" dirty="0"/>
          </a:p>
          <a:p>
            <a:r>
              <a:rPr lang="en-IN" dirty="0"/>
              <a:t>→ Balanced again.</a:t>
            </a:r>
            <a:endParaRPr lang="en-US" b="1" dirty="0" smtClean="0"/>
          </a:p>
          <a:p>
            <a:endParaRPr lang="en-US" b="1" dirty="0"/>
          </a:p>
          <a:p>
            <a:endParaRPr lang="en-US" b="1" dirty="0" smtClean="0"/>
          </a:p>
        </p:txBody>
      </p:sp>
      <p:pic>
        <p:nvPicPr>
          <p:cNvPr id="7" name="Picture 6"/>
          <p:cNvPicPr>
            <a:picLocks noChangeAspect="1"/>
          </p:cNvPicPr>
          <p:nvPr/>
        </p:nvPicPr>
        <p:blipFill>
          <a:blip r:embed="rId3"/>
          <a:stretch>
            <a:fillRect/>
          </a:stretch>
        </p:blipFill>
        <p:spPr>
          <a:xfrm>
            <a:off x="1106146" y="2586923"/>
            <a:ext cx="752580" cy="952633"/>
          </a:xfrm>
          <a:prstGeom prst="rect">
            <a:avLst/>
          </a:prstGeom>
        </p:spPr>
      </p:pic>
      <p:pic>
        <p:nvPicPr>
          <p:cNvPr id="8" name="Picture 7"/>
          <p:cNvPicPr>
            <a:picLocks noChangeAspect="1"/>
          </p:cNvPicPr>
          <p:nvPr/>
        </p:nvPicPr>
        <p:blipFill>
          <a:blip r:embed="rId4"/>
          <a:stretch>
            <a:fillRect/>
          </a:stretch>
        </p:blipFill>
        <p:spPr>
          <a:xfrm>
            <a:off x="1166489" y="4797261"/>
            <a:ext cx="914528" cy="704948"/>
          </a:xfrm>
          <a:prstGeom prst="rect">
            <a:avLst/>
          </a:prstGeom>
        </p:spPr>
      </p:pic>
    </p:spTree>
    <p:extLst>
      <p:ext uri="{BB962C8B-B14F-4D97-AF65-F5344CB8AC3E}">
        <p14:creationId xmlns:p14="http://schemas.microsoft.com/office/powerpoint/2010/main" val="18897589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1200329"/>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AVL Tree</a:t>
            </a:r>
          </a:p>
          <a:p>
            <a:endParaRPr lang="en-US" b="1" dirty="0" smtClean="0"/>
          </a:p>
          <a:p>
            <a:r>
              <a:rPr lang="en-IN" dirty="0"/>
              <a:t>Time Complexity</a:t>
            </a:r>
            <a:endParaRPr lang="en-US" b="1" dirty="0"/>
          </a:p>
          <a:p>
            <a:endParaRPr lang="en-US" b="1" dirty="0" smtClean="0"/>
          </a:p>
        </p:txBody>
      </p:sp>
      <p:graphicFrame>
        <p:nvGraphicFramePr>
          <p:cNvPr id="2" name="Table 1"/>
          <p:cNvGraphicFramePr>
            <a:graphicFrameLocks noGrp="1"/>
          </p:cNvGraphicFramePr>
          <p:nvPr>
            <p:extLst>
              <p:ext uri="{D42A27DB-BD31-4B8C-83A1-F6EECF244321}">
                <p14:modId xmlns:p14="http://schemas.microsoft.com/office/powerpoint/2010/main" val="157782951"/>
              </p:ext>
            </p:extLst>
          </p:nvPr>
        </p:nvGraphicFramePr>
        <p:xfrm>
          <a:off x="181495" y="1682467"/>
          <a:ext cx="3284912" cy="1463040"/>
        </p:xfrm>
        <a:graphic>
          <a:graphicData uri="http://schemas.openxmlformats.org/drawingml/2006/table">
            <a:tbl>
              <a:tblPr/>
              <a:tblGrid>
                <a:gridCol w="1780309"/>
                <a:gridCol w="1504603"/>
              </a:tblGrid>
              <a:tr h="0">
                <a:tc>
                  <a:txBody>
                    <a:bodyPr/>
                    <a:lstStyle/>
                    <a:p>
                      <a:r>
                        <a:rPr lang="en-IN" dirty="0"/>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Complexity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r h="0">
                <a:tc>
                  <a:txBody>
                    <a:bodyPr/>
                    <a:lstStyle/>
                    <a:p>
                      <a:r>
                        <a:rPr lang="en-IN" dirty="0"/>
                        <a:t>Search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O(log 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dirty="0"/>
                        <a:t>Insert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O(log 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dirty="0"/>
                        <a:t>Delete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O(log 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3" name="Rectangle 2"/>
          <p:cNvSpPr/>
          <p:nvPr/>
        </p:nvSpPr>
        <p:spPr>
          <a:xfrm>
            <a:off x="146858" y="3321966"/>
            <a:ext cx="7392786" cy="369332"/>
          </a:xfrm>
          <a:prstGeom prst="rect">
            <a:avLst/>
          </a:prstGeom>
        </p:spPr>
        <p:txBody>
          <a:bodyPr wrap="square">
            <a:spAutoFit/>
          </a:bodyPr>
          <a:lstStyle/>
          <a:p>
            <a:r>
              <a:rPr lang="en-US" dirty="0"/>
              <a:t>Because the height is always ≈ log₂(n), operations remain efficient.</a:t>
            </a:r>
            <a:endParaRPr lang="en-IN" dirty="0"/>
          </a:p>
        </p:txBody>
      </p:sp>
      <p:sp>
        <p:nvSpPr>
          <p:cNvPr id="9" name="Rectangle 8"/>
          <p:cNvSpPr/>
          <p:nvPr/>
        </p:nvSpPr>
        <p:spPr>
          <a:xfrm>
            <a:off x="146858" y="3853469"/>
            <a:ext cx="6096000" cy="1477328"/>
          </a:xfrm>
          <a:prstGeom prst="rect">
            <a:avLst/>
          </a:prstGeom>
        </p:spPr>
        <p:txBody>
          <a:bodyPr>
            <a:spAutoFit/>
          </a:bodyPr>
          <a:lstStyle/>
          <a:p>
            <a:r>
              <a:rPr lang="en-US" b="1" dirty="0"/>
              <a:t>Applications</a:t>
            </a:r>
          </a:p>
          <a:p>
            <a:pPr marL="285750" indent="-285750">
              <a:buFont typeface="Arial" panose="020B0604020202020204" pitchFamily="34" charset="0"/>
              <a:buChar char="•"/>
            </a:pPr>
            <a:r>
              <a:rPr lang="en-US" dirty="0"/>
              <a:t>Database indexing</a:t>
            </a:r>
          </a:p>
          <a:p>
            <a:pPr marL="285750" indent="-285750">
              <a:buFont typeface="Arial" panose="020B0604020202020204" pitchFamily="34" charset="0"/>
              <a:buChar char="•"/>
            </a:pPr>
            <a:r>
              <a:rPr lang="en-US" dirty="0" smtClean="0"/>
              <a:t>Memory </a:t>
            </a:r>
            <a:r>
              <a:rPr lang="en-US" dirty="0"/>
              <a:t>management</a:t>
            </a:r>
          </a:p>
          <a:p>
            <a:pPr marL="285750" indent="-285750">
              <a:buFont typeface="Arial" panose="020B0604020202020204" pitchFamily="34" charset="0"/>
              <a:buChar char="•"/>
            </a:pPr>
            <a:r>
              <a:rPr lang="en-US" dirty="0" smtClean="0"/>
              <a:t>File </a:t>
            </a:r>
            <a:r>
              <a:rPr lang="en-US" dirty="0"/>
              <a:t>systems</a:t>
            </a:r>
          </a:p>
          <a:p>
            <a:pPr marL="285750" indent="-285750">
              <a:buFont typeface="Arial" panose="020B0604020202020204" pitchFamily="34" charset="0"/>
              <a:buChar char="•"/>
            </a:pPr>
            <a:r>
              <a:rPr lang="en-US" dirty="0"/>
              <a:t>Compiler symbol tables</a:t>
            </a:r>
          </a:p>
        </p:txBody>
      </p:sp>
      <p:sp>
        <p:nvSpPr>
          <p:cNvPr id="10" name="Rectangle 9"/>
          <p:cNvSpPr/>
          <p:nvPr/>
        </p:nvSpPr>
        <p:spPr>
          <a:xfrm>
            <a:off x="146858" y="5422407"/>
            <a:ext cx="11887200" cy="646331"/>
          </a:xfrm>
          <a:prstGeom prst="rect">
            <a:avLst/>
          </a:prstGeom>
        </p:spPr>
        <p:txBody>
          <a:bodyPr wrap="square">
            <a:spAutoFit/>
          </a:bodyPr>
          <a:lstStyle/>
          <a:p>
            <a:r>
              <a:rPr lang="en-US" dirty="0"/>
              <a:t>An </a:t>
            </a:r>
            <a:r>
              <a:rPr lang="en-US" b="1" dirty="0"/>
              <a:t>AVL Tree</a:t>
            </a:r>
            <a:r>
              <a:rPr lang="en-US" dirty="0"/>
              <a:t> is a self‑balancing BST that maintains near‑perfect balance using rotations. It guarantees fast and predictable performance for all operations — a cornerstone of efficient data structures.</a:t>
            </a:r>
            <a:endParaRPr lang="en-IN" dirty="0"/>
          </a:p>
        </p:txBody>
      </p:sp>
    </p:spTree>
    <p:extLst>
      <p:ext uri="{BB962C8B-B14F-4D97-AF65-F5344CB8AC3E}">
        <p14:creationId xmlns:p14="http://schemas.microsoft.com/office/powerpoint/2010/main" val="269452723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923330"/>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AVL Tree</a:t>
            </a:r>
          </a:p>
          <a:p>
            <a:endParaRPr lang="en-US" b="1" dirty="0" smtClean="0"/>
          </a:p>
          <a:p>
            <a:endParaRPr lang="en-US" b="1" dirty="0" smtClean="0"/>
          </a:p>
        </p:txBody>
      </p:sp>
      <p:pic>
        <p:nvPicPr>
          <p:cNvPr id="11" name="Picture 10"/>
          <p:cNvPicPr>
            <a:picLocks noChangeAspect="1"/>
          </p:cNvPicPr>
          <p:nvPr/>
        </p:nvPicPr>
        <p:blipFill>
          <a:blip r:embed="rId3"/>
          <a:stretch>
            <a:fillRect/>
          </a:stretch>
        </p:blipFill>
        <p:spPr>
          <a:xfrm>
            <a:off x="158336" y="943803"/>
            <a:ext cx="5858693" cy="5818909"/>
          </a:xfrm>
          <a:prstGeom prst="rect">
            <a:avLst/>
          </a:prstGeom>
        </p:spPr>
      </p:pic>
    </p:spTree>
    <p:extLst>
      <p:ext uri="{BB962C8B-B14F-4D97-AF65-F5344CB8AC3E}">
        <p14:creationId xmlns:p14="http://schemas.microsoft.com/office/powerpoint/2010/main" val="255330270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923330"/>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AVL Tree</a:t>
            </a:r>
          </a:p>
          <a:p>
            <a:endParaRPr lang="en-US" b="1" dirty="0" smtClean="0"/>
          </a:p>
          <a:p>
            <a:endParaRPr lang="en-US" b="1" dirty="0" smtClean="0"/>
          </a:p>
        </p:txBody>
      </p:sp>
      <p:pic>
        <p:nvPicPr>
          <p:cNvPr id="7" name="Picture 6"/>
          <p:cNvPicPr>
            <a:picLocks noChangeAspect="1"/>
          </p:cNvPicPr>
          <p:nvPr/>
        </p:nvPicPr>
        <p:blipFill>
          <a:blip r:embed="rId3"/>
          <a:stretch>
            <a:fillRect/>
          </a:stretch>
        </p:blipFill>
        <p:spPr>
          <a:xfrm>
            <a:off x="120355" y="943803"/>
            <a:ext cx="6554115" cy="3915321"/>
          </a:xfrm>
          <a:prstGeom prst="rect">
            <a:avLst/>
          </a:prstGeom>
        </p:spPr>
      </p:pic>
    </p:spTree>
    <p:extLst>
      <p:ext uri="{BB962C8B-B14F-4D97-AF65-F5344CB8AC3E}">
        <p14:creationId xmlns:p14="http://schemas.microsoft.com/office/powerpoint/2010/main" val="389333213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923330"/>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AVL Tree</a:t>
            </a:r>
          </a:p>
          <a:p>
            <a:endParaRPr lang="en-US" b="1" dirty="0" smtClean="0"/>
          </a:p>
          <a:p>
            <a:endParaRPr lang="en-US" b="1" dirty="0" smtClean="0"/>
          </a:p>
        </p:txBody>
      </p:sp>
      <p:pic>
        <p:nvPicPr>
          <p:cNvPr id="8" name="Picture 7"/>
          <p:cNvPicPr>
            <a:picLocks noChangeAspect="1"/>
          </p:cNvPicPr>
          <p:nvPr/>
        </p:nvPicPr>
        <p:blipFill>
          <a:blip r:embed="rId3"/>
          <a:stretch>
            <a:fillRect/>
          </a:stretch>
        </p:blipFill>
        <p:spPr>
          <a:xfrm>
            <a:off x="272912" y="943803"/>
            <a:ext cx="6525536" cy="3181794"/>
          </a:xfrm>
          <a:prstGeom prst="rect">
            <a:avLst/>
          </a:prstGeom>
        </p:spPr>
      </p:pic>
    </p:spTree>
    <p:extLst>
      <p:ext uri="{BB962C8B-B14F-4D97-AF65-F5344CB8AC3E}">
        <p14:creationId xmlns:p14="http://schemas.microsoft.com/office/powerpoint/2010/main" val="313736493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923330"/>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AVL Tree</a:t>
            </a:r>
          </a:p>
          <a:p>
            <a:endParaRPr lang="en-US" b="1" dirty="0" smtClean="0"/>
          </a:p>
          <a:p>
            <a:endParaRPr lang="en-US" b="1" dirty="0" smtClean="0"/>
          </a:p>
        </p:txBody>
      </p:sp>
      <p:pic>
        <p:nvPicPr>
          <p:cNvPr id="7" name="Picture 6"/>
          <p:cNvPicPr>
            <a:picLocks noChangeAspect="1"/>
          </p:cNvPicPr>
          <p:nvPr/>
        </p:nvPicPr>
        <p:blipFill>
          <a:blip r:embed="rId3"/>
          <a:stretch>
            <a:fillRect/>
          </a:stretch>
        </p:blipFill>
        <p:spPr>
          <a:xfrm>
            <a:off x="184355" y="980902"/>
            <a:ext cx="6154009" cy="5705978"/>
          </a:xfrm>
          <a:prstGeom prst="rect">
            <a:avLst/>
          </a:prstGeom>
        </p:spPr>
      </p:pic>
    </p:spTree>
    <p:extLst>
      <p:ext uri="{BB962C8B-B14F-4D97-AF65-F5344CB8AC3E}">
        <p14:creationId xmlns:p14="http://schemas.microsoft.com/office/powerpoint/2010/main" val="334337707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923330"/>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AVL Tree</a:t>
            </a:r>
          </a:p>
          <a:p>
            <a:endParaRPr lang="en-US" b="1" dirty="0" smtClean="0"/>
          </a:p>
          <a:p>
            <a:endParaRPr lang="en-US" b="1" dirty="0" smtClean="0"/>
          </a:p>
        </p:txBody>
      </p:sp>
      <p:pic>
        <p:nvPicPr>
          <p:cNvPr id="8" name="Picture 7"/>
          <p:cNvPicPr>
            <a:picLocks noChangeAspect="1"/>
          </p:cNvPicPr>
          <p:nvPr/>
        </p:nvPicPr>
        <p:blipFill>
          <a:blip r:embed="rId3"/>
          <a:stretch>
            <a:fillRect/>
          </a:stretch>
        </p:blipFill>
        <p:spPr>
          <a:xfrm>
            <a:off x="140274" y="964275"/>
            <a:ext cx="6258798" cy="5691577"/>
          </a:xfrm>
          <a:prstGeom prst="rect">
            <a:avLst/>
          </a:prstGeom>
        </p:spPr>
      </p:pic>
    </p:spTree>
    <p:extLst>
      <p:ext uri="{BB962C8B-B14F-4D97-AF65-F5344CB8AC3E}">
        <p14:creationId xmlns:p14="http://schemas.microsoft.com/office/powerpoint/2010/main" val="166781764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923330"/>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AVL Tree</a:t>
            </a:r>
          </a:p>
          <a:p>
            <a:endParaRPr lang="en-US" b="1" dirty="0" smtClean="0"/>
          </a:p>
          <a:p>
            <a:endParaRPr lang="en-US" b="1" dirty="0" smtClean="0"/>
          </a:p>
        </p:txBody>
      </p:sp>
      <p:pic>
        <p:nvPicPr>
          <p:cNvPr id="7" name="Picture 6"/>
          <p:cNvPicPr>
            <a:picLocks noChangeAspect="1"/>
          </p:cNvPicPr>
          <p:nvPr/>
        </p:nvPicPr>
        <p:blipFill>
          <a:blip r:embed="rId3"/>
          <a:stretch>
            <a:fillRect/>
          </a:stretch>
        </p:blipFill>
        <p:spPr>
          <a:xfrm>
            <a:off x="162996" y="1014152"/>
            <a:ext cx="5229955" cy="5659173"/>
          </a:xfrm>
          <a:prstGeom prst="rect">
            <a:avLst/>
          </a:prstGeom>
        </p:spPr>
      </p:pic>
    </p:spTree>
    <p:extLst>
      <p:ext uri="{BB962C8B-B14F-4D97-AF65-F5344CB8AC3E}">
        <p14:creationId xmlns:p14="http://schemas.microsoft.com/office/powerpoint/2010/main" val="96236356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923330"/>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AVL Tree</a:t>
            </a:r>
          </a:p>
          <a:p>
            <a:endParaRPr lang="en-US" b="1" dirty="0" smtClean="0"/>
          </a:p>
          <a:p>
            <a:endParaRPr lang="en-US" b="1" dirty="0" smtClean="0"/>
          </a:p>
        </p:txBody>
      </p:sp>
      <p:pic>
        <p:nvPicPr>
          <p:cNvPr id="8" name="Picture 7"/>
          <p:cNvPicPr>
            <a:picLocks noChangeAspect="1"/>
          </p:cNvPicPr>
          <p:nvPr/>
        </p:nvPicPr>
        <p:blipFill>
          <a:blip r:embed="rId3"/>
          <a:stretch>
            <a:fillRect/>
          </a:stretch>
        </p:blipFill>
        <p:spPr>
          <a:xfrm>
            <a:off x="162757" y="952733"/>
            <a:ext cx="5449060" cy="1238423"/>
          </a:xfrm>
          <a:prstGeom prst="rect">
            <a:avLst/>
          </a:prstGeom>
        </p:spPr>
      </p:pic>
    </p:spTree>
    <p:extLst>
      <p:ext uri="{BB962C8B-B14F-4D97-AF65-F5344CB8AC3E}">
        <p14:creationId xmlns:p14="http://schemas.microsoft.com/office/powerpoint/2010/main" val="202562352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186309"/>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AVL Tree</a:t>
            </a:r>
          </a:p>
          <a:p>
            <a:endParaRPr lang="en-US" b="1" dirty="0">
              <a:solidFill>
                <a:srgbClr val="FF0000"/>
              </a:solidFill>
            </a:endParaRPr>
          </a:p>
          <a:p>
            <a:r>
              <a:rPr lang="en-IN" b="1" dirty="0"/>
              <a:t>Node </a:t>
            </a:r>
            <a:r>
              <a:rPr lang="en-IN" b="1" dirty="0" smtClean="0"/>
              <a:t>Class</a:t>
            </a:r>
          </a:p>
          <a:p>
            <a:r>
              <a:rPr lang="en-IN" dirty="0" smtClean="0"/>
              <a:t>Each </a:t>
            </a:r>
            <a:r>
              <a:rPr lang="en-IN" dirty="0"/>
              <a:t>node stores:</a:t>
            </a:r>
          </a:p>
          <a:p>
            <a:pPr marL="285750" indent="-285750">
              <a:buFont typeface="Arial" panose="020B0604020202020204" pitchFamily="34" charset="0"/>
              <a:buChar char="•"/>
            </a:pPr>
            <a:r>
              <a:rPr lang="en-IN" dirty="0" smtClean="0"/>
              <a:t>data </a:t>
            </a:r>
            <a:r>
              <a:rPr lang="en-IN" dirty="0"/>
              <a:t>→ the value.</a:t>
            </a:r>
          </a:p>
          <a:p>
            <a:pPr marL="285750" indent="-285750">
              <a:buFont typeface="Arial" panose="020B0604020202020204" pitchFamily="34" charset="0"/>
              <a:buChar char="•"/>
            </a:pPr>
            <a:r>
              <a:rPr lang="en-US" dirty="0" smtClean="0"/>
              <a:t>height </a:t>
            </a:r>
            <a:r>
              <a:rPr lang="en-US" dirty="0"/>
              <a:t>→ height of the node (used for balance factor).</a:t>
            </a:r>
          </a:p>
          <a:p>
            <a:pPr marL="285750" indent="-285750">
              <a:buFont typeface="Arial" panose="020B0604020202020204" pitchFamily="34" charset="0"/>
              <a:buChar char="•"/>
            </a:pPr>
            <a:r>
              <a:rPr lang="en-US" dirty="0" smtClean="0"/>
              <a:t>left </a:t>
            </a:r>
            <a:r>
              <a:rPr lang="en-US" dirty="0"/>
              <a:t>and right → child references.</a:t>
            </a:r>
          </a:p>
          <a:p>
            <a:endParaRPr lang="en-US" b="1" dirty="0" smtClean="0">
              <a:solidFill>
                <a:srgbClr val="FF0000"/>
              </a:solidFill>
            </a:endParaRPr>
          </a:p>
          <a:p>
            <a:r>
              <a:rPr lang="en-IN" b="1" dirty="0"/>
              <a:t>Helper Functions</a:t>
            </a:r>
          </a:p>
          <a:p>
            <a:endParaRPr lang="en-US" dirty="0" smtClean="0"/>
          </a:p>
          <a:p>
            <a:r>
              <a:rPr lang="en-US" dirty="0" smtClean="0"/>
              <a:t>height(Node </a:t>
            </a:r>
            <a:r>
              <a:rPr lang="en-US" dirty="0"/>
              <a:t>n) → returns the height of a node.</a:t>
            </a:r>
          </a:p>
          <a:p>
            <a:r>
              <a:rPr lang="en-US" dirty="0" err="1" smtClean="0"/>
              <a:t>getBalance</a:t>
            </a:r>
            <a:r>
              <a:rPr lang="en-US" dirty="0" smtClean="0"/>
              <a:t>(Node </a:t>
            </a:r>
            <a:r>
              <a:rPr lang="en-US" dirty="0"/>
              <a:t>n) → calculates balance factor = height(left) − height(right).</a:t>
            </a:r>
          </a:p>
          <a:p>
            <a:pPr marL="285750" indent="-285750">
              <a:buFont typeface="Arial" panose="020B0604020202020204" pitchFamily="34" charset="0"/>
              <a:buChar char="•"/>
            </a:pPr>
            <a:r>
              <a:rPr lang="en-US" dirty="0" smtClean="0"/>
              <a:t>If </a:t>
            </a:r>
            <a:r>
              <a:rPr lang="en-US" dirty="0"/>
              <a:t>balance factor ∈ {−1, 0, +1} → balanced.</a:t>
            </a:r>
          </a:p>
          <a:p>
            <a:pPr marL="285750" indent="-285750">
              <a:buFont typeface="Arial" panose="020B0604020202020204" pitchFamily="34" charset="0"/>
              <a:buChar char="•"/>
            </a:pPr>
            <a:r>
              <a:rPr lang="en-IN" dirty="0" smtClean="0"/>
              <a:t>Otherwise </a:t>
            </a:r>
            <a:r>
              <a:rPr lang="en-IN" dirty="0"/>
              <a:t>→ imbalance → rotations needed.</a:t>
            </a:r>
          </a:p>
          <a:p>
            <a:endParaRPr lang="en-US" b="1" dirty="0" smtClean="0">
              <a:solidFill>
                <a:srgbClr val="FF0000"/>
              </a:solidFill>
            </a:endParaRPr>
          </a:p>
          <a:p>
            <a:r>
              <a:rPr lang="en-IN" b="1" dirty="0"/>
              <a:t>Rotations</a:t>
            </a:r>
          </a:p>
          <a:p>
            <a:pPr marL="285750" indent="-285750">
              <a:buFont typeface="Arial" panose="020B0604020202020204" pitchFamily="34" charset="0"/>
              <a:buChar char="•"/>
            </a:pPr>
            <a:r>
              <a:rPr lang="en-US" dirty="0" err="1"/>
              <a:t>rightRotate</a:t>
            </a:r>
            <a:r>
              <a:rPr lang="en-US" dirty="0"/>
              <a:t>(Node y) → fixes Left‑Left imbalance.</a:t>
            </a:r>
          </a:p>
          <a:p>
            <a:pPr marL="285750" indent="-285750">
              <a:buFont typeface="Arial" panose="020B0604020202020204" pitchFamily="34" charset="0"/>
              <a:buChar char="•"/>
            </a:pPr>
            <a:r>
              <a:rPr lang="en-US" dirty="0" err="1" smtClean="0"/>
              <a:t>leftRotate</a:t>
            </a:r>
            <a:r>
              <a:rPr lang="en-US" dirty="0" smtClean="0"/>
              <a:t>(Node </a:t>
            </a:r>
            <a:r>
              <a:rPr lang="en-US" dirty="0"/>
              <a:t>x) → fixes Right‑Right imbalance.</a:t>
            </a:r>
          </a:p>
          <a:p>
            <a:pPr marL="285750" indent="-285750">
              <a:buFont typeface="Arial" panose="020B0604020202020204" pitchFamily="34" charset="0"/>
              <a:buChar char="•"/>
            </a:pPr>
            <a:r>
              <a:rPr lang="en-US" dirty="0" smtClean="0"/>
              <a:t>Combination </a:t>
            </a:r>
            <a:r>
              <a:rPr lang="en-US" dirty="0"/>
              <a:t>(LR, RL) → handled by performing two rotations (</a:t>
            </a:r>
            <a:r>
              <a:rPr lang="en-US" dirty="0" err="1"/>
              <a:t>left+right</a:t>
            </a:r>
            <a:r>
              <a:rPr lang="en-US" dirty="0"/>
              <a:t> or </a:t>
            </a:r>
            <a:r>
              <a:rPr lang="en-US" dirty="0" err="1"/>
              <a:t>right+left</a:t>
            </a:r>
            <a:r>
              <a:rPr lang="en-US" dirty="0"/>
              <a:t>).</a:t>
            </a:r>
          </a:p>
          <a:p>
            <a:r>
              <a:rPr lang="en-US" dirty="0" smtClean="0"/>
              <a:t>These </a:t>
            </a:r>
            <a:r>
              <a:rPr lang="en-US" dirty="0"/>
              <a:t>rotations rearrange nodes while preserving BST order.</a:t>
            </a:r>
          </a:p>
          <a:p>
            <a:endParaRPr lang="en-US" b="1" dirty="0" smtClean="0"/>
          </a:p>
          <a:p>
            <a:endParaRPr lang="en-US" b="1" dirty="0" smtClean="0"/>
          </a:p>
        </p:txBody>
      </p:sp>
    </p:spTree>
    <p:extLst>
      <p:ext uri="{BB962C8B-B14F-4D97-AF65-F5344CB8AC3E}">
        <p14:creationId xmlns:p14="http://schemas.microsoft.com/office/powerpoint/2010/main" val="158178353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08"/>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AVL Tree</a:t>
            </a:r>
          </a:p>
          <a:p>
            <a:endParaRPr lang="en-US" b="1" dirty="0">
              <a:solidFill>
                <a:srgbClr val="FF0000"/>
              </a:solidFill>
            </a:endParaRPr>
          </a:p>
          <a:p>
            <a:r>
              <a:rPr lang="en-IN" b="1" dirty="0"/>
              <a:t>Insert </a:t>
            </a:r>
            <a:r>
              <a:rPr lang="en-IN" b="1" dirty="0" smtClean="0"/>
              <a:t>Method</a:t>
            </a:r>
          </a:p>
          <a:p>
            <a:pPr marL="285750" indent="-285750">
              <a:buFont typeface="Arial" panose="020B0604020202020204" pitchFamily="34" charset="0"/>
              <a:buChar char="•"/>
            </a:pPr>
            <a:r>
              <a:rPr lang="en-US" dirty="0" smtClean="0"/>
              <a:t>Insert </a:t>
            </a:r>
            <a:r>
              <a:rPr lang="en-US" dirty="0"/>
              <a:t>like a normal BST.</a:t>
            </a:r>
          </a:p>
          <a:p>
            <a:pPr marL="285750" indent="-285750">
              <a:buFont typeface="Arial" panose="020B0604020202020204" pitchFamily="34" charset="0"/>
              <a:buChar char="•"/>
            </a:pPr>
            <a:r>
              <a:rPr lang="en-US" dirty="0"/>
              <a:t>Update height.</a:t>
            </a:r>
          </a:p>
          <a:p>
            <a:pPr marL="285750" indent="-285750">
              <a:buFont typeface="Arial" panose="020B0604020202020204" pitchFamily="34" charset="0"/>
              <a:buChar char="•"/>
            </a:pPr>
            <a:r>
              <a:rPr lang="en-US" dirty="0"/>
              <a:t>Check balance factor.</a:t>
            </a:r>
          </a:p>
          <a:p>
            <a:pPr marL="285750" indent="-285750">
              <a:buFont typeface="Arial" panose="020B0604020202020204" pitchFamily="34" charset="0"/>
              <a:buChar char="•"/>
            </a:pPr>
            <a:r>
              <a:rPr lang="en-US" dirty="0"/>
              <a:t>If imbalance → fix with appropriate rotation.</a:t>
            </a:r>
          </a:p>
          <a:p>
            <a:endParaRPr lang="en-US" b="1" dirty="0" smtClean="0"/>
          </a:p>
          <a:p>
            <a:r>
              <a:rPr lang="en-IN" b="1" dirty="0" smtClean="0"/>
              <a:t>Traversal</a:t>
            </a:r>
          </a:p>
          <a:p>
            <a:r>
              <a:rPr lang="en-US" dirty="0" err="1"/>
              <a:t>Inorder</a:t>
            </a:r>
            <a:r>
              <a:rPr lang="en-US" dirty="0"/>
              <a:t> traversal prints nodes in </a:t>
            </a:r>
            <a:r>
              <a:rPr lang="en-US" b="1" dirty="0"/>
              <a:t>sorted order</a:t>
            </a:r>
            <a:r>
              <a:rPr lang="en-US" dirty="0" smtClean="0"/>
              <a:t>.</a:t>
            </a:r>
          </a:p>
          <a:p>
            <a:endParaRPr lang="en-US" b="1" dirty="0"/>
          </a:p>
          <a:p>
            <a:r>
              <a:rPr lang="en-IN" b="1" dirty="0"/>
              <a:t>main() </a:t>
            </a:r>
            <a:r>
              <a:rPr lang="en-IN" b="1" dirty="0" smtClean="0"/>
              <a:t>Method</a:t>
            </a:r>
          </a:p>
          <a:p>
            <a:pPr marL="285750" indent="-285750">
              <a:buFont typeface="Arial" panose="020B0604020202020204" pitchFamily="34" charset="0"/>
              <a:buChar char="•"/>
            </a:pPr>
            <a:r>
              <a:rPr lang="en-US" dirty="0"/>
              <a:t>Inserts values {10, 20, 30, 40, 50, 25} one by one.</a:t>
            </a:r>
          </a:p>
          <a:p>
            <a:pPr marL="285750" indent="-285750">
              <a:buFont typeface="Arial" panose="020B0604020202020204" pitchFamily="34" charset="0"/>
              <a:buChar char="•"/>
            </a:pPr>
            <a:r>
              <a:rPr lang="en-US" dirty="0" smtClean="0"/>
              <a:t>The </a:t>
            </a:r>
            <a:r>
              <a:rPr lang="en-US" dirty="0"/>
              <a:t>AVL tree rebalances itself after each insertion.</a:t>
            </a:r>
          </a:p>
          <a:p>
            <a:pPr marL="285750" indent="-285750">
              <a:buFont typeface="Arial" panose="020B0604020202020204" pitchFamily="34" charset="0"/>
              <a:buChar char="•"/>
            </a:pPr>
            <a:r>
              <a:rPr lang="en-US" dirty="0" smtClean="0"/>
              <a:t>Final </a:t>
            </a:r>
            <a:r>
              <a:rPr lang="en-US" dirty="0"/>
              <a:t>tree is balanced, not skewed.</a:t>
            </a:r>
          </a:p>
          <a:p>
            <a:pPr marL="285750" indent="-285750">
              <a:buFont typeface="Arial" panose="020B0604020202020204" pitchFamily="34" charset="0"/>
              <a:buChar char="•"/>
            </a:pPr>
            <a:r>
              <a:rPr lang="en-IN" dirty="0" err="1" smtClean="0"/>
              <a:t>Inorder</a:t>
            </a:r>
            <a:r>
              <a:rPr lang="en-IN" dirty="0" smtClean="0"/>
              <a:t> </a:t>
            </a:r>
            <a:r>
              <a:rPr lang="en-IN" dirty="0"/>
              <a:t>traversal </a:t>
            </a:r>
            <a:r>
              <a:rPr lang="en-IN" dirty="0" smtClean="0"/>
              <a:t>prints: </a:t>
            </a:r>
            <a:r>
              <a:rPr lang="en-IN" dirty="0"/>
              <a:t>10 20 25 30 40 50</a:t>
            </a:r>
          </a:p>
          <a:p>
            <a:endParaRPr lang="en-IN" dirty="0"/>
          </a:p>
          <a:p>
            <a:r>
              <a:rPr lang="en-US" dirty="0"/>
              <a:t>This program:</a:t>
            </a:r>
          </a:p>
          <a:p>
            <a:pPr marL="285750" indent="-285750">
              <a:buFont typeface="Arial" panose="020B0604020202020204" pitchFamily="34" charset="0"/>
              <a:buChar char="•"/>
            </a:pPr>
            <a:r>
              <a:rPr lang="en-US" dirty="0"/>
              <a:t>Implements an </a:t>
            </a:r>
            <a:r>
              <a:rPr lang="en-US" b="1" dirty="0"/>
              <a:t>AVL Tree</a:t>
            </a:r>
            <a:r>
              <a:rPr lang="en-US" dirty="0"/>
              <a:t> with rotations.</a:t>
            </a:r>
          </a:p>
          <a:p>
            <a:pPr marL="285750" indent="-285750">
              <a:buFont typeface="Arial" panose="020B0604020202020204" pitchFamily="34" charset="0"/>
              <a:buChar char="•"/>
            </a:pPr>
            <a:r>
              <a:rPr lang="en-US" dirty="0"/>
              <a:t>Inserts nodes while keeping the tree balanced.</a:t>
            </a:r>
          </a:p>
          <a:p>
            <a:pPr marL="285750" indent="-285750">
              <a:buFont typeface="Arial" panose="020B0604020202020204" pitchFamily="34" charset="0"/>
              <a:buChar char="•"/>
            </a:pPr>
            <a:r>
              <a:rPr lang="en-US" dirty="0"/>
              <a:t>Prints the tree in sorted order using </a:t>
            </a:r>
            <a:r>
              <a:rPr lang="en-US" dirty="0" err="1"/>
              <a:t>inorder</a:t>
            </a:r>
            <a:r>
              <a:rPr lang="en-US" dirty="0"/>
              <a:t> traversal.</a:t>
            </a:r>
          </a:p>
          <a:p>
            <a:r>
              <a:rPr lang="en-US" dirty="0" smtClean="0"/>
              <a:t>In </a:t>
            </a:r>
            <a:r>
              <a:rPr lang="en-US" dirty="0"/>
              <a:t>short: It demonstrates how AVL trees </a:t>
            </a:r>
            <a:r>
              <a:rPr lang="en-US" b="1" dirty="0"/>
              <a:t>self‑balance automatically</a:t>
            </a:r>
            <a:r>
              <a:rPr lang="en-US" dirty="0"/>
              <a:t> to guarantee efficient operations.</a:t>
            </a:r>
          </a:p>
          <a:p>
            <a:endParaRPr lang="en-US" b="1" dirty="0" smtClean="0"/>
          </a:p>
        </p:txBody>
      </p:sp>
    </p:spTree>
    <p:extLst>
      <p:ext uri="{BB962C8B-B14F-4D97-AF65-F5344CB8AC3E}">
        <p14:creationId xmlns:p14="http://schemas.microsoft.com/office/powerpoint/2010/main" val="259494953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AVL Tree</a:t>
            </a:r>
          </a:p>
          <a:p>
            <a:endParaRPr lang="en-US" b="1" dirty="0">
              <a:solidFill>
                <a:srgbClr val="FF0000"/>
              </a:solidFill>
            </a:endParaRPr>
          </a:p>
        </p:txBody>
      </p:sp>
      <p:pic>
        <p:nvPicPr>
          <p:cNvPr id="7" name="Picture 6"/>
          <p:cNvPicPr>
            <a:picLocks noChangeAspect="1"/>
          </p:cNvPicPr>
          <p:nvPr/>
        </p:nvPicPr>
        <p:blipFill>
          <a:blip r:embed="rId3"/>
          <a:stretch>
            <a:fillRect/>
          </a:stretch>
        </p:blipFill>
        <p:spPr>
          <a:xfrm>
            <a:off x="140757" y="987185"/>
            <a:ext cx="6773220" cy="4848902"/>
          </a:xfrm>
          <a:prstGeom prst="rect">
            <a:avLst/>
          </a:prstGeom>
        </p:spPr>
      </p:pic>
      <p:pic>
        <p:nvPicPr>
          <p:cNvPr id="8" name="Picture 7"/>
          <p:cNvPicPr>
            <a:picLocks noChangeAspect="1"/>
          </p:cNvPicPr>
          <p:nvPr/>
        </p:nvPicPr>
        <p:blipFill>
          <a:blip r:embed="rId4"/>
          <a:stretch>
            <a:fillRect/>
          </a:stretch>
        </p:blipFill>
        <p:spPr>
          <a:xfrm>
            <a:off x="7721883" y="2388209"/>
            <a:ext cx="4229690" cy="895475"/>
          </a:xfrm>
          <a:prstGeom prst="rect">
            <a:avLst/>
          </a:prstGeom>
        </p:spPr>
      </p:pic>
    </p:spTree>
    <p:extLst>
      <p:ext uri="{BB962C8B-B14F-4D97-AF65-F5344CB8AC3E}">
        <p14:creationId xmlns:p14="http://schemas.microsoft.com/office/powerpoint/2010/main" val="85798101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4247317"/>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Red Black Tree</a:t>
            </a:r>
          </a:p>
          <a:p>
            <a:r>
              <a:rPr lang="en-US" b="1" dirty="0"/>
              <a:t>A Red‑Black Tree is a type of self‑balancing binary search tree (BST) that uses node colors (red or black) and strict rules to keep the tree balanced, ensuring search, insert, and delete operations always run in O(log n) time.</a:t>
            </a:r>
            <a:r>
              <a:rPr lang="en-US" dirty="0"/>
              <a:t> It is widely used in programming libraries and databases because it guarantees efficiency even under worst‑case insertion orders</a:t>
            </a:r>
            <a:r>
              <a:rPr lang="en-US" dirty="0" smtClean="0"/>
              <a:t>.</a:t>
            </a:r>
          </a:p>
          <a:p>
            <a:endParaRPr lang="en-US" b="1" dirty="0">
              <a:solidFill>
                <a:srgbClr val="FF0000"/>
              </a:solidFill>
            </a:endParaRPr>
          </a:p>
          <a:p>
            <a:r>
              <a:rPr lang="en-US" b="1" dirty="0"/>
              <a:t>Core Properties of a Red‑Black Tree</a:t>
            </a:r>
          </a:p>
          <a:p>
            <a:r>
              <a:rPr lang="en-US" dirty="0"/>
              <a:t>To maintain balance, every Red‑Black Tree follows these rules:</a:t>
            </a:r>
          </a:p>
          <a:p>
            <a:pPr marL="285750" indent="-285750">
              <a:buFont typeface="Arial" panose="020B0604020202020204" pitchFamily="34" charset="0"/>
              <a:buChar char="•"/>
            </a:pPr>
            <a:r>
              <a:rPr lang="en-US" b="1" dirty="0"/>
              <a:t>Node Color</a:t>
            </a:r>
            <a:r>
              <a:rPr lang="en-US" dirty="0"/>
              <a:t>: Each node is either red or black.</a:t>
            </a:r>
          </a:p>
          <a:p>
            <a:pPr marL="285750" indent="-285750">
              <a:buFont typeface="Arial" panose="020B0604020202020204" pitchFamily="34" charset="0"/>
              <a:buChar char="•"/>
            </a:pPr>
            <a:r>
              <a:rPr lang="en-US" b="1" dirty="0"/>
              <a:t>Root Property</a:t>
            </a:r>
            <a:r>
              <a:rPr lang="en-US" dirty="0"/>
              <a:t>: The root is always black.</a:t>
            </a:r>
          </a:p>
          <a:p>
            <a:pPr marL="285750" indent="-285750">
              <a:buFont typeface="Arial" panose="020B0604020202020204" pitchFamily="34" charset="0"/>
              <a:buChar char="•"/>
            </a:pPr>
            <a:r>
              <a:rPr lang="en-US" b="1" dirty="0"/>
              <a:t>Red Node Property</a:t>
            </a:r>
            <a:r>
              <a:rPr lang="en-US" dirty="0"/>
              <a:t>: A red node cannot have a red child (no two reds in a row).</a:t>
            </a:r>
          </a:p>
          <a:p>
            <a:pPr marL="285750" indent="-285750">
              <a:buFont typeface="Arial" panose="020B0604020202020204" pitchFamily="34" charset="0"/>
              <a:buChar char="•"/>
            </a:pPr>
            <a:r>
              <a:rPr lang="en-US" b="1" dirty="0"/>
              <a:t>Black Height Property</a:t>
            </a:r>
            <a:r>
              <a:rPr lang="en-US" dirty="0"/>
              <a:t>: Every path from a node to its descendant leaves must contain the same number of black nodes.</a:t>
            </a:r>
          </a:p>
          <a:p>
            <a:pPr marL="285750" indent="-285750">
              <a:buFont typeface="Arial" panose="020B0604020202020204" pitchFamily="34" charset="0"/>
              <a:buChar char="•"/>
            </a:pPr>
            <a:r>
              <a:rPr lang="en-US" b="1" dirty="0"/>
              <a:t>Leaf Property</a:t>
            </a:r>
            <a:r>
              <a:rPr lang="en-US" dirty="0"/>
              <a:t>: All leaves (NULL or NIL nodes) are considered black.</a:t>
            </a:r>
          </a:p>
          <a:p>
            <a:pPr marL="285750" indent="-285750">
              <a:buFont typeface="Arial" panose="020B0604020202020204" pitchFamily="34" charset="0"/>
              <a:buChar char="•"/>
            </a:pPr>
            <a:r>
              <a:rPr lang="en-US" dirty="0"/>
              <a:t>These rules ensure that the longest path from root to leaf is never more than </a:t>
            </a:r>
            <a:r>
              <a:rPr lang="en-US" b="1" dirty="0"/>
              <a:t>twice as long</a:t>
            </a:r>
            <a:r>
              <a:rPr lang="en-US" dirty="0"/>
              <a:t> as the shortest path, keeping the tree balanced.</a:t>
            </a:r>
          </a:p>
          <a:p>
            <a:endParaRPr lang="en-US" b="1" dirty="0">
              <a:solidFill>
                <a:srgbClr val="FF0000"/>
              </a:solidFill>
            </a:endParaRPr>
          </a:p>
        </p:txBody>
      </p:sp>
    </p:spTree>
    <p:extLst>
      <p:ext uri="{BB962C8B-B14F-4D97-AF65-F5344CB8AC3E}">
        <p14:creationId xmlns:p14="http://schemas.microsoft.com/office/powerpoint/2010/main" val="130017232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4524315"/>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Red Black Tree</a:t>
            </a:r>
          </a:p>
          <a:p>
            <a:endParaRPr lang="en-US" b="1" dirty="0">
              <a:solidFill>
                <a:srgbClr val="FF0000"/>
              </a:solidFill>
            </a:endParaRPr>
          </a:p>
          <a:p>
            <a:r>
              <a:rPr lang="en-US" b="1" dirty="0"/>
              <a:t>Operations</a:t>
            </a:r>
          </a:p>
          <a:p>
            <a:r>
              <a:rPr lang="en-US" b="1" dirty="0"/>
              <a:t>Insertion</a:t>
            </a:r>
            <a:r>
              <a:rPr lang="en-US" dirty="0"/>
              <a:t>:</a:t>
            </a:r>
          </a:p>
          <a:p>
            <a:pPr marL="742950" lvl="1" indent="-285750">
              <a:buFont typeface="Arial" panose="020B0604020202020204" pitchFamily="34" charset="0"/>
              <a:buChar char="•"/>
            </a:pPr>
            <a:r>
              <a:rPr lang="en-US" dirty="0"/>
              <a:t>Insert like a normal BST.</a:t>
            </a:r>
          </a:p>
          <a:p>
            <a:pPr marL="742950" lvl="1" indent="-285750">
              <a:buFont typeface="Arial" panose="020B0604020202020204" pitchFamily="34" charset="0"/>
              <a:buChar char="•"/>
            </a:pPr>
            <a:r>
              <a:rPr lang="en-US" dirty="0"/>
              <a:t>Color the new node red.</a:t>
            </a:r>
          </a:p>
          <a:p>
            <a:pPr marL="742950" lvl="1" indent="-285750">
              <a:buFont typeface="Arial" panose="020B0604020202020204" pitchFamily="34" charset="0"/>
              <a:buChar char="•"/>
            </a:pPr>
            <a:r>
              <a:rPr lang="en-US" dirty="0"/>
              <a:t>If rules are violated (e.g., two consecutive reds), fix using </a:t>
            </a:r>
            <a:r>
              <a:rPr lang="en-US" b="1" dirty="0"/>
              <a:t>rotations</a:t>
            </a:r>
            <a:r>
              <a:rPr lang="en-US" dirty="0"/>
              <a:t> and </a:t>
            </a:r>
            <a:r>
              <a:rPr lang="en-US" b="1" dirty="0"/>
              <a:t>recoloring</a:t>
            </a:r>
            <a:r>
              <a:rPr lang="en-US" dirty="0"/>
              <a:t>.</a:t>
            </a:r>
          </a:p>
          <a:p>
            <a:pPr marL="1200150" lvl="2" indent="-285750">
              <a:buFont typeface="Arial" panose="020B0604020202020204" pitchFamily="34" charset="0"/>
              <a:buChar char="•"/>
            </a:pPr>
            <a:r>
              <a:rPr lang="en-US" dirty="0"/>
              <a:t>Case 1: If the “uncle” node is red → recolor parent and uncle black, grandparent red.</a:t>
            </a:r>
          </a:p>
          <a:p>
            <a:pPr marL="1200150" lvl="2" indent="-285750">
              <a:buFont typeface="Arial" panose="020B0604020202020204" pitchFamily="34" charset="0"/>
              <a:buChar char="•"/>
            </a:pPr>
            <a:r>
              <a:rPr lang="en-US" dirty="0"/>
              <a:t>Case 2: If the uncle is black → perform rotations (left or right) and recolor.</a:t>
            </a:r>
          </a:p>
          <a:p>
            <a:r>
              <a:rPr lang="en-US" b="1" dirty="0"/>
              <a:t>Deletion</a:t>
            </a:r>
            <a:r>
              <a:rPr lang="en-US" dirty="0"/>
              <a:t>:</a:t>
            </a:r>
          </a:p>
          <a:p>
            <a:pPr marL="742950" lvl="1" indent="-285750">
              <a:buFont typeface="Arial" panose="020B0604020202020204" pitchFamily="34" charset="0"/>
              <a:buChar char="•"/>
            </a:pPr>
            <a:r>
              <a:rPr lang="en-US" dirty="0"/>
              <a:t>Remove node using BST rules.</a:t>
            </a:r>
          </a:p>
          <a:p>
            <a:pPr marL="742950" lvl="1" indent="-285750">
              <a:buFont typeface="Arial" panose="020B0604020202020204" pitchFamily="34" charset="0"/>
              <a:buChar char="•"/>
            </a:pPr>
            <a:r>
              <a:rPr lang="en-US" dirty="0"/>
              <a:t>If a black node is deleted, a “double black” issue may arise.</a:t>
            </a:r>
          </a:p>
          <a:p>
            <a:pPr marL="742950" lvl="1" indent="-285750">
              <a:buFont typeface="Arial" panose="020B0604020202020204" pitchFamily="34" charset="0"/>
              <a:buChar char="•"/>
            </a:pPr>
            <a:r>
              <a:rPr lang="en-US" dirty="0"/>
              <a:t>Fix using rotations and recoloring based on sibling’s color.</a:t>
            </a:r>
          </a:p>
          <a:p>
            <a:endParaRPr lang="en-US" b="1" dirty="0" smtClean="0"/>
          </a:p>
          <a:p>
            <a:r>
              <a:rPr lang="en-US" b="1" dirty="0" smtClean="0"/>
              <a:t>Searching</a:t>
            </a:r>
            <a:r>
              <a:rPr lang="en-US" dirty="0"/>
              <a:t>: Same as BST — traverse left or right depending on the key.</a:t>
            </a:r>
          </a:p>
          <a:p>
            <a:endParaRPr lang="en-US" b="1" dirty="0" smtClean="0">
              <a:solidFill>
                <a:srgbClr val="FF0000"/>
              </a:solidFill>
            </a:endParaRPr>
          </a:p>
        </p:txBody>
      </p:sp>
    </p:spTree>
    <p:extLst>
      <p:ext uri="{BB962C8B-B14F-4D97-AF65-F5344CB8AC3E}">
        <p14:creationId xmlns:p14="http://schemas.microsoft.com/office/powerpoint/2010/main" val="88801800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3139321"/>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Red Black Tree</a:t>
            </a:r>
          </a:p>
          <a:p>
            <a:endParaRPr lang="en-IN" dirty="0" smtClean="0"/>
          </a:p>
          <a:p>
            <a:r>
              <a:rPr lang="en-IN" b="1" dirty="0" smtClean="0"/>
              <a:t>Applications</a:t>
            </a:r>
            <a:endParaRPr lang="en-IN" b="1" dirty="0"/>
          </a:p>
          <a:p>
            <a:pPr marL="285750" indent="-285750">
              <a:buFont typeface="Arial" panose="020B0604020202020204" pitchFamily="34" charset="0"/>
              <a:buChar char="•"/>
            </a:pPr>
            <a:r>
              <a:rPr lang="en-IN" dirty="0"/>
              <a:t>Java Collections (</a:t>
            </a:r>
            <a:r>
              <a:rPr lang="en-IN" dirty="0" err="1"/>
              <a:t>TreeMap</a:t>
            </a:r>
            <a:r>
              <a:rPr lang="en-IN" dirty="0"/>
              <a:t>, </a:t>
            </a:r>
            <a:r>
              <a:rPr lang="en-IN" dirty="0" err="1"/>
              <a:t>TreeSet</a:t>
            </a:r>
            <a:r>
              <a:rPr lang="en-IN" dirty="0"/>
              <a:t>)</a:t>
            </a:r>
          </a:p>
          <a:p>
            <a:pPr marL="285750" indent="-285750">
              <a:buFont typeface="Arial" panose="020B0604020202020204" pitchFamily="34" charset="0"/>
              <a:buChar char="•"/>
            </a:pPr>
            <a:r>
              <a:rPr lang="en-IN" dirty="0" smtClean="0"/>
              <a:t>C</a:t>
            </a:r>
            <a:r>
              <a:rPr lang="en-IN" dirty="0"/>
              <a:t>++ STL (map, set)</a:t>
            </a:r>
          </a:p>
          <a:p>
            <a:pPr marL="285750" indent="-285750">
              <a:buFont typeface="Arial" panose="020B0604020202020204" pitchFamily="34" charset="0"/>
              <a:buChar char="•"/>
            </a:pPr>
            <a:r>
              <a:rPr lang="en-IN" dirty="0" smtClean="0"/>
              <a:t>Linux </a:t>
            </a:r>
            <a:r>
              <a:rPr lang="en-IN" dirty="0"/>
              <a:t>kernel scheduling</a:t>
            </a:r>
          </a:p>
          <a:p>
            <a:pPr marL="285750" indent="-285750">
              <a:buFont typeface="Arial" panose="020B0604020202020204" pitchFamily="34" charset="0"/>
              <a:buChar char="•"/>
            </a:pPr>
            <a:r>
              <a:rPr lang="en-IN" dirty="0" smtClean="0"/>
              <a:t>Databases </a:t>
            </a:r>
            <a:r>
              <a:rPr lang="en-IN" dirty="0"/>
              <a:t>and file </a:t>
            </a:r>
            <a:r>
              <a:rPr lang="en-IN" dirty="0" smtClean="0"/>
              <a:t>systems</a:t>
            </a:r>
          </a:p>
          <a:p>
            <a:pPr marL="285750" indent="-285750">
              <a:buFont typeface="Arial" panose="020B0604020202020204" pitchFamily="34" charset="0"/>
              <a:buChar char="•"/>
            </a:pPr>
            <a:endParaRPr lang="en-IN" dirty="0"/>
          </a:p>
          <a:p>
            <a:r>
              <a:rPr lang="en-US" dirty="0"/>
              <a:t>A Red‑Black Tree is a BST that balances itself using </a:t>
            </a:r>
            <a:r>
              <a:rPr lang="en-US" b="1" dirty="0"/>
              <a:t>coloring rules and rotations</a:t>
            </a:r>
            <a:r>
              <a:rPr lang="en-US" dirty="0"/>
              <a:t>. It’s less rigid than AVL trees, making it faster for frequent insertions/deletions, and is widely used in real‑world systems where predictable performance is critical.</a:t>
            </a:r>
            <a:endParaRPr lang="en-IN" dirty="0"/>
          </a:p>
          <a:p>
            <a:endParaRPr lang="en-US" b="1" dirty="0">
              <a:solidFill>
                <a:srgbClr val="FF0000"/>
              </a:solidFill>
            </a:endParaRPr>
          </a:p>
        </p:txBody>
      </p:sp>
    </p:spTree>
    <p:extLst>
      <p:ext uri="{BB962C8B-B14F-4D97-AF65-F5344CB8AC3E}">
        <p14:creationId xmlns:p14="http://schemas.microsoft.com/office/powerpoint/2010/main" val="427547657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08"/>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Red Black Tree</a:t>
            </a:r>
          </a:p>
          <a:p>
            <a:endParaRPr lang="en-IN" dirty="0" smtClean="0"/>
          </a:p>
          <a:p>
            <a:r>
              <a:rPr lang="en-IN" dirty="0" smtClean="0"/>
              <a:t>Example </a:t>
            </a:r>
            <a:r>
              <a:rPr lang="en-IN" b="1" dirty="0"/>
              <a:t>Red‑Black </a:t>
            </a:r>
            <a:r>
              <a:rPr lang="en-IN" b="1" dirty="0" smtClean="0"/>
              <a:t>Tree</a:t>
            </a:r>
          </a:p>
          <a:p>
            <a:endParaRPr lang="en-IN" b="1" dirty="0"/>
          </a:p>
          <a:p>
            <a:r>
              <a:rPr lang="en-US" dirty="0"/>
              <a:t>Imagine we insert the numbers: 10, 20, 30, 15.</a:t>
            </a:r>
          </a:p>
          <a:p>
            <a:r>
              <a:rPr lang="en-IN" b="1" smtClean="0"/>
              <a:t>Step </a:t>
            </a:r>
            <a:r>
              <a:rPr lang="en-IN" b="1" dirty="0"/>
              <a:t>1: Insert 10</a:t>
            </a:r>
          </a:p>
          <a:p>
            <a:r>
              <a:rPr lang="en-IN" dirty="0"/>
              <a:t>Root is always black</a:t>
            </a:r>
            <a:r>
              <a:rPr lang="en-IN" dirty="0" smtClean="0"/>
              <a:t>.</a:t>
            </a:r>
          </a:p>
          <a:p>
            <a:endParaRPr lang="en-IN" dirty="0"/>
          </a:p>
          <a:p>
            <a:r>
              <a:rPr lang="en-IN" b="1" dirty="0"/>
              <a:t>Step 2: Insert 20</a:t>
            </a:r>
          </a:p>
          <a:p>
            <a:r>
              <a:rPr lang="en-US"/>
              <a:t>20 is red by default.</a:t>
            </a:r>
          </a:p>
          <a:p>
            <a:r>
              <a:rPr lang="en-US" dirty="0" smtClean="0"/>
              <a:t>No </a:t>
            </a:r>
            <a:r>
              <a:rPr lang="en-US" dirty="0"/>
              <a:t>violation (red child of black root is fine).</a:t>
            </a:r>
          </a:p>
          <a:p>
            <a:endParaRPr lang="en-US" b="1" dirty="0" smtClean="0"/>
          </a:p>
          <a:p>
            <a:r>
              <a:rPr lang="en-US" b="1" dirty="0" smtClean="0"/>
              <a:t>Step </a:t>
            </a:r>
            <a:r>
              <a:rPr lang="en-US" b="1" dirty="0"/>
              <a:t>3: Insert 30</a:t>
            </a:r>
          </a:p>
          <a:p>
            <a:r>
              <a:rPr lang="en-US" dirty="0"/>
              <a:t>30 is red.</a:t>
            </a:r>
          </a:p>
          <a:p>
            <a:r>
              <a:rPr lang="en-US" dirty="0"/>
              <a:t>Now 20(R) → 30(R) violates the “no two reds in a row” rule.</a:t>
            </a:r>
          </a:p>
          <a:p>
            <a:r>
              <a:rPr lang="en-US" dirty="0"/>
              <a:t>Fix with a </a:t>
            </a:r>
            <a:r>
              <a:rPr lang="en-US" b="1" dirty="0"/>
              <a:t>left rotation</a:t>
            </a:r>
            <a:r>
              <a:rPr lang="en-US" dirty="0"/>
              <a:t> around 10 and </a:t>
            </a:r>
            <a:r>
              <a:rPr lang="en-US" dirty="0" smtClean="0"/>
              <a:t>recoloring</a:t>
            </a:r>
            <a:endParaRPr lang="en-US" dirty="0"/>
          </a:p>
          <a:p>
            <a:endParaRPr lang="en-US" b="1" dirty="0" smtClean="0"/>
          </a:p>
          <a:p>
            <a:r>
              <a:rPr lang="en-US" b="1" dirty="0" smtClean="0"/>
              <a:t>Step </a:t>
            </a:r>
            <a:r>
              <a:rPr lang="en-US" b="1" dirty="0"/>
              <a:t>4: Insert 15</a:t>
            </a:r>
          </a:p>
          <a:p>
            <a:r>
              <a:rPr lang="en-US" dirty="0"/>
              <a:t>Insert 15 as red under 10.</a:t>
            </a:r>
          </a:p>
          <a:p>
            <a:r>
              <a:rPr lang="en-US" dirty="0"/>
              <a:t>Now 10(R) → 15(R) violates the red rule.</a:t>
            </a:r>
          </a:p>
          <a:p>
            <a:r>
              <a:rPr lang="en-US" dirty="0"/>
              <a:t>Fix with a </a:t>
            </a:r>
            <a:r>
              <a:rPr lang="en-US" b="1" dirty="0"/>
              <a:t>right‑left rotation</a:t>
            </a:r>
            <a:r>
              <a:rPr lang="en-US" dirty="0"/>
              <a:t> (rotate right on 20’s left child, then left on 20).</a:t>
            </a:r>
          </a:p>
          <a:p>
            <a:r>
              <a:rPr lang="en-US" dirty="0"/>
              <a:t>After recoloring, the tree becomes balanced:</a:t>
            </a:r>
          </a:p>
          <a:p>
            <a:endParaRPr lang="en-IN" dirty="0" smtClean="0"/>
          </a:p>
        </p:txBody>
      </p:sp>
      <p:pic>
        <p:nvPicPr>
          <p:cNvPr id="3" name="Picture 2"/>
          <p:cNvPicPr>
            <a:picLocks noChangeAspect="1"/>
          </p:cNvPicPr>
          <p:nvPr/>
        </p:nvPicPr>
        <p:blipFill>
          <a:blip r:embed="rId3"/>
          <a:stretch>
            <a:fillRect/>
          </a:stretch>
        </p:blipFill>
        <p:spPr>
          <a:xfrm>
            <a:off x="7381703" y="5066607"/>
            <a:ext cx="2301244" cy="1640888"/>
          </a:xfrm>
          <a:prstGeom prst="rect">
            <a:avLst/>
          </a:prstGeom>
        </p:spPr>
      </p:pic>
      <p:pic>
        <p:nvPicPr>
          <p:cNvPr id="7" name="Picture 6"/>
          <p:cNvPicPr>
            <a:picLocks noChangeAspect="1"/>
          </p:cNvPicPr>
          <p:nvPr/>
        </p:nvPicPr>
        <p:blipFill>
          <a:blip r:embed="rId4"/>
          <a:stretch>
            <a:fillRect/>
          </a:stretch>
        </p:blipFill>
        <p:spPr>
          <a:xfrm>
            <a:off x="2306910" y="2030883"/>
            <a:ext cx="752173" cy="471247"/>
          </a:xfrm>
          <a:prstGeom prst="rect">
            <a:avLst/>
          </a:prstGeom>
        </p:spPr>
      </p:pic>
      <p:pic>
        <p:nvPicPr>
          <p:cNvPr id="8" name="Picture 7"/>
          <p:cNvPicPr>
            <a:picLocks noChangeAspect="1"/>
          </p:cNvPicPr>
          <p:nvPr/>
        </p:nvPicPr>
        <p:blipFill>
          <a:blip r:embed="rId5"/>
          <a:stretch>
            <a:fillRect/>
          </a:stretch>
        </p:blipFill>
        <p:spPr>
          <a:xfrm>
            <a:off x="4302906" y="2916339"/>
            <a:ext cx="809738" cy="609685"/>
          </a:xfrm>
          <a:prstGeom prst="rect">
            <a:avLst/>
          </a:prstGeom>
        </p:spPr>
      </p:pic>
      <p:pic>
        <p:nvPicPr>
          <p:cNvPr id="9" name="Picture 8"/>
          <p:cNvPicPr>
            <a:picLocks noChangeAspect="1"/>
          </p:cNvPicPr>
          <p:nvPr/>
        </p:nvPicPr>
        <p:blipFill>
          <a:blip r:embed="rId6"/>
          <a:stretch>
            <a:fillRect/>
          </a:stretch>
        </p:blipFill>
        <p:spPr>
          <a:xfrm>
            <a:off x="4781205" y="4714133"/>
            <a:ext cx="1162212" cy="704948"/>
          </a:xfrm>
          <a:prstGeom prst="rect">
            <a:avLst/>
          </a:prstGeom>
        </p:spPr>
      </p:pic>
    </p:spTree>
    <p:extLst>
      <p:ext uri="{BB962C8B-B14F-4D97-AF65-F5344CB8AC3E}">
        <p14:creationId xmlns:p14="http://schemas.microsoft.com/office/powerpoint/2010/main" val="222001748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632311"/>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Red Black Tree</a:t>
            </a:r>
          </a:p>
          <a:p>
            <a:endParaRPr lang="en-IN" dirty="0" smtClean="0"/>
          </a:p>
          <a:p>
            <a:r>
              <a:rPr lang="en-US" b="1" dirty="0" smtClean="0"/>
              <a:t>Explanation </a:t>
            </a:r>
            <a:r>
              <a:rPr lang="en-US" b="1" dirty="0"/>
              <a:t>of the Rules in Action</a:t>
            </a:r>
          </a:p>
          <a:p>
            <a:pPr marL="285750" indent="-285750">
              <a:buFont typeface="Arial" panose="020B0604020202020204" pitchFamily="34" charset="0"/>
              <a:buChar char="•"/>
            </a:pPr>
            <a:r>
              <a:rPr lang="en-US" b="1" dirty="0"/>
              <a:t>Root is black</a:t>
            </a:r>
            <a:r>
              <a:rPr lang="en-US" dirty="0"/>
              <a:t> → 20 is black.</a:t>
            </a:r>
          </a:p>
          <a:p>
            <a:pPr marL="285750" indent="-285750">
              <a:buFont typeface="Arial" panose="020B0604020202020204" pitchFamily="34" charset="0"/>
              <a:buChar char="•"/>
            </a:pPr>
            <a:r>
              <a:rPr lang="en-US" b="1" dirty="0"/>
              <a:t>No two reds in a row</a:t>
            </a:r>
            <a:r>
              <a:rPr lang="en-US" dirty="0"/>
              <a:t> → 15 is red, but its parent (10) is black, so rule is satisfied.</a:t>
            </a:r>
          </a:p>
          <a:p>
            <a:pPr marL="285750" indent="-285750">
              <a:buFont typeface="Arial" panose="020B0604020202020204" pitchFamily="34" charset="0"/>
              <a:buChar char="•"/>
            </a:pPr>
            <a:r>
              <a:rPr lang="en-US" b="1" dirty="0"/>
              <a:t>Same black height</a:t>
            </a:r>
            <a:r>
              <a:rPr lang="en-US" dirty="0"/>
              <a:t> → Every path from root to leaf has the same number of black nodes.</a:t>
            </a:r>
          </a:p>
          <a:p>
            <a:pPr marL="742950" lvl="1" indent="-285750">
              <a:buFont typeface="Arial" panose="020B0604020202020204" pitchFamily="34" charset="0"/>
              <a:buChar char="•"/>
            </a:pPr>
            <a:r>
              <a:rPr lang="en-US" dirty="0"/>
              <a:t>Path 20 → 10 → NIL has 2 black nodes.</a:t>
            </a:r>
          </a:p>
          <a:p>
            <a:pPr marL="742950" lvl="1" indent="-285750">
              <a:buFont typeface="Arial" panose="020B0604020202020204" pitchFamily="34" charset="0"/>
              <a:buChar char="•"/>
            </a:pPr>
            <a:r>
              <a:rPr lang="en-US" dirty="0"/>
              <a:t>Path 20 → 30 → NIL has 2 black nodes.</a:t>
            </a:r>
          </a:p>
          <a:p>
            <a:pPr marL="742950" lvl="1" indent="-285750">
              <a:buFont typeface="Arial" panose="020B0604020202020204" pitchFamily="34" charset="0"/>
              <a:buChar char="•"/>
            </a:pPr>
            <a:r>
              <a:rPr lang="en-US" dirty="0"/>
              <a:t>Path 20 → 10 → 15 → NIL has 2 black nodes.</a:t>
            </a:r>
          </a:p>
          <a:p>
            <a:pPr marL="285750" indent="-285750">
              <a:buFont typeface="Arial" panose="020B0604020202020204" pitchFamily="34" charset="0"/>
              <a:buChar char="•"/>
            </a:pPr>
            <a:r>
              <a:rPr lang="en-US" dirty="0"/>
              <a:t>Because all rules are satisfied, the tree is balanced.</a:t>
            </a:r>
          </a:p>
          <a:p>
            <a:endParaRPr lang="en-IN" dirty="0" smtClean="0"/>
          </a:p>
          <a:p>
            <a:r>
              <a:rPr lang="en-US" b="1" dirty="0"/>
              <a:t>Key Observations</a:t>
            </a:r>
          </a:p>
          <a:p>
            <a:pPr marL="285750" indent="-285750">
              <a:buFont typeface="Arial" panose="020B0604020202020204" pitchFamily="34" charset="0"/>
              <a:buChar char="•"/>
            </a:pPr>
            <a:r>
              <a:rPr lang="en-US" b="1" dirty="0"/>
              <a:t>Colors</a:t>
            </a:r>
            <a:r>
              <a:rPr lang="en-US" dirty="0"/>
              <a:t> prevent long chains of red nodes.</a:t>
            </a:r>
          </a:p>
          <a:p>
            <a:pPr marL="285750" indent="-285750">
              <a:buFont typeface="Arial" panose="020B0604020202020204" pitchFamily="34" charset="0"/>
              <a:buChar char="•"/>
            </a:pPr>
            <a:r>
              <a:rPr lang="en-US" b="1" dirty="0"/>
              <a:t>Rotations</a:t>
            </a:r>
            <a:r>
              <a:rPr lang="en-US" dirty="0"/>
              <a:t> keep the tree balanced.</a:t>
            </a:r>
          </a:p>
          <a:p>
            <a:pPr marL="285750" indent="-285750">
              <a:buFont typeface="Arial" panose="020B0604020202020204" pitchFamily="34" charset="0"/>
              <a:buChar char="•"/>
            </a:pPr>
            <a:r>
              <a:rPr lang="en-US" b="1" dirty="0"/>
              <a:t>Black height property</a:t>
            </a:r>
            <a:r>
              <a:rPr lang="en-US" dirty="0"/>
              <a:t> ensures all paths have the same number of black nodes.</a:t>
            </a:r>
          </a:p>
          <a:p>
            <a:pPr marL="285750" indent="-285750">
              <a:buFont typeface="Arial" panose="020B0604020202020204" pitchFamily="34" charset="0"/>
              <a:buChar char="•"/>
            </a:pPr>
            <a:r>
              <a:rPr lang="en-US" dirty="0"/>
              <a:t>Height ≈ log₂(n), so operations are efficient.</a:t>
            </a:r>
          </a:p>
          <a:p>
            <a:endParaRPr lang="en-IN" dirty="0" smtClean="0"/>
          </a:p>
          <a:p>
            <a:r>
              <a:rPr lang="en-US" dirty="0" smtClean="0"/>
              <a:t>A </a:t>
            </a:r>
            <a:r>
              <a:rPr lang="en-US" dirty="0"/>
              <a:t>Red‑Black Tree is a BST that uses coloring + rotations to stay balanced. It’s less strict than AVL trees but faster for frequent insertions/deletions, which is why it’s used in Java’s </a:t>
            </a:r>
            <a:r>
              <a:rPr lang="en-US" dirty="0" err="1"/>
              <a:t>TreeMap</a:t>
            </a:r>
            <a:r>
              <a:rPr lang="en-US" dirty="0"/>
              <a:t>, C++ STL map/set, and even the Linux kernel.</a:t>
            </a:r>
          </a:p>
          <a:p>
            <a:endParaRPr lang="en-IN" dirty="0" smtClean="0"/>
          </a:p>
        </p:txBody>
      </p:sp>
    </p:spTree>
    <p:extLst>
      <p:ext uri="{BB962C8B-B14F-4D97-AF65-F5344CB8AC3E}">
        <p14:creationId xmlns:p14="http://schemas.microsoft.com/office/powerpoint/2010/main" val="94001383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Red Black Tree</a:t>
            </a:r>
          </a:p>
          <a:p>
            <a:endParaRPr lang="en-IN" dirty="0" smtClean="0"/>
          </a:p>
        </p:txBody>
      </p:sp>
      <p:pic>
        <p:nvPicPr>
          <p:cNvPr id="7" name="Picture 6"/>
          <p:cNvPicPr>
            <a:picLocks noChangeAspect="1"/>
          </p:cNvPicPr>
          <p:nvPr/>
        </p:nvPicPr>
        <p:blipFill>
          <a:blip r:embed="rId3"/>
          <a:stretch>
            <a:fillRect/>
          </a:stretch>
        </p:blipFill>
        <p:spPr>
          <a:xfrm>
            <a:off x="76108" y="791250"/>
            <a:ext cx="4725059" cy="5975824"/>
          </a:xfrm>
          <a:prstGeom prst="rect">
            <a:avLst/>
          </a:prstGeom>
        </p:spPr>
      </p:pic>
    </p:spTree>
    <p:extLst>
      <p:ext uri="{BB962C8B-B14F-4D97-AF65-F5344CB8AC3E}">
        <p14:creationId xmlns:p14="http://schemas.microsoft.com/office/powerpoint/2010/main" val="120485801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Red Black Tree</a:t>
            </a:r>
          </a:p>
          <a:p>
            <a:endParaRPr lang="en-IN" dirty="0" smtClean="0"/>
          </a:p>
        </p:txBody>
      </p:sp>
      <p:pic>
        <p:nvPicPr>
          <p:cNvPr id="8" name="Picture 7"/>
          <p:cNvPicPr>
            <a:picLocks noChangeAspect="1"/>
          </p:cNvPicPr>
          <p:nvPr/>
        </p:nvPicPr>
        <p:blipFill>
          <a:blip r:embed="rId3"/>
          <a:stretch>
            <a:fillRect/>
          </a:stretch>
        </p:blipFill>
        <p:spPr>
          <a:xfrm>
            <a:off x="145283" y="906086"/>
            <a:ext cx="5201376" cy="5843849"/>
          </a:xfrm>
          <a:prstGeom prst="rect">
            <a:avLst/>
          </a:prstGeom>
        </p:spPr>
      </p:pic>
    </p:spTree>
    <p:extLst>
      <p:ext uri="{BB962C8B-B14F-4D97-AF65-F5344CB8AC3E}">
        <p14:creationId xmlns:p14="http://schemas.microsoft.com/office/powerpoint/2010/main" val="428063130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Red Black Tree</a:t>
            </a:r>
          </a:p>
          <a:p>
            <a:endParaRPr lang="en-IN" dirty="0" smtClean="0"/>
          </a:p>
        </p:txBody>
      </p:sp>
      <p:pic>
        <p:nvPicPr>
          <p:cNvPr id="7" name="Picture 6"/>
          <p:cNvPicPr>
            <a:picLocks noChangeAspect="1"/>
          </p:cNvPicPr>
          <p:nvPr/>
        </p:nvPicPr>
        <p:blipFill>
          <a:blip r:embed="rId3"/>
          <a:stretch>
            <a:fillRect/>
          </a:stretch>
        </p:blipFill>
        <p:spPr>
          <a:xfrm>
            <a:off x="82422" y="933119"/>
            <a:ext cx="5144218" cy="5924881"/>
          </a:xfrm>
          <a:prstGeom prst="rect">
            <a:avLst/>
          </a:prstGeom>
        </p:spPr>
      </p:pic>
    </p:spTree>
    <p:extLst>
      <p:ext uri="{BB962C8B-B14F-4D97-AF65-F5344CB8AC3E}">
        <p14:creationId xmlns:p14="http://schemas.microsoft.com/office/powerpoint/2010/main" val="95434948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Red Black Tree</a:t>
            </a:r>
          </a:p>
          <a:p>
            <a:endParaRPr lang="en-IN" dirty="0" smtClean="0"/>
          </a:p>
        </p:txBody>
      </p:sp>
      <p:pic>
        <p:nvPicPr>
          <p:cNvPr id="8" name="Picture 7"/>
          <p:cNvPicPr>
            <a:picLocks noChangeAspect="1"/>
          </p:cNvPicPr>
          <p:nvPr/>
        </p:nvPicPr>
        <p:blipFill>
          <a:blip r:embed="rId3"/>
          <a:stretch>
            <a:fillRect/>
          </a:stretch>
        </p:blipFill>
        <p:spPr>
          <a:xfrm>
            <a:off x="132170" y="897775"/>
            <a:ext cx="6973273" cy="5837709"/>
          </a:xfrm>
          <a:prstGeom prst="rect">
            <a:avLst/>
          </a:prstGeom>
        </p:spPr>
      </p:pic>
    </p:spTree>
    <p:extLst>
      <p:ext uri="{BB962C8B-B14F-4D97-AF65-F5344CB8AC3E}">
        <p14:creationId xmlns:p14="http://schemas.microsoft.com/office/powerpoint/2010/main" val="135999492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Red Black Tree</a:t>
            </a:r>
          </a:p>
          <a:p>
            <a:endParaRPr lang="en-IN" dirty="0" smtClean="0"/>
          </a:p>
        </p:txBody>
      </p:sp>
      <p:pic>
        <p:nvPicPr>
          <p:cNvPr id="7" name="Picture 6"/>
          <p:cNvPicPr>
            <a:picLocks noChangeAspect="1"/>
          </p:cNvPicPr>
          <p:nvPr/>
        </p:nvPicPr>
        <p:blipFill>
          <a:blip r:embed="rId3"/>
          <a:stretch>
            <a:fillRect/>
          </a:stretch>
        </p:blipFill>
        <p:spPr>
          <a:xfrm>
            <a:off x="113820" y="920684"/>
            <a:ext cx="5630061" cy="2981741"/>
          </a:xfrm>
          <a:prstGeom prst="rect">
            <a:avLst/>
          </a:prstGeom>
        </p:spPr>
      </p:pic>
    </p:spTree>
    <p:extLst>
      <p:ext uri="{BB962C8B-B14F-4D97-AF65-F5344CB8AC3E}">
        <p14:creationId xmlns:p14="http://schemas.microsoft.com/office/powerpoint/2010/main" val="213182338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Red Black Tree</a:t>
            </a:r>
          </a:p>
          <a:p>
            <a:endParaRPr lang="en-IN" dirty="0" smtClean="0"/>
          </a:p>
        </p:txBody>
      </p:sp>
      <p:pic>
        <p:nvPicPr>
          <p:cNvPr id="8" name="Picture 7"/>
          <p:cNvPicPr>
            <a:picLocks noChangeAspect="1"/>
          </p:cNvPicPr>
          <p:nvPr/>
        </p:nvPicPr>
        <p:blipFill>
          <a:blip r:embed="rId3"/>
          <a:stretch>
            <a:fillRect/>
          </a:stretch>
        </p:blipFill>
        <p:spPr>
          <a:xfrm>
            <a:off x="77868" y="912371"/>
            <a:ext cx="5868219" cy="828791"/>
          </a:xfrm>
          <a:prstGeom prst="rect">
            <a:avLst/>
          </a:prstGeom>
        </p:spPr>
      </p:pic>
      <p:pic>
        <p:nvPicPr>
          <p:cNvPr id="9" name="Picture 8"/>
          <p:cNvPicPr>
            <a:picLocks noChangeAspect="1"/>
          </p:cNvPicPr>
          <p:nvPr/>
        </p:nvPicPr>
        <p:blipFill>
          <a:blip r:embed="rId4"/>
          <a:stretch>
            <a:fillRect/>
          </a:stretch>
        </p:blipFill>
        <p:spPr>
          <a:xfrm>
            <a:off x="235847" y="1844134"/>
            <a:ext cx="4105848" cy="4848902"/>
          </a:xfrm>
          <a:prstGeom prst="rect">
            <a:avLst/>
          </a:prstGeom>
        </p:spPr>
      </p:pic>
    </p:spTree>
    <p:extLst>
      <p:ext uri="{BB962C8B-B14F-4D97-AF65-F5344CB8AC3E}">
        <p14:creationId xmlns:p14="http://schemas.microsoft.com/office/powerpoint/2010/main" val="5919218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4801314"/>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Red Black Tree</a:t>
            </a:r>
          </a:p>
          <a:p>
            <a:endParaRPr lang="en-IN" dirty="0" smtClean="0"/>
          </a:p>
          <a:p>
            <a:r>
              <a:rPr lang="en-IN" b="1" dirty="0"/>
              <a:t>Node </a:t>
            </a:r>
            <a:r>
              <a:rPr lang="en-IN" b="1" dirty="0" smtClean="0"/>
              <a:t>Class</a:t>
            </a:r>
          </a:p>
          <a:p>
            <a:r>
              <a:rPr lang="en-IN" dirty="0" smtClean="0"/>
              <a:t>Each </a:t>
            </a:r>
            <a:r>
              <a:rPr lang="en-IN" dirty="0"/>
              <a:t>node stores:</a:t>
            </a:r>
          </a:p>
          <a:p>
            <a:pPr marL="285750" indent="-285750">
              <a:buFont typeface="Arial" panose="020B0604020202020204" pitchFamily="34" charset="0"/>
              <a:buChar char="•"/>
            </a:pPr>
            <a:r>
              <a:rPr lang="en-IN" dirty="0" smtClean="0"/>
              <a:t>data </a:t>
            </a:r>
            <a:r>
              <a:rPr lang="en-IN" dirty="0"/>
              <a:t>→ the value.</a:t>
            </a:r>
          </a:p>
          <a:p>
            <a:pPr marL="285750" indent="-285750">
              <a:buFont typeface="Arial" panose="020B0604020202020204" pitchFamily="34" charset="0"/>
              <a:buChar char="•"/>
            </a:pPr>
            <a:r>
              <a:rPr lang="en-US" dirty="0" smtClean="0"/>
              <a:t>left</a:t>
            </a:r>
            <a:r>
              <a:rPr lang="en-US" dirty="0"/>
              <a:t>, right, parent → references to other nodes.</a:t>
            </a:r>
          </a:p>
          <a:p>
            <a:pPr marL="285750" indent="-285750">
              <a:buFont typeface="Arial" panose="020B0604020202020204" pitchFamily="34" charset="0"/>
              <a:buChar char="•"/>
            </a:pPr>
            <a:r>
              <a:rPr lang="en-US" dirty="0" err="1" smtClean="0"/>
              <a:t>isRed</a:t>
            </a:r>
            <a:r>
              <a:rPr lang="en-US" dirty="0" smtClean="0"/>
              <a:t> </a:t>
            </a:r>
            <a:r>
              <a:rPr lang="en-US" dirty="0"/>
              <a:t>→ color flag (new nodes start as red).</a:t>
            </a:r>
          </a:p>
          <a:p>
            <a:endParaRPr lang="en-IN" dirty="0" smtClean="0"/>
          </a:p>
          <a:p>
            <a:r>
              <a:rPr lang="en-US" b="1" dirty="0"/>
              <a:t>Rotations</a:t>
            </a:r>
          </a:p>
          <a:p>
            <a:pPr marL="285750" indent="-285750">
              <a:buFont typeface="Arial" panose="020B0604020202020204" pitchFamily="34" charset="0"/>
              <a:buChar char="•"/>
            </a:pPr>
            <a:r>
              <a:rPr lang="en-US" b="1" dirty="0" err="1"/>
              <a:t>leftRotate</a:t>
            </a:r>
            <a:r>
              <a:rPr lang="en-US" b="1" dirty="0"/>
              <a:t>(Node x)</a:t>
            </a:r>
            <a:r>
              <a:rPr lang="en-US" dirty="0"/>
              <a:t> and </a:t>
            </a:r>
            <a:r>
              <a:rPr lang="en-US" b="1" dirty="0" err="1"/>
              <a:t>rightRotate</a:t>
            </a:r>
            <a:r>
              <a:rPr lang="en-US" b="1" dirty="0"/>
              <a:t>(Node y)</a:t>
            </a:r>
            <a:endParaRPr lang="en-US" dirty="0"/>
          </a:p>
          <a:p>
            <a:pPr marL="742950" lvl="1" indent="-285750">
              <a:buFont typeface="Arial" panose="020B0604020202020204" pitchFamily="34" charset="0"/>
              <a:buChar char="•"/>
            </a:pPr>
            <a:r>
              <a:rPr lang="en-US" dirty="0"/>
              <a:t>Rearrange nodes to fix imbalance while preserving BST order.</a:t>
            </a:r>
          </a:p>
          <a:p>
            <a:pPr marL="742950" lvl="1" indent="-285750">
              <a:buFont typeface="Arial" panose="020B0604020202020204" pitchFamily="34" charset="0"/>
              <a:buChar char="•"/>
            </a:pPr>
            <a:r>
              <a:rPr lang="en-US" dirty="0"/>
              <a:t>Used when Red‑Black rules are violated.</a:t>
            </a:r>
          </a:p>
          <a:p>
            <a:endParaRPr lang="en-IN" smtClean="0"/>
          </a:p>
          <a:p>
            <a:r>
              <a:rPr lang="en-IN" b="1" dirty="0" smtClean="0"/>
              <a:t>Insertion</a:t>
            </a:r>
          </a:p>
          <a:p>
            <a:pPr marL="285750" indent="-285750">
              <a:buFont typeface="Arial" panose="020B0604020202020204" pitchFamily="34" charset="0"/>
              <a:buChar char="•"/>
            </a:pPr>
            <a:r>
              <a:rPr lang="en-US"/>
              <a:t>First inserts like a normal BST.</a:t>
            </a:r>
          </a:p>
          <a:p>
            <a:pPr marL="285750" indent="-285750">
              <a:buFont typeface="Arial" panose="020B0604020202020204" pitchFamily="34" charset="0"/>
              <a:buChar char="•"/>
            </a:pPr>
            <a:r>
              <a:rPr lang="en-US" dirty="0" smtClean="0"/>
              <a:t>Then </a:t>
            </a:r>
            <a:r>
              <a:rPr lang="en-US" dirty="0"/>
              <a:t>calls </a:t>
            </a:r>
            <a:r>
              <a:rPr lang="en-US" dirty="0" err="1"/>
              <a:t>fixViolation</a:t>
            </a:r>
            <a:r>
              <a:rPr lang="en-US" dirty="0"/>
              <a:t>() to restore Red‑Black properties.</a:t>
            </a:r>
          </a:p>
          <a:p>
            <a:endParaRPr lang="en-IN" dirty="0" smtClean="0"/>
          </a:p>
        </p:txBody>
      </p:sp>
    </p:spTree>
    <p:extLst>
      <p:ext uri="{BB962C8B-B14F-4D97-AF65-F5344CB8AC3E}">
        <p14:creationId xmlns:p14="http://schemas.microsoft.com/office/powerpoint/2010/main" val="275239997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186309"/>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Red Black Tree</a:t>
            </a:r>
          </a:p>
          <a:p>
            <a:endParaRPr lang="en-IN" dirty="0" smtClean="0"/>
          </a:p>
          <a:p>
            <a:r>
              <a:rPr lang="en-IN" b="1" dirty="0" err="1"/>
              <a:t>fixViolation</a:t>
            </a:r>
            <a:r>
              <a:rPr lang="en-IN" b="1" dirty="0"/>
              <a:t>() </a:t>
            </a:r>
            <a:r>
              <a:rPr lang="en-IN" b="1" dirty="0" smtClean="0"/>
              <a:t>Method</a:t>
            </a:r>
          </a:p>
          <a:p>
            <a:pPr marL="285750" indent="-285750">
              <a:buFont typeface="Arial" panose="020B0604020202020204" pitchFamily="34" charset="0"/>
              <a:buChar char="•"/>
            </a:pPr>
            <a:r>
              <a:rPr lang="en-US" dirty="0"/>
              <a:t>This is the heart of the Red‑Black Tree:</a:t>
            </a:r>
          </a:p>
          <a:p>
            <a:pPr marL="285750" indent="-285750">
              <a:buFont typeface="Arial" panose="020B0604020202020204" pitchFamily="34" charset="0"/>
              <a:buChar char="•"/>
            </a:pPr>
            <a:r>
              <a:rPr lang="en-US" dirty="0"/>
              <a:t>Checks if the newly inserted node violates rules (e.g., two consecutive reds).</a:t>
            </a:r>
          </a:p>
          <a:p>
            <a:pPr marL="285750" indent="-285750">
              <a:buFont typeface="Arial" panose="020B0604020202020204" pitchFamily="34" charset="0"/>
              <a:buChar char="•"/>
            </a:pPr>
            <a:r>
              <a:rPr lang="en-US" dirty="0"/>
              <a:t>Uses </a:t>
            </a:r>
            <a:r>
              <a:rPr lang="en-US" b="1" dirty="0"/>
              <a:t>three cases</a:t>
            </a:r>
            <a:r>
              <a:rPr lang="en-US" dirty="0"/>
              <a:t>:</a:t>
            </a:r>
          </a:p>
          <a:p>
            <a:pPr marL="742950" lvl="1" indent="-285750">
              <a:buFont typeface="Arial" panose="020B0604020202020204" pitchFamily="34" charset="0"/>
              <a:buChar char="•"/>
            </a:pPr>
            <a:r>
              <a:rPr lang="en-US" b="1" dirty="0"/>
              <a:t>Uncle is red</a:t>
            </a:r>
            <a:r>
              <a:rPr lang="en-US" dirty="0"/>
              <a:t> → recolor parent and uncle black, grandparent red.</a:t>
            </a:r>
          </a:p>
          <a:p>
            <a:pPr marL="742950" lvl="1" indent="-285750">
              <a:buFont typeface="Arial" panose="020B0604020202020204" pitchFamily="34" charset="0"/>
              <a:buChar char="•"/>
            </a:pPr>
            <a:r>
              <a:rPr lang="en-US" b="1" dirty="0"/>
              <a:t>Uncle is black + zig‑</a:t>
            </a:r>
            <a:r>
              <a:rPr lang="en-US" b="1" dirty="0" err="1"/>
              <a:t>zag</a:t>
            </a:r>
            <a:r>
              <a:rPr lang="en-US" b="1" dirty="0"/>
              <a:t> shape (LR or RL)</a:t>
            </a:r>
            <a:r>
              <a:rPr lang="en-US" dirty="0"/>
              <a:t> → rotate parent, then rotate grandparent.</a:t>
            </a:r>
          </a:p>
          <a:p>
            <a:pPr marL="742950" lvl="1" indent="-285750">
              <a:buFont typeface="Arial" panose="020B0604020202020204" pitchFamily="34" charset="0"/>
              <a:buChar char="•"/>
            </a:pPr>
            <a:r>
              <a:rPr lang="en-US" b="1" dirty="0"/>
              <a:t>Uncle is black + straight line (LL or RR)</a:t>
            </a:r>
            <a:r>
              <a:rPr lang="en-US" dirty="0"/>
              <a:t> → rotate grandparent, recolor.</a:t>
            </a:r>
          </a:p>
          <a:p>
            <a:pPr marL="285750" indent="-285750">
              <a:buFont typeface="Arial" panose="020B0604020202020204" pitchFamily="34" charset="0"/>
              <a:buChar char="•"/>
            </a:pPr>
            <a:r>
              <a:rPr lang="en-US" dirty="0"/>
              <a:t>Finally ensures the </a:t>
            </a:r>
            <a:r>
              <a:rPr lang="en-US" b="1" dirty="0"/>
              <a:t>root is always black</a:t>
            </a:r>
            <a:r>
              <a:rPr lang="en-US" dirty="0"/>
              <a:t>.</a:t>
            </a:r>
          </a:p>
          <a:p>
            <a:endParaRPr lang="en-IN" b="1" dirty="0" smtClean="0"/>
          </a:p>
          <a:p>
            <a:r>
              <a:rPr lang="en-IN" b="1" dirty="0" smtClean="0"/>
              <a:t>Traversal</a:t>
            </a:r>
          </a:p>
          <a:p>
            <a:pPr marL="285750" indent="-285750">
              <a:buFont typeface="Arial" panose="020B0604020202020204" pitchFamily="34" charset="0"/>
              <a:buChar char="•"/>
            </a:pPr>
            <a:r>
              <a:rPr lang="en-US" dirty="0"/>
              <a:t>Performs </a:t>
            </a:r>
            <a:r>
              <a:rPr lang="en-US" b="1" dirty="0" err="1"/>
              <a:t>inorder</a:t>
            </a:r>
            <a:r>
              <a:rPr lang="en-US" b="1" dirty="0"/>
              <a:t> traversal</a:t>
            </a:r>
            <a:r>
              <a:rPr lang="en-US" dirty="0"/>
              <a:t> (Left → Root → Right).</a:t>
            </a:r>
          </a:p>
          <a:p>
            <a:pPr marL="285750" indent="-285750">
              <a:buFont typeface="Arial" panose="020B0604020202020204" pitchFamily="34" charset="0"/>
              <a:buChar char="•"/>
            </a:pPr>
            <a:r>
              <a:rPr lang="en-US" dirty="0"/>
              <a:t>Prints each node’s value along with its color (R or B).</a:t>
            </a:r>
          </a:p>
          <a:p>
            <a:endParaRPr lang="en-IN" b="1" dirty="0" smtClean="0"/>
          </a:p>
          <a:p>
            <a:r>
              <a:rPr lang="en-IN" b="1" dirty="0"/>
              <a:t>main() </a:t>
            </a:r>
            <a:r>
              <a:rPr lang="en-IN" b="1" dirty="0" smtClean="0"/>
              <a:t>Method</a:t>
            </a:r>
          </a:p>
          <a:p>
            <a:pPr marL="285750" indent="-285750">
              <a:buFont typeface="Arial" panose="020B0604020202020204" pitchFamily="34" charset="0"/>
              <a:buChar char="•"/>
            </a:pPr>
            <a:r>
              <a:rPr lang="en-US" dirty="0"/>
              <a:t>Inserts values {10, 20, 30, 15, 25, 5} one by one.</a:t>
            </a:r>
          </a:p>
          <a:p>
            <a:pPr marL="285750" indent="-285750">
              <a:buFont typeface="Arial" panose="020B0604020202020204" pitchFamily="34" charset="0"/>
              <a:buChar char="•"/>
            </a:pPr>
            <a:r>
              <a:rPr lang="en-US" dirty="0" smtClean="0"/>
              <a:t>After </a:t>
            </a:r>
            <a:r>
              <a:rPr lang="en-US" dirty="0"/>
              <a:t>each insertion, the tree rebalances itself using rotations and recoloring.</a:t>
            </a:r>
          </a:p>
          <a:p>
            <a:pPr marL="285750" indent="-285750">
              <a:buFont typeface="Arial" panose="020B0604020202020204" pitchFamily="34" charset="0"/>
              <a:buChar char="•"/>
            </a:pPr>
            <a:r>
              <a:rPr lang="en-US" dirty="0" smtClean="0"/>
              <a:t>Finally </a:t>
            </a:r>
            <a:r>
              <a:rPr lang="en-US" dirty="0"/>
              <a:t>prints the </a:t>
            </a:r>
            <a:r>
              <a:rPr lang="en-US" dirty="0" err="1"/>
              <a:t>inorder</a:t>
            </a:r>
            <a:r>
              <a:rPr lang="en-US" dirty="0"/>
              <a:t> traversal with node colors, e.g</a:t>
            </a:r>
            <a:r>
              <a:rPr lang="en-US" dirty="0" smtClean="0"/>
              <a:t>.: </a:t>
            </a:r>
            <a:r>
              <a:rPr lang="pt-BR" dirty="0"/>
              <a:t>5(B) 10(B) 15(R) 20(B) 25(R) 30(B)</a:t>
            </a:r>
          </a:p>
          <a:p>
            <a:r>
              <a:rPr lang="en-US" dirty="0"/>
              <a:t>(Exact colors may vary depending on rotations, but the Red‑Black rules are always satisfied.)</a:t>
            </a:r>
          </a:p>
          <a:p>
            <a:endParaRPr lang="en-US" dirty="0"/>
          </a:p>
          <a:p>
            <a:endParaRPr lang="en-IN" b="1" dirty="0" smtClean="0"/>
          </a:p>
        </p:txBody>
      </p:sp>
    </p:spTree>
    <p:extLst>
      <p:ext uri="{BB962C8B-B14F-4D97-AF65-F5344CB8AC3E}">
        <p14:creationId xmlns:p14="http://schemas.microsoft.com/office/powerpoint/2010/main" val="48140265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2308324"/>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Red Black Tree</a:t>
            </a:r>
          </a:p>
          <a:p>
            <a:endParaRPr lang="en-IN" dirty="0" smtClean="0"/>
          </a:p>
          <a:p>
            <a:r>
              <a:rPr lang="en-IN"/>
              <a:t>This program:</a:t>
            </a:r>
          </a:p>
          <a:p>
            <a:pPr marL="285750" indent="-285750">
              <a:buFont typeface="Arial" panose="020B0604020202020204" pitchFamily="34" charset="0"/>
              <a:buChar char="•"/>
            </a:pPr>
            <a:r>
              <a:rPr lang="en-IN" dirty="0"/>
              <a:t>Implements a Red‑Black Tree.</a:t>
            </a:r>
          </a:p>
          <a:p>
            <a:pPr marL="285750" indent="-285750">
              <a:buFont typeface="Arial" panose="020B0604020202020204" pitchFamily="34" charset="0"/>
              <a:buChar char="•"/>
            </a:pPr>
            <a:r>
              <a:rPr lang="en-US"/>
              <a:t>Inserts nodes while maintaining balance using rotations + recoloring.</a:t>
            </a:r>
          </a:p>
          <a:p>
            <a:pPr marL="285750" indent="-285750">
              <a:buFont typeface="Arial" panose="020B0604020202020204" pitchFamily="34" charset="0"/>
              <a:buChar char="•"/>
            </a:pPr>
            <a:r>
              <a:rPr lang="en-US" dirty="0"/>
              <a:t>Prints the final tree in sorted order with colors.</a:t>
            </a:r>
          </a:p>
          <a:p>
            <a:endParaRPr lang="en-IN"/>
          </a:p>
          <a:p>
            <a:r>
              <a:rPr lang="en-US" smtClean="0"/>
              <a:t>It </a:t>
            </a:r>
            <a:r>
              <a:rPr lang="en-US"/>
              <a:t>demonstrates how Red‑Black Trees self‑balance automatically, ensuring efficient search, insert, and delete operations.</a:t>
            </a:r>
          </a:p>
        </p:txBody>
      </p:sp>
    </p:spTree>
    <p:extLst>
      <p:ext uri="{BB962C8B-B14F-4D97-AF65-F5344CB8AC3E}">
        <p14:creationId xmlns:p14="http://schemas.microsoft.com/office/powerpoint/2010/main" val="408003531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4247317"/>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Splay Tree</a:t>
            </a:r>
          </a:p>
          <a:p>
            <a:endParaRPr lang="en-IN" dirty="0" smtClean="0"/>
          </a:p>
          <a:p>
            <a:r>
              <a:rPr lang="en-US" b="1" dirty="0"/>
              <a:t>A Splay Tree is a self‑adjusting binary search tree that moves the most recently accessed node to the root using rotations, making frequently used elements quicker to access.</a:t>
            </a:r>
            <a:r>
              <a:rPr lang="en-US" dirty="0"/>
              <a:t> It doesn’t guarantee strict balance like AVL or Red‑Black Trees, but it provides </a:t>
            </a:r>
            <a:r>
              <a:rPr lang="en-US" b="1" dirty="0"/>
              <a:t>amortized O(log n)</a:t>
            </a:r>
            <a:r>
              <a:rPr lang="en-US" dirty="0"/>
              <a:t> performance for search, insert, and delete </a:t>
            </a:r>
            <a:r>
              <a:rPr lang="en-US" dirty="0" smtClean="0"/>
              <a:t>operations.</a:t>
            </a:r>
          </a:p>
          <a:p>
            <a:endParaRPr lang="en-US" dirty="0"/>
          </a:p>
          <a:p>
            <a:pPr marL="285750" indent="-285750">
              <a:buFont typeface="Arial" panose="020B0604020202020204" pitchFamily="34" charset="0"/>
              <a:buChar char="•"/>
            </a:pPr>
            <a:r>
              <a:rPr lang="en-US" dirty="0"/>
              <a:t>Every time you search, insert, or delete a node, the tree performs a process called splaying.</a:t>
            </a:r>
          </a:p>
          <a:p>
            <a:pPr marL="285750" indent="-285750">
              <a:buFont typeface="Arial" panose="020B0604020202020204" pitchFamily="34" charset="0"/>
              <a:buChar char="•"/>
            </a:pPr>
            <a:r>
              <a:rPr lang="en-US" dirty="0" smtClean="0"/>
              <a:t>Splaying </a:t>
            </a:r>
            <a:r>
              <a:rPr lang="en-US" dirty="0"/>
              <a:t>= a sequence of rotations that brings the accessed node to the root.</a:t>
            </a:r>
          </a:p>
          <a:p>
            <a:pPr marL="285750" indent="-285750">
              <a:buFont typeface="Arial" panose="020B0604020202020204" pitchFamily="34" charset="0"/>
              <a:buChar char="•"/>
            </a:pPr>
            <a:r>
              <a:rPr lang="en-US" dirty="0" smtClean="0"/>
              <a:t>This </a:t>
            </a:r>
            <a:r>
              <a:rPr lang="en-US" dirty="0"/>
              <a:t>means recently accessed nodes stay near the root, reducing access time if they’re used again soon.</a:t>
            </a:r>
          </a:p>
          <a:p>
            <a:endParaRPr lang="en-US" dirty="0" smtClean="0"/>
          </a:p>
          <a:p>
            <a:r>
              <a:rPr lang="en-US" b="1" dirty="0"/>
              <a:t>Operations</a:t>
            </a:r>
          </a:p>
          <a:p>
            <a:pPr marL="285750" indent="-285750">
              <a:buFont typeface="Arial" panose="020B0604020202020204" pitchFamily="34" charset="0"/>
              <a:buChar char="•"/>
            </a:pPr>
            <a:r>
              <a:rPr lang="en-US" b="1" dirty="0"/>
              <a:t>Search</a:t>
            </a:r>
            <a:r>
              <a:rPr lang="en-US" dirty="0"/>
              <a:t>: Perform normal BST search, then splay the found node to the root.</a:t>
            </a:r>
          </a:p>
          <a:p>
            <a:pPr marL="285750" indent="-285750">
              <a:buFont typeface="Arial" panose="020B0604020202020204" pitchFamily="34" charset="0"/>
              <a:buChar char="•"/>
            </a:pPr>
            <a:r>
              <a:rPr lang="en-US" b="1" dirty="0"/>
              <a:t>Insert</a:t>
            </a:r>
            <a:r>
              <a:rPr lang="en-US" dirty="0"/>
              <a:t>: Insert like a BST, then splay the new node to the root.</a:t>
            </a:r>
          </a:p>
          <a:p>
            <a:pPr marL="285750" indent="-285750">
              <a:buFont typeface="Arial" panose="020B0604020202020204" pitchFamily="34" charset="0"/>
              <a:buChar char="•"/>
            </a:pPr>
            <a:r>
              <a:rPr lang="en-US" b="1" dirty="0"/>
              <a:t>Delete</a:t>
            </a:r>
            <a:r>
              <a:rPr lang="en-US" dirty="0"/>
              <a:t>: Splay the node to be deleted to the root, remove it, and reconnect </a:t>
            </a:r>
            <a:r>
              <a:rPr lang="en-US" dirty="0" err="1"/>
              <a:t>subtrees</a:t>
            </a:r>
            <a:r>
              <a:rPr lang="en-US" dirty="0"/>
              <a:t>.</a:t>
            </a:r>
          </a:p>
          <a:p>
            <a:endParaRPr lang="en-US" dirty="0"/>
          </a:p>
        </p:txBody>
      </p:sp>
    </p:spTree>
    <p:extLst>
      <p:ext uri="{BB962C8B-B14F-4D97-AF65-F5344CB8AC3E}">
        <p14:creationId xmlns:p14="http://schemas.microsoft.com/office/powerpoint/2010/main" val="381210567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186309"/>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Splay Tree</a:t>
            </a:r>
          </a:p>
          <a:p>
            <a:endParaRPr lang="en-IN" dirty="0" smtClean="0"/>
          </a:p>
          <a:p>
            <a:r>
              <a:rPr lang="en-US" b="1" dirty="0"/>
              <a:t>Types of Rotations in </a:t>
            </a:r>
            <a:r>
              <a:rPr lang="en-US" b="1" dirty="0" smtClean="0"/>
              <a:t>Splaying</a:t>
            </a:r>
          </a:p>
          <a:p>
            <a:endParaRPr lang="en-US" dirty="0"/>
          </a:p>
          <a:p>
            <a:r>
              <a:rPr lang="en-US" dirty="0"/>
              <a:t>There are six rotation patterns depending on the node’s position relative to its parent and grandparent:</a:t>
            </a:r>
          </a:p>
          <a:p>
            <a:endParaRPr lang="en-IN"/>
          </a:p>
          <a:p>
            <a:pPr marL="285750" indent="-285750">
              <a:buFont typeface="Arial" panose="020B0604020202020204" pitchFamily="34" charset="0"/>
              <a:buChar char="•"/>
            </a:pPr>
            <a:r>
              <a:rPr lang="en-US"/>
              <a:t>Zig: Node is left child of root → single right rotation.</a:t>
            </a:r>
          </a:p>
          <a:p>
            <a:pPr marL="285750" indent="-285750">
              <a:buFont typeface="Arial" panose="020B0604020202020204" pitchFamily="34" charset="0"/>
              <a:buChar char="•"/>
            </a:pPr>
            <a:r>
              <a:rPr lang="en-US" dirty="0" smtClean="0"/>
              <a:t>Zag</a:t>
            </a:r>
            <a:r>
              <a:rPr lang="en-US" dirty="0"/>
              <a:t>: Node is right child of root → single left rotation.</a:t>
            </a:r>
          </a:p>
          <a:p>
            <a:pPr marL="285750" indent="-285750">
              <a:buFont typeface="Arial" panose="020B0604020202020204" pitchFamily="34" charset="0"/>
              <a:buChar char="•"/>
            </a:pPr>
            <a:r>
              <a:rPr lang="en-US" dirty="0" smtClean="0"/>
              <a:t>Zig‑Zig</a:t>
            </a:r>
            <a:r>
              <a:rPr lang="en-US" dirty="0"/>
              <a:t>: Node and parent are both left children → two right rotations.</a:t>
            </a:r>
          </a:p>
          <a:p>
            <a:pPr marL="285750" indent="-285750">
              <a:buFont typeface="Arial" panose="020B0604020202020204" pitchFamily="34" charset="0"/>
              <a:buChar char="•"/>
            </a:pPr>
            <a:r>
              <a:rPr lang="en-US" dirty="0" err="1" smtClean="0"/>
              <a:t>Zag‑Zag</a:t>
            </a:r>
            <a:r>
              <a:rPr lang="en-US" dirty="0"/>
              <a:t>: Node and parent are both right children → two left rotations.</a:t>
            </a:r>
          </a:p>
          <a:p>
            <a:pPr marL="285750" indent="-285750">
              <a:buFont typeface="Arial" panose="020B0604020202020204" pitchFamily="34" charset="0"/>
              <a:buChar char="•"/>
            </a:pPr>
            <a:r>
              <a:rPr lang="en-US" dirty="0" smtClean="0"/>
              <a:t>Zig‑</a:t>
            </a:r>
            <a:r>
              <a:rPr lang="en-US" dirty="0" err="1" smtClean="0"/>
              <a:t>Zag</a:t>
            </a:r>
            <a:r>
              <a:rPr lang="en-US" dirty="0"/>
              <a:t>: Node is right child of left parent → left rotation on parent, then right rotation on grandparent.</a:t>
            </a:r>
          </a:p>
          <a:p>
            <a:pPr marL="285750" indent="-285750">
              <a:buFont typeface="Arial" panose="020B0604020202020204" pitchFamily="34" charset="0"/>
              <a:buChar char="•"/>
            </a:pPr>
            <a:r>
              <a:rPr lang="en-US" dirty="0" err="1" smtClean="0"/>
              <a:t>Zag</a:t>
            </a:r>
            <a:r>
              <a:rPr lang="en-US" dirty="0" smtClean="0"/>
              <a:t>‑Zig</a:t>
            </a:r>
            <a:r>
              <a:rPr lang="en-US" dirty="0"/>
              <a:t>: Node is left child of right parent → right rotation on parent, then left rotation on grandparent</a:t>
            </a:r>
            <a:r>
              <a:rPr lang="en-US" dirty="0" smtClean="0"/>
              <a:t>.</a:t>
            </a:r>
          </a:p>
          <a:p>
            <a:pPr marL="285750" indent="-285750">
              <a:buFont typeface="Arial" panose="020B0604020202020204" pitchFamily="34" charset="0"/>
              <a:buChar char="•"/>
            </a:pPr>
            <a:endParaRPr lang="en-US" dirty="0"/>
          </a:p>
          <a:p>
            <a:r>
              <a:rPr lang="en-US" b="1" dirty="0"/>
              <a:t>Performance</a:t>
            </a:r>
          </a:p>
          <a:p>
            <a:pPr marL="285750" indent="-285750">
              <a:buFont typeface="Arial" panose="020B0604020202020204" pitchFamily="34" charset="0"/>
              <a:buChar char="•"/>
            </a:pPr>
            <a:r>
              <a:rPr lang="en-US" b="1" dirty="0"/>
              <a:t>Amortized complexity</a:t>
            </a:r>
            <a:r>
              <a:rPr lang="en-US" dirty="0"/>
              <a:t>: O(log n) for search, insert, delete.</a:t>
            </a:r>
          </a:p>
          <a:p>
            <a:pPr marL="285750" indent="-285750">
              <a:buFont typeface="Arial" panose="020B0604020202020204" pitchFamily="34" charset="0"/>
              <a:buChar char="•"/>
            </a:pPr>
            <a:r>
              <a:rPr lang="en-US" b="1" dirty="0"/>
              <a:t>Worst case</a:t>
            </a:r>
            <a:r>
              <a:rPr lang="en-US" dirty="0"/>
              <a:t>: O(n) for a single operation (if tree becomes skewed).</a:t>
            </a:r>
          </a:p>
          <a:p>
            <a:pPr marL="285750" indent="-285750">
              <a:buFont typeface="Arial" panose="020B0604020202020204" pitchFamily="34" charset="0"/>
              <a:buChar char="•"/>
            </a:pPr>
            <a:r>
              <a:rPr lang="en-US" dirty="0"/>
              <a:t>But because splaying keeps frequently accessed nodes near the root, the average performance is excellent.</a:t>
            </a:r>
          </a:p>
          <a:p>
            <a:endParaRPr lang="en-US" dirty="0" smtClean="0"/>
          </a:p>
          <a:p>
            <a:r>
              <a:rPr lang="en-IN" b="1"/>
              <a:t>Applications</a:t>
            </a:r>
          </a:p>
          <a:p>
            <a:pPr marL="285750" indent="-285750">
              <a:buFont typeface="Arial" panose="020B0604020202020204" pitchFamily="34" charset="0"/>
              <a:buChar char="•"/>
            </a:pPr>
            <a:r>
              <a:rPr lang="en-US"/>
              <a:t>Caching systems → frequently accessed items stay near the root.</a:t>
            </a:r>
          </a:p>
          <a:p>
            <a:pPr marL="285750" indent="-285750">
              <a:buFont typeface="Arial" panose="020B0604020202020204" pitchFamily="34" charset="0"/>
              <a:buChar char="•"/>
            </a:pPr>
            <a:r>
              <a:rPr lang="en-IN" smtClean="0"/>
              <a:t>Data </a:t>
            </a:r>
            <a:r>
              <a:rPr lang="en-IN" dirty="0"/>
              <a:t>compression algorithms.</a:t>
            </a:r>
          </a:p>
          <a:p>
            <a:pPr marL="285750" indent="-285750">
              <a:buFont typeface="Arial" panose="020B0604020202020204" pitchFamily="34" charset="0"/>
              <a:buChar char="•"/>
            </a:pPr>
            <a:r>
              <a:rPr lang="en-US" smtClean="0"/>
              <a:t>Network </a:t>
            </a:r>
            <a:r>
              <a:rPr lang="en-US"/>
              <a:t>routing → quick access to recently used paths</a:t>
            </a:r>
            <a:r>
              <a:rPr lang="en-US" smtClean="0"/>
              <a:t>.</a:t>
            </a:r>
            <a:endParaRPr lang="en-US" dirty="0"/>
          </a:p>
        </p:txBody>
      </p:sp>
    </p:spTree>
    <p:extLst>
      <p:ext uri="{BB962C8B-B14F-4D97-AF65-F5344CB8AC3E}">
        <p14:creationId xmlns:p14="http://schemas.microsoft.com/office/powerpoint/2010/main" val="282957873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1477328"/>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Splay Tree</a:t>
            </a:r>
          </a:p>
          <a:p>
            <a:endParaRPr lang="en-IN" dirty="0" smtClean="0"/>
          </a:p>
          <a:p>
            <a:r>
              <a:rPr lang="en-US" dirty="0"/>
              <a:t>A </a:t>
            </a:r>
            <a:r>
              <a:rPr lang="en-US" b="1" dirty="0"/>
              <a:t>Splay Tree</a:t>
            </a:r>
            <a:r>
              <a:rPr lang="en-US" dirty="0"/>
              <a:t> is a BST that </a:t>
            </a:r>
            <a:r>
              <a:rPr lang="en-US" b="1" dirty="0"/>
              <a:t>self‑adjusts dynamically</a:t>
            </a:r>
            <a:r>
              <a:rPr lang="en-US" dirty="0"/>
              <a:t>: every access reshapes the tree so that frequently used nodes are faster to reach. It’s simple, efficient in practice, and great for workloads with repeated access patterns — but it doesn’t guarantee strict balance, so worst‑case performance can degrade.</a:t>
            </a:r>
          </a:p>
        </p:txBody>
      </p:sp>
    </p:spTree>
    <p:extLst>
      <p:ext uri="{BB962C8B-B14F-4D97-AF65-F5344CB8AC3E}">
        <p14:creationId xmlns:p14="http://schemas.microsoft.com/office/powerpoint/2010/main" val="147024642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909310"/>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Splay Tree</a:t>
            </a:r>
          </a:p>
          <a:p>
            <a:endParaRPr lang="en-IN" dirty="0" smtClean="0"/>
          </a:p>
          <a:p>
            <a:r>
              <a:rPr lang="en-US" b="1" dirty="0" smtClean="0"/>
              <a:t>Step‑by‑step </a:t>
            </a:r>
            <a:r>
              <a:rPr lang="en-US" b="1" dirty="0"/>
              <a:t>diagrammatic explanation of how a Splay Tree works when you access a node (say, searching for 30</a:t>
            </a:r>
            <a:r>
              <a:rPr lang="en-US" b="1" dirty="0" smtClean="0"/>
              <a:t>).</a:t>
            </a:r>
          </a:p>
          <a:p>
            <a:endParaRPr lang="en-US" b="1" dirty="0"/>
          </a:p>
          <a:p>
            <a:r>
              <a:rPr lang="en-IN" b="1" dirty="0"/>
              <a:t>Initial Tree (before splaying)</a:t>
            </a:r>
          </a:p>
          <a:p>
            <a:r>
              <a:rPr lang="en-US" dirty="0"/>
              <a:t>Suppose we inserted values 10, 20, 30 into a normal BST:</a:t>
            </a:r>
          </a:p>
          <a:p>
            <a:r>
              <a:rPr lang="en-US" dirty="0" smtClean="0"/>
              <a:t>This </a:t>
            </a:r>
            <a:r>
              <a:rPr lang="en-US" dirty="0"/>
              <a:t>is skewed (like a linked list).</a:t>
            </a:r>
          </a:p>
          <a:p>
            <a:endParaRPr lang="en-US" dirty="0" smtClean="0"/>
          </a:p>
          <a:p>
            <a:r>
              <a:rPr lang="en-US" b="1" dirty="0" smtClean="0"/>
              <a:t>Step </a:t>
            </a:r>
            <a:r>
              <a:rPr lang="en-US" b="1" dirty="0"/>
              <a:t>1: Search for 30</a:t>
            </a:r>
          </a:p>
          <a:p>
            <a:pPr marL="285750" indent="-285750">
              <a:buFont typeface="Arial" panose="020B0604020202020204" pitchFamily="34" charset="0"/>
              <a:buChar char="•"/>
            </a:pPr>
            <a:r>
              <a:rPr lang="en-US" dirty="0"/>
              <a:t>We find 30 at the bottom.</a:t>
            </a:r>
          </a:p>
          <a:p>
            <a:pPr marL="285750" indent="-285750">
              <a:buFont typeface="Arial" panose="020B0604020202020204" pitchFamily="34" charset="0"/>
              <a:buChar char="•"/>
            </a:pPr>
            <a:r>
              <a:rPr lang="en-US" dirty="0"/>
              <a:t>Now the tree performs splaying to bring 30 to the root.</a:t>
            </a:r>
          </a:p>
          <a:p>
            <a:endParaRPr lang="en-US" dirty="0" smtClean="0"/>
          </a:p>
          <a:p>
            <a:r>
              <a:rPr lang="en-US" b="1" dirty="0"/>
              <a:t>Step 2: Zig‑Zig Rotation (Right‑Right case)</a:t>
            </a:r>
          </a:p>
          <a:p>
            <a:r>
              <a:rPr lang="en-US" dirty="0"/>
              <a:t>Node 30 and its parent 20 are both right children.</a:t>
            </a:r>
          </a:p>
          <a:p>
            <a:r>
              <a:rPr lang="en-IN"/>
              <a:t>Perform two left rotations:</a:t>
            </a:r>
          </a:p>
          <a:p>
            <a:pPr marL="285750" indent="-285750">
              <a:buFont typeface="Arial" panose="020B0604020202020204" pitchFamily="34" charset="0"/>
              <a:buChar char="•"/>
            </a:pPr>
            <a:r>
              <a:rPr lang="en-IN" dirty="0"/>
              <a:t>Rotate left around 10.</a:t>
            </a:r>
          </a:p>
          <a:p>
            <a:pPr marL="285750" indent="-285750">
              <a:buFont typeface="Arial" panose="020B0604020202020204" pitchFamily="34" charset="0"/>
              <a:buChar char="•"/>
            </a:pPr>
            <a:r>
              <a:rPr lang="en-IN" dirty="0"/>
              <a:t>Rotate left around 20</a:t>
            </a:r>
          </a:p>
          <a:p>
            <a:endParaRPr lang="en-US" smtClean="0"/>
          </a:p>
          <a:p>
            <a:r>
              <a:rPr lang="en-IN" b="1"/>
              <a:t>Final Tree (after splaying</a:t>
            </a:r>
            <a:r>
              <a:rPr lang="en-IN" b="1" smtClean="0"/>
              <a:t>)</a:t>
            </a:r>
          </a:p>
          <a:p>
            <a:r>
              <a:rPr lang="en-US"/>
              <a:t>Now 30 is at the root.</a:t>
            </a:r>
          </a:p>
          <a:p>
            <a:endParaRPr lang="en-US" dirty="0"/>
          </a:p>
        </p:txBody>
      </p:sp>
      <p:pic>
        <p:nvPicPr>
          <p:cNvPr id="2" name="Picture 1"/>
          <p:cNvPicPr>
            <a:picLocks noChangeAspect="1"/>
          </p:cNvPicPr>
          <p:nvPr/>
        </p:nvPicPr>
        <p:blipFill>
          <a:blip r:embed="rId3"/>
          <a:stretch>
            <a:fillRect/>
          </a:stretch>
        </p:blipFill>
        <p:spPr>
          <a:xfrm>
            <a:off x="5485740" y="1681958"/>
            <a:ext cx="1430449" cy="1427002"/>
          </a:xfrm>
          <a:prstGeom prst="rect">
            <a:avLst/>
          </a:prstGeom>
        </p:spPr>
      </p:pic>
      <p:pic>
        <p:nvPicPr>
          <p:cNvPr id="3" name="Picture 2"/>
          <p:cNvPicPr>
            <a:picLocks noChangeAspect="1"/>
          </p:cNvPicPr>
          <p:nvPr/>
        </p:nvPicPr>
        <p:blipFill>
          <a:blip r:embed="rId4"/>
          <a:stretch>
            <a:fillRect/>
          </a:stretch>
        </p:blipFill>
        <p:spPr>
          <a:xfrm>
            <a:off x="2742540" y="5343552"/>
            <a:ext cx="1239256" cy="1281692"/>
          </a:xfrm>
          <a:prstGeom prst="rect">
            <a:avLst/>
          </a:prstGeom>
        </p:spPr>
      </p:pic>
    </p:spTree>
    <p:extLst>
      <p:ext uri="{BB962C8B-B14F-4D97-AF65-F5344CB8AC3E}">
        <p14:creationId xmlns:p14="http://schemas.microsoft.com/office/powerpoint/2010/main" val="1730249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309420"/>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Splay Tree</a:t>
            </a:r>
          </a:p>
          <a:p>
            <a:endParaRPr lang="en-IN" dirty="0" smtClean="0"/>
          </a:p>
          <a:p>
            <a:r>
              <a:rPr lang="en-US" sz="1600" b="1" dirty="0"/>
              <a:t>1. Zig (Right Rotation)</a:t>
            </a:r>
          </a:p>
          <a:p>
            <a:r>
              <a:rPr lang="en-US" sz="1600" dirty="0"/>
              <a:t>Node is the </a:t>
            </a:r>
            <a:r>
              <a:rPr lang="en-US" sz="1600" b="1" dirty="0"/>
              <a:t>left child of the root</a:t>
            </a:r>
            <a:r>
              <a:rPr lang="en-US" sz="1600" dirty="0"/>
              <a:t>.</a:t>
            </a:r>
          </a:p>
          <a:p>
            <a:r>
              <a:rPr lang="en-US" sz="1600" dirty="0"/>
              <a:t>Single right rotation brings it up.</a:t>
            </a:r>
          </a:p>
          <a:p>
            <a:endParaRPr lang="en-IN" sz="1600" dirty="0" smtClean="0"/>
          </a:p>
          <a:p>
            <a:r>
              <a:rPr lang="en-US" sz="1600" b="1" dirty="0"/>
              <a:t>2. Zag (Left Rotation)</a:t>
            </a:r>
          </a:p>
          <a:p>
            <a:r>
              <a:rPr lang="en-US" sz="1600" dirty="0"/>
              <a:t>Node is the </a:t>
            </a:r>
            <a:r>
              <a:rPr lang="en-US" sz="1600" b="1" dirty="0"/>
              <a:t>right child of the root</a:t>
            </a:r>
            <a:r>
              <a:rPr lang="en-US" sz="1600" dirty="0"/>
              <a:t>.</a:t>
            </a:r>
          </a:p>
          <a:p>
            <a:r>
              <a:rPr lang="en-US" sz="1600" dirty="0"/>
              <a:t>Single left rotation brings it up.</a:t>
            </a:r>
          </a:p>
          <a:p>
            <a:endParaRPr lang="en-IN" sz="1600" dirty="0" smtClean="0"/>
          </a:p>
          <a:p>
            <a:r>
              <a:rPr lang="en-US" sz="1600" b="1" dirty="0"/>
              <a:t>3. Zig‑Zig (Double Right Rotation)</a:t>
            </a:r>
          </a:p>
          <a:p>
            <a:r>
              <a:rPr lang="en-US" sz="1600" dirty="0"/>
              <a:t>Node and parent are both </a:t>
            </a:r>
            <a:r>
              <a:rPr lang="en-US" sz="1600" b="1" dirty="0"/>
              <a:t>left children</a:t>
            </a:r>
            <a:r>
              <a:rPr lang="en-US" sz="1600" dirty="0"/>
              <a:t>.</a:t>
            </a:r>
          </a:p>
          <a:p>
            <a:r>
              <a:rPr lang="en-US" sz="1600" dirty="0"/>
              <a:t>Two right rotations bring node to root.</a:t>
            </a:r>
          </a:p>
          <a:p>
            <a:endParaRPr lang="en-IN" sz="1600" dirty="0" smtClean="0"/>
          </a:p>
          <a:p>
            <a:r>
              <a:rPr lang="en-US" sz="1600" b="1" dirty="0"/>
              <a:t>4. Zag‑Zag (Double Left Rotation)</a:t>
            </a:r>
          </a:p>
          <a:p>
            <a:r>
              <a:rPr lang="en-US" sz="1600" dirty="0"/>
              <a:t>Node and parent are both </a:t>
            </a:r>
            <a:r>
              <a:rPr lang="en-US" sz="1600" b="1" dirty="0"/>
              <a:t>right children</a:t>
            </a:r>
            <a:r>
              <a:rPr lang="en-US" sz="1600" dirty="0"/>
              <a:t>.</a:t>
            </a:r>
          </a:p>
          <a:p>
            <a:r>
              <a:rPr lang="en-US" sz="1600" dirty="0"/>
              <a:t>Two left rotations bring node to root.</a:t>
            </a:r>
          </a:p>
          <a:p>
            <a:endParaRPr lang="en-IN" sz="1600" dirty="0" smtClean="0"/>
          </a:p>
          <a:p>
            <a:r>
              <a:rPr lang="en-US" sz="1600" b="1" dirty="0"/>
              <a:t>5. Zig‑Zag (Left then Right Rotation)</a:t>
            </a:r>
          </a:p>
          <a:p>
            <a:r>
              <a:rPr lang="en-US" sz="1600" dirty="0"/>
              <a:t>Node is the </a:t>
            </a:r>
            <a:r>
              <a:rPr lang="en-US" sz="1600" b="1" dirty="0"/>
              <a:t>right child of a left parent</a:t>
            </a:r>
            <a:r>
              <a:rPr lang="en-US" sz="1600" dirty="0"/>
              <a:t>.</a:t>
            </a:r>
          </a:p>
          <a:p>
            <a:r>
              <a:rPr lang="en-US" sz="1600" dirty="0"/>
              <a:t>First left rotation on parent, then right rotation on grandparent.</a:t>
            </a:r>
          </a:p>
          <a:p>
            <a:endParaRPr lang="en-IN" sz="1600" dirty="0" smtClean="0"/>
          </a:p>
          <a:p>
            <a:r>
              <a:rPr lang="en-US" sz="1600" b="1" dirty="0"/>
              <a:t>6. Zag‑Zig (Right then Left Rotation)</a:t>
            </a:r>
          </a:p>
          <a:p>
            <a:r>
              <a:rPr lang="en-US" sz="1600" dirty="0"/>
              <a:t>Node is the </a:t>
            </a:r>
            <a:r>
              <a:rPr lang="en-US" sz="1600" b="1" dirty="0"/>
              <a:t>left child of a right parent</a:t>
            </a:r>
            <a:r>
              <a:rPr lang="en-US" sz="1600" dirty="0"/>
              <a:t>.</a:t>
            </a:r>
          </a:p>
          <a:p>
            <a:r>
              <a:rPr lang="en-US" sz="1600" dirty="0"/>
              <a:t>First right rotation on parent, then left rotation on grandparent</a:t>
            </a:r>
            <a:r>
              <a:rPr lang="en-US" sz="1600" dirty="0" smtClean="0"/>
              <a:t>.</a:t>
            </a:r>
            <a:endParaRPr lang="en-IN" sz="1600" dirty="0" smtClean="0"/>
          </a:p>
        </p:txBody>
      </p:sp>
      <p:pic>
        <p:nvPicPr>
          <p:cNvPr id="8" name="Picture 7"/>
          <p:cNvPicPr>
            <a:picLocks noChangeAspect="1"/>
          </p:cNvPicPr>
          <p:nvPr/>
        </p:nvPicPr>
        <p:blipFill>
          <a:blip r:embed="rId3"/>
          <a:stretch>
            <a:fillRect/>
          </a:stretch>
        </p:blipFill>
        <p:spPr>
          <a:xfrm>
            <a:off x="2952777" y="1158221"/>
            <a:ext cx="1562318" cy="676369"/>
          </a:xfrm>
          <a:prstGeom prst="rect">
            <a:avLst/>
          </a:prstGeom>
        </p:spPr>
      </p:pic>
      <p:pic>
        <p:nvPicPr>
          <p:cNvPr id="9" name="Picture 8"/>
          <p:cNvPicPr>
            <a:picLocks noChangeAspect="1"/>
          </p:cNvPicPr>
          <p:nvPr/>
        </p:nvPicPr>
        <p:blipFill>
          <a:blip r:embed="rId4"/>
          <a:stretch>
            <a:fillRect/>
          </a:stretch>
        </p:blipFill>
        <p:spPr>
          <a:xfrm>
            <a:off x="3062330" y="2071600"/>
            <a:ext cx="1505160" cy="657317"/>
          </a:xfrm>
          <a:prstGeom prst="rect">
            <a:avLst/>
          </a:prstGeom>
        </p:spPr>
      </p:pic>
      <p:pic>
        <p:nvPicPr>
          <p:cNvPr id="10" name="Picture 9"/>
          <p:cNvPicPr>
            <a:picLocks noChangeAspect="1"/>
          </p:cNvPicPr>
          <p:nvPr/>
        </p:nvPicPr>
        <p:blipFill>
          <a:blip r:embed="rId5"/>
          <a:stretch>
            <a:fillRect/>
          </a:stretch>
        </p:blipFill>
        <p:spPr>
          <a:xfrm>
            <a:off x="3405068" y="2846593"/>
            <a:ext cx="1724266" cy="1019317"/>
          </a:xfrm>
          <a:prstGeom prst="rect">
            <a:avLst/>
          </a:prstGeom>
        </p:spPr>
      </p:pic>
      <p:pic>
        <p:nvPicPr>
          <p:cNvPr id="11" name="Picture 10"/>
          <p:cNvPicPr>
            <a:picLocks noChangeAspect="1"/>
          </p:cNvPicPr>
          <p:nvPr/>
        </p:nvPicPr>
        <p:blipFill>
          <a:blip r:embed="rId6"/>
          <a:stretch>
            <a:fillRect/>
          </a:stretch>
        </p:blipFill>
        <p:spPr>
          <a:xfrm>
            <a:off x="3519384" y="3978716"/>
            <a:ext cx="1609950" cy="943107"/>
          </a:xfrm>
          <a:prstGeom prst="rect">
            <a:avLst/>
          </a:prstGeom>
        </p:spPr>
      </p:pic>
      <p:pic>
        <p:nvPicPr>
          <p:cNvPr id="12" name="Picture 11"/>
          <p:cNvPicPr>
            <a:picLocks noChangeAspect="1"/>
          </p:cNvPicPr>
          <p:nvPr/>
        </p:nvPicPr>
        <p:blipFill>
          <a:blip r:embed="rId7"/>
          <a:stretch>
            <a:fillRect/>
          </a:stretch>
        </p:blipFill>
        <p:spPr>
          <a:xfrm>
            <a:off x="5376815" y="4815095"/>
            <a:ext cx="1762371" cy="1057423"/>
          </a:xfrm>
          <a:prstGeom prst="rect">
            <a:avLst/>
          </a:prstGeom>
        </p:spPr>
      </p:pic>
      <p:pic>
        <p:nvPicPr>
          <p:cNvPr id="13" name="Picture 12"/>
          <p:cNvPicPr>
            <a:picLocks noChangeAspect="1"/>
          </p:cNvPicPr>
          <p:nvPr/>
        </p:nvPicPr>
        <p:blipFill>
          <a:blip r:embed="rId8"/>
          <a:stretch>
            <a:fillRect/>
          </a:stretch>
        </p:blipFill>
        <p:spPr>
          <a:xfrm>
            <a:off x="5376815" y="5942064"/>
            <a:ext cx="1790950" cy="872676"/>
          </a:xfrm>
          <a:prstGeom prst="rect">
            <a:avLst/>
          </a:prstGeom>
        </p:spPr>
      </p:pic>
    </p:spTree>
    <p:extLst>
      <p:ext uri="{BB962C8B-B14F-4D97-AF65-F5344CB8AC3E}">
        <p14:creationId xmlns:p14="http://schemas.microsoft.com/office/powerpoint/2010/main" val="38552780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3693319"/>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Splay Tree</a:t>
            </a:r>
          </a:p>
          <a:p>
            <a:endParaRPr lang="en-IN" dirty="0" smtClean="0"/>
          </a:p>
          <a:p>
            <a:pPr marL="285750" indent="-285750">
              <a:buFont typeface="Arial" panose="020B0604020202020204" pitchFamily="34" charset="0"/>
              <a:buChar char="•"/>
            </a:pPr>
            <a:r>
              <a:rPr lang="en-IN" b="1" dirty="0"/>
              <a:t>Zig/</a:t>
            </a:r>
            <a:r>
              <a:rPr lang="en-IN" b="1" dirty="0" err="1"/>
              <a:t>Zag</a:t>
            </a:r>
            <a:r>
              <a:rPr lang="en-IN" dirty="0"/>
              <a:t> → single rotations (node is child of root).</a:t>
            </a:r>
          </a:p>
          <a:p>
            <a:pPr marL="285750" indent="-285750">
              <a:buFont typeface="Arial" panose="020B0604020202020204" pitchFamily="34" charset="0"/>
              <a:buChar char="•"/>
            </a:pPr>
            <a:r>
              <a:rPr lang="en-IN" b="1" dirty="0"/>
              <a:t>Zig‑Zig/</a:t>
            </a:r>
            <a:r>
              <a:rPr lang="en-IN" b="1" dirty="0" err="1"/>
              <a:t>Zag‑Zag</a:t>
            </a:r>
            <a:r>
              <a:rPr lang="en-IN" dirty="0"/>
              <a:t> → double rotations (node and parent on same side).</a:t>
            </a:r>
          </a:p>
          <a:p>
            <a:pPr marL="285750" indent="-285750">
              <a:buFont typeface="Arial" panose="020B0604020202020204" pitchFamily="34" charset="0"/>
              <a:buChar char="•"/>
            </a:pPr>
            <a:r>
              <a:rPr lang="en-IN" b="1" dirty="0"/>
              <a:t>Zig‑</a:t>
            </a:r>
            <a:r>
              <a:rPr lang="en-IN" b="1" dirty="0" err="1"/>
              <a:t>Zag</a:t>
            </a:r>
            <a:r>
              <a:rPr lang="en-IN" b="1" dirty="0"/>
              <a:t>/</a:t>
            </a:r>
            <a:r>
              <a:rPr lang="en-IN" b="1" dirty="0" err="1"/>
              <a:t>Zag</a:t>
            </a:r>
            <a:r>
              <a:rPr lang="en-IN" b="1" dirty="0"/>
              <a:t>‑Zig</a:t>
            </a:r>
            <a:r>
              <a:rPr lang="en-IN" dirty="0"/>
              <a:t> → mixed rotations (node and parent on opposite sides).</a:t>
            </a:r>
          </a:p>
          <a:p>
            <a:endParaRPr lang="en-IN" dirty="0" smtClean="0"/>
          </a:p>
          <a:p>
            <a:r>
              <a:rPr lang="en-IN" dirty="0" smtClean="0"/>
              <a:t>Together</a:t>
            </a:r>
            <a:r>
              <a:rPr lang="en-IN" dirty="0"/>
              <a:t>, these six cases are the mechanism that makes </a:t>
            </a:r>
            <a:r>
              <a:rPr lang="en-IN" b="1" dirty="0"/>
              <a:t>splay trees self‑adjusting</a:t>
            </a:r>
            <a:r>
              <a:rPr lang="en-IN" dirty="0"/>
              <a:t>, keeping frequently accessed nodes near the root.</a:t>
            </a:r>
          </a:p>
          <a:p>
            <a:endParaRPr lang="en-IN" dirty="0" smtClean="0"/>
          </a:p>
          <a:p>
            <a:pPr marL="285750" indent="-285750">
              <a:buFont typeface="Arial" panose="020B0604020202020204" pitchFamily="34" charset="0"/>
              <a:buChar char="•"/>
            </a:pPr>
            <a:r>
              <a:rPr lang="en-US" dirty="0" smtClean="0"/>
              <a:t>Splaying </a:t>
            </a:r>
            <a:r>
              <a:rPr lang="en-US" dirty="0"/>
              <a:t>moves the accessed node to the root.</a:t>
            </a:r>
          </a:p>
          <a:p>
            <a:pPr marL="285750" indent="-285750">
              <a:buFont typeface="Arial" panose="020B0604020202020204" pitchFamily="34" charset="0"/>
              <a:buChar char="•"/>
            </a:pPr>
            <a:r>
              <a:rPr lang="en-US" dirty="0" smtClean="0"/>
              <a:t>Frequently </a:t>
            </a:r>
            <a:r>
              <a:rPr lang="en-US" dirty="0"/>
              <a:t>accessed nodes stay near the root, making repeated access faster.</a:t>
            </a:r>
          </a:p>
          <a:p>
            <a:pPr marL="285750" indent="-285750">
              <a:buFont typeface="Arial" panose="020B0604020202020204" pitchFamily="34" charset="0"/>
              <a:buChar char="•"/>
            </a:pPr>
            <a:r>
              <a:rPr lang="en-US" dirty="0" smtClean="0"/>
              <a:t>Even </a:t>
            </a:r>
            <a:r>
              <a:rPr lang="en-US" dirty="0"/>
              <a:t>though a single operation can take O(n) in the worst case, the amortized cost over many operations is O(log n).</a:t>
            </a:r>
          </a:p>
          <a:p>
            <a:endParaRPr lang="en-IN" dirty="0" smtClean="0"/>
          </a:p>
        </p:txBody>
      </p:sp>
    </p:spTree>
    <p:extLst>
      <p:ext uri="{BB962C8B-B14F-4D97-AF65-F5344CB8AC3E}">
        <p14:creationId xmlns:p14="http://schemas.microsoft.com/office/powerpoint/2010/main" val="408206442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Splay Tree</a:t>
            </a:r>
          </a:p>
          <a:p>
            <a:endParaRPr lang="en-IN" dirty="0" smtClean="0"/>
          </a:p>
        </p:txBody>
      </p:sp>
      <p:pic>
        <p:nvPicPr>
          <p:cNvPr id="7" name="Picture 6"/>
          <p:cNvPicPr>
            <a:picLocks noChangeAspect="1"/>
          </p:cNvPicPr>
          <p:nvPr/>
        </p:nvPicPr>
        <p:blipFill>
          <a:blip r:embed="rId3"/>
          <a:stretch>
            <a:fillRect/>
          </a:stretch>
        </p:blipFill>
        <p:spPr>
          <a:xfrm>
            <a:off x="101931" y="895914"/>
            <a:ext cx="4772691" cy="5887272"/>
          </a:xfrm>
          <a:prstGeom prst="rect">
            <a:avLst/>
          </a:prstGeom>
        </p:spPr>
      </p:pic>
    </p:spTree>
    <p:extLst>
      <p:ext uri="{BB962C8B-B14F-4D97-AF65-F5344CB8AC3E}">
        <p14:creationId xmlns:p14="http://schemas.microsoft.com/office/powerpoint/2010/main" val="426927742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Splay Tree</a:t>
            </a:r>
          </a:p>
          <a:p>
            <a:endParaRPr lang="en-IN" dirty="0" smtClean="0"/>
          </a:p>
        </p:txBody>
      </p:sp>
      <p:pic>
        <p:nvPicPr>
          <p:cNvPr id="8" name="Picture 7"/>
          <p:cNvPicPr>
            <a:picLocks noChangeAspect="1"/>
          </p:cNvPicPr>
          <p:nvPr/>
        </p:nvPicPr>
        <p:blipFill>
          <a:blip r:embed="rId3"/>
          <a:stretch>
            <a:fillRect/>
          </a:stretch>
        </p:blipFill>
        <p:spPr>
          <a:xfrm>
            <a:off x="152774" y="922713"/>
            <a:ext cx="5801535" cy="5760504"/>
          </a:xfrm>
          <a:prstGeom prst="rect">
            <a:avLst/>
          </a:prstGeom>
        </p:spPr>
      </p:pic>
    </p:spTree>
    <p:extLst>
      <p:ext uri="{BB962C8B-B14F-4D97-AF65-F5344CB8AC3E}">
        <p14:creationId xmlns:p14="http://schemas.microsoft.com/office/powerpoint/2010/main" val="105633808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Splay Tree</a:t>
            </a:r>
          </a:p>
          <a:p>
            <a:endParaRPr lang="en-IN" dirty="0" smtClean="0"/>
          </a:p>
        </p:txBody>
      </p:sp>
      <p:pic>
        <p:nvPicPr>
          <p:cNvPr id="7" name="Picture 6"/>
          <p:cNvPicPr>
            <a:picLocks noChangeAspect="1"/>
          </p:cNvPicPr>
          <p:nvPr/>
        </p:nvPicPr>
        <p:blipFill>
          <a:blip r:embed="rId3"/>
          <a:stretch>
            <a:fillRect/>
          </a:stretch>
        </p:blipFill>
        <p:spPr>
          <a:xfrm>
            <a:off x="110504" y="906087"/>
            <a:ext cx="5687219" cy="5814260"/>
          </a:xfrm>
          <a:prstGeom prst="rect">
            <a:avLst/>
          </a:prstGeom>
        </p:spPr>
      </p:pic>
    </p:spTree>
    <p:extLst>
      <p:ext uri="{BB962C8B-B14F-4D97-AF65-F5344CB8AC3E}">
        <p14:creationId xmlns:p14="http://schemas.microsoft.com/office/powerpoint/2010/main" val="207191037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Splay Tree</a:t>
            </a:r>
          </a:p>
          <a:p>
            <a:endParaRPr lang="en-IN" dirty="0" smtClean="0"/>
          </a:p>
        </p:txBody>
      </p:sp>
      <p:pic>
        <p:nvPicPr>
          <p:cNvPr id="8" name="Picture 7"/>
          <p:cNvPicPr>
            <a:picLocks noChangeAspect="1"/>
          </p:cNvPicPr>
          <p:nvPr/>
        </p:nvPicPr>
        <p:blipFill>
          <a:blip r:embed="rId3"/>
          <a:stretch>
            <a:fillRect/>
          </a:stretch>
        </p:blipFill>
        <p:spPr>
          <a:xfrm>
            <a:off x="126075" y="906087"/>
            <a:ext cx="6220693" cy="5797718"/>
          </a:xfrm>
          <a:prstGeom prst="rect">
            <a:avLst/>
          </a:prstGeom>
        </p:spPr>
      </p:pic>
    </p:spTree>
    <p:extLst>
      <p:ext uri="{BB962C8B-B14F-4D97-AF65-F5344CB8AC3E}">
        <p14:creationId xmlns:p14="http://schemas.microsoft.com/office/powerpoint/2010/main" val="5950187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Splay Tree</a:t>
            </a:r>
          </a:p>
          <a:p>
            <a:endParaRPr lang="en-IN" dirty="0" smtClean="0"/>
          </a:p>
        </p:txBody>
      </p:sp>
      <p:pic>
        <p:nvPicPr>
          <p:cNvPr id="7" name="Picture 6"/>
          <p:cNvPicPr>
            <a:picLocks noChangeAspect="1"/>
          </p:cNvPicPr>
          <p:nvPr/>
        </p:nvPicPr>
        <p:blipFill>
          <a:blip r:embed="rId3"/>
          <a:stretch>
            <a:fillRect/>
          </a:stretch>
        </p:blipFill>
        <p:spPr>
          <a:xfrm>
            <a:off x="207861" y="857301"/>
            <a:ext cx="8068801" cy="971499"/>
          </a:xfrm>
          <a:prstGeom prst="rect">
            <a:avLst/>
          </a:prstGeom>
        </p:spPr>
      </p:pic>
    </p:spTree>
    <p:extLst>
      <p:ext uri="{BB962C8B-B14F-4D97-AF65-F5344CB8AC3E}">
        <p14:creationId xmlns:p14="http://schemas.microsoft.com/office/powerpoint/2010/main" val="402474535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3693319"/>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Splay Tree</a:t>
            </a:r>
          </a:p>
          <a:p>
            <a:endParaRPr lang="en-IN" dirty="0" smtClean="0"/>
          </a:p>
          <a:p>
            <a:r>
              <a:rPr lang="en-IN" b="1" dirty="0"/>
              <a:t>Node Class</a:t>
            </a:r>
          </a:p>
          <a:p>
            <a:r>
              <a:rPr lang="en-IN" dirty="0"/>
              <a:t>Each node stores:</a:t>
            </a:r>
          </a:p>
          <a:p>
            <a:pPr marL="285750" indent="-285750">
              <a:buFont typeface="Arial" panose="020B0604020202020204" pitchFamily="34" charset="0"/>
              <a:buChar char="•"/>
            </a:pPr>
            <a:r>
              <a:rPr lang="en-IN" dirty="0" smtClean="0"/>
              <a:t>data </a:t>
            </a:r>
            <a:r>
              <a:rPr lang="en-IN" dirty="0"/>
              <a:t>→ the value.</a:t>
            </a:r>
          </a:p>
          <a:p>
            <a:pPr marL="285750" indent="-285750">
              <a:buFont typeface="Arial" panose="020B0604020202020204" pitchFamily="34" charset="0"/>
              <a:buChar char="•"/>
            </a:pPr>
            <a:r>
              <a:rPr lang="en-IN" dirty="0" smtClean="0"/>
              <a:t>left</a:t>
            </a:r>
            <a:r>
              <a:rPr lang="en-IN" dirty="0"/>
              <a:t>, right → child references.</a:t>
            </a:r>
          </a:p>
          <a:p>
            <a:endParaRPr lang="en-IN" dirty="0" smtClean="0"/>
          </a:p>
          <a:p>
            <a:r>
              <a:rPr lang="en-IN" b="1" dirty="0" smtClean="0"/>
              <a:t>Rotations</a:t>
            </a:r>
          </a:p>
          <a:p>
            <a:pPr marL="285750" indent="-285750">
              <a:buFont typeface="Arial" panose="020B0604020202020204" pitchFamily="34" charset="0"/>
              <a:buChar char="•"/>
            </a:pPr>
            <a:r>
              <a:rPr lang="en-US" dirty="0"/>
              <a:t>Right rotation moves a left child up.</a:t>
            </a:r>
          </a:p>
          <a:p>
            <a:pPr marL="285750" indent="-285750">
              <a:buFont typeface="Arial" panose="020B0604020202020204" pitchFamily="34" charset="0"/>
              <a:buChar char="•"/>
            </a:pPr>
            <a:r>
              <a:rPr lang="en-US" dirty="0" smtClean="0"/>
              <a:t>Left </a:t>
            </a:r>
            <a:r>
              <a:rPr lang="en-US" dirty="0"/>
              <a:t>rotation moves a right child up.</a:t>
            </a:r>
          </a:p>
          <a:p>
            <a:r>
              <a:rPr lang="en-US" dirty="0"/>
              <a:t>These are the basic operations used during splaying to restructure the tree.</a:t>
            </a:r>
          </a:p>
          <a:p>
            <a:endParaRPr lang="en-IN" dirty="0" smtClean="0"/>
          </a:p>
          <a:p>
            <a:endParaRPr lang="en-IN" dirty="0" smtClean="0"/>
          </a:p>
        </p:txBody>
      </p:sp>
    </p:spTree>
    <p:extLst>
      <p:ext uri="{BB962C8B-B14F-4D97-AF65-F5344CB8AC3E}">
        <p14:creationId xmlns:p14="http://schemas.microsoft.com/office/powerpoint/2010/main" val="400285934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078313"/>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Splay Tree</a:t>
            </a:r>
          </a:p>
          <a:p>
            <a:endParaRPr lang="en-IN" dirty="0" smtClean="0"/>
          </a:p>
          <a:p>
            <a:r>
              <a:rPr lang="en-IN" b="1"/>
              <a:t>Splay Operation</a:t>
            </a:r>
          </a:p>
          <a:p>
            <a:r>
              <a:rPr lang="en-US"/>
              <a:t>This is the heart of the program.</a:t>
            </a:r>
          </a:p>
          <a:p>
            <a:endParaRPr lang="en-IN" smtClean="0"/>
          </a:p>
          <a:p>
            <a:r>
              <a:rPr lang="en-IN" dirty="0" smtClean="0"/>
              <a:t>What </a:t>
            </a:r>
            <a:r>
              <a:rPr lang="en-IN" dirty="0"/>
              <a:t>it does:</a:t>
            </a:r>
          </a:p>
          <a:p>
            <a:pPr marL="285750" indent="-285750">
              <a:buFont typeface="Arial" panose="020B0604020202020204" pitchFamily="34" charset="0"/>
              <a:buChar char="•"/>
            </a:pPr>
            <a:r>
              <a:rPr lang="en-US"/>
              <a:t>Searches for key in the tree.</a:t>
            </a:r>
          </a:p>
          <a:p>
            <a:pPr marL="285750" indent="-285750">
              <a:buFont typeface="Arial" panose="020B0604020202020204" pitchFamily="34" charset="0"/>
              <a:buChar char="•"/>
            </a:pPr>
            <a:r>
              <a:rPr lang="en-US" dirty="0" smtClean="0"/>
              <a:t>While </a:t>
            </a:r>
            <a:r>
              <a:rPr lang="en-US" dirty="0"/>
              <a:t>searching, it performs rotations to bring the accessed node (or the last accessed node if not found) to the root.</a:t>
            </a:r>
          </a:p>
          <a:p>
            <a:endParaRPr lang="en-IN"/>
          </a:p>
          <a:p>
            <a:r>
              <a:rPr lang="en-IN" dirty="0"/>
              <a:t>Cases handled:</a:t>
            </a:r>
          </a:p>
          <a:p>
            <a:pPr marL="285750" indent="-285750">
              <a:buFont typeface="Arial" panose="020B0604020202020204" pitchFamily="34" charset="0"/>
              <a:buChar char="•"/>
            </a:pPr>
            <a:r>
              <a:rPr lang="en-US"/>
              <a:t>Zig‑Zig (Left‑Left) → two right rotations.</a:t>
            </a:r>
          </a:p>
          <a:p>
            <a:pPr marL="285750" indent="-285750">
              <a:buFont typeface="Arial" panose="020B0604020202020204" pitchFamily="34" charset="0"/>
              <a:buChar char="•"/>
            </a:pPr>
            <a:r>
              <a:rPr lang="en-US" dirty="0" smtClean="0"/>
              <a:t>Zig‑Zag </a:t>
            </a:r>
            <a:r>
              <a:rPr lang="en-US" dirty="0"/>
              <a:t>(Left‑Right) → left rotation on child, then right rotation on parent.</a:t>
            </a:r>
          </a:p>
          <a:p>
            <a:pPr marL="285750" indent="-285750">
              <a:buFont typeface="Arial" panose="020B0604020202020204" pitchFamily="34" charset="0"/>
              <a:buChar char="•"/>
            </a:pPr>
            <a:r>
              <a:rPr lang="en-US" dirty="0" smtClean="0"/>
              <a:t>Zag‑Zag </a:t>
            </a:r>
            <a:r>
              <a:rPr lang="en-US" dirty="0"/>
              <a:t>(Right‑Right) → two left rotations.</a:t>
            </a:r>
          </a:p>
          <a:p>
            <a:pPr marL="285750" indent="-285750">
              <a:buFont typeface="Arial" panose="020B0604020202020204" pitchFamily="34" charset="0"/>
              <a:buChar char="•"/>
            </a:pPr>
            <a:r>
              <a:rPr lang="en-US" dirty="0" smtClean="0"/>
              <a:t>Zag‑Zig </a:t>
            </a:r>
            <a:r>
              <a:rPr lang="en-US" dirty="0"/>
              <a:t>(Right‑Left) → right rotation on child, then left rotation on parent.</a:t>
            </a:r>
          </a:p>
          <a:p>
            <a:endParaRPr lang="en-IN"/>
          </a:p>
          <a:p>
            <a:r>
              <a:rPr lang="en-US"/>
              <a:t>After splaying, the accessed node becomes the new root.</a:t>
            </a:r>
          </a:p>
          <a:p>
            <a:endParaRPr lang="en-IN" dirty="0" smtClean="0"/>
          </a:p>
          <a:p>
            <a:endParaRPr lang="en-IN" dirty="0" smtClean="0"/>
          </a:p>
        </p:txBody>
      </p:sp>
    </p:spTree>
    <p:extLst>
      <p:ext uri="{BB962C8B-B14F-4D97-AF65-F5344CB8AC3E}">
        <p14:creationId xmlns:p14="http://schemas.microsoft.com/office/powerpoint/2010/main" val="317684040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078313"/>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Splay Tree</a:t>
            </a:r>
          </a:p>
          <a:p>
            <a:endParaRPr lang="en-IN" dirty="0" smtClean="0"/>
          </a:p>
          <a:p>
            <a:r>
              <a:rPr lang="en-IN" b="1" dirty="0"/>
              <a:t>Insert Operation</a:t>
            </a:r>
            <a:endParaRPr lang="en-IN" b="1" dirty="0" smtClean="0"/>
          </a:p>
          <a:p>
            <a:r>
              <a:rPr lang="en-IN" dirty="0"/>
              <a:t>Steps:</a:t>
            </a:r>
          </a:p>
          <a:p>
            <a:pPr marL="285750" indent="-285750">
              <a:buFont typeface="Arial" panose="020B0604020202020204" pitchFamily="34" charset="0"/>
              <a:buChar char="•"/>
            </a:pPr>
            <a:r>
              <a:rPr lang="en-US" dirty="0" smtClean="0"/>
              <a:t>If </a:t>
            </a:r>
            <a:r>
              <a:rPr lang="en-US" dirty="0"/>
              <a:t>tree is empty → create new node.</a:t>
            </a:r>
          </a:p>
          <a:p>
            <a:pPr marL="285750" indent="-285750">
              <a:buFont typeface="Arial" panose="020B0604020202020204" pitchFamily="34" charset="0"/>
              <a:buChar char="•"/>
            </a:pPr>
            <a:r>
              <a:rPr lang="en-US" dirty="0" smtClean="0"/>
              <a:t>Splay </a:t>
            </a:r>
            <a:r>
              <a:rPr lang="en-US" dirty="0"/>
              <a:t>the tree with the given key (to bring closest node to root).</a:t>
            </a:r>
          </a:p>
          <a:p>
            <a:pPr marL="285750" indent="-285750">
              <a:buFont typeface="Arial" panose="020B0604020202020204" pitchFamily="34" charset="0"/>
              <a:buChar char="•"/>
            </a:pPr>
            <a:r>
              <a:rPr lang="en-US" dirty="0" smtClean="0"/>
              <a:t>If </a:t>
            </a:r>
            <a:r>
              <a:rPr lang="en-US" dirty="0"/>
              <a:t>key already exists → do nothing.</a:t>
            </a:r>
          </a:p>
          <a:p>
            <a:pPr marL="285750" indent="-285750">
              <a:buFont typeface="Arial" panose="020B0604020202020204" pitchFamily="34" charset="0"/>
              <a:buChar char="•"/>
            </a:pPr>
            <a:r>
              <a:rPr lang="en-US" dirty="0" smtClean="0"/>
              <a:t>Otherwise</a:t>
            </a:r>
            <a:r>
              <a:rPr lang="en-US" dirty="0"/>
              <a:t>, create a new node and attach it appropriately:</a:t>
            </a:r>
          </a:p>
          <a:p>
            <a:pPr marL="742950" lvl="1" indent="-285750">
              <a:buFont typeface="Arial" panose="020B0604020202020204" pitchFamily="34" charset="0"/>
              <a:buChar char="•"/>
            </a:pPr>
            <a:r>
              <a:rPr lang="en-US" dirty="0" smtClean="0"/>
              <a:t>If </a:t>
            </a:r>
            <a:r>
              <a:rPr lang="en-US" dirty="0"/>
              <a:t>key &lt; </a:t>
            </a:r>
            <a:r>
              <a:rPr lang="en-US" dirty="0" err="1"/>
              <a:t>root.data</a:t>
            </a:r>
            <a:r>
              <a:rPr lang="en-US" dirty="0"/>
              <a:t> → new node becomes root, old root becomes its right child.</a:t>
            </a:r>
          </a:p>
          <a:p>
            <a:pPr marL="742950" lvl="1" indent="-285750">
              <a:buFont typeface="Arial" panose="020B0604020202020204" pitchFamily="34" charset="0"/>
              <a:buChar char="•"/>
            </a:pPr>
            <a:r>
              <a:rPr lang="en-US" dirty="0" smtClean="0"/>
              <a:t>If </a:t>
            </a:r>
            <a:r>
              <a:rPr lang="en-US" dirty="0"/>
              <a:t>key &gt; </a:t>
            </a:r>
            <a:r>
              <a:rPr lang="en-US" dirty="0" err="1"/>
              <a:t>root.data</a:t>
            </a:r>
            <a:r>
              <a:rPr lang="en-US" dirty="0"/>
              <a:t> → new node becomes root, old root becomes its left child.</a:t>
            </a:r>
          </a:p>
          <a:p>
            <a:pPr marL="285750" indent="-285750">
              <a:buFont typeface="Arial" panose="020B0604020202020204" pitchFamily="34" charset="0"/>
              <a:buChar char="•"/>
            </a:pPr>
            <a:r>
              <a:rPr lang="en-US" dirty="0" smtClean="0"/>
              <a:t>This </a:t>
            </a:r>
            <a:r>
              <a:rPr lang="en-US" dirty="0"/>
              <a:t>ensures the new node is always at the root after insertion.</a:t>
            </a:r>
          </a:p>
          <a:p>
            <a:endParaRPr lang="en-IN" dirty="0" smtClean="0"/>
          </a:p>
          <a:p>
            <a:r>
              <a:rPr lang="en-IN" b="1" dirty="0"/>
              <a:t>Search </a:t>
            </a:r>
            <a:r>
              <a:rPr lang="en-IN" b="1" dirty="0" smtClean="0"/>
              <a:t>Operation</a:t>
            </a:r>
          </a:p>
          <a:p>
            <a:pPr marL="285750" indent="-285750">
              <a:buFont typeface="Arial" panose="020B0604020202020204" pitchFamily="34" charset="0"/>
              <a:buChar char="•"/>
            </a:pPr>
            <a:r>
              <a:rPr lang="en-US" dirty="0"/>
              <a:t>Performs splay on the key.</a:t>
            </a:r>
          </a:p>
          <a:p>
            <a:pPr marL="285750" indent="-285750">
              <a:buFont typeface="Arial" panose="020B0604020202020204" pitchFamily="34" charset="0"/>
              <a:buChar char="•"/>
            </a:pPr>
            <a:r>
              <a:rPr lang="en-US" dirty="0" smtClean="0"/>
              <a:t>If </a:t>
            </a:r>
            <a:r>
              <a:rPr lang="en-US" dirty="0"/>
              <a:t>found, that node becomes the root.</a:t>
            </a:r>
          </a:p>
          <a:p>
            <a:pPr marL="285750" indent="-285750">
              <a:buFont typeface="Arial" panose="020B0604020202020204" pitchFamily="34" charset="0"/>
              <a:buChar char="•"/>
            </a:pPr>
            <a:r>
              <a:rPr lang="en-US" dirty="0" smtClean="0"/>
              <a:t>If </a:t>
            </a:r>
            <a:r>
              <a:rPr lang="en-US" dirty="0"/>
              <a:t>not found, the last accessed node becomes the root.</a:t>
            </a:r>
          </a:p>
          <a:p>
            <a:pPr marL="285750" indent="-285750">
              <a:buFont typeface="Arial" panose="020B0604020202020204" pitchFamily="34" charset="0"/>
              <a:buChar char="•"/>
            </a:pPr>
            <a:r>
              <a:rPr lang="en-US" dirty="0"/>
              <a:t>This keeps frequently accessed nodes near the top.</a:t>
            </a:r>
          </a:p>
          <a:p>
            <a:pPr marL="285750" indent="-285750">
              <a:buFont typeface="Arial" panose="020B0604020202020204" pitchFamily="34" charset="0"/>
              <a:buChar char="•"/>
            </a:pPr>
            <a:endParaRPr lang="en-IN" dirty="0" smtClean="0"/>
          </a:p>
        </p:txBody>
      </p:sp>
    </p:spTree>
    <p:extLst>
      <p:ext uri="{BB962C8B-B14F-4D97-AF65-F5344CB8AC3E}">
        <p14:creationId xmlns:p14="http://schemas.microsoft.com/office/powerpoint/2010/main" val="412859596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355312"/>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Splay Tree</a:t>
            </a:r>
          </a:p>
          <a:p>
            <a:endParaRPr lang="en-IN" dirty="0" smtClean="0"/>
          </a:p>
          <a:p>
            <a:r>
              <a:rPr lang="en-IN" b="1"/>
              <a:t>Inorder Traversal</a:t>
            </a:r>
          </a:p>
          <a:p>
            <a:r>
              <a:rPr lang="en-US"/>
              <a:t>Prints nodes in sorted order (Left → Root → Right).</a:t>
            </a:r>
          </a:p>
          <a:p>
            <a:endParaRPr lang="en-IN"/>
          </a:p>
          <a:p>
            <a:r>
              <a:rPr lang="en-IN" b="1" dirty="0"/>
              <a:t>main() Method</a:t>
            </a:r>
          </a:p>
          <a:p>
            <a:r>
              <a:rPr lang="en-IN" dirty="0"/>
              <a:t>What happens here:</a:t>
            </a:r>
          </a:p>
          <a:p>
            <a:pPr marL="285750" indent="-285750">
              <a:buFont typeface="Arial" panose="020B0604020202020204" pitchFamily="34" charset="0"/>
              <a:buChar char="•"/>
            </a:pPr>
            <a:r>
              <a:rPr lang="en-US"/>
              <a:t>Inserts {10, 20, 30, 40, 50, 25} one by one.</a:t>
            </a:r>
          </a:p>
          <a:p>
            <a:pPr marL="285750" indent="-285750">
              <a:buFont typeface="Arial" panose="020B0604020202020204" pitchFamily="34" charset="0"/>
              <a:buChar char="•"/>
            </a:pPr>
            <a:r>
              <a:rPr lang="en-US" dirty="0" smtClean="0"/>
              <a:t>Each </a:t>
            </a:r>
            <a:r>
              <a:rPr lang="en-US" dirty="0"/>
              <a:t>insertion splays the new node to the root.</a:t>
            </a:r>
          </a:p>
          <a:p>
            <a:endParaRPr lang="en-IN"/>
          </a:p>
          <a:p>
            <a:pPr marL="285750" indent="-285750">
              <a:buFont typeface="Arial" panose="020B0604020202020204" pitchFamily="34" charset="0"/>
              <a:buChar char="•"/>
            </a:pPr>
            <a:r>
              <a:rPr lang="en-IN" dirty="0"/>
              <a:t>Prints </a:t>
            </a:r>
            <a:r>
              <a:rPr lang="en-IN" dirty="0" err="1"/>
              <a:t>inorder</a:t>
            </a:r>
            <a:r>
              <a:rPr lang="en-IN" dirty="0"/>
              <a:t> traversal → sorted sequence:</a:t>
            </a:r>
          </a:p>
          <a:p>
            <a:r>
              <a:rPr lang="en-IN" dirty="0"/>
              <a:t>10 20 25 30 40 50</a:t>
            </a:r>
          </a:p>
          <a:p>
            <a:endParaRPr lang="en-IN" dirty="0"/>
          </a:p>
          <a:p>
            <a:pPr marL="285750" indent="-285750">
              <a:buFont typeface="Arial" panose="020B0604020202020204" pitchFamily="34" charset="0"/>
              <a:buChar char="•"/>
            </a:pPr>
            <a:r>
              <a:rPr lang="en-IN" dirty="0"/>
              <a:t>Searches for 25.</a:t>
            </a:r>
          </a:p>
          <a:p>
            <a:r>
              <a:rPr lang="en-US" smtClean="0"/>
              <a:t>Splay </a:t>
            </a:r>
            <a:r>
              <a:rPr lang="en-US"/>
              <a:t>operation moves 25 to the root.</a:t>
            </a:r>
          </a:p>
          <a:p>
            <a:endParaRPr lang="en-IN"/>
          </a:p>
          <a:p>
            <a:r>
              <a:rPr lang="en-IN" dirty="0"/>
              <a:t>Output:</a:t>
            </a:r>
          </a:p>
          <a:p>
            <a:pPr marL="285750" indent="-285750">
              <a:buFont typeface="Arial" panose="020B0604020202020204" pitchFamily="34" charset="0"/>
              <a:buChar char="•"/>
            </a:pPr>
            <a:r>
              <a:rPr lang="en-US"/>
              <a:t>After searching 25, new root: 25</a:t>
            </a:r>
          </a:p>
          <a:p>
            <a:pPr marL="285750" indent="-285750">
              <a:buFont typeface="Arial" panose="020B0604020202020204" pitchFamily="34" charset="0"/>
              <a:buChar char="•"/>
            </a:pPr>
            <a:endParaRPr lang="en-IN" dirty="0" smtClean="0"/>
          </a:p>
        </p:txBody>
      </p:sp>
    </p:spTree>
    <p:extLst>
      <p:ext uri="{BB962C8B-B14F-4D97-AF65-F5344CB8AC3E}">
        <p14:creationId xmlns:p14="http://schemas.microsoft.com/office/powerpoint/2010/main" val="354353324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2308324"/>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Splay Tree</a:t>
            </a:r>
          </a:p>
          <a:p>
            <a:endParaRPr lang="en-IN" dirty="0" smtClean="0"/>
          </a:p>
          <a:p>
            <a:r>
              <a:rPr lang="en-US" dirty="0"/>
              <a:t>This program:</a:t>
            </a:r>
          </a:p>
          <a:p>
            <a:pPr marL="285750" indent="-285750">
              <a:buFont typeface="Arial" panose="020B0604020202020204" pitchFamily="34" charset="0"/>
              <a:buChar char="•"/>
            </a:pPr>
            <a:r>
              <a:rPr lang="en-US" dirty="0"/>
              <a:t>Implements a </a:t>
            </a:r>
            <a:r>
              <a:rPr lang="en-US" b="1" dirty="0"/>
              <a:t>Splay Tree</a:t>
            </a:r>
            <a:r>
              <a:rPr lang="en-US" dirty="0"/>
              <a:t>.</a:t>
            </a:r>
          </a:p>
          <a:p>
            <a:pPr marL="285750" indent="-285750">
              <a:buFont typeface="Arial" panose="020B0604020202020204" pitchFamily="34" charset="0"/>
              <a:buChar char="•"/>
            </a:pPr>
            <a:r>
              <a:rPr lang="en-US" dirty="0"/>
              <a:t>Keeps recently accessed nodes near the root.</a:t>
            </a:r>
          </a:p>
          <a:p>
            <a:pPr marL="285750" indent="-285750">
              <a:buFont typeface="Arial" panose="020B0604020202020204" pitchFamily="34" charset="0"/>
              <a:buChar char="•"/>
            </a:pPr>
            <a:r>
              <a:rPr lang="en-US" dirty="0"/>
              <a:t>Demonstrates </a:t>
            </a:r>
            <a:r>
              <a:rPr lang="en-US" b="1" dirty="0"/>
              <a:t>self‑adjusting behavior</a:t>
            </a:r>
            <a:r>
              <a:rPr lang="en-US" dirty="0"/>
              <a:t> through rotations.</a:t>
            </a:r>
          </a:p>
          <a:p>
            <a:pPr marL="285750" indent="-285750">
              <a:buFont typeface="Arial" panose="020B0604020202020204" pitchFamily="34" charset="0"/>
              <a:buChar char="•"/>
            </a:pPr>
            <a:r>
              <a:rPr lang="en-US" dirty="0"/>
              <a:t>Ensures efficient average performance (amortized O(log n)) for search, insert, and delete.</a:t>
            </a:r>
          </a:p>
          <a:p>
            <a:endParaRPr lang="en-IN" dirty="0" smtClean="0"/>
          </a:p>
        </p:txBody>
      </p:sp>
    </p:spTree>
    <p:extLst>
      <p:ext uri="{BB962C8B-B14F-4D97-AF65-F5344CB8AC3E}">
        <p14:creationId xmlns:p14="http://schemas.microsoft.com/office/powerpoint/2010/main" val="393410285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923330"/>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Splay Tree</a:t>
            </a:r>
          </a:p>
          <a:p>
            <a:endParaRPr lang="en-IN" dirty="0" smtClean="0"/>
          </a:p>
          <a:p>
            <a:endParaRPr lang="en-IN" dirty="0" smtClean="0"/>
          </a:p>
        </p:txBody>
      </p:sp>
      <p:pic>
        <p:nvPicPr>
          <p:cNvPr id="7" name="Picture 6"/>
          <p:cNvPicPr>
            <a:picLocks noChangeAspect="1"/>
          </p:cNvPicPr>
          <p:nvPr/>
        </p:nvPicPr>
        <p:blipFill>
          <a:blip r:embed="rId3"/>
          <a:stretch>
            <a:fillRect/>
          </a:stretch>
        </p:blipFill>
        <p:spPr>
          <a:xfrm>
            <a:off x="58368" y="922713"/>
            <a:ext cx="3629532" cy="5842768"/>
          </a:xfrm>
          <a:prstGeom prst="rect">
            <a:avLst/>
          </a:prstGeom>
        </p:spPr>
      </p:pic>
      <p:pic>
        <p:nvPicPr>
          <p:cNvPr id="8" name="Picture 7"/>
          <p:cNvPicPr>
            <a:picLocks noChangeAspect="1"/>
          </p:cNvPicPr>
          <p:nvPr/>
        </p:nvPicPr>
        <p:blipFill>
          <a:blip r:embed="rId4"/>
          <a:stretch>
            <a:fillRect/>
          </a:stretch>
        </p:blipFill>
        <p:spPr>
          <a:xfrm>
            <a:off x="6094805" y="3028894"/>
            <a:ext cx="3477110" cy="800212"/>
          </a:xfrm>
          <a:prstGeom prst="rect">
            <a:avLst/>
          </a:prstGeom>
        </p:spPr>
      </p:pic>
    </p:spTree>
    <p:extLst>
      <p:ext uri="{BB962C8B-B14F-4D97-AF65-F5344CB8AC3E}">
        <p14:creationId xmlns:p14="http://schemas.microsoft.com/office/powerpoint/2010/main" val="217176270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923330"/>
          </a:xfrm>
          <a:prstGeom prst="rect">
            <a:avLst/>
          </a:prstGeom>
        </p:spPr>
        <p:txBody>
          <a:bodyPr wrap="square">
            <a:spAutoFit/>
          </a:bodyPr>
          <a:lstStyle/>
          <a:p>
            <a:r>
              <a:rPr lang="en-US" b="1" dirty="0">
                <a:solidFill>
                  <a:srgbClr val="FF0000"/>
                </a:solidFill>
              </a:rPr>
              <a:t>Self-Balancing </a:t>
            </a:r>
            <a:r>
              <a:rPr lang="en-US" b="1" dirty="0" smtClean="0">
                <a:solidFill>
                  <a:srgbClr val="FF0000"/>
                </a:solidFill>
              </a:rPr>
              <a:t>Trees – Splay Tree</a:t>
            </a:r>
          </a:p>
          <a:p>
            <a:endParaRPr lang="en-IN" dirty="0" smtClean="0"/>
          </a:p>
          <a:p>
            <a:endParaRPr lang="en-IN" dirty="0" smtClean="0"/>
          </a:p>
        </p:txBody>
      </p:sp>
      <p:pic>
        <p:nvPicPr>
          <p:cNvPr id="9" name="Picture 8"/>
          <p:cNvPicPr>
            <a:picLocks noChangeAspect="1"/>
          </p:cNvPicPr>
          <p:nvPr/>
        </p:nvPicPr>
        <p:blipFill>
          <a:blip r:embed="rId3"/>
          <a:stretch>
            <a:fillRect/>
          </a:stretch>
        </p:blipFill>
        <p:spPr>
          <a:xfrm>
            <a:off x="227251" y="1005840"/>
            <a:ext cx="6916115" cy="5689118"/>
          </a:xfrm>
          <a:prstGeom prst="rect">
            <a:avLst/>
          </a:prstGeom>
        </p:spPr>
      </p:pic>
    </p:spTree>
    <p:extLst>
      <p:ext uri="{BB962C8B-B14F-4D97-AF65-F5344CB8AC3E}">
        <p14:creationId xmlns:p14="http://schemas.microsoft.com/office/powerpoint/2010/main" val="263118104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355312"/>
          </a:xfrm>
          <a:prstGeom prst="rect">
            <a:avLst/>
          </a:prstGeom>
        </p:spPr>
        <p:txBody>
          <a:bodyPr wrap="square">
            <a:spAutoFit/>
          </a:bodyPr>
          <a:lstStyle/>
          <a:p>
            <a:r>
              <a:rPr lang="en-US" b="1" dirty="0" smtClean="0">
                <a:solidFill>
                  <a:srgbClr val="FF0000"/>
                </a:solidFill>
              </a:rPr>
              <a:t>Heap</a:t>
            </a:r>
            <a:endParaRPr lang="en-US" b="1" dirty="0" smtClean="0">
              <a:solidFill>
                <a:srgbClr val="FF0000"/>
              </a:solidFill>
            </a:endParaRPr>
          </a:p>
          <a:p>
            <a:r>
              <a:rPr lang="en-US" dirty="0"/>
              <a:t>A Heap is a specialized non-primitive data structure that is a complete binary tree used to efficiently manage priority-based tasks. It comes in two main forms: Min-Heap (smallest element at root) and Max-Heap (largest element at root), making it ideal for priority queues, heap sort, and graph algorithms</a:t>
            </a:r>
            <a:r>
              <a:rPr lang="en-US" dirty="0" smtClean="0"/>
              <a:t>.</a:t>
            </a:r>
          </a:p>
          <a:p>
            <a:endParaRPr lang="en-US" dirty="0"/>
          </a:p>
          <a:p>
            <a:r>
              <a:rPr lang="en-US" dirty="0"/>
              <a:t>Heap: A complete binary tree where all levels are filled except possibly the last, and nodes are aligned to the left.</a:t>
            </a:r>
          </a:p>
          <a:p>
            <a:endParaRPr lang="en-IN" dirty="0"/>
          </a:p>
          <a:p>
            <a:r>
              <a:rPr lang="en-IN" b="1" dirty="0"/>
              <a:t>Heap Property:</a:t>
            </a:r>
          </a:p>
          <a:p>
            <a:pPr marL="285750" indent="-285750">
              <a:buFont typeface="Arial" panose="020B0604020202020204" pitchFamily="34" charset="0"/>
              <a:buChar char="•"/>
            </a:pPr>
            <a:r>
              <a:rPr lang="en-US" dirty="0" smtClean="0"/>
              <a:t>Min-Heap</a:t>
            </a:r>
            <a:r>
              <a:rPr lang="en-US" dirty="0"/>
              <a:t>: Parent ≤ Children (root is smallest).</a:t>
            </a:r>
          </a:p>
          <a:p>
            <a:pPr marL="285750" indent="-285750">
              <a:buFont typeface="Arial" panose="020B0604020202020204" pitchFamily="34" charset="0"/>
              <a:buChar char="•"/>
            </a:pPr>
            <a:r>
              <a:rPr lang="en-US" dirty="0" smtClean="0"/>
              <a:t>Max-Heap</a:t>
            </a:r>
            <a:r>
              <a:rPr lang="en-US" dirty="0"/>
              <a:t>: Parent ≥ Children (root is largest).</a:t>
            </a:r>
          </a:p>
          <a:p>
            <a:endParaRPr lang="en-US" dirty="0" smtClean="0"/>
          </a:p>
          <a:p>
            <a:r>
              <a:rPr lang="en-IN" b="1" dirty="0"/>
              <a:t>Core Operations</a:t>
            </a:r>
          </a:p>
          <a:p>
            <a:pPr marL="285750" indent="-285750">
              <a:buFont typeface="Arial" panose="020B0604020202020204" pitchFamily="34" charset="0"/>
              <a:buChar char="•"/>
            </a:pPr>
            <a:r>
              <a:rPr lang="en-IN" b="1" dirty="0" err="1"/>
              <a:t>Heapify</a:t>
            </a:r>
            <a:r>
              <a:rPr lang="en-IN" dirty="0"/>
              <a:t>: Converts a binary tree into a heap by enforcing heap property.</a:t>
            </a:r>
          </a:p>
          <a:p>
            <a:pPr marL="285750" indent="-285750">
              <a:buFont typeface="Arial" panose="020B0604020202020204" pitchFamily="34" charset="0"/>
              <a:buChar char="•"/>
            </a:pPr>
            <a:r>
              <a:rPr lang="en-IN" b="1" dirty="0"/>
              <a:t>Insertion</a:t>
            </a:r>
            <a:r>
              <a:rPr lang="en-IN" dirty="0"/>
              <a:t>: Add element at the end, then adjust using </a:t>
            </a:r>
            <a:r>
              <a:rPr lang="en-IN" dirty="0" err="1"/>
              <a:t>heapify</a:t>
            </a:r>
            <a:r>
              <a:rPr lang="en-IN" dirty="0"/>
              <a:t>.</a:t>
            </a:r>
          </a:p>
          <a:p>
            <a:pPr marL="285750" indent="-285750">
              <a:buFont typeface="Arial" panose="020B0604020202020204" pitchFamily="34" charset="0"/>
              <a:buChar char="•"/>
            </a:pPr>
            <a:r>
              <a:rPr lang="en-IN" b="1" dirty="0"/>
              <a:t>Deletion</a:t>
            </a:r>
            <a:r>
              <a:rPr lang="en-IN" dirty="0"/>
              <a:t>: Remove root, replace with last element, then </a:t>
            </a:r>
            <a:r>
              <a:rPr lang="en-IN" dirty="0" err="1"/>
              <a:t>heapify</a:t>
            </a:r>
            <a:r>
              <a:rPr lang="en-IN" dirty="0"/>
              <a:t>.</a:t>
            </a:r>
          </a:p>
          <a:p>
            <a:pPr marL="285750" indent="-285750">
              <a:buFont typeface="Arial" panose="020B0604020202020204" pitchFamily="34" charset="0"/>
              <a:buChar char="•"/>
            </a:pPr>
            <a:r>
              <a:rPr lang="en-IN" b="1" dirty="0"/>
              <a:t>Peek</a:t>
            </a:r>
            <a:r>
              <a:rPr lang="en-IN" dirty="0"/>
              <a:t>: Retrieve min (Min-Heap) or max (Max-Heap) without removal.</a:t>
            </a:r>
          </a:p>
          <a:p>
            <a:pPr marL="285750" indent="-285750">
              <a:buFont typeface="Arial" panose="020B0604020202020204" pitchFamily="34" charset="0"/>
              <a:buChar char="•"/>
            </a:pPr>
            <a:r>
              <a:rPr lang="en-IN" b="1" dirty="0"/>
              <a:t>Heap Sort</a:t>
            </a:r>
            <a:r>
              <a:rPr lang="en-IN" dirty="0"/>
              <a:t>: Sorting algorithm using heap structure for efficient O(n log n) sorting</a:t>
            </a:r>
          </a:p>
          <a:p>
            <a:pPr marL="285750" indent="-285750">
              <a:buFont typeface="Arial" panose="020B0604020202020204" pitchFamily="34" charset="0"/>
              <a:buChar char="•"/>
            </a:pPr>
            <a:endParaRPr lang="en-IN" dirty="0" smtClean="0"/>
          </a:p>
          <a:p>
            <a:endParaRPr lang="en-IN" dirty="0" smtClean="0"/>
          </a:p>
        </p:txBody>
      </p:sp>
    </p:spTree>
    <p:extLst>
      <p:ext uri="{BB962C8B-B14F-4D97-AF65-F5344CB8AC3E}">
        <p14:creationId xmlns:p14="http://schemas.microsoft.com/office/powerpoint/2010/main" val="267759971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632311"/>
          </a:xfrm>
          <a:prstGeom prst="rect">
            <a:avLst/>
          </a:prstGeom>
        </p:spPr>
        <p:txBody>
          <a:bodyPr wrap="square">
            <a:spAutoFit/>
          </a:bodyPr>
          <a:lstStyle/>
          <a:p>
            <a:r>
              <a:rPr lang="en-US" b="1" dirty="0" smtClean="0">
                <a:solidFill>
                  <a:srgbClr val="FF0000"/>
                </a:solidFill>
              </a:rPr>
              <a:t>Heap</a:t>
            </a:r>
            <a:endParaRPr lang="en-US" b="1" dirty="0" smtClean="0">
              <a:solidFill>
                <a:srgbClr val="FF0000"/>
              </a:solidFill>
            </a:endParaRPr>
          </a:p>
          <a:p>
            <a:endParaRPr lang="en-US" dirty="0" smtClean="0"/>
          </a:p>
          <a:p>
            <a:r>
              <a:rPr lang="en-IN" b="1" dirty="0"/>
              <a:t>Applications</a:t>
            </a:r>
          </a:p>
          <a:p>
            <a:pPr marL="285750" indent="-285750">
              <a:buFont typeface="Arial" panose="020B0604020202020204" pitchFamily="34" charset="0"/>
              <a:buChar char="•"/>
            </a:pPr>
            <a:r>
              <a:rPr lang="en-IN" b="1" dirty="0"/>
              <a:t>Priority Queues</a:t>
            </a:r>
            <a:r>
              <a:rPr lang="en-IN" dirty="0"/>
              <a:t>: Task scheduling in operating systems.</a:t>
            </a:r>
          </a:p>
          <a:p>
            <a:pPr marL="285750" indent="-285750">
              <a:buFont typeface="Arial" panose="020B0604020202020204" pitchFamily="34" charset="0"/>
              <a:buChar char="•"/>
            </a:pPr>
            <a:r>
              <a:rPr lang="en-IN" b="1" dirty="0"/>
              <a:t>Heap Sort</a:t>
            </a:r>
            <a:r>
              <a:rPr lang="en-IN" dirty="0"/>
              <a:t>: Efficient sorting algorithm.</a:t>
            </a:r>
          </a:p>
          <a:p>
            <a:pPr marL="285750" indent="-285750">
              <a:buFont typeface="Arial" panose="020B0604020202020204" pitchFamily="34" charset="0"/>
              <a:buChar char="•"/>
            </a:pPr>
            <a:r>
              <a:rPr lang="en-IN" b="1" dirty="0"/>
              <a:t>Graph Algorithms</a:t>
            </a:r>
            <a:r>
              <a:rPr lang="en-IN" dirty="0"/>
              <a:t>: </a:t>
            </a:r>
            <a:r>
              <a:rPr lang="en-IN" dirty="0" err="1"/>
              <a:t>Dijkstra’s</a:t>
            </a:r>
            <a:r>
              <a:rPr lang="en-IN" dirty="0"/>
              <a:t> shortest path, Prim’s minimum spanning tree.</a:t>
            </a:r>
          </a:p>
          <a:p>
            <a:pPr marL="285750" indent="-285750">
              <a:buFont typeface="Arial" panose="020B0604020202020204" pitchFamily="34" charset="0"/>
              <a:buChar char="•"/>
            </a:pPr>
            <a:r>
              <a:rPr lang="en-IN" b="1" dirty="0"/>
              <a:t>Event Simulation</a:t>
            </a:r>
            <a:r>
              <a:rPr lang="en-IN" dirty="0"/>
              <a:t>: Managing events in chronological order.</a:t>
            </a:r>
          </a:p>
          <a:p>
            <a:pPr marL="285750" indent="-285750">
              <a:buFont typeface="Arial" panose="020B0604020202020204" pitchFamily="34" charset="0"/>
              <a:buChar char="•"/>
            </a:pPr>
            <a:r>
              <a:rPr lang="en-IN" b="1" dirty="0"/>
              <a:t>Order Statistics</a:t>
            </a:r>
            <a:r>
              <a:rPr lang="en-IN" dirty="0"/>
              <a:t>: Finding k-</a:t>
            </a:r>
            <a:r>
              <a:rPr lang="en-IN" dirty="0" err="1"/>
              <a:t>th</a:t>
            </a:r>
            <a:r>
              <a:rPr lang="en-IN" dirty="0"/>
              <a:t> largest/smallest elements quickly.</a:t>
            </a:r>
          </a:p>
          <a:p>
            <a:endParaRPr lang="en-US" dirty="0" smtClean="0"/>
          </a:p>
          <a:p>
            <a:r>
              <a:rPr lang="en-IN" b="1" dirty="0"/>
              <a:t>Advantages</a:t>
            </a:r>
          </a:p>
          <a:p>
            <a:pPr marL="285750" indent="-285750">
              <a:buFont typeface="Arial" panose="020B0604020202020204" pitchFamily="34" charset="0"/>
              <a:buChar char="•"/>
            </a:pPr>
            <a:r>
              <a:rPr lang="en-IN" b="1" dirty="0"/>
              <a:t>Efficient Access</a:t>
            </a:r>
            <a:r>
              <a:rPr lang="en-IN" dirty="0"/>
              <a:t>: Constant-time access to min/max element.</a:t>
            </a:r>
          </a:p>
          <a:p>
            <a:pPr marL="285750" indent="-285750">
              <a:buFont typeface="Arial" panose="020B0604020202020204" pitchFamily="34" charset="0"/>
              <a:buChar char="•"/>
            </a:pPr>
            <a:r>
              <a:rPr lang="en-IN" b="1" dirty="0"/>
              <a:t>Predictable Complexity</a:t>
            </a:r>
            <a:r>
              <a:rPr lang="en-IN" dirty="0"/>
              <a:t>: Insert/Delete in O(log n).</a:t>
            </a:r>
          </a:p>
          <a:p>
            <a:pPr marL="285750" indent="-285750">
              <a:buFont typeface="Arial" panose="020B0604020202020204" pitchFamily="34" charset="0"/>
              <a:buChar char="•"/>
            </a:pPr>
            <a:r>
              <a:rPr lang="en-IN" b="1" dirty="0"/>
              <a:t>Memory Efficient</a:t>
            </a:r>
            <a:r>
              <a:rPr lang="en-IN" dirty="0"/>
              <a:t>: Implemented using arrays.</a:t>
            </a:r>
          </a:p>
          <a:p>
            <a:pPr marL="285750" indent="-285750">
              <a:buFont typeface="Arial" panose="020B0604020202020204" pitchFamily="34" charset="0"/>
              <a:buChar char="•"/>
            </a:pPr>
            <a:r>
              <a:rPr lang="en-IN" b="1" dirty="0"/>
              <a:t>Versatile</a:t>
            </a:r>
            <a:r>
              <a:rPr lang="en-IN" dirty="0"/>
              <a:t>: Supports multiple variations (binomial, Fibonacci heaps).</a:t>
            </a:r>
          </a:p>
          <a:p>
            <a:endParaRPr lang="en-US" dirty="0" smtClean="0"/>
          </a:p>
          <a:p>
            <a:r>
              <a:rPr lang="en-US" b="1" dirty="0"/>
              <a:t>Limitations</a:t>
            </a:r>
          </a:p>
          <a:p>
            <a:pPr marL="285750" indent="-285750">
              <a:buFont typeface="Arial" panose="020B0604020202020204" pitchFamily="34" charset="0"/>
              <a:buChar char="•"/>
            </a:pPr>
            <a:r>
              <a:rPr lang="en-US" b="1" dirty="0"/>
              <a:t>Not for Searching</a:t>
            </a:r>
            <a:r>
              <a:rPr lang="en-US" dirty="0"/>
              <a:t>: Unlike Binary Search Trees, heaps don’t support efficient arbitrary searches.</a:t>
            </a:r>
          </a:p>
          <a:p>
            <a:pPr marL="285750" indent="-285750">
              <a:buFont typeface="Arial" panose="020B0604020202020204" pitchFamily="34" charset="0"/>
              <a:buChar char="•"/>
            </a:pPr>
            <a:r>
              <a:rPr lang="en-US" b="1" dirty="0"/>
              <a:t>Structure Restriction</a:t>
            </a:r>
            <a:r>
              <a:rPr lang="en-US" dirty="0"/>
              <a:t>: Must remain a complete binary tree, limiting flexibility.</a:t>
            </a:r>
          </a:p>
          <a:p>
            <a:pPr marL="285750" indent="-285750">
              <a:buFont typeface="Arial" panose="020B0604020202020204" pitchFamily="34" charset="0"/>
              <a:buChar char="•"/>
            </a:pPr>
            <a:r>
              <a:rPr lang="en-US" b="1" dirty="0"/>
              <a:t>Complexity in Variants</a:t>
            </a:r>
            <a:r>
              <a:rPr lang="en-US" dirty="0"/>
              <a:t>: Advanced heaps (Fibonacci, binomial) are harder to implement.</a:t>
            </a:r>
          </a:p>
          <a:p>
            <a:endParaRPr lang="en-IN" dirty="0" smtClean="0"/>
          </a:p>
        </p:txBody>
      </p:sp>
    </p:spTree>
    <p:extLst>
      <p:ext uri="{BB962C8B-B14F-4D97-AF65-F5344CB8AC3E}">
        <p14:creationId xmlns:p14="http://schemas.microsoft.com/office/powerpoint/2010/main" val="190403961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08"/>
          </a:xfrm>
          <a:prstGeom prst="rect">
            <a:avLst/>
          </a:prstGeom>
        </p:spPr>
        <p:txBody>
          <a:bodyPr wrap="square">
            <a:spAutoFit/>
          </a:bodyPr>
          <a:lstStyle/>
          <a:p>
            <a:r>
              <a:rPr lang="en-US" b="1" dirty="0" smtClean="0">
                <a:solidFill>
                  <a:srgbClr val="FF0000"/>
                </a:solidFill>
              </a:rPr>
              <a:t>Heap</a:t>
            </a:r>
            <a:endParaRPr lang="en-US" b="1" dirty="0" smtClean="0">
              <a:solidFill>
                <a:srgbClr val="FF0000"/>
              </a:solidFill>
            </a:endParaRPr>
          </a:p>
          <a:p>
            <a:endParaRPr lang="en-US" dirty="0" smtClean="0"/>
          </a:p>
          <a:p>
            <a:r>
              <a:rPr lang="en-US" dirty="0"/>
              <a:t>Heaps are </a:t>
            </a:r>
            <a:r>
              <a:rPr lang="en-US" b="1" dirty="0"/>
              <a:t>non-linear, tree-based structures</a:t>
            </a:r>
            <a:r>
              <a:rPr lang="en-US" dirty="0"/>
              <a:t> optimized for priority management. If you need </a:t>
            </a:r>
            <a:r>
              <a:rPr lang="en-US" b="1" dirty="0"/>
              <a:t>fast access to the smallest or largest element</a:t>
            </a:r>
            <a:r>
              <a:rPr lang="en-US" dirty="0"/>
              <a:t>, heaps are the go-to choice, especially in </a:t>
            </a:r>
            <a:r>
              <a:rPr lang="en-US" b="1" dirty="0"/>
              <a:t>priority queues, sorting, and graph algorithms</a:t>
            </a:r>
            <a:r>
              <a:rPr lang="en-US" dirty="0" smtClean="0"/>
              <a:t>.</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b="1" dirty="0"/>
              <a:t>On the left (Min-Heap): </a:t>
            </a:r>
            <a:r>
              <a:rPr lang="en-US" dirty="0"/>
              <a:t>The root is the smallest element, and every parent is less than or equal to its children.</a:t>
            </a:r>
          </a:p>
          <a:p>
            <a:r>
              <a:rPr lang="en-US" b="1" dirty="0" smtClean="0"/>
              <a:t>On </a:t>
            </a:r>
            <a:r>
              <a:rPr lang="en-US" b="1" dirty="0"/>
              <a:t>the right (Max-Heap): </a:t>
            </a:r>
            <a:r>
              <a:rPr lang="en-US" dirty="0"/>
              <a:t>The root is the largest element, and every parent is greater than or equal to its children.</a:t>
            </a:r>
          </a:p>
          <a:p>
            <a:endParaRPr lang="en-IN" dirty="0" smtClean="0"/>
          </a:p>
        </p:txBody>
      </p:sp>
      <p:pic>
        <p:nvPicPr>
          <p:cNvPr id="2" name="Picture 1"/>
          <p:cNvPicPr>
            <a:picLocks noChangeAspect="1"/>
          </p:cNvPicPr>
          <p:nvPr/>
        </p:nvPicPr>
        <p:blipFill>
          <a:blip r:embed="rId3"/>
          <a:stretch>
            <a:fillRect/>
          </a:stretch>
        </p:blipFill>
        <p:spPr>
          <a:xfrm>
            <a:off x="1735522" y="1795273"/>
            <a:ext cx="7706801" cy="4015323"/>
          </a:xfrm>
          <a:prstGeom prst="rect">
            <a:avLst/>
          </a:prstGeom>
        </p:spPr>
      </p:pic>
    </p:spTree>
    <p:extLst>
      <p:ext uri="{BB962C8B-B14F-4D97-AF65-F5344CB8AC3E}">
        <p14:creationId xmlns:p14="http://schemas.microsoft.com/office/powerpoint/2010/main" val="146243108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Min Heap</a:t>
            </a:r>
            <a:endParaRPr lang="en-US" b="1" dirty="0" smtClean="0">
              <a:solidFill>
                <a:srgbClr val="FF0000"/>
              </a:solidFill>
            </a:endParaRPr>
          </a:p>
          <a:p>
            <a:endParaRPr lang="en-US" dirty="0" smtClean="0"/>
          </a:p>
        </p:txBody>
      </p:sp>
      <p:pic>
        <p:nvPicPr>
          <p:cNvPr id="7" name="Picture 6"/>
          <p:cNvPicPr>
            <a:picLocks noChangeAspect="1"/>
          </p:cNvPicPr>
          <p:nvPr/>
        </p:nvPicPr>
        <p:blipFill>
          <a:blip r:embed="rId3"/>
          <a:stretch>
            <a:fillRect/>
          </a:stretch>
        </p:blipFill>
        <p:spPr>
          <a:xfrm>
            <a:off x="131083" y="1030778"/>
            <a:ext cx="5163271" cy="5669582"/>
          </a:xfrm>
          <a:prstGeom prst="rect">
            <a:avLst/>
          </a:prstGeom>
        </p:spPr>
      </p:pic>
      <p:pic>
        <p:nvPicPr>
          <p:cNvPr id="8" name="Picture 7"/>
          <p:cNvPicPr>
            <a:picLocks noChangeAspect="1"/>
          </p:cNvPicPr>
          <p:nvPr/>
        </p:nvPicPr>
        <p:blipFill>
          <a:blip r:embed="rId4"/>
          <a:stretch>
            <a:fillRect/>
          </a:stretch>
        </p:blipFill>
        <p:spPr>
          <a:xfrm>
            <a:off x="5584170" y="1261943"/>
            <a:ext cx="6077798" cy="4201111"/>
          </a:xfrm>
          <a:prstGeom prst="rect">
            <a:avLst/>
          </a:prstGeom>
        </p:spPr>
      </p:pic>
    </p:spTree>
    <p:extLst>
      <p:ext uri="{BB962C8B-B14F-4D97-AF65-F5344CB8AC3E}">
        <p14:creationId xmlns:p14="http://schemas.microsoft.com/office/powerpoint/2010/main" val="197184512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Min Heap</a:t>
            </a:r>
            <a:endParaRPr lang="en-US" b="1" dirty="0" smtClean="0">
              <a:solidFill>
                <a:srgbClr val="FF0000"/>
              </a:solidFill>
            </a:endParaRPr>
          </a:p>
          <a:p>
            <a:endParaRPr lang="en-US" dirty="0" smtClean="0"/>
          </a:p>
        </p:txBody>
      </p:sp>
      <p:pic>
        <p:nvPicPr>
          <p:cNvPr id="9" name="Picture 8"/>
          <p:cNvPicPr>
            <a:picLocks noChangeAspect="1"/>
          </p:cNvPicPr>
          <p:nvPr/>
        </p:nvPicPr>
        <p:blipFill>
          <a:blip r:embed="rId3"/>
          <a:stretch>
            <a:fillRect/>
          </a:stretch>
        </p:blipFill>
        <p:spPr>
          <a:xfrm>
            <a:off x="202386" y="923830"/>
            <a:ext cx="6090349" cy="1352739"/>
          </a:xfrm>
          <a:prstGeom prst="rect">
            <a:avLst/>
          </a:prstGeom>
        </p:spPr>
      </p:pic>
      <p:pic>
        <p:nvPicPr>
          <p:cNvPr id="10" name="Picture 9"/>
          <p:cNvPicPr>
            <a:picLocks noChangeAspect="1"/>
          </p:cNvPicPr>
          <p:nvPr/>
        </p:nvPicPr>
        <p:blipFill>
          <a:blip r:embed="rId4"/>
          <a:stretch>
            <a:fillRect/>
          </a:stretch>
        </p:blipFill>
        <p:spPr>
          <a:xfrm>
            <a:off x="202386" y="2649731"/>
            <a:ext cx="3391373" cy="1562318"/>
          </a:xfrm>
          <a:prstGeom prst="rect">
            <a:avLst/>
          </a:prstGeom>
        </p:spPr>
      </p:pic>
    </p:spTree>
    <p:extLst>
      <p:ext uri="{BB962C8B-B14F-4D97-AF65-F5344CB8AC3E}">
        <p14:creationId xmlns:p14="http://schemas.microsoft.com/office/powerpoint/2010/main" val="405166724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3139321"/>
          </a:xfrm>
          <a:prstGeom prst="rect">
            <a:avLst/>
          </a:prstGeom>
        </p:spPr>
        <p:txBody>
          <a:bodyPr wrap="square">
            <a:spAutoFit/>
          </a:bodyPr>
          <a:lstStyle/>
          <a:p>
            <a:r>
              <a:rPr lang="en-US" b="1" dirty="0" smtClean="0">
                <a:solidFill>
                  <a:srgbClr val="FF0000"/>
                </a:solidFill>
              </a:rPr>
              <a:t>Min Heap</a:t>
            </a:r>
          </a:p>
          <a:p>
            <a:endParaRPr lang="en-US" b="1" dirty="0" smtClean="0">
              <a:solidFill>
                <a:srgbClr val="FF0000"/>
              </a:solidFill>
            </a:endParaRPr>
          </a:p>
          <a:p>
            <a:r>
              <a:rPr lang="en-US" dirty="0" smtClean="0"/>
              <a:t>This </a:t>
            </a:r>
            <a:r>
              <a:rPr lang="en-US" dirty="0"/>
              <a:t>class defines the heap structure and its operations.</a:t>
            </a:r>
          </a:p>
          <a:p>
            <a:endParaRPr lang="en-IN" dirty="0"/>
          </a:p>
          <a:p>
            <a:r>
              <a:rPr lang="en-IN" dirty="0"/>
              <a:t>Fields:</a:t>
            </a:r>
          </a:p>
          <a:p>
            <a:pPr marL="285750" indent="-285750">
              <a:buFont typeface="Arial" panose="020B0604020202020204" pitchFamily="34" charset="0"/>
              <a:buChar char="•"/>
            </a:pPr>
            <a:r>
              <a:rPr lang="en-US" dirty="0" err="1" smtClean="0"/>
              <a:t>int</a:t>
            </a:r>
            <a:r>
              <a:rPr lang="en-US" dirty="0"/>
              <a:t>[] heap: Array to store heap elements.</a:t>
            </a:r>
          </a:p>
          <a:p>
            <a:pPr marL="285750" indent="-285750">
              <a:buFont typeface="Arial" panose="020B0604020202020204" pitchFamily="34" charset="0"/>
              <a:buChar char="•"/>
            </a:pPr>
            <a:r>
              <a:rPr lang="en-US" dirty="0" err="1" smtClean="0"/>
              <a:t>int</a:t>
            </a:r>
            <a:r>
              <a:rPr lang="en-US" dirty="0" smtClean="0"/>
              <a:t> </a:t>
            </a:r>
            <a:r>
              <a:rPr lang="en-US" dirty="0"/>
              <a:t>size: Current number of elements.</a:t>
            </a:r>
          </a:p>
          <a:p>
            <a:pPr marL="285750" indent="-285750">
              <a:buFont typeface="Arial" panose="020B0604020202020204" pitchFamily="34" charset="0"/>
              <a:buChar char="•"/>
            </a:pPr>
            <a:r>
              <a:rPr lang="en-US" dirty="0" err="1" smtClean="0"/>
              <a:t>int</a:t>
            </a:r>
            <a:r>
              <a:rPr lang="en-US" dirty="0" smtClean="0"/>
              <a:t> </a:t>
            </a:r>
            <a:r>
              <a:rPr lang="en-US" dirty="0"/>
              <a:t>capacity: Maximum number of elements allowed.</a:t>
            </a:r>
          </a:p>
          <a:p>
            <a:endParaRPr lang="en-US" dirty="0" smtClean="0"/>
          </a:p>
          <a:p>
            <a:r>
              <a:rPr lang="en-IN" dirty="0"/>
              <a:t>Constructor</a:t>
            </a:r>
            <a:r>
              <a:rPr lang="en-IN" dirty="0" smtClean="0"/>
              <a:t>:</a:t>
            </a:r>
          </a:p>
          <a:p>
            <a:r>
              <a:rPr lang="en-US" dirty="0"/>
              <a:t>Initializes an empty heap with the given capacity.</a:t>
            </a:r>
            <a:endParaRPr lang="en-US" dirty="0" smtClean="0"/>
          </a:p>
        </p:txBody>
      </p:sp>
    </p:spTree>
    <p:extLst>
      <p:ext uri="{BB962C8B-B14F-4D97-AF65-F5344CB8AC3E}">
        <p14:creationId xmlns:p14="http://schemas.microsoft.com/office/powerpoint/2010/main" val="225539555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909310"/>
          </a:xfrm>
          <a:prstGeom prst="rect">
            <a:avLst/>
          </a:prstGeom>
        </p:spPr>
        <p:txBody>
          <a:bodyPr wrap="square">
            <a:spAutoFit/>
          </a:bodyPr>
          <a:lstStyle/>
          <a:p>
            <a:r>
              <a:rPr lang="en-US" b="1" dirty="0" smtClean="0">
                <a:solidFill>
                  <a:srgbClr val="FF0000"/>
                </a:solidFill>
              </a:rPr>
              <a:t>Min Heap</a:t>
            </a:r>
          </a:p>
          <a:p>
            <a:endParaRPr lang="en-US" b="1" dirty="0" smtClean="0">
              <a:solidFill>
                <a:srgbClr val="FF0000"/>
              </a:solidFill>
            </a:endParaRPr>
          </a:p>
          <a:p>
            <a:r>
              <a:rPr lang="en-IN" b="1" dirty="0"/>
              <a:t>Core Methods</a:t>
            </a:r>
          </a:p>
          <a:p>
            <a:r>
              <a:rPr lang="en-IN" dirty="0"/>
              <a:t>1. parent(</a:t>
            </a:r>
            <a:r>
              <a:rPr lang="en-IN" dirty="0" err="1"/>
              <a:t>int</a:t>
            </a:r>
            <a:r>
              <a:rPr lang="en-IN" dirty="0"/>
              <a:t> </a:t>
            </a:r>
            <a:r>
              <a:rPr lang="en-IN" dirty="0" err="1"/>
              <a:t>i</a:t>
            </a:r>
            <a:r>
              <a:rPr lang="en-IN" dirty="0"/>
              <a:t>)</a:t>
            </a:r>
          </a:p>
          <a:p>
            <a:r>
              <a:rPr lang="en-US" dirty="0"/>
              <a:t>Returns the index of the parent node for a given child index</a:t>
            </a:r>
            <a:r>
              <a:rPr lang="en-US" dirty="0" smtClean="0"/>
              <a:t>:</a:t>
            </a:r>
          </a:p>
          <a:p>
            <a:endParaRPr lang="en-US" dirty="0"/>
          </a:p>
          <a:p>
            <a:endParaRPr lang="en-US" dirty="0" smtClean="0"/>
          </a:p>
          <a:p>
            <a:endParaRPr lang="en-US" dirty="0"/>
          </a:p>
          <a:p>
            <a:endParaRPr lang="en-US" dirty="0" smtClean="0"/>
          </a:p>
          <a:p>
            <a:endParaRPr lang="en-US" dirty="0"/>
          </a:p>
          <a:p>
            <a:r>
              <a:rPr lang="en-IN" b="1" dirty="0" smtClean="0"/>
              <a:t>2. insert(</a:t>
            </a:r>
            <a:r>
              <a:rPr lang="en-IN" b="1" dirty="0" err="1" smtClean="0"/>
              <a:t>int</a:t>
            </a:r>
            <a:r>
              <a:rPr lang="en-IN" b="1" dirty="0" smtClean="0"/>
              <a:t> value)</a:t>
            </a:r>
          </a:p>
          <a:p>
            <a:r>
              <a:rPr lang="en-US" dirty="0" smtClean="0"/>
              <a:t>Adds </a:t>
            </a:r>
            <a:r>
              <a:rPr lang="en-US" dirty="0"/>
              <a:t>a new element to the heap and ensures the Min-Heap property (parent ≤ children).</a:t>
            </a:r>
          </a:p>
          <a:p>
            <a:r>
              <a:rPr lang="en-IN" dirty="0" smtClean="0"/>
              <a:t>Steps</a:t>
            </a:r>
            <a:r>
              <a:rPr lang="en-IN" dirty="0"/>
              <a:t>:</a:t>
            </a:r>
          </a:p>
          <a:p>
            <a:pPr marL="285750" indent="-285750">
              <a:buFont typeface="Arial" panose="020B0604020202020204" pitchFamily="34" charset="0"/>
              <a:buChar char="•"/>
            </a:pPr>
            <a:r>
              <a:rPr lang="en-US" dirty="0" smtClean="0"/>
              <a:t>Check </a:t>
            </a:r>
            <a:r>
              <a:rPr lang="en-US" dirty="0"/>
              <a:t>if heap is full.</a:t>
            </a:r>
          </a:p>
          <a:p>
            <a:pPr marL="285750" indent="-285750">
              <a:buFont typeface="Arial" panose="020B0604020202020204" pitchFamily="34" charset="0"/>
              <a:buChar char="•"/>
            </a:pPr>
            <a:r>
              <a:rPr lang="en-US" dirty="0" smtClean="0"/>
              <a:t>Place </a:t>
            </a:r>
            <a:r>
              <a:rPr lang="en-US" dirty="0"/>
              <a:t>the new value at the end.</a:t>
            </a:r>
          </a:p>
          <a:p>
            <a:pPr marL="285750" indent="-285750">
              <a:buFont typeface="Arial" panose="020B0604020202020204" pitchFamily="34" charset="0"/>
              <a:buChar char="•"/>
            </a:pPr>
            <a:r>
              <a:rPr lang="en-IN" dirty="0" smtClean="0"/>
              <a:t>Perform </a:t>
            </a:r>
            <a:r>
              <a:rPr lang="en-IN" dirty="0" err="1"/>
              <a:t>Heapify</a:t>
            </a:r>
            <a:r>
              <a:rPr lang="en-IN" dirty="0"/>
              <a:t> Up:</a:t>
            </a:r>
          </a:p>
          <a:p>
            <a:pPr marL="742950" lvl="1" indent="-285750">
              <a:buFont typeface="Arial" panose="020B0604020202020204" pitchFamily="34" charset="0"/>
              <a:buChar char="•"/>
            </a:pPr>
            <a:r>
              <a:rPr lang="en-US" dirty="0" smtClean="0"/>
              <a:t>Compare </a:t>
            </a:r>
            <a:r>
              <a:rPr lang="en-US" dirty="0"/>
              <a:t>the inserted element with its parent.</a:t>
            </a:r>
          </a:p>
          <a:p>
            <a:pPr marL="742950" lvl="1" indent="-285750">
              <a:buFont typeface="Arial" panose="020B0604020202020204" pitchFamily="34" charset="0"/>
              <a:buChar char="•"/>
            </a:pPr>
            <a:r>
              <a:rPr lang="en-US" dirty="0" smtClean="0"/>
              <a:t>If </a:t>
            </a:r>
            <a:r>
              <a:rPr lang="en-US" dirty="0"/>
              <a:t>the parent is greater, swap them.</a:t>
            </a:r>
          </a:p>
          <a:p>
            <a:pPr marL="742950" lvl="1" indent="-285750">
              <a:buFont typeface="Arial" panose="020B0604020202020204" pitchFamily="34" charset="0"/>
              <a:buChar char="•"/>
            </a:pPr>
            <a:r>
              <a:rPr lang="en-US" dirty="0" smtClean="0"/>
              <a:t>Repeat </a:t>
            </a:r>
            <a:r>
              <a:rPr lang="en-US" dirty="0"/>
              <a:t>until the heap property is restored.</a:t>
            </a:r>
          </a:p>
          <a:p>
            <a:pPr marL="285750" indent="-285750">
              <a:buFont typeface="Arial" panose="020B0604020202020204" pitchFamily="34" charset="0"/>
              <a:buChar char="•"/>
            </a:pPr>
            <a:r>
              <a:rPr lang="en-US" dirty="0" smtClean="0"/>
              <a:t>This </a:t>
            </a:r>
            <a:r>
              <a:rPr lang="en-US" dirty="0"/>
              <a:t>ensures the smallest element “bubbles up” to the root.</a:t>
            </a:r>
          </a:p>
          <a:p>
            <a:endParaRPr lang="en-US" dirty="0"/>
          </a:p>
        </p:txBody>
      </p:sp>
      <p:pic>
        <p:nvPicPr>
          <p:cNvPr id="3" name="Picture 2"/>
          <p:cNvPicPr>
            <a:picLocks noChangeAspect="1"/>
          </p:cNvPicPr>
          <p:nvPr/>
        </p:nvPicPr>
        <p:blipFill>
          <a:blip r:embed="rId3"/>
          <a:stretch>
            <a:fillRect/>
          </a:stretch>
        </p:blipFill>
        <p:spPr>
          <a:xfrm>
            <a:off x="2569395" y="2072272"/>
            <a:ext cx="2351740" cy="662615"/>
          </a:xfrm>
          <a:prstGeom prst="rect">
            <a:avLst/>
          </a:prstGeom>
        </p:spPr>
      </p:pic>
    </p:spTree>
    <p:extLst>
      <p:ext uri="{BB962C8B-B14F-4D97-AF65-F5344CB8AC3E}">
        <p14:creationId xmlns:p14="http://schemas.microsoft.com/office/powerpoint/2010/main" val="308204483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4801314"/>
          </a:xfrm>
          <a:prstGeom prst="rect">
            <a:avLst/>
          </a:prstGeom>
        </p:spPr>
        <p:txBody>
          <a:bodyPr wrap="square">
            <a:spAutoFit/>
          </a:bodyPr>
          <a:lstStyle/>
          <a:p>
            <a:r>
              <a:rPr lang="en-US" b="1" dirty="0" smtClean="0">
                <a:solidFill>
                  <a:srgbClr val="FF0000"/>
                </a:solidFill>
              </a:rPr>
              <a:t>Min Heap</a:t>
            </a:r>
          </a:p>
          <a:p>
            <a:endParaRPr lang="en-US" b="1" dirty="0" smtClean="0">
              <a:solidFill>
                <a:srgbClr val="FF0000"/>
              </a:solidFill>
            </a:endParaRPr>
          </a:p>
          <a:p>
            <a:r>
              <a:rPr lang="en-IN" b="1" dirty="0"/>
              <a:t>Core </a:t>
            </a:r>
            <a:r>
              <a:rPr lang="en-IN" b="1" dirty="0" smtClean="0"/>
              <a:t>Methods</a:t>
            </a:r>
          </a:p>
          <a:p>
            <a:endParaRPr lang="en-US" b="1" dirty="0"/>
          </a:p>
          <a:p>
            <a:r>
              <a:rPr lang="en-IN" b="1" dirty="0" smtClean="0"/>
              <a:t>3. </a:t>
            </a:r>
            <a:r>
              <a:rPr lang="en-IN" b="1" dirty="0" err="1" smtClean="0"/>
              <a:t>printHeap</a:t>
            </a:r>
            <a:r>
              <a:rPr lang="en-IN" b="1" dirty="0" smtClean="0"/>
              <a:t>()</a:t>
            </a:r>
          </a:p>
          <a:p>
            <a:r>
              <a:rPr lang="en-US" dirty="0"/>
              <a:t>Displays the current heap elements as an array</a:t>
            </a:r>
            <a:r>
              <a:rPr lang="en-US" dirty="0" smtClean="0"/>
              <a:t>.</a:t>
            </a:r>
          </a:p>
          <a:p>
            <a:endParaRPr lang="en-US" b="1" dirty="0"/>
          </a:p>
          <a:p>
            <a:r>
              <a:rPr lang="en-IN" b="1" dirty="0"/>
              <a:t>Main </a:t>
            </a:r>
            <a:r>
              <a:rPr lang="en-IN" b="1" dirty="0" smtClean="0"/>
              <a:t>Method</a:t>
            </a:r>
          </a:p>
          <a:p>
            <a:r>
              <a:rPr lang="en-IN" dirty="0"/>
              <a:t>Execution Flow:</a:t>
            </a:r>
          </a:p>
          <a:p>
            <a:pPr marL="285750" indent="-285750">
              <a:buFont typeface="Arial" panose="020B0604020202020204" pitchFamily="34" charset="0"/>
              <a:buChar char="•"/>
            </a:pPr>
            <a:r>
              <a:rPr lang="en-US" dirty="0" smtClean="0"/>
              <a:t>Creates </a:t>
            </a:r>
            <a:r>
              <a:rPr lang="en-US" dirty="0"/>
              <a:t>a heap with capacity 10.</a:t>
            </a:r>
          </a:p>
          <a:p>
            <a:pPr marL="285750" indent="-285750">
              <a:buFont typeface="Arial" panose="020B0604020202020204" pitchFamily="34" charset="0"/>
              <a:buChar char="•"/>
            </a:pPr>
            <a:r>
              <a:rPr lang="en-US" dirty="0" smtClean="0"/>
              <a:t>Inserts </a:t>
            </a:r>
            <a:r>
              <a:rPr lang="en-US" dirty="0"/>
              <a:t>elements one by one.</a:t>
            </a:r>
          </a:p>
          <a:p>
            <a:pPr marL="285750" indent="-285750">
              <a:buFont typeface="Arial" panose="020B0604020202020204" pitchFamily="34" charset="0"/>
              <a:buChar char="•"/>
            </a:pPr>
            <a:r>
              <a:rPr lang="en-US" dirty="0" smtClean="0"/>
              <a:t>Each </a:t>
            </a:r>
            <a:r>
              <a:rPr lang="en-US" dirty="0"/>
              <a:t>insertion reorders the heap to maintain the Min-Heap property.</a:t>
            </a:r>
          </a:p>
          <a:p>
            <a:pPr marL="285750" indent="-285750">
              <a:buFont typeface="Arial" panose="020B0604020202020204" pitchFamily="34" charset="0"/>
              <a:buChar char="•"/>
            </a:pPr>
            <a:r>
              <a:rPr lang="en-US" dirty="0" smtClean="0"/>
              <a:t>Prints </a:t>
            </a:r>
            <a:r>
              <a:rPr lang="en-US" dirty="0"/>
              <a:t>the final heap </a:t>
            </a:r>
            <a:r>
              <a:rPr lang="en-US" dirty="0" smtClean="0"/>
              <a:t>array:</a:t>
            </a:r>
            <a:endParaRPr lang="en-US" dirty="0"/>
          </a:p>
          <a:p>
            <a:r>
              <a:rPr lang="sv-SE" dirty="0" smtClean="0"/>
              <a:t>                         Min </a:t>
            </a:r>
            <a:r>
              <a:rPr lang="sv-SE" dirty="0"/>
              <a:t>Heap: [10, 20, 30, 40, 50]</a:t>
            </a:r>
          </a:p>
          <a:p>
            <a:endParaRPr lang="en-IN" dirty="0"/>
          </a:p>
          <a:p>
            <a:r>
              <a:rPr lang="en-US" dirty="0"/>
              <a:t>Here, 10 becomes the root (smallest element), and the rest are arranged to satisfy the heap property.</a:t>
            </a:r>
          </a:p>
          <a:p>
            <a:endParaRPr lang="en-IN" b="1" dirty="0"/>
          </a:p>
        </p:txBody>
      </p:sp>
    </p:spTree>
    <p:extLst>
      <p:ext uri="{BB962C8B-B14F-4D97-AF65-F5344CB8AC3E}">
        <p14:creationId xmlns:p14="http://schemas.microsoft.com/office/powerpoint/2010/main" val="185099158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1754326"/>
          </a:xfrm>
          <a:prstGeom prst="rect">
            <a:avLst/>
          </a:prstGeom>
        </p:spPr>
        <p:txBody>
          <a:bodyPr wrap="square">
            <a:spAutoFit/>
          </a:bodyPr>
          <a:lstStyle/>
          <a:p>
            <a:r>
              <a:rPr lang="en-US" b="1" dirty="0" smtClean="0">
                <a:solidFill>
                  <a:srgbClr val="FF0000"/>
                </a:solidFill>
              </a:rPr>
              <a:t>Min Heap</a:t>
            </a:r>
          </a:p>
          <a:p>
            <a:endParaRPr lang="en-US" b="1" dirty="0" smtClean="0">
              <a:solidFill>
                <a:srgbClr val="FF0000"/>
              </a:solidFill>
            </a:endParaRPr>
          </a:p>
          <a:p>
            <a:r>
              <a:rPr lang="en-US" dirty="0"/>
              <a:t>This program:</a:t>
            </a:r>
          </a:p>
          <a:p>
            <a:pPr marL="285750" indent="-285750">
              <a:buFont typeface="Arial" panose="020B0604020202020204" pitchFamily="34" charset="0"/>
              <a:buChar char="•"/>
            </a:pPr>
            <a:r>
              <a:rPr lang="en-US" dirty="0"/>
              <a:t>Implements a </a:t>
            </a:r>
            <a:r>
              <a:rPr lang="en-US" b="1" dirty="0"/>
              <a:t>Min-Heap</a:t>
            </a:r>
            <a:r>
              <a:rPr lang="en-US" dirty="0"/>
              <a:t> using an array.</a:t>
            </a:r>
          </a:p>
          <a:p>
            <a:pPr marL="285750" indent="-285750">
              <a:buFont typeface="Arial" panose="020B0604020202020204" pitchFamily="34" charset="0"/>
              <a:buChar char="•"/>
            </a:pPr>
            <a:r>
              <a:rPr lang="en-US" dirty="0"/>
              <a:t>Demonstrates </a:t>
            </a:r>
            <a:r>
              <a:rPr lang="en-US" b="1" dirty="0" err="1"/>
              <a:t>heapify</a:t>
            </a:r>
            <a:r>
              <a:rPr lang="en-US" b="1" dirty="0"/>
              <a:t>-up</a:t>
            </a:r>
            <a:r>
              <a:rPr lang="en-US" dirty="0"/>
              <a:t> during insertion.</a:t>
            </a:r>
          </a:p>
          <a:p>
            <a:pPr marL="285750" indent="-285750">
              <a:buFont typeface="Arial" panose="020B0604020202020204" pitchFamily="34" charset="0"/>
              <a:buChar char="•"/>
            </a:pPr>
            <a:r>
              <a:rPr lang="en-US" dirty="0"/>
              <a:t>Shows how the smallest element always stays at the root.</a:t>
            </a:r>
          </a:p>
        </p:txBody>
      </p:sp>
    </p:spTree>
    <p:extLst>
      <p:ext uri="{BB962C8B-B14F-4D97-AF65-F5344CB8AC3E}">
        <p14:creationId xmlns:p14="http://schemas.microsoft.com/office/powerpoint/2010/main" val="70439361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355312"/>
          </a:xfrm>
          <a:prstGeom prst="rect">
            <a:avLst/>
          </a:prstGeom>
        </p:spPr>
        <p:txBody>
          <a:bodyPr wrap="square">
            <a:spAutoFit/>
          </a:bodyPr>
          <a:lstStyle/>
          <a:p>
            <a:r>
              <a:rPr lang="en-US" b="1" dirty="0" smtClean="0">
                <a:solidFill>
                  <a:srgbClr val="FF0000"/>
                </a:solidFill>
              </a:rPr>
              <a:t>Min Heap</a:t>
            </a:r>
          </a:p>
          <a:p>
            <a:endParaRPr lang="en-US" b="1" dirty="0" smtClean="0">
              <a:solidFill>
                <a:srgbClr val="FF0000"/>
              </a:solidFill>
            </a:endParaRPr>
          </a:p>
          <a:p>
            <a:r>
              <a:rPr lang="en-US" b="1" dirty="0"/>
              <a:t>Initial State</a:t>
            </a:r>
          </a:p>
          <a:p>
            <a:r>
              <a:rPr lang="en-US" dirty="0"/>
              <a:t>Heap is empty</a:t>
            </a:r>
            <a:r>
              <a:rPr lang="en-US" dirty="0" smtClean="0"/>
              <a:t>:</a:t>
            </a:r>
          </a:p>
          <a:p>
            <a:endParaRPr lang="en-US" dirty="0"/>
          </a:p>
          <a:p>
            <a:r>
              <a:rPr lang="en-IN" b="1" dirty="0"/>
              <a:t>Insert 40</a:t>
            </a:r>
          </a:p>
          <a:p>
            <a:r>
              <a:rPr lang="en-IN" dirty="0"/>
              <a:t>Heap becomes:</a:t>
            </a:r>
          </a:p>
          <a:p>
            <a:r>
              <a:rPr lang="en-US" dirty="0"/>
              <a:t>No parent to compare — stays as root</a:t>
            </a:r>
            <a:r>
              <a:rPr lang="en-US" dirty="0" smtClean="0"/>
              <a:t>.</a:t>
            </a:r>
          </a:p>
          <a:p>
            <a:endParaRPr lang="en-US" dirty="0"/>
          </a:p>
          <a:p>
            <a:r>
              <a:rPr lang="en-IN" b="1" dirty="0"/>
              <a:t>Insert 20</a:t>
            </a:r>
          </a:p>
          <a:p>
            <a:r>
              <a:rPr lang="en-IN" dirty="0"/>
              <a:t>Insert at next position → [40, 20]</a:t>
            </a:r>
          </a:p>
          <a:p>
            <a:r>
              <a:rPr lang="en-IN" dirty="0" smtClean="0"/>
              <a:t>Compare </a:t>
            </a:r>
            <a:r>
              <a:rPr lang="en-IN" dirty="0"/>
              <a:t>with parent (40).</a:t>
            </a:r>
          </a:p>
          <a:p>
            <a:r>
              <a:rPr lang="en-IN" dirty="0"/>
              <a:t>Since 20 &lt; 40 → swap.</a:t>
            </a:r>
          </a:p>
          <a:p>
            <a:endParaRPr lang="en-US" dirty="0" smtClean="0"/>
          </a:p>
          <a:p>
            <a:r>
              <a:rPr lang="en-IN" b="1" dirty="0" smtClean="0"/>
              <a:t>Insert </a:t>
            </a:r>
            <a:r>
              <a:rPr lang="en-IN" b="1" dirty="0"/>
              <a:t>10</a:t>
            </a:r>
          </a:p>
          <a:p>
            <a:r>
              <a:rPr lang="en-IN" dirty="0"/>
              <a:t>Insert → [20, 40, 30, 10]</a:t>
            </a:r>
          </a:p>
          <a:p>
            <a:r>
              <a:rPr lang="en-IN" dirty="0" smtClean="0"/>
              <a:t>Parent </a:t>
            </a:r>
            <a:r>
              <a:rPr lang="en-IN" dirty="0"/>
              <a:t>of 10 is 40 → 10 &lt; 40 → swap → [20, 10, 30, 40]</a:t>
            </a:r>
          </a:p>
          <a:p>
            <a:r>
              <a:rPr lang="en-US" dirty="0" smtClean="0"/>
              <a:t>Now </a:t>
            </a:r>
            <a:r>
              <a:rPr lang="en-US" dirty="0"/>
              <a:t>parent of 10 is 20 → 10 &lt; 20 → swap again.</a:t>
            </a:r>
          </a:p>
          <a:p>
            <a:endParaRPr lang="en-US" dirty="0"/>
          </a:p>
        </p:txBody>
      </p:sp>
      <p:pic>
        <p:nvPicPr>
          <p:cNvPr id="3" name="Picture 2"/>
          <p:cNvPicPr>
            <a:picLocks noChangeAspect="1"/>
          </p:cNvPicPr>
          <p:nvPr/>
        </p:nvPicPr>
        <p:blipFill>
          <a:blip r:embed="rId3"/>
          <a:stretch>
            <a:fillRect/>
          </a:stretch>
        </p:blipFill>
        <p:spPr>
          <a:xfrm>
            <a:off x="1531857" y="1310940"/>
            <a:ext cx="333422" cy="371527"/>
          </a:xfrm>
          <a:prstGeom prst="rect">
            <a:avLst/>
          </a:prstGeom>
        </p:spPr>
      </p:pic>
      <p:pic>
        <p:nvPicPr>
          <p:cNvPr id="7" name="Picture 6"/>
          <p:cNvPicPr>
            <a:picLocks noChangeAspect="1"/>
          </p:cNvPicPr>
          <p:nvPr/>
        </p:nvPicPr>
        <p:blipFill>
          <a:blip r:embed="rId4"/>
          <a:stretch>
            <a:fillRect/>
          </a:stretch>
        </p:blipFill>
        <p:spPr>
          <a:xfrm>
            <a:off x="1598542" y="2168321"/>
            <a:ext cx="533474" cy="342948"/>
          </a:xfrm>
          <a:prstGeom prst="rect">
            <a:avLst/>
          </a:prstGeom>
        </p:spPr>
      </p:pic>
      <p:pic>
        <p:nvPicPr>
          <p:cNvPr id="9" name="Picture 8"/>
          <p:cNvPicPr>
            <a:picLocks noChangeAspect="1"/>
          </p:cNvPicPr>
          <p:nvPr/>
        </p:nvPicPr>
        <p:blipFill>
          <a:blip r:embed="rId5"/>
          <a:stretch>
            <a:fillRect/>
          </a:stretch>
        </p:blipFill>
        <p:spPr>
          <a:xfrm>
            <a:off x="2691359" y="3803829"/>
            <a:ext cx="857370" cy="314369"/>
          </a:xfrm>
          <a:prstGeom prst="rect">
            <a:avLst/>
          </a:prstGeom>
        </p:spPr>
      </p:pic>
      <p:pic>
        <p:nvPicPr>
          <p:cNvPr id="10" name="Picture 9"/>
          <p:cNvPicPr>
            <a:picLocks noChangeAspect="1"/>
          </p:cNvPicPr>
          <p:nvPr/>
        </p:nvPicPr>
        <p:blipFill>
          <a:blip r:embed="rId6"/>
          <a:stretch>
            <a:fillRect/>
          </a:stretch>
        </p:blipFill>
        <p:spPr>
          <a:xfrm>
            <a:off x="4635711" y="5225215"/>
            <a:ext cx="1381318" cy="381053"/>
          </a:xfrm>
          <a:prstGeom prst="rect">
            <a:avLst/>
          </a:prstGeom>
        </p:spPr>
      </p:pic>
      <p:sp>
        <p:nvSpPr>
          <p:cNvPr id="13" name="Rectangle 12"/>
          <p:cNvSpPr/>
          <p:nvPr/>
        </p:nvSpPr>
        <p:spPr>
          <a:xfrm>
            <a:off x="5938058" y="1205175"/>
            <a:ext cx="6096000" cy="1200329"/>
          </a:xfrm>
          <a:prstGeom prst="rect">
            <a:avLst/>
          </a:prstGeom>
        </p:spPr>
        <p:txBody>
          <a:bodyPr>
            <a:spAutoFit/>
          </a:bodyPr>
          <a:lstStyle/>
          <a:p>
            <a:r>
              <a:rPr lang="en-IN" b="1" dirty="0"/>
              <a:t>Insert 50</a:t>
            </a:r>
          </a:p>
          <a:p>
            <a:r>
              <a:rPr lang="en-IN" dirty="0"/>
              <a:t>Insert → [10, 20, 30, 40, 50]</a:t>
            </a:r>
          </a:p>
          <a:p>
            <a:r>
              <a:rPr lang="en-US" dirty="0"/>
              <a:t>Parent </a:t>
            </a:r>
            <a:r>
              <a:rPr lang="en-US" dirty="0"/>
              <a:t>of 50 is 20 → 50 &gt; 20 → no swap.</a:t>
            </a:r>
          </a:p>
          <a:p>
            <a:r>
              <a:rPr lang="en-IN" dirty="0"/>
              <a:t>Final </a:t>
            </a:r>
            <a:r>
              <a:rPr lang="en-IN" dirty="0"/>
              <a:t>Min-Heap:</a:t>
            </a:r>
          </a:p>
        </p:txBody>
      </p:sp>
      <p:pic>
        <p:nvPicPr>
          <p:cNvPr id="14" name="Picture 13"/>
          <p:cNvPicPr>
            <a:picLocks noChangeAspect="1"/>
          </p:cNvPicPr>
          <p:nvPr/>
        </p:nvPicPr>
        <p:blipFill>
          <a:blip r:embed="rId7"/>
          <a:stretch>
            <a:fillRect/>
          </a:stretch>
        </p:blipFill>
        <p:spPr>
          <a:xfrm>
            <a:off x="7709754" y="2130216"/>
            <a:ext cx="1810003" cy="381053"/>
          </a:xfrm>
          <a:prstGeom prst="rect">
            <a:avLst/>
          </a:prstGeom>
        </p:spPr>
      </p:pic>
      <p:sp>
        <p:nvSpPr>
          <p:cNvPr id="15" name="Rectangle 14"/>
          <p:cNvSpPr/>
          <p:nvPr/>
        </p:nvSpPr>
        <p:spPr>
          <a:xfrm>
            <a:off x="5938058" y="2933187"/>
            <a:ext cx="2764988" cy="369332"/>
          </a:xfrm>
          <a:prstGeom prst="rect">
            <a:avLst/>
          </a:prstGeom>
        </p:spPr>
        <p:txBody>
          <a:bodyPr wrap="none">
            <a:spAutoFit/>
          </a:bodyPr>
          <a:lstStyle/>
          <a:p>
            <a:r>
              <a:rPr lang="en-IN" b="1" dirty="0"/>
              <a:t>Heap Structure (Tree View)</a:t>
            </a:r>
          </a:p>
        </p:txBody>
      </p:sp>
      <p:pic>
        <p:nvPicPr>
          <p:cNvPr id="16" name="Picture 15"/>
          <p:cNvPicPr>
            <a:picLocks noChangeAspect="1"/>
          </p:cNvPicPr>
          <p:nvPr/>
        </p:nvPicPr>
        <p:blipFill>
          <a:blip r:embed="rId8"/>
          <a:stretch>
            <a:fillRect/>
          </a:stretch>
        </p:blipFill>
        <p:spPr>
          <a:xfrm>
            <a:off x="8824335" y="2864730"/>
            <a:ext cx="1390844" cy="1143160"/>
          </a:xfrm>
          <a:prstGeom prst="rect">
            <a:avLst/>
          </a:prstGeom>
        </p:spPr>
      </p:pic>
      <p:sp>
        <p:nvSpPr>
          <p:cNvPr id="17" name="Rectangle 16"/>
          <p:cNvSpPr/>
          <p:nvPr/>
        </p:nvSpPr>
        <p:spPr>
          <a:xfrm>
            <a:off x="6017029" y="4007890"/>
            <a:ext cx="6096000" cy="646331"/>
          </a:xfrm>
          <a:prstGeom prst="rect">
            <a:avLst/>
          </a:prstGeom>
        </p:spPr>
        <p:txBody>
          <a:bodyPr>
            <a:spAutoFit/>
          </a:bodyPr>
          <a:lstStyle/>
          <a:p>
            <a:r>
              <a:rPr lang="en-US" dirty="0"/>
              <a:t>Each parent is smaller than its children </a:t>
            </a:r>
            <a:endParaRPr lang="en-US" dirty="0" smtClean="0"/>
          </a:p>
          <a:p>
            <a:r>
              <a:rPr lang="en-US" dirty="0" smtClean="0"/>
              <a:t>— </a:t>
            </a:r>
            <a:r>
              <a:rPr lang="en-US" dirty="0"/>
              <a:t>satisfying the </a:t>
            </a:r>
            <a:r>
              <a:rPr lang="en-US" b="1" dirty="0"/>
              <a:t>Min-Heap property</a:t>
            </a:r>
            <a:r>
              <a:rPr lang="en-US" dirty="0"/>
              <a:t>.</a:t>
            </a:r>
            <a:endParaRPr lang="en-IN" dirty="0"/>
          </a:p>
        </p:txBody>
      </p:sp>
      <p:sp>
        <p:nvSpPr>
          <p:cNvPr id="18" name="Rectangle 17"/>
          <p:cNvSpPr/>
          <p:nvPr/>
        </p:nvSpPr>
        <p:spPr>
          <a:xfrm>
            <a:off x="2484418" y="5992311"/>
            <a:ext cx="8280563" cy="646331"/>
          </a:xfrm>
          <a:prstGeom prst="rect">
            <a:avLst/>
          </a:prstGeom>
        </p:spPr>
        <p:txBody>
          <a:bodyPr wrap="square">
            <a:spAutoFit/>
          </a:bodyPr>
          <a:lstStyle/>
          <a:p>
            <a:r>
              <a:rPr lang="en-US" b="1" dirty="0"/>
              <a:t>Final Heap Array: </a:t>
            </a:r>
            <a:r>
              <a:rPr lang="en-US" dirty="0"/>
              <a:t>[10, 20, 30, 40, 50]</a:t>
            </a:r>
          </a:p>
          <a:p>
            <a:r>
              <a:rPr lang="en-US" b="1" dirty="0"/>
              <a:t>Final Heap Tree: </a:t>
            </a:r>
            <a:r>
              <a:rPr lang="en-US" dirty="0"/>
              <a:t>Root is 10, the smallest element, satisfying the Min-Heap property.</a:t>
            </a:r>
          </a:p>
        </p:txBody>
      </p:sp>
    </p:spTree>
    <p:extLst>
      <p:ext uri="{BB962C8B-B14F-4D97-AF65-F5344CB8AC3E}">
        <p14:creationId xmlns:p14="http://schemas.microsoft.com/office/powerpoint/2010/main" val="376341249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Max Heap</a:t>
            </a:r>
          </a:p>
          <a:p>
            <a:endParaRPr lang="en-US" b="1" dirty="0" smtClean="0">
              <a:solidFill>
                <a:srgbClr val="FF0000"/>
              </a:solidFill>
            </a:endParaRPr>
          </a:p>
        </p:txBody>
      </p:sp>
      <p:pic>
        <p:nvPicPr>
          <p:cNvPr id="7" name="Picture 6"/>
          <p:cNvPicPr>
            <a:picLocks noChangeAspect="1"/>
          </p:cNvPicPr>
          <p:nvPr/>
        </p:nvPicPr>
        <p:blipFill>
          <a:blip r:embed="rId3"/>
          <a:stretch>
            <a:fillRect/>
          </a:stretch>
        </p:blipFill>
        <p:spPr>
          <a:xfrm>
            <a:off x="114824" y="997527"/>
            <a:ext cx="4896533" cy="5735782"/>
          </a:xfrm>
          <a:prstGeom prst="rect">
            <a:avLst/>
          </a:prstGeom>
        </p:spPr>
      </p:pic>
      <p:pic>
        <p:nvPicPr>
          <p:cNvPr id="8" name="Picture 7"/>
          <p:cNvPicPr>
            <a:picLocks noChangeAspect="1"/>
          </p:cNvPicPr>
          <p:nvPr/>
        </p:nvPicPr>
        <p:blipFill>
          <a:blip r:embed="rId4"/>
          <a:stretch>
            <a:fillRect/>
          </a:stretch>
        </p:blipFill>
        <p:spPr>
          <a:xfrm>
            <a:off x="5409877" y="1505438"/>
            <a:ext cx="5877745" cy="4163006"/>
          </a:xfrm>
          <a:prstGeom prst="rect">
            <a:avLst/>
          </a:prstGeom>
        </p:spPr>
      </p:pic>
    </p:spTree>
    <p:extLst>
      <p:ext uri="{BB962C8B-B14F-4D97-AF65-F5344CB8AC3E}">
        <p14:creationId xmlns:p14="http://schemas.microsoft.com/office/powerpoint/2010/main" val="97361535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Max Heap</a:t>
            </a:r>
          </a:p>
          <a:p>
            <a:endParaRPr lang="en-US" b="1" dirty="0" smtClean="0">
              <a:solidFill>
                <a:srgbClr val="FF0000"/>
              </a:solidFill>
            </a:endParaRPr>
          </a:p>
        </p:txBody>
      </p:sp>
      <p:pic>
        <p:nvPicPr>
          <p:cNvPr id="9" name="Picture 8"/>
          <p:cNvPicPr>
            <a:picLocks noChangeAspect="1"/>
          </p:cNvPicPr>
          <p:nvPr/>
        </p:nvPicPr>
        <p:blipFill>
          <a:blip r:embed="rId3"/>
          <a:stretch>
            <a:fillRect/>
          </a:stretch>
        </p:blipFill>
        <p:spPr>
          <a:xfrm>
            <a:off x="113728" y="956324"/>
            <a:ext cx="6777523" cy="1371240"/>
          </a:xfrm>
          <a:prstGeom prst="rect">
            <a:avLst/>
          </a:prstGeom>
        </p:spPr>
      </p:pic>
      <p:pic>
        <p:nvPicPr>
          <p:cNvPr id="10" name="Picture 9"/>
          <p:cNvPicPr>
            <a:picLocks noChangeAspect="1"/>
          </p:cNvPicPr>
          <p:nvPr/>
        </p:nvPicPr>
        <p:blipFill>
          <a:blip r:embed="rId4"/>
          <a:stretch>
            <a:fillRect/>
          </a:stretch>
        </p:blipFill>
        <p:spPr>
          <a:xfrm>
            <a:off x="113728" y="2569659"/>
            <a:ext cx="2867425" cy="1419423"/>
          </a:xfrm>
          <a:prstGeom prst="rect">
            <a:avLst/>
          </a:prstGeom>
        </p:spPr>
      </p:pic>
      <p:pic>
        <p:nvPicPr>
          <p:cNvPr id="11" name="Picture 10"/>
          <p:cNvPicPr>
            <a:picLocks noChangeAspect="1"/>
          </p:cNvPicPr>
          <p:nvPr/>
        </p:nvPicPr>
        <p:blipFill>
          <a:blip r:embed="rId5"/>
          <a:stretch>
            <a:fillRect/>
          </a:stretch>
        </p:blipFill>
        <p:spPr>
          <a:xfrm>
            <a:off x="285868" y="4170676"/>
            <a:ext cx="6554115" cy="2124371"/>
          </a:xfrm>
          <a:prstGeom prst="rect">
            <a:avLst/>
          </a:prstGeom>
        </p:spPr>
      </p:pic>
    </p:spTree>
    <p:extLst>
      <p:ext uri="{BB962C8B-B14F-4D97-AF65-F5344CB8AC3E}">
        <p14:creationId xmlns:p14="http://schemas.microsoft.com/office/powerpoint/2010/main" val="410696561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3416320"/>
          </a:xfrm>
          <a:prstGeom prst="rect">
            <a:avLst/>
          </a:prstGeom>
        </p:spPr>
        <p:txBody>
          <a:bodyPr wrap="square">
            <a:spAutoFit/>
          </a:bodyPr>
          <a:lstStyle/>
          <a:p>
            <a:r>
              <a:rPr lang="en-US" b="1" dirty="0" smtClean="0">
                <a:solidFill>
                  <a:srgbClr val="FF0000"/>
                </a:solidFill>
              </a:rPr>
              <a:t>Max Heap</a:t>
            </a:r>
          </a:p>
          <a:p>
            <a:endParaRPr lang="en-US" b="1" dirty="0" smtClean="0">
              <a:solidFill>
                <a:srgbClr val="FF0000"/>
              </a:solidFill>
            </a:endParaRPr>
          </a:p>
          <a:p>
            <a:r>
              <a:rPr lang="en-US" dirty="0"/>
              <a:t>Defines the heap structure and operations.</a:t>
            </a:r>
          </a:p>
          <a:p>
            <a:endParaRPr lang="en-IN" dirty="0"/>
          </a:p>
          <a:p>
            <a:r>
              <a:rPr lang="en-IN" dirty="0"/>
              <a:t>Fields:</a:t>
            </a:r>
          </a:p>
          <a:p>
            <a:pPr marL="285750" indent="-285750">
              <a:buFont typeface="Arial" panose="020B0604020202020204" pitchFamily="34" charset="0"/>
              <a:buChar char="•"/>
            </a:pPr>
            <a:r>
              <a:rPr lang="en-US" dirty="0" err="1" smtClean="0"/>
              <a:t>int</a:t>
            </a:r>
            <a:r>
              <a:rPr lang="en-US" dirty="0"/>
              <a:t>[] heap: Array to store heap elements.</a:t>
            </a:r>
          </a:p>
          <a:p>
            <a:pPr marL="285750" indent="-285750">
              <a:buFont typeface="Arial" panose="020B0604020202020204" pitchFamily="34" charset="0"/>
              <a:buChar char="•"/>
            </a:pPr>
            <a:r>
              <a:rPr lang="en-US" dirty="0" err="1" smtClean="0"/>
              <a:t>int</a:t>
            </a:r>
            <a:r>
              <a:rPr lang="en-US" dirty="0" smtClean="0"/>
              <a:t> </a:t>
            </a:r>
            <a:r>
              <a:rPr lang="en-US" dirty="0"/>
              <a:t>size: Current number of elements.</a:t>
            </a:r>
          </a:p>
          <a:p>
            <a:pPr marL="285750" indent="-285750">
              <a:buFont typeface="Arial" panose="020B0604020202020204" pitchFamily="34" charset="0"/>
              <a:buChar char="•"/>
            </a:pPr>
            <a:r>
              <a:rPr lang="en-US" dirty="0" err="1" smtClean="0"/>
              <a:t>int</a:t>
            </a:r>
            <a:r>
              <a:rPr lang="en-US" dirty="0" smtClean="0"/>
              <a:t> </a:t>
            </a:r>
            <a:r>
              <a:rPr lang="en-US" dirty="0"/>
              <a:t>capacity: Maximum allowed elements.</a:t>
            </a:r>
          </a:p>
          <a:p>
            <a:endParaRPr lang="en-US" b="1" dirty="0" smtClean="0">
              <a:solidFill>
                <a:srgbClr val="FF0000"/>
              </a:solidFill>
            </a:endParaRPr>
          </a:p>
          <a:p>
            <a:r>
              <a:rPr lang="en-IN" dirty="0"/>
              <a:t>Constructor:</a:t>
            </a:r>
          </a:p>
          <a:p>
            <a:pPr marL="285750" indent="-285750">
              <a:buFont typeface="Arial" panose="020B0604020202020204" pitchFamily="34" charset="0"/>
              <a:buChar char="•"/>
            </a:pPr>
            <a:r>
              <a:rPr lang="en-US" dirty="0"/>
              <a:t>Initializes an empty heap with the given capacity.</a:t>
            </a:r>
          </a:p>
          <a:p>
            <a:endParaRPr lang="en-US" b="1" dirty="0" smtClean="0">
              <a:solidFill>
                <a:srgbClr val="FF0000"/>
              </a:solidFill>
            </a:endParaRPr>
          </a:p>
        </p:txBody>
      </p:sp>
    </p:spTree>
    <p:extLst>
      <p:ext uri="{BB962C8B-B14F-4D97-AF65-F5344CB8AC3E}">
        <p14:creationId xmlns:p14="http://schemas.microsoft.com/office/powerpoint/2010/main" val="357366721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186309"/>
          </a:xfrm>
          <a:prstGeom prst="rect">
            <a:avLst/>
          </a:prstGeom>
        </p:spPr>
        <p:txBody>
          <a:bodyPr wrap="square">
            <a:spAutoFit/>
          </a:bodyPr>
          <a:lstStyle/>
          <a:p>
            <a:r>
              <a:rPr lang="en-US" b="1" dirty="0" smtClean="0">
                <a:solidFill>
                  <a:srgbClr val="FF0000"/>
                </a:solidFill>
              </a:rPr>
              <a:t>Max Heap</a:t>
            </a:r>
          </a:p>
          <a:p>
            <a:endParaRPr lang="en-US" b="1" dirty="0" smtClean="0">
              <a:solidFill>
                <a:srgbClr val="FF0000"/>
              </a:solidFill>
            </a:endParaRPr>
          </a:p>
          <a:p>
            <a:r>
              <a:rPr lang="en-IN" b="1" dirty="0"/>
              <a:t>Core </a:t>
            </a:r>
            <a:r>
              <a:rPr lang="en-IN" b="1" dirty="0" smtClean="0"/>
              <a:t>Methods</a:t>
            </a:r>
          </a:p>
          <a:p>
            <a:endParaRPr lang="en-IN" b="1" dirty="0"/>
          </a:p>
          <a:p>
            <a:r>
              <a:rPr lang="en-IN" b="1" dirty="0" smtClean="0"/>
              <a:t>1. parent(</a:t>
            </a:r>
            <a:r>
              <a:rPr lang="en-IN" b="1" dirty="0" err="1" smtClean="0"/>
              <a:t>int</a:t>
            </a:r>
            <a:r>
              <a:rPr lang="en-IN" b="1" dirty="0" smtClean="0"/>
              <a:t> </a:t>
            </a:r>
            <a:r>
              <a:rPr lang="en-IN" b="1" dirty="0" err="1" smtClean="0"/>
              <a:t>i</a:t>
            </a:r>
            <a:r>
              <a:rPr lang="en-IN" b="1" dirty="0" smtClean="0"/>
              <a:t>)</a:t>
            </a:r>
          </a:p>
          <a:p>
            <a:r>
              <a:rPr lang="en-US" dirty="0" smtClean="0"/>
              <a:t>Returns </a:t>
            </a:r>
            <a:r>
              <a:rPr lang="en-US" dirty="0"/>
              <a:t>the index of the parent node</a:t>
            </a:r>
            <a:r>
              <a:rPr lang="en-US" dirty="0" smtClean="0"/>
              <a:t>:</a:t>
            </a:r>
          </a:p>
          <a:p>
            <a:endParaRPr lang="en-US" dirty="0"/>
          </a:p>
          <a:p>
            <a:endParaRPr lang="en-US" dirty="0" smtClean="0"/>
          </a:p>
          <a:p>
            <a:r>
              <a:rPr lang="en-IN" b="1" dirty="0"/>
              <a:t>2. insert(</a:t>
            </a:r>
            <a:r>
              <a:rPr lang="en-IN" b="1" dirty="0" err="1"/>
              <a:t>int</a:t>
            </a:r>
            <a:r>
              <a:rPr lang="en-IN" b="1" dirty="0"/>
              <a:t> value)</a:t>
            </a:r>
          </a:p>
          <a:p>
            <a:r>
              <a:rPr lang="en-US" dirty="0"/>
              <a:t>Adds a new element and maintains the Max-Heap property (parent ≥ children).</a:t>
            </a:r>
          </a:p>
          <a:p>
            <a:r>
              <a:rPr lang="en-IN" dirty="0" smtClean="0"/>
              <a:t>Steps</a:t>
            </a:r>
            <a:r>
              <a:rPr lang="en-IN" dirty="0"/>
              <a:t>:</a:t>
            </a:r>
          </a:p>
          <a:p>
            <a:pPr marL="285750" indent="-285750">
              <a:buFont typeface="Arial" panose="020B0604020202020204" pitchFamily="34" charset="0"/>
              <a:buChar char="•"/>
            </a:pPr>
            <a:r>
              <a:rPr lang="en-US" dirty="0" smtClean="0"/>
              <a:t>Check </a:t>
            </a:r>
            <a:r>
              <a:rPr lang="en-US" dirty="0"/>
              <a:t>if heap is full.</a:t>
            </a:r>
          </a:p>
          <a:p>
            <a:pPr marL="285750" indent="-285750">
              <a:buFont typeface="Arial" panose="020B0604020202020204" pitchFamily="34" charset="0"/>
              <a:buChar char="•"/>
            </a:pPr>
            <a:r>
              <a:rPr lang="en-US" dirty="0" smtClean="0"/>
              <a:t>Place </a:t>
            </a:r>
            <a:r>
              <a:rPr lang="en-US" dirty="0"/>
              <a:t>new value at the end.</a:t>
            </a:r>
          </a:p>
          <a:p>
            <a:pPr marL="285750" indent="-285750">
              <a:buFont typeface="Arial" panose="020B0604020202020204" pitchFamily="34" charset="0"/>
              <a:buChar char="•"/>
            </a:pPr>
            <a:r>
              <a:rPr lang="en-IN" dirty="0" smtClean="0"/>
              <a:t>Perform </a:t>
            </a:r>
            <a:r>
              <a:rPr lang="en-IN" dirty="0" err="1"/>
              <a:t>Heapify</a:t>
            </a:r>
            <a:r>
              <a:rPr lang="en-IN" dirty="0"/>
              <a:t> Up:</a:t>
            </a:r>
          </a:p>
          <a:p>
            <a:pPr marL="742950" lvl="1" indent="-285750">
              <a:buFont typeface="Arial" panose="020B0604020202020204" pitchFamily="34" charset="0"/>
              <a:buChar char="•"/>
            </a:pPr>
            <a:r>
              <a:rPr lang="en-IN" dirty="0" smtClean="0"/>
              <a:t>Compare </a:t>
            </a:r>
            <a:r>
              <a:rPr lang="en-IN" dirty="0"/>
              <a:t>with parent.</a:t>
            </a:r>
          </a:p>
          <a:p>
            <a:pPr marL="742950" lvl="1" indent="-285750">
              <a:buFont typeface="Arial" panose="020B0604020202020204" pitchFamily="34" charset="0"/>
              <a:buChar char="•"/>
            </a:pPr>
            <a:r>
              <a:rPr lang="en-IN" dirty="0" smtClean="0"/>
              <a:t>If </a:t>
            </a:r>
            <a:r>
              <a:rPr lang="en-IN" dirty="0"/>
              <a:t>parent &lt; child, swap.</a:t>
            </a:r>
          </a:p>
          <a:p>
            <a:pPr marL="742950" lvl="1" indent="-285750">
              <a:buFont typeface="Arial" panose="020B0604020202020204" pitchFamily="34" charset="0"/>
              <a:buChar char="•"/>
            </a:pPr>
            <a:r>
              <a:rPr lang="en-US" dirty="0" smtClean="0"/>
              <a:t>Repeat </a:t>
            </a:r>
            <a:r>
              <a:rPr lang="en-US" dirty="0"/>
              <a:t>until heap property is restored.</a:t>
            </a:r>
          </a:p>
          <a:p>
            <a:pPr marL="285750" indent="-285750">
              <a:buFont typeface="Arial" panose="020B0604020202020204" pitchFamily="34" charset="0"/>
              <a:buChar char="•"/>
            </a:pPr>
            <a:r>
              <a:rPr lang="en-US" dirty="0" smtClean="0"/>
              <a:t>This </a:t>
            </a:r>
            <a:r>
              <a:rPr lang="en-US" dirty="0"/>
              <a:t>ensures the largest element “bubbles up” to the root.</a:t>
            </a:r>
          </a:p>
          <a:p>
            <a:endParaRPr lang="en-US" dirty="0" smtClean="0"/>
          </a:p>
          <a:p>
            <a:r>
              <a:rPr lang="en-IN" b="1" dirty="0"/>
              <a:t>3. </a:t>
            </a:r>
            <a:r>
              <a:rPr lang="en-IN" b="1" dirty="0" err="1"/>
              <a:t>printHeap</a:t>
            </a:r>
            <a:r>
              <a:rPr lang="en-IN" b="1" dirty="0"/>
              <a:t>()</a:t>
            </a:r>
          </a:p>
          <a:p>
            <a:r>
              <a:rPr lang="en-US" dirty="0"/>
              <a:t>Displays the heap array up to current size.</a:t>
            </a:r>
          </a:p>
          <a:p>
            <a:endParaRPr lang="en-US" dirty="0"/>
          </a:p>
        </p:txBody>
      </p:sp>
      <p:pic>
        <p:nvPicPr>
          <p:cNvPr id="2" name="Picture 1"/>
          <p:cNvPicPr>
            <a:picLocks noChangeAspect="1"/>
          </p:cNvPicPr>
          <p:nvPr/>
        </p:nvPicPr>
        <p:blipFill>
          <a:blip r:embed="rId3"/>
          <a:stretch>
            <a:fillRect/>
          </a:stretch>
        </p:blipFill>
        <p:spPr>
          <a:xfrm>
            <a:off x="3682178" y="1831196"/>
            <a:ext cx="2194920" cy="637684"/>
          </a:xfrm>
          <a:prstGeom prst="rect">
            <a:avLst/>
          </a:prstGeom>
        </p:spPr>
      </p:pic>
    </p:spTree>
    <p:extLst>
      <p:ext uri="{BB962C8B-B14F-4D97-AF65-F5344CB8AC3E}">
        <p14:creationId xmlns:p14="http://schemas.microsoft.com/office/powerpoint/2010/main" val="397313081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4247317"/>
          </a:xfrm>
          <a:prstGeom prst="rect">
            <a:avLst/>
          </a:prstGeom>
        </p:spPr>
        <p:txBody>
          <a:bodyPr wrap="square">
            <a:spAutoFit/>
          </a:bodyPr>
          <a:lstStyle/>
          <a:p>
            <a:r>
              <a:rPr lang="en-US" b="1" dirty="0" smtClean="0">
                <a:solidFill>
                  <a:srgbClr val="FF0000"/>
                </a:solidFill>
              </a:rPr>
              <a:t>Max Heap</a:t>
            </a:r>
          </a:p>
          <a:p>
            <a:endParaRPr lang="en-US" b="1" dirty="0" smtClean="0">
              <a:solidFill>
                <a:srgbClr val="FF0000"/>
              </a:solidFill>
            </a:endParaRPr>
          </a:p>
          <a:p>
            <a:r>
              <a:rPr lang="en-IN" b="1" dirty="0"/>
              <a:t>Main </a:t>
            </a:r>
            <a:r>
              <a:rPr lang="en-IN" b="1" dirty="0" smtClean="0"/>
              <a:t>Method</a:t>
            </a:r>
          </a:p>
          <a:p>
            <a:endParaRPr lang="en-US" b="1" dirty="0"/>
          </a:p>
          <a:p>
            <a:r>
              <a:rPr lang="en-US" b="1" dirty="0"/>
              <a:t>Execution Flow:</a:t>
            </a:r>
            <a:endParaRPr lang="en-US" dirty="0"/>
          </a:p>
          <a:p>
            <a:pPr marL="285750" indent="-285750">
              <a:buFont typeface="Arial" panose="020B0604020202020204" pitchFamily="34" charset="0"/>
              <a:buChar char="•"/>
            </a:pPr>
            <a:r>
              <a:rPr lang="en-US" dirty="0"/>
              <a:t>Create a heap with capacity 10.</a:t>
            </a:r>
          </a:p>
          <a:p>
            <a:pPr marL="285750" indent="-285750">
              <a:buFont typeface="Arial" panose="020B0604020202020204" pitchFamily="34" charset="0"/>
              <a:buChar char="•"/>
            </a:pPr>
            <a:r>
              <a:rPr lang="en-US" dirty="0"/>
              <a:t>Insert elements one by one.</a:t>
            </a:r>
          </a:p>
          <a:p>
            <a:pPr marL="285750" indent="-285750">
              <a:buFont typeface="Arial" panose="020B0604020202020204" pitchFamily="34" charset="0"/>
              <a:buChar char="•"/>
            </a:pPr>
            <a:r>
              <a:rPr lang="en-US" dirty="0"/>
              <a:t>Each insertion reorders the heap to maintain Max-Heap property.</a:t>
            </a:r>
          </a:p>
          <a:p>
            <a:pPr marL="285750" indent="-285750">
              <a:buFont typeface="Arial" panose="020B0604020202020204" pitchFamily="34" charset="0"/>
              <a:buChar char="•"/>
            </a:pPr>
            <a:r>
              <a:rPr lang="en-US" dirty="0"/>
              <a:t>Print final heap array.</a:t>
            </a:r>
          </a:p>
          <a:p>
            <a:endParaRPr lang="en-US" b="1" dirty="0" smtClean="0"/>
          </a:p>
          <a:p>
            <a:r>
              <a:rPr lang="en-IN" b="1" dirty="0" smtClean="0"/>
              <a:t>Output</a:t>
            </a:r>
          </a:p>
          <a:p>
            <a:r>
              <a:rPr lang="en-US" dirty="0"/>
              <a:t>Max Heap: [50, 40, 30, 10, 20]</a:t>
            </a:r>
          </a:p>
          <a:p>
            <a:r>
              <a:rPr lang="en-US" dirty="0" smtClean="0"/>
              <a:t>Here</a:t>
            </a:r>
            <a:r>
              <a:rPr lang="en-US" dirty="0"/>
              <a:t>, </a:t>
            </a:r>
            <a:r>
              <a:rPr lang="en-US" b="1" dirty="0"/>
              <a:t>50</a:t>
            </a:r>
            <a:r>
              <a:rPr lang="en-US" dirty="0"/>
              <a:t> becomes the root (largest element), and every parent is greater than or equal to its children.</a:t>
            </a:r>
          </a:p>
          <a:p>
            <a:endParaRPr lang="en-US" b="1" dirty="0" smtClean="0"/>
          </a:p>
          <a:p>
            <a:r>
              <a:rPr lang="en-IN" b="1" dirty="0"/>
              <a:t>Final Heap Tree Structure</a:t>
            </a:r>
            <a:endParaRPr lang="en-US" b="1" dirty="0"/>
          </a:p>
        </p:txBody>
      </p:sp>
      <p:pic>
        <p:nvPicPr>
          <p:cNvPr id="8" name="Picture 7"/>
          <p:cNvPicPr>
            <a:picLocks noChangeAspect="1"/>
          </p:cNvPicPr>
          <p:nvPr/>
        </p:nvPicPr>
        <p:blipFill>
          <a:blip r:embed="rId3"/>
          <a:stretch>
            <a:fillRect/>
          </a:stretch>
        </p:blipFill>
        <p:spPr>
          <a:xfrm>
            <a:off x="584232" y="4842261"/>
            <a:ext cx="1181265" cy="1076475"/>
          </a:xfrm>
          <a:prstGeom prst="rect">
            <a:avLst/>
          </a:prstGeom>
        </p:spPr>
      </p:pic>
      <p:sp>
        <p:nvSpPr>
          <p:cNvPr id="9" name="Rectangle 8"/>
          <p:cNvSpPr/>
          <p:nvPr/>
        </p:nvSpPr>
        <p:spPr>
          <a:xfrm>
            <a:off x="4045527" y="4632698"/>
            <a:ext cx="6096000" cy="1200329"/>
          </a:xfrm>
          <a:prstGeom prst="rect">
            <a:avLst/>
          </a:prstGeom>
        </p:spPr>
        <p:txBody>
          <a:bodyPr>
            <a:spAutoFit/>
          </a:bodyPr>
          <a:lstStyle/>
          <a:p>
            <a:r>
              <a:rPr lang="en-US" dirty="0"/>
              <a:t>This program:</a:t>
            </a:r>
          </a:p>
          <a:p>
            <a:pPr marL="285750" indent="-285750">
              <a:buFont typeface="Arial" panose="020B0604020202020204" pitchFamily="34" charset="0"/>
              <a:buChar char="•"/>
            </a:pPr>
            <a:r>
              <a:rPr lang="en-US" dirty="0"/>
              <a:t>Implements a </a:t>
            </a:r>
            <a:r>
              <a:rPr lang="en-US" b="1" dirty="0"/>
              <a:t>Max-Heap</a:t>
            </a:r>
            <a:r>
              <a:rPr lang="en-US" dirty="0"/>
              <a:t> using an array.</a:t>
            </a:r>
          </a:p>
          <a:p>
            <a:pPr marL="285750" indent="-285750">
              <a:buFont typeface="Arial" panose="020B0604020202020204" pitchFamily="34" charset="0"/>
              <a:buChar char="•"/>
            </a:pPr>
            <a:r>
              <a:rPr lang="en-US" dirty="0" smtClean="0"/>
              <a:t>Demonstrates </a:t>
            </a:r>
            <a:r>
              <a:rPr lang="en-US" b="1" dirty="0" err="1"/>
              <a:t>heapify</a:t>
            </a:r>
            <a:r>
              <a:rPr lang="en-US" b="1" dirty="0"/>
              <a:t>-up</a:t>
            </a:r>
            <a:r>
              <a:rPr lang="en-US" dirty="0"/>
              <a:t> during insertion.</a:t>
            </a:r>
          </a:p>
          <a:p>
            <a:pPr marL="285750" indent="-285750">
              <a:buFont typeface="Arial" panose="020B0604020202020204" pitchFamily="34" charset="0"/>
              <a:buChar char="•"/>
            </a:pPr>
            <a:r>
              <a:rPr lang="en-US" dirty="0"/>
              <a:t>Ensures the </a:t>
            </a:r>
            <a:r>
              <a:rPr lang="en-US" b="1" dirty="0"/>
              <a:t>largest element stays at the root</a:t>
            </a:r>
            <a:r>
              <a:rPr lang="en-US" dirty="0"/>
              <a:t>.</a:t>
            </a:r>
          </a:p>
        </p:txBody>
      </p:sp>
    </p:spTree>
    <p:extLst>
      <p:ext uri="{BB962C8B-B14F-4D97-AF65-F5344CB8AC3E}">
        <p14:creationId xmlns:p14="http://schemas.microsoft.com/office/powerpoint/2010/main" val="154945438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461</TotalTime>
  <Words>5484</Words>
  <Application>Microsoft Office PowerPoint</Application>
  <PresentationFormat>Widescreen</PresentationFormat>
  <Paragraphs>824</Paragraphs>
  <Slides>71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71</vt:i4>
      </vt:variant>
    </vt:vector>
  </HeadingPairs>
  <TitlesOfParts>
    <vt:vector size="75"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117</cp:revision>
  <dcterms:created xsi:type="dcterms:W3CDTF">2026-04-26T04:16:51Z</dcterms:created>
  <dcterms:modified xsi:type="dcterms:W3CDTF">2026-04-26T12:51:23Z</dcterms:modified>
</cp:coreProperties>
</file>