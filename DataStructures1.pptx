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62" r:id="rId5"/>
    <p:sldId id="258" r:id="rId6"/>
    <p:sldId id="259" r:id="rId7"/>
    <p:sldId id="263" r:id="rId8"/>
    <p:sldId id="264" r:id="rId9"/>
    <p:sldId id="260" r:id="rId10"/>
    <p:sldId id="265" r:id="rId11"/>
    <p:sldId id="266" r:id="rId12"/>
    <p:sldId id="267" r:id="rId13"/>
    <p:sldId id="268" r:id="rId14"/>
    <p:sldId id="269" r:id="rId15"/>
    <p:sldId id="270" r:id="rId16"/>
    <p:sldId id="271" r:id="rId17"/>
    <p:sldId id="272" r:id="rId18"/>
    <p:sldId id="273" r:id="rId19"/>
    <p:sldId id="274" r:id="rId20"/>
    <p:sldId id="332" r:id="rId21"/>
    <p:sldId id="333" r:id="rId22"/>
    <p:sldId id="275" r:id="rId23"/>
    <p:sldId id="276" r:id="rId24"/>
    <p:sldId id="277" r:id="rId25"/>
    <p:sldId id="281" r:id="rId26"/>
    <p:sldId id="278" r:id="rId27"/>
    <p:sldId id="282" r:id="rId28"/>
    <p:sldId id="279" r:id="rId29"/>
    <p:sldId id="283" r:id="rId30"/>
    <p:sldId id="294" r:id="rId31"/>
    <p:sldId id="295" r:id="rId32"/>
    <p:sldId id="296" r:id="rId33"/>
    <p:sldId id="297" r:id="rId34"/>
    <p:sldId id="280" r:id="rId35"/>
    <p:sldId id="284" r:id="rId36"/>
    <p:sldId id="285" r:id="rId37"/>
    <p:sldId id="334" r:id="rId38"/>
    <p:sldId id="335" r:id="rId39"/>
    <p:sldId id="287" r:id="rId40"/>
    <p:sldId id="336" r:id="rId41"/>
    <p:sldId id="288" r:id="rId42"/>
    <p:sldId id="289" r:id="rId43"/>
    <p:sldId id="290" r:id="rId44"/>
    <p:sldId id="291" r:id="rId45"/>
    <p:sldId id="337" r:id="rId46"/>
    <p:sldId id="338" r:id="rId47"/>
    <p:sldId id="292" r:id="rId48"/>
    <p:sldId id="293" r:id="rId49"/>
    <p:sldId id="298" r:id="rId50"/>
    <p:sldId id="299" r:id="rId51"/>
    <p:sldId id="300" r:id="rId52"/>
    <p:sldId id="301" r:id="rId53"/>
    <p:sldId id="339" r:id="rId54"/>
    <p:sldId id="340" r:id="rId55"/>
    <p:sldId id="302" r:id="rId56"/>
    <p:sldId id="304" r:id="rId57"/>
    <p:sldId id="303" r:id="rId58"/>
    <p:sldId id="305" r:id="rId59"/>
    <p:sldId id="306" r:id="rId60"/>
    <p:sldId id="307" r:id="rId61"/>
    <p:sldId id="341" r:id="rId62"/>
    <p:sldId id="342" r:id="rId63"/>
    <p:sldId id="343" r:id="rId64"/>
    <p:sldId id="344" r:id="rId65"/>
    <p:sldId id="308" r:id="rId66"/>
    <p:sldId id="309" r:id="rId67"/>
    <p:sldId id="310" r:id="rId68"/>
    <p:sldId id="320" r:id="rId69"/>
    <p:sldId id="316" r:id="rId70"/>
    <p:sldId id="317" r:id="rId71"/>
    <p:sldId id="318" r:id="rId72"/>
    <p:sldId id="319" r:id="rId73"/>
    <p:sldId id="311" r:id="rId74"/>
    <p:sldId id="312" r:id="rId75"/>
    <p:sldId id="313" r:id="rId76"/>
    <p:sldId id="314" r:id="rId77"/>
    <p:sldId id="345" r:id="rId78"/>
    <p:sldId id="346" r:id="rId79"/>
    <p:sldId id="347" r:id="rId80"/>
    <p:sldId id="315" r:id="rId81"/>
    <p:sldId id="321" r:id="rId82"/>
    <p:sldId id="322" r:id="rId83"/>
    <p:sldId id="323" r:id="rId84"/>
    <p:sldId id="325" r:id="rId85"/>
    <p:sldId id="326" r:id="rId86"/>
    <p:sldId id="324" r:id="rId87"/>
    <p:sldId id="327" r:id="rId88"/>
    <p:sldId id="328" r:id="rId89"/>
    <p:sldId id="329" r:id="rId90"/>
    <p:sldId id="330" r:id="rId91"/>
    <p:sldId id="331"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742645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3047602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375171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1DBA90E-DD96-458D-ACE7-89A0584897CD}"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726110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1DBA90E-DD96-458D-ACE7-89A0584897CD}" type="datetimeFigureOut">
              <a:rPr lang="en-IN" smtClean="0"/>
              <a:t>26-04-2026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507251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1DBA90E-DD96-458D-ACE7-89A0584897CD}" type="datetimeFigureOut">
              <a:rPr lang="en-IN" smtClean="0"/>
              <a:t>26-04-2026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139227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BA90E-DD96-458D-ACE7-89A0584897CD}" type="datetimeFigureOut">
              <a:rPr lang="en-IN" smtClean="0"/>
              <a:t>26-04-2026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2586456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DBA90E-DD96-458D-ACE7-89A0584897CD}"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3931497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DBA90E-DD96-458D-ACE7-89A0584897CD}" type="datetimeFigureOut">
              <a:rPr lang="en-IN" smtClean="0"/>
              <a:t>26-04-2026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4182762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1009850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1DBA90E-DD96-458D-ACE7-89A0584897CD}" type="datetimeFigureOut">
              <a:rPr lang="en-IN" smtClean="0"/>
              <a:t>26-04-2026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76182D-1858-435D-A8BA-618F8D4916E9}" type="slidenum">
              <a:rPr lang="en-IN" smtClean="0"/>
              <a:t>‹#›</a:t>
            </a:fld>
            <a:endParaRPr lang="en-IN"/>
          </a:p>
        </p:txBody>
      </p:sp>
    </p:spTree>
    <p:extLst>
      <p:ext uri="{BB962C8B-B14F-4D97-AF65-F5344CB8AC3E}">
        <p14:creationId xmlns:p14="http://schemas.microsoft.com/office/powerpoint/2010/main" val="2417582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DBA90E-DD96-458D-ACE7-89A0584897CD}" type="datetimeFigureOut">
              <a:rPr lang="en-IN" smtClean="0"/>
              <a:t>26-04-2026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76182D-1858-435D-A8BA-618F8D4916E9}" type="slidenum">
              <a:rPr lang="en-IN" smtClean="0"/>
              <a:t>‹#›</a:t>
            </a:fld>
            <a:endParaRPr lang="en-IN"/>
          </a:p>
        </p:txBody>
      </p:sp>
    </p:spTree>
    <p:extLst>
      <p:ext uri="{BB962C8B-B14F-4D97-AF65-F5344CB8AC3E}">
        <p14:creationId xmlns:p14="http://schemas.microsoft.com/office/powerpoint/2010/main" val="3187993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68.png"/></Relationships>
</file>

<file path=ppt/slides/_rels/slide8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dirty="0" smtClean="0"/>
              <a:t>A logical or mathematical model for organizing data in memory, along with operations that can be performed on it.</a:t>
            </a:r>
          </a:p>
          <a:p>
            <a:endParaRPr lang="en-US" dirty="0"/>
          </a:p>
          <a:p>
            <a:r>
              <a:rPr lang="en-US" b="1" dirty="0" smtClean="0"/>
              <a:t>Purpose</a:t>
            </a:r>
            <a:r>
              <a:rPr lang="en-US" dirty="0" smtClean="0"/>
              <a:t>: To manage large amounts of data efficiently, reduce complexity, and improve performance in applications like databases, operating systems, and AI systems</a:t>
            </a:r>
          </a:p>
          <a:p>
            <a:endParaRPr lang="en-US" dirty="0"/>
          </a:p>
          <a:p>
            <a:r>
              <a:rPr lang="en-US" b="1" dirty="0" smtClean="0"/>
              <a:t>Why Data Structures are Important?</a:t>
            </a:r>
          </a:p>
          <a:p>
            <a:r>
              <a:rPr lang="en-US" dirty="0" smtClean="0"/>
              <a:t>Without proper organization, data becomes hard to use.</a:t>
            </a:r>
          </a:p>
          <a:p>
            <a:r>
              <a:rPr lang="en-US" dirty="0" smtClean="0"/>
              <a:t>Data structures help in:</a:t>
            </a:r>
          </a:p>
          <a:p>
            <a:pPr marL="285750" indent="-285750">
              <a:buFont typeface="Arial" panose="020B0604020202020204" pitchFamily="34" charset="0"/>
              <a:buChar char="•"/>
            </a:pPr>
            <a:r>
              <a:rPr lang="en-US" dirty="0" smtClean="0"/>
              <a:t>Faster searching (e.g., Binary Search in arrays)</a:t>
            </a:r>
          </a:p>
          <a:p>
            <a:pPr marL="285750" indent="-285750">
              <a:buFont typeface="Arial" panose="020B0604020202020204" pitchFamily="34" charset="0"/>
              <a:buChar char="•"/>
            </a:pPr>
            <a:r>
              <a:rPr lang="en-US" dirty="0" smtClean="0"/>
              <a:t>Efficient memory usage</a:t>
            </a:r>
          </a:p>
          <a:p>
            <a:pPr marL="285750" indent="-285750">
              <a:buFont typeface="Arial" panose="020B0604020202020204" pitchFamily="34" charset="0"/>
              <a:buChar char="•"/>
            </a:pPr>
            <a:r>
              <a:rPr lang="en-US" dirty="0" smtClean="0"/>
              <a:t>Better performance of programs</a:t>
            </a:r>
          </a:p>
          <a:p>
            <a:pPr marL="285750" indent="-285750">
              <a:buFont typeface="Arial" panose="020B0604020202020204" pitchFamily="34" charset="0"/>
              <a:buChar char="•"/>
            </a:pPr>
            <a:r>
              <a:rPr lang="en-US" dirty="0" smtClean="0"/>
              <a:t>Solving complex problems easily</a:t>
            </a:r>
          </a:p>
          <a:p>
            <a:endParaRPr lang="en-US" dirty="0" smtClean="0"/>
          </a:p>
          <a:p>
            <a:r>
              <a:rPr lang="en-US" dirty="0" smtClean="0"/>
              <a:t>Every data structure supports operations like:</a:t>
            </a:r>
          </a:p>
          <a:p>
            <a:pPr marL="285750" indent="-285750">
              <a:buFont typeface="Arial" panose="020B0604020202020204" pitchFamily="34" charset="0"/>
              <a:buChar char="•"/>
            </a:pPr>
            <a:r>
              <a:rPr lang="en-US" dirty="0" smtClean="0"/>
              <a:t>Insert → Add data</a:t>
            </a:r>
          </a:p>
          <a:p>
            <a:pPr marL="285750" indent="-285750">
              <a:buFont typeface="Arial" panose="020B0604020202020204" pitchFamily="34" charset="0"/>
              <a:buChar char="•"/>
            </a:pPr>
            <a:r>
              <a:rPr lang="en-US" dirty="0" smtClean="0"/>
              <a:t>Delete → Remove data</a:t>
            </a:r>
          </a:p>
          <a:p>
            <a:pPr marL="285750" indent="-285750">
              <a:buFont typeface="Arial" panose="020B0604020202020204" pitchFamily="34" charset="0"/>
              <a:buChar char="•"/>
            </a:pPr>
            <a:r>
              <a:rPr lang="en-US" dirty="0" smtClean="0"/>
              <a:t>Update → Modify data</a:t>
            </a:r>
          </a:p>
          <a:p>
            <a:pPr marL="285750" indent="-285750">
              <a:buFont typeface="Arial" panose="020B0604020202020204" pitchFamily="34" charset="0"/>
              <a:buChar char="•"/>
            </a:pPr>
            <a:r>
              <a:rPr lang="en-US" dirty="0" smtClean="0"/>
              <a:t>Search → Find data</a:t>
            </a:r>
          </a:p>
          <a:p>
            <a:pPr marL="285750" indent="-285750">
              <a:buFont typeface="Arial" panose="020B0604020202020204" pitchFamily="34" charset="0"/>
              <a:buChar char="•"/>
            </a:pPr>
            <a:r>
              <a:rPr lang="en-US" dirty="0" smtClean="0"/>
              <a:t>Traverse → Access all elements</a:t>
            </a:r>
            <a:endParaRPr lang="en-IN" dirty="0" smtClean="0"/>
          </a:p>
          <a:p>
            <a:endParaRPr lang="en-IN" dirty="0"/>
          </a:p>
        </p:txBody>
      </p:sp>
    </p:spTree>
    <p:extLst>
      <p:ext uri="{BB962C8B-B14F-4D97-AF65-F5344CB8AC3E}">
        <p14:creationId xmlns:p14="http://schemas.microsoft.com/office/powerpoint/2010/main" val="1047552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801314"/>
          </a:xfrm>
          <a:prstGeom prst="rect">
            <a:avLst/>
          </a:prstGeom>
        </p:spPr>
        <p:txBody>
          <a:bodyPr wrap="square">
            <a:spAutoFit/>
          </a:bodyPr>
          <a:lstStyle/>
          <a:p>
            <a:r>
              <a:rPr lang="en-IN" b="1" dirty="0" smtClean="0"/>
              <a:t>Operations on Data Structures</a:t>
            </a:r>
          </a:p>
          <a:p>
            <a:pPr marL="285750" indent="-285750">
              <a:buFont typeface="Arial" panose="020B0604020202020204" pitchFamily="34" charset="0"/>
              <a:buChar char="•"/>
            </a:pPr>
            <a:r>
              <a:rPr lang="en-IN" b="1" dirty="0" smtClean="0">
                <a:effectLst/>
              </a:rPr>
              <a:t>Query Operations</a:t>
            </a:r>
            <a:r>
              <a:rPr lang="en-IN" dirty="0" smtClean="0">
                <a:effectLst/>
              </a:rPr>
              <a:t>: Retrieve information (e.g., search, find maximum/minimum).</a:t>
            </a:r>
            <a:endParaRPr lang="en-IN" dirty="0" smtClean="0"/>
          </a:p>
          <a:p>
            <a:pPr marL="285750" indent="-285750">
              <a:buFont typeface="Arial" panose="020B0604020202020204" pitchFamily="34" charset="0"/>
              <a:buChar char="•"/>
            </a:pPr>
            <a:r>
              <a:rPr lang="en-IN" b="1" dirty="0" smtClean="0">
                <a:effectLst/>
              </a:rPr>
              <a:t>Modification Operations</a:t>
            </a:r>
            <a:r>
              <a:rPr lang="en-IN" dirty="0" smtClean="0">
                <a:effectLst/>
              </a:rPr>
              <a:t>: Update data (e.g., insert, delete, sort).</a:t>
            </a:r>
          </a:p>
          <a:p>
            <a:endParaRPr lang="en-US" dirty="0"/>
          </a:p>
          <a:p>
            <a:endParaRPr lang="en-US" dirty="0" smtClean="0"/>
          </a:p>
          <a:p>
            <a:r>
              <a:rPr lang="en-US" b="1" dirty="0" smtClean="0"/>
              <a:t>Real-Life Applications</a:t>
            </a:r>
          </a:p>
          <a:p>
            <a:pPr marL="285750" indent="-285750">
              <a:buFont typeface="Arial" panose="020B0604020202020204" pitchFamily="34" charset="0"/>
              <a:buChar char="•"/>
            </a:pPr>
            <a:r>
              <a:rPr lang="en-US" b="1" dirty="0" smtClean="0">
                <a:effectLst/>
              </a:rPr>
              <a:t>Databases</a:t>
            </a:r>
            <a:r>
              <a:rPr lang="en-US" dirty="0" smtClean="0">
                <a:effectLst/>
              </a:rPr>
              <a:t>: Organize records for fast retrieval.</a:t>
            </a:r>
            <a:endParaRPr lang="en-US" dirty="0" smtClean="0"/>
          </a:p>
          <a:p>
            <a:pPr marL="285750" indent="-285750">
              <a:buFont typeface="Arial" panose="020B0604020202020204" pitchFamily="34" charset="0"/>
              <a:buChar char="•"/>
            </a:pPr>
            <a:r>
              <a:rPr lang="en-US" b="1" dirty="0" smtClean="0">
                <a:effectLst/>
              </a:rPr>
              <a:t>Operating Systems</a:t>
            </a:r>
            <a:r>
              <a:rPr lang="en-US" dirty="0" smtClean="0">
                <a:effectLst/>
              </a:rPr>
              <a:t>: Manage memory, files, and processes.</a:t>
            </a:r>
            <a:endParaRPr lang="en-US" dirty="0" smtClean="0"/>
          </a:p>
          <a:p>
            <a:pPr marL="285750" indent="-285750">
              <a:buFont typeface="Arial" panose="020B0604020202020204" pitchFamily="34" charset="0"/>
              <a:buChar char="•"/>
            </a:pPr>
            <a:r>
              <a:rPr lang="en-US" b="1" dirty="0" smtClean="0">
                <a:effectLst/>
              </a:rPr>
              <a:t>Computer Graphics</a:t>
            </a:r>
            <a:r>
              <a:rPr lang="en-US" dirty="0" smtClean="0">
                <a:effectLst/>
              </a:rPr>
              <a:t>: Represent geometric shapes and models.</a:t>
            </a:r>
            <a:endParaRPr lang="en-US" dirty="0" smtClean="0"/>
          </a:p>
          <a:p>
            <a:pPr marL="285750" indent="-285750">
              <a:buFont typeface="Arial" panose="020B0604020202020204" pitchFamily="34" charset="0"/>
              <a:buChar char="•"/>
            </a:pPr>
            <a:r>
              <a:rPr lang="en-US" b="1" dirty="0" smtClean="0">
                <a:effectLst/>
              </a:rPr>
              <a:t>Artificial Intelligence</a:t>
            </a:r>
            <a:endParaRPr lang="en-US" dirty="0" smtClean="0"/>
          </a:p>
          <a:p>
            <a:endParaRPr lang="en-US" dirty="0" smtClean="0"/>
          </a:p>
          <a:p>
            <a:r>
              <a:rPr lang="en-US" b="1" dirty="0" smtClean="0"/>
              <a:t>Advantages</a:t>
            </a:r>
          </a:p>
          <a:p>
            <a:pPr marL="285750" indent="-285750">
              <a:buFont typeface="Arial" panose="020B0604020202020204" pitchFamily="34" charset="0"/>
              <a:buChar char="•"/>
            </a:pPr>
            <a:r>
              <a:rPr lang="en-US" b="1" dirty="0" smtClean="0">
                <a:effectLst/>
              </a:rPr>
              <a:t>Efficiency</a:t>
            </a:r>
            <a:r>
              <a:rPr lang="en-US" dirty="0" smtClean="0">
                <a:effectLst/>
              </a:rPr>
              <a:t>: Faster storage and retrieval.</a:t>
            </a:r>
            <a:endParaRPr lang="en-US" dirty="0" smtClean="0"/>
          </a:p>
          <a:p>
            <a:pPr marL="285750" indent="-285750">
              <a:buFont typeface="Arial" panose="020B0604020202020204" pitchFamily="34" charset="0"/>
              <a:buChar char="•"/>
            </a:pPr>
            <a:r>
              <a:rPr lang="en-US" b="1" dirty="0" smtClean="0">
                <a:effectLst/>
              </a:rPr>
              <a:t>Flexibility</a:t>
            </a:r>
            <a:r>
              <a:rPr lang="en-US" dirty="0" smtClean="0">
                <a:effectLst/>
              </a:rPr>
              <a:t>: Easy modification and manipulation.</a:t>
            </a:r>
            <a:endParaRPr lang="en-US" dirty="0" smtClean="0"/>
          </a:p>
          <a:p>
            <a:pPr marL="285750" indent="-285750">
              <a:buFont typeface="Arial" panose="020B0604020202020204" pitchFamily="34" charset="0"/>
              <a:buChar char="•"/>
            </a:pPr>
            <a:r>
              <a:rPr lang="en-US" b="1" dirty="0" smtClean="0">
                <a:effectLst/>
              </a:rPr>
              <a:t>Reusability</a:t>
            </a:r>
            <a:r>
              <a:rPr lang="en-US" dirty="0" smtClean="0">
                <a:effectLst/>
              </a:rPr>
              <a:t>: Can be applied across multiple programs.</a:t>
            </a:r>
            <a:endParaRPr lang="en-US" dirty="0" smtClean="0"/>
          </a:p>
          <a:p>
            <a:pPr marL="285750" indent="-285750">
              <a:buFont typeface="Arial" panose="020B0604020202020204" pitchFamily="34" charset="0"/>
              <a:buChar char="•"/>
            </a:pPr>
            <a:r>
              <a:rPr lang="en-US" b="1" dirty="0" smtClean="0">
                <a:effectLst/>
              </a:rPr>
              <a:t>Maintainability</a:t>
            </a:r>
            <a:r>
              <a:rPr lang="en-US" dirty="0" smtClean="0">
                <a:effectLst/>
              </a:rPr>
              <a:t>: Makes code easier to understand and update</a:t>
            </a:r>
            <a:endParaRPr lang="en-US" dirty="0" smtClean="0"/>
          </a:p>
          <a:p>
            <a:endParaRPr lang="en-IN" dirty="0"/>
          </a:p>
        </p:txBody>
      </p:sp>
    </p:spTree>
    <p:extLst>
      <p:ext uri="{BB962C8B-B14F-4D97-AF65-F5344CB8AC3E}">
        <p14:creationId xmlns:p14="http://schemas.microsoft.com/office/powerpoint/2010/main" val="1558940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585323"/>
          </a:xfrm>
          <a:prstGeom prst="rect">
            <a:avLst/>
          </a:prstGeom>
        </p:spPr>
        <p:txBody>
          <a:bodyPr wrap="square">
            <a:spAutoFit/>
          </a:bodyPr>
          <a:lstStyle/>
          <a:p>
            <a:r>
              <a:rPr lang="en-US" dirty="0" smtClean="0"/>
              <a:t>Data structures are mainly classified based on </a:t>
            </a:r>
            <a:r>
              <a:rPr lang="en-US" b="1" dirty="0" smtClean="0"/>
              <a:t>how data is organized and accessed</a:t>
            </a:r>
            <a:r>
              <a:rPr lang="en-US" dirty="0" smtClean="0"/>
              <a:t>.</a:t>
            </a:r>
          </a:p>
          <a:p>
            <a:endParaRPr lang="en-US" dirty="0" smtClean="0"/>
          </a:p>
          <a:p>
            <a:r>
              <a:rPr lang="en-US" b="1" dirty="0" smtClean="0"/>
              <a:t>1. Primitive Data Structures</a:t>
            </a:r>
          </a:p>
          <a:p>
            <a:r>
              <a:rPr lang="en-US" dirty="0" smtClean="0"/>
              <a:t>Primitive Data Structures are the most basic building blocks in programming—simple data types like integers, floats, characters, and </a:t>
            </a:r>
            <a:r>
              <a:rPr lang="en-US" dirty="0" err="1" smtClean="0"/>
              <a:t>boolean</a:t>
            </a:r>
            <a:r>
              <a:rPr lang="en-US" dirty="0" smtClean="0"/>
              <a:t> that represent single values and cannot be broken down further. They are directly supported by programming languages and serve as the foundation for building more complex data structures.</a:t>
            </a:r>
            <a:endParaRPr lang="en-US" dirty="0" smtClean="0"/>
          </a:p>
          <a:p>
            <a:r>
              <a:rPr lang="en-US" dirty="0" smtClean="0"/>
              <a:t>These are the basic, built-in data types provided by programming languages.</a:t>
            </a:r>
          </a:p>
          <a:p>
            <a:endParaRPr lang="en-US" dirty="0" smtClean="0"/>
          </a:p>
          <a:p>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1903295357"/>
              </p:ext>
            </p:extLst>
          </p:nvPr>
        </p:nvGraphicFramePr>
        <p:xfrm>
          <a:off x="347749" y="2633850"/>
          <a:ext cx="10515600" cy="3657600"/>
        </p:xfrm>
        <a:graphic>
          <a:graphicData uri="http://schemas.openxmlformats.org/drawingml/2006/table">
            <a:tbl>
              <a:tblPr/>
              <a:tblGrid>
                <a:gridCol w="2902527"/>
                <a:gridCol w="4107873"/>
                <a:gridCol w="3505200"/>
              </a:tblGrid>
              <a:tr h="0">
                <a:tc>
                  <a:txBody>
                    <a:bodyPr/>
                    <a:lstStyle/>
                    <a:p>
                      <a:pPr algn="ctr"/>
                      <a:r>
                        <a:rPr lang="en-IN" b="1" dirty="0"/>
                        <a:t>Type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Description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Examples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0">
                <a:tc>
                  <a:txBody>
                    <a:bodyPr/>
                    <a:lstStyle/>
                    <a:p>
                      <a:r>
                        <a:rPr lang="en-IN" b="1" dirty="0"/>
                        <a:t>Integer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Stores whole numbers (positive, negative, zero).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err="1"/>
                        <a:t>int</a:t>
                      </a:r>
                      <a:r>
                        <a:rPr lang="en-IN" dirty="0"/>
                        <a:t> x =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Float / Double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Represents real numbers with decimal points.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float y = 3.14;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Character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Represents a single symbol or letter.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'a', '@',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Boolean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Stores logical values (true/false).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bool flag = true;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String</a:t>
                      </a:r>
                      <a:r>
                        <a:rPr lang="en-IN"/>
                        <a:t> (language-dependent)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Sequence of characters; sometimes treated as primitive.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"Hello"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Pointer</a:t>
                      </a:r>
                      <a:r>
                        <a:rPr lang="en-IN"/>
                        <a:t> (in some languages)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Stores memory address of another 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err="1"/>
                        <a:t>int</a:t>
                      </a:r>
                      <a:r>
                        <a:rPr lang="en-IN" dirty="0"/>
                        <a:t>* </a:t>
                      </a:r>
                      <a:r>
                        <a:rPr lang="en-IN" dirty="0" err="1"/>
                        <a:t>ptr</a:t>
                      </a:r>
                      <a:r>
                        <a:rPr lang="en-IN"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318860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pPr marL="342900" indent="-342900">
              <a:buAutoNum type="arabicPeriod"/>
            </a:pPr>
            <a:r>
              <a:rPr lang="en-US" b="1" dirty="0" smtClean="0">
                <a:solidFill>
                  <a:srgbClr val="FF0000"/>
                </a:solidFill>
              </a:rPr>
              <a:t>Primitive Data Structures</a:t>
            </a:r>
          </a:p>
          <a:p>
            <a:pPr marL="342900" indent="-342900">
              <a:buAutoNum type="arabicPeriod"/>
            </a:pPr>
            <a:endParaRPr lang="en-US" b="1" dirty="0"/>
          </a:p>
          <a:p>
            <a:r>
              <a:rPr lang="en-IN" b="1" dirty="0" smtClean="0"/>
              <a:t>Applications</a:t>
            </a:r>
          </a:p>
          <a:p>
            <a:pPr marL="285750" indent="-285750">
              <a:buFont typeface="Arial" panose="020B0604020202020204" pitchFamily="34" charset="0"/>
              <a:buChar char="•"/>
            </a:pPr>
            <a:r>
              <a:rPr lang="en-IN" b="1" dirty="0" smtClean="0">
                <a:effectLst/>
              </a:rPr>
              <a:t>Integers</a:t>
            </a:r>
            <a:r>
              <a:rPr lang="en-IN" dirty="0" smtClean="0">
                <a:effectLst/>
              </a:rPr>
              <a:t>: Counting, indexing arrays, loop control.</a:t>
            </a:r>
            <a:endParaRPr lang="en-IN" dirty="0" smtClean="0"/>
          </a:p>
          <a:p>
            <a:pPr marL="285750" indent="-285750">
              <a:buFont typeface="Arial" panose="020B0604020202020204" pitchFamily="34" charset="0"/>
              <a:buChar char="•"/>
            </a:pPr>
            <a:r>
              <a:rPr lang="en-IN" b="1" dirty="0" smtClean="0">
                <a:effectLst/>
              </a:rPr>
              <a:t>Floats</a:t>
            </a:r>
            <a:r>
              <a:rPr lang="en-IN" dirty="0" smtClean="0">
                <a:effectLst/>
              </a:rPr>
              <a:t>: Scientific calculations, graphics, financial computations.</a:t>
            </a:r>
            <a:endParaRPr lang="en-IN" dirty="0" smtClean="0"/>
          </a:p>
          <a:p>
            <a:pPr marL="285750" indent="-285750">
              <a:buFont typeface="Arial" panose="020B0604020202020204" pitchFamily="34" charset="0"/>
              <a:buChar char="•"/>
            </a:pPr>
            <a:r>
              <a:rPr lang="en-IN" b="1" dirty="0" smtClean="0">
                <a:effectLst/>
              </a:rPr>
              <a:t>Characters</a:t>
            </a:r>
            <a:r>
              <a:rPr lang="en-IN" dirty="0" smtClean="0">
                <a:effectLst/>
              </a:rPr>
              <a:t>: Text processing, encoding symbols.</a:t>
            </a:r>
            <a:endParaRPr lang="en-IN" dirty="0" smtClean="0"/>
          </a:p>
          <a:p>
            <a:pPr marL="285750" indent="-285750">
              <a:buFont typeface="Arial" panose="020B0604020202020204" pitchFamily="34" charset="0"/>
              <a:buChar char="•"/>
            </a:pPr>
            <a:r>
              <a:rPr lang="en-IN" b="1" dirty="0" smtClean="0">
                <a:effectLst/>
              </a:rPr>
              <a:t>Booleans</a:t>
            </a:r>
            <a:r>
              <a:rPr lang="en-IN" dirty="0" smtClean="0">
                <a:effectLst/>
              </a:rPr>
              <a:t>: Decision-making in conditional statements.</a:t>
            </a:r>
            <a:endParaRPr lang="en-IN" dirty="0" smtClean="0"/>
          </a:p>
          <a:p>
            <a:pPr marL="285750" indent="-285750">
              <a:buFont typeface="Arial" panose="020B0604020202020204" pitchFamily="34" charset="0"/>
              <a:buChar char="•"/>
            </a:pPr>
            <a:r>
              <a:rPr lang="en-IN" b="1" dirty="0" smtClean="0">
                <a:effectLst/>
              </a:rPr>
              <a:t>Pointers</a:t>
            </a:r>
            <a:r>
              <a:rPr lang="en-IN" dirty="0" smtClean="0">
                <a:effectLst/>
              </a:rPr>
              <a:t>: Memory management, dynamic data structures (like linked lists).</a:t>
            </a:r>
            <a:endParaRPr lang="en-IN" dirty="0" smtClean="0"/>
          </a:p>
          <a:p>
            <a:endParaRPr lang="en-US" b="1" dirty="0" smtClean="0"/>
          </a:p>
          <a:p>
            <a:endParaRPr lang="en-US" b="1" dirty="0"/>
          </a:p>
          <a:p>
            <a:r>
              <a:rPr lang="en-US" b="1" dirty="0" smtClean="0"/>
              <a:t>Advantages</a:t>
            </a:r>
          </a:p>
          <a:p>
            <a:pPr marL="285750" indent="-285750">
              <a:buFont typeface="Arial" panose="020B0604020202020204" pitchFamily="34" charset="0"/>
              <a:buChar char="•"/>
            </a:pPr>
            <a:r>
              <a:rPr lang="en-US" b="1" dirty="0" smtClean="0">
                <a:effectLst/>
              </a:rPr>
              <a:t>Simplicity</a:t>
            </a:r>
            <a:r>
              <a:rPr lang="en-US" dirty="0" smtClean="0">
                <a:effectLst/>
              </a:rPr>
              <a:t>: Easy to use and understand.</a:t>
            </a:r>
            <a:endParaRPr lang="en-US" dirty="0" smtClean="0"/>
          </a:p>
          <a:p>
            <a:pPr marL="285750" indent="-285750">
              <a:buFont typeface="Arial" panose="020B0604020202020204" pitchFamily="34" charset="0"/>
              <a:buChar char="•"/>
            </a:pPr>
            <a:r>
              <a:rPr lang="en-US" b="1" dirty="0" smtClean="0">
                <a:effectLst/>
              </a:rPr>
              <a:t>Efficiency</a:t>
            </a:r>
            <a:r>
              <a:rPr lang="en-US" dirty="0" smtClean="0">
                <a:effectLst/>
              </a:rPr>
              <a:t>: Directly supported by hardware and compilers.</a:t>
            </a:r>
            <a:endParaRPr lang="en-US" dirty="0" smtClean="0"/>
          </a:p>
          <a:p>
            <a:pPr marL="285750" indent="-285750">
              <a:buFont typeface="Arial" panose="020B0604020202020204" pitchFamily="34" charset="0"/>
              <a:buChar char="•"/>
            </a:pPr>
            <a:r>
              <a:rPr lang="en-US" b="1" dirty="0" smtClean="0">
                <a:effectLst/>
              </a:rPr>
              <a:t>Foundation</a:t>
            </a:r>
            <a:r>
              <a:rPr lang="en-US" dirty="0" smtClean="0">
                <a:effectLst/>
              </a:rPr>
              <a:t>: Essential for building non-primitive structures (arrays, lists, trees).</a:t>
            </a:r>
            <a:endParaRPr lang="en-US" dirty="0" smtClean="0"/>
          </a:p>
          <a:p>
            <a:endParaRPr lang="en-US" b="1" dirty="0" smtClean="0"/>
          </a:p>
        </p:txBody>
      </p:sp>
    </p:spTree>
    <p:extLst>
      <p:ext uri="{BB962C8B-B14F-4D97-AF65-F5344CB8AC3E}">
        <p14:creationId xmlns:p14="http://schemas.microsoft.com/office/powerpoint/2010/main" val="3052324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585323"/>
          </a:xfrm>
          <a:prstGeom prst="rect">
            <a:avLst/>
          </a:prstGeom>
        </p:spPr>
        <p:txBody>
          <a:bodyPr wrap="square">
            <a:spAutoFit/>
          </a:bodyPr>
          <a:lstStyle/>
          <a:p>
            <a:r>
              <a:rPr lang="en-US" b="1" dirty="0" smtClean="0">
                <a:solidFill>
                  <a:srgbClr val="FF0000"/>
                </a:solidFill>
              </a:rPr>
              <a:t>2. Non-Primitive Data Structures</a:t>
            </a:r>
          </a:p>
          <a:p>
            <a:endParaRPr lang="en-US" dirty="0" smtClean="0"/>
          </a:p>
          <a:p>
            <a:r>
              <a:rPr lang="en-US" dirty="0" smtClean="0"/>
              <a:t>These are complex data structures formed using primitive types.</a:t>
            </a:r>
          </a:p>
          <a:p>
            <a:endParaRPr lang="en-US" dirty="0" smtClean="0"/>
          </a:p>
          <a:p>
            <a:r>
              <a:rPr lang="en-US" dirty="0" smtClean="0"/>
              <a:t>They are further divided into:</a:t>
            </a:r>
          </a:p>
          <a:p>
            <a:endParaRPr lang="en-US" dirty="0" smtClean="0"/>
          </a:p>
          <a:p>
            <a:pPr marL="342900" indent="-342900">
              <a:buAutoNum type="alphaLcPeriod"/>
            </a:pPr>
            <a:r>
              <a:rPr lang="en-US" b="1" dirty="0" smtClean="0"/>
              <a:t>Linear</a:t>
            </a:r>
          </a:p>
          <a:p>
            <a:pPr marL="342900" indent="-342900">
              <a:buAutoNum type="alphaLcPeriod"/>
            </a:pPr>
            <a:r>
              <a:rPr lang="en-US" b="1" dirty="0" smtClean="0"/>
              <a:t>Non-Linear</a:t>
            </a:r>
            <a:endParaRPr lang="en-IN" b="1" dirty="0" smtClean="0"/>
          </a:p>
          <a:p>
            <a:endParaRPr lang="en-IN" dirty="0"/>
          </a:p>
        </p:txBody>
      </p:sp>
    </p:spTree>
    <p:extLst>
      <p:ext uri="{BB962C8B-B14F-4D97-AF65-F5344CB8AC3E}">
        <p14:creationId xmlns:p14="http://schemas.microsoft.com/office/powerpoint/2010/main" val="348580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smtClean="0">
                <a:solidFill>
                  <a:srgbClr val="FF0000"/>
                </a:solidFill>
              </a:rPr>
              <a:t>2. Non-Primitive Data Structures</a:t>
            </a:r>
          </a:p>
          <a:p>
            <a:endParaRPr lang="en-US" dirty="0" smtClean="0"/>
          </a:p>
          <a:p>
            <a:pPr marL="342900" indent="-342900">
              <a:buAutoNum type="alphaLcPeriod"/>
            </a:pPr>
            <a:r>
              <a:rPr lang="en-US" b="1" dirty="0" smtClean="0"/>
              <a:t>Linear Data Structures</a:t>
            </a:r>
          </a:p>
          <a:p>
            <a:r>
              <a:rPr lang="en-US" dirty="0" smtClean="0"/>
              <a:t>Linear Data Structures are data structures where elements are arranged sequentially, one after another, with each element having a unique predecessor and successor. Common examples include arrays, linked lists, stacks, and queues. They are widely used because they preserve order and allow efficient traversal and manipulation.</a:t>
            </a:r>
          </a:p>
          <a:p>
            <a:endParaRPr lang="en-US" b="1" dirty="0"/>
          </a:p>
          <a:p>
            <a:r>
              <a:rPr lang="en-US" b="1" dirty="0" smtClean="0"/>
              <a:t>Characteristics</a:t>
            </a:r>
          </a:p>
          <a:p>
            <a:pPr marL="285750" indent="-285750">
              <a:buFont typeface="Arial" panose="020B0604020202020204" pitchFamily="34" charset="0"/>
              <a:buChar char="•"/>
            </a:pPr>
            <a:r>
              <a:rPr lang="en-US" b="1" dirty="0" smtClean="0">
                <a:effectLst/>
              </a:rPr>
              <a:t>Sequential Organization</a:t>
            </a:r>
            <a:r>
              <a:rPr lang="en-US" dirty="0" smtClean="0">
                <a:effectLst/>
              </a:rPr>
              <a:t>: Each element has a predecessor (except the first) and a successor (except the last).</a:t>
            </a:r>
            <a:endParaRPr lang="en-US" dirty="0" smtClean="0"/>
          </a:p>
          <a:p>
            <a:pPr marL="285750" indent="-285750">
              <a:buFont typeface="Arial" panose="020B0604020202020204" pitchFamily="34" charset="0"/>
              <a:buChar char="•"/>
            </a:pPr>
            <a:r>
              <a:rPr lang="en-US" b="1" dirty="0" smtClean="0">
                <a:effectLst/>
              </a:rPr>
              <a:t>Order Preservation</a:t>
            </a:r>
            <a:r>
              <a:rPr lang="en-US" dirty="0" smtClean="0">
                <a:effectLst/>
              </a:rPr>
              <a:t>: Elements are accessed in the order they were inserted.</a:t>
            </a:r>
            <a:endParaRPr lang="en-US" dirty="0" smtClean="0"/>
          </a:p>
          <a:p>
            <a:pPr marL="285750" indent="-285750">
              <a:buFont typeface="Arial" panose="020B0604020202020204" pitchFamily="34" charset="0"/>
              <a:buChar char="•"/>
            </a:pPr>
            <a:r>
              <a:rPr lang="en-US" b="1" dirty="0" smtClean="0">
                <a:effectLst/>
              </a:rPr>
              <a:t>Fixed or Dynamic Size</a:t>
            </a:r>
            <a:r>
              <a:rPr lang="en-US" dirty="0" smtClean="0">
                <a:effectLst/>
              </a:rPr>
              <a:t>: Arrays are fixed, while linked lists, stacks, and queues can grow/shrink.</a:t>
            </a:r>
            <a:endParaRPr lang="en-US" dirty="0" smtClean="0"/>
          </a:p>
          <a:p>
            <a:pPr marL="285750" indent="-285750">
              <a:buFont typeface="Arial" panose="020B0604020202020204" pitchFamily="34" charset="0"/>
              <a:buChar char="•"/>
            </a:pPr>
            <a:r>
              <a:rPr lang="en-US" b="1" dirty="0" smtClean="0">
                <a:effectLst/>
              </a:rPr>
              <a:t>Efficient Access</a:t>
            </a:r>
            <a:r>
              <a:rPr lang="en-US" dirty="0" smtClean="0">
                <a:effectLst/>
              </a:rPr>
              <a:t>: Arrays allow constant-time access by index; linked lists allow dynamic memory usage.</a:t>
            </a:r>
            <a:endParaRPr lang="en-US" dirty="0" smtClean="0"/>
          </a:p>
          <a:p>
            <a:endParaRPr lang="en-US" b="1" dirty="0" smtClean="0"/>
          </a:p>
        </p:txBody>
      </p:sp>
    </p:spTree>
    <p:extLst>
      <p:ext uri="{BB962C8B-B14F-4D97-AF65-F5344CB8AC3E}">
        <p14:creationId xmlns:p14="http://schemas.microsoft.com/office/powerpoint/2010/main" val="822052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smtClean="0">
                <a:solidFill>
                  <a:srgbClr val="FF0000"/>
                </a:solidFill>
              </a:rPr>
              <a:t>2. Non-Primitive Data Structures</a:t>
            </a:r>
          </a:p>
          <a:p>
            <a:endParaRPr lang="en-US" dirty="0" smtClean="0"/>
          </a:p>
          <a:p>
            <a:pPr marL="342900" indent="-342900">
              <a:buAutoNum type="alphaLcPeriod"/>
            </a:pPr>
            <a:r>
              <a:rPr lang="en-US" b="1" dirty="0" smtClean="0"/>
              <a:t>Linear Data Structures</a:t>
            </a:r>
          </a:p>
        </p:txBody>
      </p:sp>
      <p:graphicFrame>
        <p:nvGraphicFramePr>
          <p:cNvPr id="7" name="Table 6"/>
          <p:cNvGraphicFramePr>
            <a:graphicFrameLocks noGrp="1"/>
          </p:cNvGraphicFramePr>
          <p:nvPr>
            <p:extLst>
              <p:ext uri="{D42A27DB-BD31-4B8C-83A1-F6EECF244321}">
                <p14:modId xmlns:p14="http://schemas.microsoft.com/office/powerpoint/2010/main" val="2033755656"/>
              </p:ext>
            </p:extLst>
          </p:nvPr>
        </p:nvGraphicFramePr>
        <p:xfrm>
          <a:off x="51994" y="1684869"/>
          <a:ext cx="12034060" cy="4360693"/>
        </p:xfrm>
        <a:graphic>
          <a:graphicData uri="http://schemas.openxmlformats.org/drawingml/2006/table">
            <a:tbl>
              <a:tblPr/>
              <a:tblGrid>
                <a:gridCol w="1238596"/>
                <a:gridCol w="3956859"/>
                <a:gridCol w="3406100"/>
                <a:gridCol w="3432505"/>
              </a:tblGrid>
              <a:tr h="341281">
                <a:tc>
                  <a:txBody>
                    <a:bodyPr/>
                    <a:lstStyle/>
                    <a:p>
                      <a:pPr algn="ctr"/>
                      <a:r>
                        <a:rPr lang="en-IN" sz="1700" b="1" dirty="0"/>
                        <a:t>Type</a:t>
                      </a:r>
                      <a:endParaRPr lang="en-IN" sz="1700" dirty="0"/>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sz="1700" b="1" dirty="0"/>
                        <a:t>Description</a:t>
                      </a:r>
                      <a:endParaRPr lang="en-IN" sz="1700" dirty="0"/>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sz="1700" b="1" dirty="0"/>
                        <a:t>Order Rule</a:t>
                      </a:r>
                      <a:endParaRPr lang="en-IN" sz="1700" dirty="0"/>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sz="1700" b="1" dirty="0"/>
                        <a:t>Example Use Cases</a:t>
                      </a:r>
                      <a:endParaRPr lang="en-IN" sz="1700" dirty="0"/>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853203">
                <a:tc>
                  <a:txBody>
                    <a:bodyPr/>
                    <a:lstStyle/>
                    <a:p>
                      <a:pPr algn="ctr"/>
                      <a:r>
                        <a:rPr lang="en-IN" sz="1700" b="1" dirty="0"/>
                        <a:t>Array</a:t>
                      </a:r>
                      <a:endParaRPr lang="en-IN" sz="1700" dirty="0"/>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dirty="0"/>
                        <a:t>Fixed-size collection of elements stored in contiguous memory.</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dirty="0"/>
                        <a:t>Indexed (0,1,2…)</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a:t>Storing student marks, matrices.</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53203">
                <a:tc>
                  <a:txBody>
                    <a:bodyPr/>
                    <a:lstStyle/>
                    <a:p>
                      <a:pPr algn="ctr"/>
                      <a:r>
                        <a:rPr lang="en-IN" sz="1700" b="1" dirty="0"/>
                        <a:t>Linked List</a:t>
                      </a:r>
                      <a:endParaRPr lang="en-IN" sz="1700" dirty="0"/>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dirty="0"/>
                        <a:t>Dynamic collection of nodes, each pointing to the next.</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dirty="0"/>
                        <a:t>Sequential links</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a:t>Implementing dynamic memory structures.</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7242">
                <a:tc>
                  <a:txBody>
                    <a:bodyPr/>
                    <a:lstStyle/>
                    <a:p>
                      <a:pPr algn="ctr"/>
                      <a:r>
                        <a:rPr lang="en-IN" sz="1700" b="1"/>
                        <a:t>Stack</a:t>
                      </a:r>
                      <a:endParaRPr lang="en-IN" sz="1700"/>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dirty="0"/>
                        <a:t>Follows </a:t>
                      </a:r>
                      <a:r>
                        <a:rPr lang="en-IN" sz="1700" b="1" dirty="0"/>
                        <a:t>LIFO</a:t>
                      </a:r>
                      <a:r>
                        <a:rPr lang="en-IN" sz="1700" dirty="0"/>
                        <a:t> (Last-In-First-Out).</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dirty="0"/>
                        <a:t>Last element added is first removed.</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a:t>Undo operations, expression evaluation.</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7242">
                <a:tc>
                  <a:txBody>
                    <a:bodyPr/>
                    <a:lstStyle/>
                    <a:p>
                      <a:pPr algn="ctr"/>
                      <a:r>
                        <a:rPr lang="en-IN" sz="1700" b="1"/>
                        <a:t>Queue</a:t>
                      </a:r>
                      <a:endParaRPr lang="en-IN" sz="1700"/>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a:t>Follows </a:t>
                      </a:r>
                      <a:r>
                        <a:rPr lang="en-IN" sz="1700" b="1"/>
                        <a:t>FIFO</a:t>
                      </a:r>
                      <a:r>
                        <a:rPr lang="en-IN" sz="1700"/>
                        <a:t> (First-In-First-Out).</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dirty="0"/>
                        <a:t>First element added is first removed.</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dirty="0"/>
                        <a:t>Task scheduling, printer queues.</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09165">
                <a:tc>
                  <a:txBody>
                    <a:bodyPr/>
                    <a:lstStyle/>
                    <a:p>
                      <a:pPr algn="ctr"/>
                      <a:r>
                        <a:rPr lang="en-IN" sz="1700" b="1"/>
                        <a:t>Deque</a:t>
                      </a:r>
                      <a:endParaRPr lang="en-IN" sz="1700"/>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dirty="0"/>
                        <a:t>Double-ended queue allowing insertion/deletion at both ends.</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dirty="0"/>
                        <a:t>Flexible order</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dirty="0"/>
                        <a:t>Browser history, job scheduling.</a:t>
                      </a:r>
                    </a:p>
                  </a:txBody>
                  <a:tcPr marL="85320" marR="8532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116126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909310"/>
          </a:xfrm>
          <a:prstGeom prst="rect">
            <a:avLst/>
          </a:prstGeom>
        </p:spPr>
        <p:txBody>
          <a:bodyPr wrap="square">
            <a:spAutoFit/>
          </a:bodyPr>
          <a:lstStyle/>
          <a:p>
            <a:r>
              <a:rPr lang="en-US" b="1" dirty="0" smtClean="0">
                <a:solidFill>
                  <a:srgbClr val="FF0000"/>
                </a:solidFill>
              </a:rPr>
              <a:t>2. Non-Primitive Data Structures</a:t>
            </a:r>
          </a:p>
          <a:p>
            <a:endParaRPr lang="en-US" dirty="0" smtClean="0"/>
          </a:p>
          <a:p>
            <a:pPr marL="342900" indent="-342900">
              <a:buAutoNum type="alphaLcPeriod"/>
            </a:pPr>
            <a:r>
              <a:rPr lang="en-US" b="1" dirty="0" smtClean="0"/>
              <a:t>Linear Data Structures</a:t>
            </a:r>
          </a:p>
          <a:p>
            <a:pPr marL="342900" indent="-342900">
              <a:buAutoNum type="alphaLcPeriod"/>
            </a:pPr>
            <a:endParaRPr lang="en-US" b="1" dirty="0"/>
          </a:p>
          <a:p>
            <a:r>
              <a:rPr lang="en-US" b="1" dirty="0" smtClean="0"/>
              <a:t>Real-Life Applications</a:t>
            </a:r>
          </a:p>
          <a:p>
            <a:pPr marL="285750" indent="-285750">
              <a:buFont typeface="Arial" panose="020B0604020202020204" pitchFamily="34" charset="0"/>
              <a:buChar char="•"/>
            </a:pPr>
            <a:r>
              <a:rPr lang="en-US" b="1" dirty="0" smtClean="0">
                <a:effectLst/>
              </a:rPr>
              <a:t>Arrays</a:t>
            </a:r>
            <a:r>
              <a:rPr lang="en-US" dirty="0" smtClean="0">
                <a:effectLst/>
              </a:rPr>
              <a:t>: Used in databases, image processing, and matrix operations.</a:t>
            </a:r>
            <a:endParaRPr lang="en-US" dirty="0" smtClean="0"/>
          </a:p>
          <a:p>
            <a:pPr marL="285750" indent="-285750">
              <a:buFont typeface="Arial" panose="020B0604020202020204" pitchFamily="34" charset="0"/>
              <a:buChar char="•"/>
            </a:pPr>
            <a:r>
              <a:rPr lang="en-US" b="1" dirty="0" smtClean="0">
                <a:effectLst/>
              </a:rPr>
              <a:t>Linked Lists</a:t>
            </a:r>
            <a:r>
              <a:rPr lang="en-US" dirty="0" smtClean="0">
                <a:effectLst/>
              </a:rPr>
              <a:t>: Useful in dynamic memory allocation and implementing file systems.</a:t>
            </a:r>
            <a:endParaRPr lang="en-US" dirty="0" smtClean="0"/>
          </a:p>
          <a:p>
            <a:pPr marL="285750" indent="-285750">
              <a:buFont typeface="Arial" panose="020B0604020202020204" pitchFamily="34" charset="0"/>
              <a:buChar char="•"/>
            </a:pPr>
            <a:r>
              <a:rPr lang="en-US" b="1" dirty="0" smtClean="0">
                <a:effectLst/>
              </a:rPr>
              <a:t>Stacks</a:t>
            </a:r>
            <a:r>
              <a:rPr lang="en-US" dirty="0" smtClean="0">
                <a:effectLst/>
              </a:rPr>
              <a:t>: Applied in recursion, parsing expressions, and backtracking algorithms.</a:t>
            </a:r>
            <a:endParaRPr lang="en-US" dirty="0" smtClean="0"/>
          </a:p>
          <a:p>
            <a:pPr marL="285750" indent="-285750">
              <a:buFont typeface="Arial" panose="020B0604020202020204" pitchFamily="34" charset="0"/>
              <a:buChar char="•"/>
            </a:pPr>
            <a:r>
              <a:rPr lang="en-US" b="1" dirty="0" smtClean="0">
                <a:effectLst/>
              </a:rPr>
              <a:t>Queues</a:t>
            </a:r>
            <a:r>
              <a:rPr lang="en-US" dirty="0" smtClean="0">
                <a:effectLst/>
              </a:rPr>
              <a:t>: Essential in operating systems for process scheduling and handling requests.</a:t>
            </a:r>
            <a:endParaRPr lang="en-US" dirty="0" smtClean="0"/>
          </a:p>
          <a:p>
            <a:endParaRPr lang="en-US" b="1" dirty="0" smtClean="0"/>
          </a:p>
          <a:p>
            <a:r>
              <a:rPr lang="en-US" b="1" dirty="0" smtClean="0"/>
              <a:t>Advantages</a:t>
            </a:r>
          </a:p>
          <a:p>
            <a:pPr marL="285750" indent="-285750">
              <a:buFont typeface="Arial" panose="020B0604020202020204" pitchFamily="34" charset="0"/>
              <a:buChar char="•"/>
            </a:pPr>
            <a:r>
              <a:rPr lang="en-US" b="1" dirty="0" smtClean="0">
                <a:effectLst/>
              </a:rPr>
              <a:t>Simplicity</a:t>
            </a:r>
            <a:r>
              <a:rPr lang="en-US" dirty="0" smtClean="0">
                <a:effectLst/>
              </a:rPr>
              <a:t>: Easy to implement and understand.</a:t>
            </a:r>
            <a:endParaRPr lang="en-US" dirty="0" smtClean="0"/>
          </a:p>
          <a:p>
            <a:pPr marL="285750" indent="-285750">
              <a:buFont typeface="Arial" panose="020B0604020202020204" pitchFamily="34" charset="0"/>
              <a:buChar char="•"/>
            </a:pPr>
            <a:r>
              <a:rPr lang="en-US" b="1" dirty="0" smtClean="0">
                <a:effectLst/>
              </a:rPr>
              <a:t>Predictability</a:t>
            </a:r>
            <a:r>
              <a:rPr lang="en-US" dirty="0" smtClean="0">
                <a:effectLst/>
              </a:rPr>
              <a:t>: Operations follow a clear order (FIFO or LIFO).</a:t>
            </a:r>
            <a:endParaRPr lang="en-US" dirty="0" smtClean="0"/>
          </a:p>
          <a:p>
            <a:pPr marL="285750" indent="-285750">
              <a:buFont typeface="Arial" panose="020B0604020202020204" pitchFamily="34" charset="0"/>
              <a:buChar char="•"/>
            </a:pPr>
            <a:r>
              <a:rPr lang="en-US" b="1" dirty="0" smtClean="0">
                <a:effectLst/>
              </a:rPr>
              <a:t>Efficiency</a:t>
            </a:r>
            <a:r>
              <a:rPr lang="en-US" dirty="0" smtClean="0">
                <a:effectLst/>
              </a:rPr>
              <a:t>: Good for sequential data processing.</a:t>
            </a:r>
            <a:endParaRPr lang="en-US" dirty="0" smtClean="0"/>
          </a:p>
          <a:p>
            <a:endParaRPr lang="en-US" b="1" dirty="0" smtClean="0"/>
          </a:p>
          <a:p>
            <a:r>
              <a:rPr lang="en-US" b="1" dirty="0" smtClean="0"/>
              <a:t>Limitations</a:t>
            </a:r>
          </a:p>
          <a:p>
            <a:pPr marL="285750" indent="-285750">
              <a:buFont typeface="Arial" panose="020B0604020202020204" pitchFamily="34" charset="0"/>
              <a:buChar char="•"/>
            </a:pPr>
            <a:r>
              <a:rPr lang="en-US" b="1" dirty="0" smtClean="0">
                <a:effectLst/>
              </a:rPr>
              <a:t>Fixed Size in Arrays</a:t>
            </a:r>
            <a:r>
              <a:rPr lang="en-US" dirty="0" smtClean="0">
                <a:effectLst/>
              </a:rPr>
              <a:t>: Can lead to wasted memory or overflow.</a:t>
            </a:r>
            <a:endParaRPr lang="en-US" dirty="0" smtClean="0"/>
          </a:p>
          <a:p>
            <a:pPr marL="285750" indent="-285750">
              <a:buFont typeface="Arial" panose="020B0604020202020204" pitchFamily="34" charset="0"/>
              <a:buChar char="•"/>
            </a:pPr>
            <a:r>
              <a:rPr lang="en-US" b="1" dirty="0" smtClean="0">
                <a:effectLst/>
              </a:rPr>
              <a:t>Traversal Overhead in Linked Lists</a:t>
            </a:r>
            <a:r>
              <a:rPr lang="en-US" dirty="0" smtClean="0">
                <a:effectLst/>
              </a:rPr>
              <a:t>: Accessing elements requires sequential traversal.</a:t>
            </a:r>
            <a:endParaRPr lang="en-US" dirty="0" smtClean="0"/>
          </a:p>
          <a:p>
            <a:pPr marL="285750" indent="-285750">
              <a:buFont typeface="Arial" panose="020B0604020202020204" pitchFamily="34" charset="0"/>
              <a:buChar char="•"/>
            </a:pPr>
            <a:r>
              <a:rPr lang="en-US" b="1" dirty="0" smtClean="0">
                <a:effectLst/>
              </a:rPr>
              <a:t>Restricted Access in Stacks/Queues</a:t>
            </a:r>
            <a:r>
              <a:rPr lang="en-US" dirty="0" smtClean="0">
                <a:effectLst/>
              </a:rPr>
              <a:t>: Only specific ends can be accessed.</a:t>
            </a:r>
            <a:endParaRPr lang="en-US" dirty="0" smtClean="0"/>
          </a:p>
          <a:p>
            <a:endParaRPr lang="en-US" b="1" dirty="0"/>
          </a:p>
          <a:p>
            <a:endParaRPr lang="en-US" b="1" dirty="0" smtClean="0"/>
          </a:p>
        </p:txBody>
      </p:sp>
    </p:spTree>
    <p:extLst>
      <p:ext uri="{BB962C8B-B14F-4D97-AF65-F5344CB8AC3E}">
        <p14:creationId xmlns:p14="http://schemas.microsoft.com/office/powerpoint/2010/main" val="1850908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200329"/>
          </a:xfrm>
          <a:prstGeom prst="rect">
            <a:avLst/>
          </a:prstGeom>
        </p:spPr>
        <p:txBody>
          <a:bodyPr wrap="square">
            <a:spAutoFit/>
          </a:bodyPr>
          <a:lstStyle/>
          <a:p>
            <a:r>
              <a:rPr lang="en-US" dirty="0" smtClean="0"/>
              <a:t>Data structures are mainly classified based on </a:t>
            </a:r>
            <a:r>
              <a:rPr lang="en-US" b="1" dirty="0" smtClean="0"/>
              <a:t>how data is organized and accessed</a:t>
            </a:r>
            <a:r>
              <a:rPr lang="en-US" dirty="0" smtClean="0"/>
              <a:t>.</a:t>
            </a:r>
          </a:p>
          <a:p>
            <a:endParaRPr lang="en-US" dirty="0" smtClean="0"/>
          </a:p>
          <a:p>
            <a:r>
              <a:rPr lang="en-US" b="1" dirty="0" smtClean="0">
                <a:solidFill>
                  <a:srgbClr val="FF0000"/>
                </a:solidFill>
              </a:rPr>
              <a:t>2. Non-Primitive – Linear Data Structures</a:t>
            </a:r>
          </a:p>
          <a:p>
            <a:endParaRPr lang="en-US" dirty="0" smtClean="0"/>
          </a:p>
        </p:txBody>
      </p:sp>
      <p:pic>
        <p:nvPicPr>
          <p:cNvPr id="7" name="Picture 6"/>
          <p:cNvPicPr>
            <a:picLocks noChangeAspect="1"/>
          </p:cNvPicPr>
          <p:nvPr/>
        </p:nvPicPr>
        <p:blipFill>
          <a:blip r:embed="rId3"/>
          <a:stretch>
            <a:fillRect/>
          </a:stretch>
        </p:blipFill>
        <p:spPr>
          <a:xfrm>
            <a:off x="971738" y="1415393"/>
            <a:ext cx="3515216" cy="5249008"/>
          </a:xfrm>
          <a:prstGeom prst="rect">
            <a:avLst/>
          </a:prstGeom>
        </p:spPr>
      </p:pic>
      <p:pic>
        <p:nvPicPr>
          <p:cNvPr id="8" name="Picture 7"/>
          <p:cNvPicPr>
            <a:picLocks noChangeAspect="1"/>
          </p:cNvPicPr>
          <p:nvPr/>
        </p:nvPicPr>
        <p:blipFill>
          <a:blip r:embed="rId4"/>
          <a:stretch>
            <a:fillRect/>
          </a:stretch>
        </p:blipFill>
        <p:spPr>
          <a:xfrm>
            <a:off x="5293142" y="1980907"/>
            <a:ext cx="3534268" cy="2962688"/>
          </a:xfrm>
          <a:prstGeom prst="rect">
            <a:avLst/>
          </a:prstGeom>
        </p:spPr>
      </p:pic>
    </p:spTree>
    <p:extLst>
      <p:ext uri="{BB962C8B-B14F-4D97-AF65-F5344CB8AC3E}">
        <p14:creationId xmlns:p14="http://schemas.microsoft.com/office/powerpoint/2010/main" val="3058166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524315"/>
          </a:xfrm>
          <a:prstGeom prst="rect">
            <a:avLst/>
          </a:prstGeom>
        </p:spPr>
        <p:txBody>
          <a:bodyPr wrap="square">
            <a:spAutoFit/>
          </a:bodyPr>
          <a:lstStyle/>
          <a:p>
            <a:r>
              <a:rPr lang="en-US" b="1" dirty="0" smtClean="0">
                <a:solidFill>
                  <a:srgbClr val="FF0000"/>
                </a:solidFill>
              </a:rPr>
              <a:t>2. Non-Primitive – Non Linear Data Structures</a:t>
            </a:r>
          </a:p>
          <a:p>
            <a:r>
              <a:rPr lang="en-US" dirty="0" smtClean="0"/>
              <a:t>Non-Linear Data Structures are data structures where elements are not stored sequentially; instead, they are organized hierarchically or in networks, allowing multiple relationships between elements. Common examples include trees, graphs, heaps, and tries, which are essential for modeling complex real-world systems like file directories, social networks, and routing maps. </a:t>
            </a:r>
          </a:p>
          <a:p>
            <a:endParaRPr lang="en-US" dirty="0"/>
          </a:p>
          <a:p>
            <a:r>
              <a:rPr lang="en-US" b="1" dirty="0" smtClean="0"/>
              <a:t>Characteristics</a:t>
            </a:r>
          </a:p>
          <a:p>
            <a:pPr marL="285750" indent="-285750">
              <a:buFont typeface="Arial" panose="020B0604020202020204" pitchFamily="34" charset="0"/>
              <a:buChar char="•"/>
            </a:pPr>
            <a:r>
              <a:rPr lang="en-US" b="1" dirty="0" smtClean="0">
                <a:effectLst/>
              </a:rPr>
              <a:t>Hierarchical or Networked Organization</a:t>
            </a:r>
            <a:r>
              <a:rPr lang="en-US" dirty="0" smtClean="0">
                <a:effectLst/>
              </a:rPr>
              <a:t>: Elements can branch out or connect in multiple directions.</a:t>
            </a:r>
            <a:endParaRPr lang="en-US" dirty="0" smtClean="0"/>
          </a:p>
          <a:p>
            <a:pPr marL="285750" indent="-285750">
              <a:buFont typeface="Arial" panose="020B0604020202020204" pitchFamily="34" charset="0"/>
              <a:buChar char="•"/>
            </a:pPr>
            <a:r>
              <a:rPr lang="en-US" b="1" dirty="0" smtClean="0">
                <a:effectLst/>
              </a:rPr>
              <a:t>Complex Traversal</a:t>
            </a:r>
            <a:r>
              <a:rPr lang="en-US" dirty="0" smtClean="0">
                <a:effectLst/>
              </a:rPr>
              <a:t>: Cannot be traversed in a single run like linear structures.</a:t>
            </a:r>
            <a:endParaRPr lang="en-US" dirty="0" smtClean="0"/>
          </a:p>
          <a:p>
            <a:pPr marL="285750" indent="-285750">
              <a:buFont typeface="Arial" panose="020B0604020202020204" pitchFamily="34" charset="0"/>
              <a:buChar char="•"/>
            </a:pPr>
            <a:r>
              <a:rPr lang="en-US" b="1" dirty="0" smtClean="0">
                <a:effectLst/>
              </a:rPr>
              <a:t>Efficient for Specialized Operations</a:t>
            </a:r>
            <a:r>
              <a:rPr lang="en-US" dirty="0" smtClean="0">
                <a:effectLst/>
              </a:rPr>
              <a:t>: Searching, shortest path, hierarchical queries.</a:t>
            </a:r>
            <a:endParaRPr lang="en-US" dirty="0" smtClean="0"/>
          </a:p>
          <a:p>
            <a:endParaRPr lang="en-US" dirty="0" smtClean="0"/>
          </a:p>
          <a:p>
            <a:r>
              <a:rPr lang="en-IN" b="1" dirty="0" smtClean="0"/>
              <a:t>Real-Life Applications</a:t>
            </a:r>
          </a:p>
          <a:p>
            <a:pPr marL="285750" indent="-285750">
              <a:buFont typeface="Arial" panose="020B0604020202020204" pitchFamily="34" charset="0"/>
              <a:buChar char="•"/>
            </a:pPr>
            <a:r>
              <a:rPr lang="en-IN" b="1" dirty="0" smtClean="0">
                <a:effectLst/>
              </a:rPr>
              <a:t>Trees</a:t>
            </a:r>
            <a:r>
              <a:rPr lang="en-IN" dirty="0" smtClean="0">
                <a:effectLst/>
              </a:rPr>
              <a:t>: File directories, decision trees in AI, database indexing.</a:t>
            </a:r>
            <a:endParaRPr lang="en-IN" dirty="0" smtClean="0"/>
          </a:p>
          <a:p>
            <a:pPr marL="285750" indent="-285750">
              <a:buFont typeface="Arial" panose="020B0604020202020204" pitchFamily="34" charset="0"/>
              <a:buChar char="•"/>
            </a:pPr>
            <a:r>
              <a:rPr lang="en-IN" b="1" dirty="0" smtClean="0">
                <a:effectLst/>
              </a:rPr>
              <a:t>Graphs</a:t>
            </a:r>
            <a:r>
              <a:rPr lang="en-IN" dirty="0" smtClean="0">
                <a:effectLst/>
              </a:rPr>
              <a:t>: Social media connections, road maps, recommendation systems.</a:t>
            </a:r>
            <a:endParaRPr lang="en-IN" dirty="0" smtClean="0"/>
          </a:p>
          <a:p>
            <a:pPr marL="285750" indent="-285750">
              <a:buFont typeface="Arial" panose="020B0604020202020204" pitchFamily="34" charset="0"/>
              <a:buChar char="•"/>
            </a:pPr>
            <a:r>
              <a:rPr lang="en-IN" b="1" dirty="0" smtClean="0">
                <a:effectLst/>
              </a:rPr>
              <a:t>Heaps</a:t>
            </a:r>
            <a:r>
              <a:rPr lang="en-IN" dirty="0" smtClean="0">
                <a:effectLst/>
              </a:rPr>
              <a:t>: Task scheduling in operating systems, implementing priority queues.</a:t>
            </a:r>
            <a:endParaRPr lang="en-IN" dirty="0" smtClean="0"/>
          </a:p>
          <a:p>
            <a:pPr marL="285750" indent="-285750">
              <a:buFont typeface="Arial" panose="020B0604020202020204" pitchFamily="34" charset="0"/>
              <a:buChar char="•"/>
            </a:pPr>
            <a:r>
              <a:rPr lang="en-IN" b="1" dirty="0" smtClean="0">
                <a:effectLst/>
              </a:rPr>
              <a:t>Tries</a:t>
            </a:r>
            <a:r>
              <a:rPr lang="en-IN" dirty="0" smtClean="0">
                <a:effectLst/>
              </a:rPr>
              <a:t>: Fast dictionary lookups, search engines, predictive text.</a:t>
            </a:r>
            <a:endParaRPr lang="en-IN" dirty="0" smtClean="0"/>
          </a:p>
          <a:p>
            <a:endParaRPr lang="en-US" dirty="0" smtClean="0"/>
          </a:p>
        </p:txBody>
      </p:sp>
    </p:spTree>
    <p:extLst>
      <p:ext uri="{BB962C8B-B14F-4D97-AF65-F5344CB8AC3E}">
        <p14:creationId xmlns:p14="http://schemas.microsoft.com/office/powerpoint/2010/main" val="2380034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416320"/>
          </a:xfrm>
          <a:prstGeom prst="rect">
            <a:avLst/>
          </a:prstGeom>
        </p:spPr>
        <p:txBody>
          <a:bodyPr wrap="square">
            <a:spAutoFit/>
          </a:bodyPr>
          <a:lstStyle/>
          <a:p>
            <a:r>
              <a:rPr lang="en-US" b="1" dirty="0" smtClean="0">
                <a:solidFill>
                  <a:srgbClr val="FF0000"/>
                </a:solidFill>
              </a:rPr>
              <a:t>2. Non-Primitive – Non Linear Data Structures</a:t>
            </a:r>
          </a:p>
          <a:p>
            <a:endParaRPr lang="en-US" b="1" dirty="0" smtClean="0"/>
          </a:p>
          <a:p>
            <a:r>
              <a:rPr lang="en-US" b="1" dirty="0" smtClean="0"/>
              <a:t>Advantages</a:t>
            </a:r>
          </a:p>
          <a:p>
            <a:pPr marL="285750" indent="-285750">
              <a:buFont typeface="Arial" panose="020B0604020202020204" pitchFamily="34" charset="0"/>
              <a:buChar char="•"/>
            </a:pPr>
            <a:r>
              <a:rPr lang="en-US" b="1" dirty="0" smtClean="0">
                <a:effectLst/>
              </a:rPr>
              <a:t>Models Complex Relationships</a:t>
            </a:r>
            <a:r>
              <a:rPr lang="en-US" dirty="0" smtClean="0">
                <a:effectLst/>
              </a:rPr>
              <a:t>: Ideal for hierarchical or networked data.</a:t>
            </a:r>
            <a:endParaRPr lang="en-US" dirty="0" smtClean="0"/>
          </a:p>
          <a:p>
            <a:pPr marL="285750" indent="-285750">
              <a:buFont typeface="Arial" panose="020B0604020202020204" pitchFamily="34" charset="0"/>
              <a:buChar char="•"/>
            </a:pPr>
            <a:r>
              <a:rPr lang="en-US" b="1" dirty="0" smtClean="0">
                <a:effectLst/>
              </a:rPr>
              <a:t>Optimized Performance</a:t>
            </a:r>
            <a:r>
              <a:rPr lang="en-US" dirty="0" smtClean="0">
                <a:effectLst/>
              </a:rPr>
              <a:t>: Faster search and retrieval in certain contexts (e.g., binary search trees).</a:t>
            </a:r>
            <a:endParaRPr lang="en-US" dirty="0" smtClean="0"/>
          </a:p>
          <a:p>
            <a:pPr marL="285750" indent="-285750">
              <a:buFont typeface="Arial" panose="020B0604020202020204" pitchFamily="34" charset="0"/>
              <a:buChar char="•"/>
            </a:pPr>
            <a:r>
              <a:rPr lang="en-US" b="1" dirty="0" smtClean="0">
                <a:effectLst/>
              </a:rPr>
              <a:t>Flexibility</a:t>
            </a:r>
            <a:r>
              <a:rPr lang="en-US" dirty="0" smtClean="0">
                <a:effectLst/>
              </a:rPr>
              <a:t>: Can represent diverse real-world structures.</a:t>
            </a:r>
          </a:p>
          <a:p>
            <a:pPr marL="285750" indent="-285750">
              <a:buFont typeface="Arial" panose="020B0604020202020204" pitchFamily="34" charset="0"/>
              <a:buChar char="•"/>
            </a:pPr>
            <a:endParaRPr lang="en-US" dirty="0"/>
          </a:p>
          <a:p>
            <a:r>
              <a:rPr lang="en-US" b="1" dirty="0" smtClean="0"/>
              <a:t>Limitations</a:t>
            </a:r>
          </a:p>
          <a:p>
            <a:pPr marL="285750" indent="-285750">
              <a:buFont typeface="Arial" panose="020B0604020202020204" pitchFamily="34" charset="0"/>
              <a:buChar char="•"/>
            </a:pPr>
            <a:r>
              <a:rPr lang="en-US" b="1" dirty="0" smtClean="0">
                <a:effectLst/>
              </a:rPr>
              <a:t>Complex Implementation</a:t>
            </a:r>
            <a:r>
              <a:rPr lang="en-US" dirty="0" smtClean="0">
                <a:effectLst/>
              </a:rPr>
              <a:t>: More difficult to code and manage than linear structures.</a:t>
            </a:r>
            <a:endParaRPr lang="en-US" dirty="0" smtClean="0"/>
          </a:p>
          <a:p>
            <a:pPr marL="285750" indent="-285750">
              <a:buFont typeface="Arial" panose="020B0604020202020204" pitchFamily="34" charset="0"/>
              <a:buChar char="•"/>
            </a:pPr>
            <a:r>
              <a:rPr lang="en-US" b="1" dirty="0" smtClean="0">
                <a:effectLst/>
              </a:rPr>
              <a:t>Traversal Overhead</a:t>
            </a:r>
            <a:r>
              <a:rPr lang="en-US" dirty="0" smtClean="0">
                <a:effectLst/>
              </a:rPr>
              <a:t>: Requires specialized algorithms (DFS, BFS).</a:t>
            </a:r>
            <a:endParaRPr lang="en-US" dirty="0" smtClean="0"/>
          </a:p>
          <a:p>
            <a:pPr marL="285750" indent="-285750">
              <a:buFont typeface="Arial" panose="020B0604020202020204" pitchFamily="34" charset="0"/>
              <a:buChar char="•"/>
            </a:pPr>
            <a:r>
              <a:rPr lang="en-US" b="1" dirty="0" smtClean="0">
                <a:effectLst/>
              </a:rPr>
              <a:t>Memory Usage</a:t>
            </a:r>
            <a:r>
              <a:rPr lang="en-US" dirty="0" smtClean="0">
                <a:effectLst/>
              </a:rPr>
              <a:t>: Can consume more memory due to pointers and links.</a:t>
            </a:r>
            <a:endParaRPr lang="en-US" dirty="0" smtClean="0"/>
          </a:p>
          <a:p>
            <a:endParaRPr lang="en-US" dirty="0"/>
          </a:p>
        </p:txBody>
      </p:sp>
    </p:spTree>
    <p:extLst>
      <p:ext uri="{BB962C8B-B14F-4D97-AF65-F5344CB8AC3E}">
        <p14:creationId xmlns:p14="http://schemas.microsoft.com/office/powerpoint/2010/main" val="2128626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2. Non-Primitive – Non Linear Data Structures</a:t>
            </a:r>
          </a:p>
          <a:p>
            <a:endParaRPr lang="en-US" b="1" dirty="0" smtClean="0"/>
          </a:p>
        </p:txBody>
      </p:sp>
      <p:pic>
        <p:nvPicPr>
          <p:cNvPr id="7" name="Picture 6"/>
          <p:cNvPicPr>
            <a:picLocks noChangeAspect="1"/>
          </p:cNvPicPr>
          <p:nvPr/>
        </p:nvPicPr>
        <p:blipFill>
          <a:blip r:embed="rId3"/>
          <a:stretch>
            <a:fillRect/>
          </a:stretch>
        </p:blipFill>
        <p:spPr>
          <a:xfrm>
            <a:off x="286754" y="884613"/>
            <a:ext cx="4220164" cy="5943409"/>
          </a:xfrm>
          <a:prstGeom prst="rect">
            <a:avLst/>
          </a:prstGeom>
        </p:spPr>
      </p:pic>
      <p:pic>
        <p:nvPicPr>
          <p:cNvPr id="8" name="Picture 7"/>
          <p:cNvPicPr>
            <a:picLocks noChangeAspect="1"/>
          </p:cNvPicPr>
          <p:nvPr/>
        </p:nvPicPr>
        <p:blipFill>
          <a:blip r:embed="rId4"/>
          <a:stretch>
            <a:fillRect/>
          </a:stretch>
        </p:blipFill>
        <p:spPr>
          <a:xfrm>
            <a:off x="4803996" y="791250"/>
            <a:ext cx="3448531" cy="6036772"/>
          </a:xfrm>
          <a:prstGeom prst="rect">
            <a:avLst/>
          </a:prstGeom>
        </p:spPr>
      </p:pic>
      <p:pic>
        <p:nvPicPr>
          <p:cNvPr id="9" name="Picture 8"/>
          <p:cNvPicPr>
            <a:picLocks noChangeAspect="1"/>
          </p:cNvPicPr>
          <p:nvPr/>
        </p:nvPicPr>
        <p:blipFill>
          <a:blip r:embed="rId5"/>
          <a:stretch>
            <a:fillRect/>
          </a:stretch>
        </p:blipFill>
        <p:spPr>
          <a:xfrm>
            <a:off x="8392904" y="2209212"/>
            <a:ext cx="3210373" cy="3200847"/>
          </a:xfrm>
          <a:prstGeom prst="rect">
            <a:avLst/>
          </a:prstGeom>
        </p:spPr>
      </p:pic>
    </p:spTree>
    <p:extLst>
      <p:ext uri="{BB962C8B-B14F-4D97-AF65-F5344CB8AC3E}">
        <p14:creationId xmlns:p14="http://schemas.microsoft.com/office/powerpoint/2010/main" val="85624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2. Non-Primitive – Non Linear Data Structures</a:t>
            </a:r>
          </a:p>
          <a:p>
            <a:endParaRPr lang="en-US" b="1" dirty="0" smtClean="0"/>
          </a:p>
        </p:txBody>
      </p:sp>
      <p:pic>
        <p:nvPicPr>
          <p:cNvPr id="10" name="Picture 9"/>
          <p:cNvPicPr>
            <a:picLocks noChangeAspect="1"/>
          </p:cNvPicPr>
          <p:nvPr/>
        </p:nvPicPr>
        <p:blipFill>
          <a:blip r:embed="rId3"/>
          <a:stretch>
            <a:fillRect/>
          </a:stretch>
        </p:blipFill>
        <p:spPr>
          <a:xfrm>
            <a:off x="90521" y="998179"/>
            <a:ext cx="4086795" cy="4296375"/>
          </a:xfrm>
          <a:prstGeom prst="rect">
            <a:avLst/>
          </a:prstGeom>
        </p:spPr>
      </p:pic>
      <p:pic>
        <p:nvPicPr>
          <p:cNvPr id="11" name="Picture 10"/>
          <p:cNvPicPr>
            <a:picLocks noChangeAspect="1"/>
          </p:cNvPicPr>
          <p:nvPr/>
        </p:nvPicPr>
        <p:blipFill>
          <a:blip r:embed="rId4"/>
          <a:stretch>
            <a:fillRect/>
          </a:stretch>
        </p:blipFill>
        <p:spPr>
          <a:xfrm>
            <a:off x="4373731" y="1345645"/>
            <a:ext cx="4334480" cy="4648849"/>
          </a:xfrm>
          <a:prstGeom prst="rect">
            <a:avLst/>
          </a:prstGeom>
        </p:spPr>
      </p:pic>
      <p:pic>
        <p:nvPicPr>
          <p:cNvPr id="12" name="Picture 11"/>
          <p:cNvPicPr>
            <a:picLocks noChangeAspect="1"/>
          </p:cNvPicPr>
          <p:nvPr/>
        </p:nvPicPr>
        <p:blipFill>
          <a:blip r:embed="rId5"/>
          <a:stretch>
            <a:fillRect/>
          </a:stretch>
        </p:blipFill>
        <p:spPr>
          <a:xfrm>
            <a:off x="9037630" y="998179"/>
            <a:ext cx="3048425" cy="5668166"/>
          </a:xfrm>
          <a:prstGeom prst="rect">
            <a:avLst/>
          </a:prstGeom>
        </p:spPr>
      </p:pic>
    </p:spTree>
    <p:extLst>
      <p:ext uri="{BB962C8B-B14F-4D97-AF65-F5344CB8AC3E}">
        <p14:creationId xmlns:p14="http://schemas.microsoft.com/office/powerpoint/2010/main" val="95444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Types of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2. Non-Primitive – Non Linear Data Structures</a:t>
            </a:r>
          </a:p>
          <a:p>
            <a:endParaRPr lang="en-US" b="1" dirty="0" smtClean="0"/>
          </a:p>
        </p:txBody>
      </p:sp>
      <p:pic>
        <p:nvPicPr>
          <p:cNvPr id="10" name="Picture 9"/>
          <p:cNvPicPr>
            <a:picLocks noChangeAspect="1"/>
          </p:cNvPicPr>
          <p:nvPr/>
        </p:nvPicPr>
        <p:blipFill>
          <a:blip r:embed="rId3"/>
          <a:stretch>
            <a:fillRect/>
          </a:stretch>
        </p:blipFill>
        <p:spPr>
          <a:xfrm>
            <a:off x="90521" y="998179"/>
            <a:ext cx="4086795" cy="4296375"/>
          </a:xfrm>
          <a:prstGeom prst="rect">
            <a:avLst/>
          </a:prstGeom>
        </p:spPr>
      </p:pic>
      <p:pic>
        <p:nvPicPr>
          <p:cNvPr id="11" name="Picture 10"/>
          <p:cNvPicPr>
            <a:picLocks noChangeAspect="1"/>
          </p:cNvPicPr>
          <p:nvPr/>
        </p:nvPicPr>
        <p:blipFill>
          <a:blip r:embed="rId4"/>
          <a:stretch>
            <a:fillRect/>
          </a:stretch>
        </p:blipFill>
        <p:spPr>
          <a:xfrm>
            <a:off x="4373731" y="1345645"/>
            <a:ext cx="4334480" cy="4648849"/>
          </a:xfrm>
          <a:prstGeom prst="rect">
            <a:avLst/>
          </a:prstGeom>
        </p:spPr>
      </p:pic>
      <p:pic>
        <p:nvPicPr>
          <p:cNvPr id="12" name="Picture 11"/>
          <p:cNvPicPr>
            <a:picLocks noChangeAspect="1"/>
          </p:cNvPicPr>
          <p:nvPr/>
        </p:nvPicPr>
        <p:blipFill>
          <a:blip r:embed="rId5"/>
          <a:stretch>
            <a:fillRect/>
          </a:stretch>
        </p:blipFill>
        <p:spPr>
          <a:xfrm>
            <a:off x="9037630" y="998179"/>
            <a:ext cx="3048425" cy="5668166"/>
          </a:xfrm>
          <a:prstGeom prst="rect">
            <a:avLst/>
          </a:prstGeom>
        </p:spPr>
      </p:pic>
    </p:spTree>
    <p:extLst>
      <p:ext uri="{BB962C8B-B14F-4D97-AF65-F5344CB8AC3E}">
        <p14:creationId xmlns:p14="http://schemas.microsoft.com/office/powerpoint/2010/main" val="3761534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754326"/>
          </a:xfrm>
          <a:prstGeom prst="rect">
            <a:avLst/>
          </a:prstGeom>
        </p:spPr>
        <p:txBody>
          <a:bodyPr wrap="square">
            <a:spAutoFit/>
          </a:bodyPr>
          <a:lstStyle/>
          <a:p>
            <a:r>
              <a:rPr lang="en-US" b="1" dirty="0" smtClean="0">
                <a:solidFill>
                  <a:srgbClr val="FF0000"/>
                </a:solidFill>
              </a:rPr>
              <a:t>General Tree</a:t>
            </a:r>
          </a:p>
          <a:p>
            <a:endParaRPr lang="en-US" dirty="0" smtClean="0">
              <a:effectLst/>
            </a:endParaRPr>
          </a:p>
          <a:p>
            <a:r>
              <a:rPr lang="en-US" dirty="0" smtClean="0">
                <a:effectLst/>
              </a:rPr>
              <a:t>A </a:t>
            </a:r>
            <a:r>
              <a:rPr lang="en-US" b="1" dirty="0" smtClean="0">
                <a:effectLst/>
              </a:rPr>
              <a:t>General Tree</a:t>
            </a:r>
            <a:r>
              <a:rPr lang="en-US" dirty="0" smtClean="0">
                <a:effectLst/>
              </a:rPr>
              <a:t> is a </a:t>
            </a:r>
            <a:r>
              <a:rPr lang="en-US" b="1" dirty="0" smtClean="0">
                <a:effectLst/>
              </a:rPr>
              <a:t>non-linear hierarchical data structure</a:t>
            </a:r>
            <a:r>
              <a:rPr lang="en-US" dirty="0" smtClean="0">
                <a:effectLst/>
              </a:rPr>
              <a:t> where:</a:t>
            </a:r>
            <a:endParaRPr lang="en-US" dirty="0" smtClean="0"/>
          </a:p>
          <a:p>
            <a:pPr marL="285750" indent="-285750">
              <a:buFont typeface="Arial" panose="020B0604020202020204" pitchFamily="34" charset="0"/>
              <a:buChar char="•"/>
            </a:pPr>
            <a:r>
              <a:rPr lang="en-US" dirty="0" smtClean="0">
                <a:effectLst/>
              </a:rPr>
              <a:t>Each node can have </a:t>
            </a:r>
            <a:r>
              <a:rPr lang="en-US" b="1" dirty="0" smtClean="0">
                <a:effectLst/>
              </a:rPr>
              <a:t>zero, one, or many children</a:t>
            </a:r>
            <a:r>
              <a:rPr lang="en-US" dirty="0" smtClean="0">
                <a:effectLst/>
              </a:rPr>
              <a:t>.</a:t>
            </a:r>
            <a:endParaRPr lang="en-US" dirty="0" smtClean="0"/>
          </a:p>
          <a:p>
            <a:pPr marL="285750" indent="-285750">
              <a:buFont typeface="Arial" panose="020B0604020202020204" pitchFamily="34" charset="0"/>
              <a:buChar char="•"/>
            </a:pPr>
            <a:r>
              <a:rPr lang="en-US" dirty="0" smtClean="0">
                <a:effectLst/>
              </a:rPr>
              <a:t>There is </a:t>
            </a:r>
            <a:r>
              <a:rPr lang="en-US" b="1" dirty="0" smtClean="0">
                <a:effectLst/>
              </a:rPr>
              <a:t>no fixed limit</a:t>
            </a:r>
            <a:r>
              <a:rPr lang="en-US" dirty="0" smtClean="0">
                <a:effectLst/>
              </a:rPr>
              <a:t> on the number of children.</a:t>
            </a:r>
            <a:endParaRPr lang="en-US" dirty="0" smtClean="0"/>
          </a:p>
          <a:p>
            <a:endParaRPr lang="en-US" b="1" dirty="0" smtClean="0"/>
          </a:p>
        </p:txBody>
      </p:sp>
      <p:pic>
        <p:nvPicPr>
          <p:cNvPr id="3" name="Picture 2"/>
          <p:cNvPicPr>
            <a:picLocks noChangeAspect="1"/>
          </p:cNvPicPr>
          <p:nvPr/>
        </p:nvPicPr>
        <p:blipFill>
          <a:blip r:embed="rId3"/>
          <a:stretch>
            <a:fillRect/>
          </a:stretch>
        </p:blipFill>
        <p:spPr>
          <a:xfrm>
            <a:off x="2548573" y="2448545"/>
            <a:ext cx="4534533" cy="2276793"/>
          </a:xfrm>
          <a:prstGeom prst="rect">
            <a:avLst/>
          </a:prstGeom>
        </p:spPr>
      </p:pic>
    </p:spTree>
    <p:extLst>
      <p:ext uri="{BB962C8B-B14F-4D97-AF65-F5344CB8AC3E}">
        <p14:creationId xmlns:p14="http://schemas.microsoft.com/office/powerpoint/2010/main" val="2346604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801314"/>
          </a:xfrm>
          <a:prstGeom prst="rect">
            <a:avLst/>
          </a:prstGeom>
        </p:spPr>
        <p:txBody>
          <a:bodyPr wrap="square">
            <a:spAutoFit/>
          </a:bodyPr>
          <a:lstStyle/>
          <a:p>
            <a:r>
              <a:rPr lang="en-US" b="1" dirty="0" smtClean="0">
                <a:solidFill>
                  <a:srgbClr val="FF0000"/>
                </a:solidFill>
              </a:rPr>
              <a:t>General Tree</a:t>
            </a:r>
          </a:p>
          <a:p>
            <a:endParaRPr lang="en-US" dirty="0" smtClean="0">
              <a:effectLst/>
            </a:endParaRPr>
          </a:p>
          <a:p>
            <a:pPr marL="285750" indent="-285750">
              <a:buFont typeface="Arial" panose="020B0604020202020204" pitchFamily="34" charset="0"/>
              <a:buChar char="•"/>
            </a:pPr>
            <a:r>
              <a:rPr lang="en-US" b="1" dirty="0" smtClean="0">
                <a:effectLst/>
              </a:rPr>
              <a:t>Root Node </a:t>
            </a:r>
            <a:r>
              <a:rPr lang="en-US" dirty="0" smtClean="0">
                <a:effectLst/>
              </a:rPr>
              <a:t>→ The very top node (only one). It has no parent.</a:t>
            </a:r>
          </a:p>
          <a:p>
            <a:pPr marL="285750" indent="-285750">
              <a:buFont typeface="Arial" panose="020B0604020202020204" pitchFamily="34" charset="0"/>
              <a:buChar char="•"/>
            </a:pPr>
            <a:r>
              <a:rPr lang="en-US" b="1" dirty="0" smtClean="0">
                <a:effectLst/>
              </a:rPr>
              <a:t>Parent Node </a:t>
            </a:r>
            <a:r>
              <a:rPr lang="en-US" dirty="0" smtClean="0">
                <a:effectLst/>
              </a:rPr>
              <a:t>→ Nodes directly under the root (A and B). They have children.</a:t>
            </a:r>
          </a:p>
          <a:p>
            <a:pPr marL="285750" indent="-285750">
              <a:buFont typeface="Arial" panose="020B0604020202020204" pitchFamily="34" charset="0"/>
              <a:buChar char="•"/>
            </a:pPr>
            <a:r>
              <a:rPr lang="en-US" b="1" dirty="0" smtClean="0">
                <a:effectLst/>
              </a:rPr>
              <a:t>Child Node </a:t>
            </a:r>
            <a:r>
              <a:rPr lang="en-US" dirty="0" smtClean="0">
                <a:effectLst/>
              </a:rPr>
              <a:t>→ Immediate successors of a parent (Child1–Child6).</a:t>
            </a:r>
          </a:p>
          <a:p>
            <a:pPr marL="285750" indent="-285750">
              <a:buFont typeface="Arial" panose="020B0604020202020204" pitchFamily="34" charset="0"/>
              <a:buChar char="•"/>
            </a:pPr>
            <a:r>
              <a:rPr lang="en-US" b="1" dirty="0" smtClean="0">
                <a:effectLst/>
              </a:rPr>
              <a:t>Leaf Node </a:t>
            </a:r>
            <a:r>
              <a:rPr lang="en-US" dirty="0" smtClean="0">
                <a:effectLst/>
              </a:rPr>
              <a:t>→ Nodes with no children (Leaf1–Leaf4).</a:t>
            </a:r>
          </a:p>
          <a:p>
            <a:pPr marL="285750" indent="-285750">
              <a:buFont typeface="Arial" panose="020B0604020202020204" pitchFamily="34" charset="0"/>
              <a:buChar char="•"/>
            </a:pPr>
            <a:r>
              <a:rPr lang="en-US" b="1" dirty="0" smtClean="0">
                <a:effectLst/>
              </a:rPr>
              <a:t>Siblings</a:t>
            </a:r>
            <a:r>
              <a:rPr lang="en-US" dirty="0" smtClean="0">
                <a:effectLst/>
              </a:rPr>
              <a:t> → Nodes sharing the same parent (Child1, Child2, Child3 are siblings under Parent A).</a:t>
            </a:r>
          </a:p>
          <a:p>
            <a:pPr marL="285750" indent="-285750">
              <a:buFont typeface="Arial" panose="020B0604020202020204" pitchFamily="34" charset="0"/>
              <a:buChar char="•"/>
            </a:pPr>
            <a:r>
              <a:rPr lang="en-US" b="1" dirty="0" smtClean="0">
                <a:effectLst/>
              </a:rPr>
              <a:t>Path</a:t>
            </a:r>
            <a:r>
              <a:rPr lang="en-US" dirty="0" smtClean="0">
                <a:effectLst/>
              </a:rPr>
              <a:t> → A sequence of nodes from root to a target node. Example: Root → Parent A → Child1 → Leaf1.</a:t>
            </a:r>
          </a:p>
          <a:p>
            <a:pPr marL="285750" indent="-285750">
              <a:buFont typeface="Arial" panose="020B0604020202020204" pitchFamily="34" charset="0"/>
              <a:buChar char="•"/>
            </a:pPr>
            <a:r>
              <a:rPr lang="en-US" b="1" dirty="0" smtClean="0">
                <a:effectLst/>
              </a:rPr>
              <a:t>Degree of Node </a:t>
            </a:r>
            <a:r>
              <a:rPr lang="en-US" dirty="0" smtClean="0">
                <a:effectLst/>
              </a:rPr>
              <a:t>→ Number of children a node has. Parent A has degree 3 (Child1–Child3).</a:t>
            </a:r>
          </a:p>
          <a:p>
            <a:pPr marL="285750" indent="-285750">
              <a:buFont typeface="Arial" panose="020B0604020202020204" pitchFamily="34" charset="0"/>
              <a:buChar char="•"/>
            </a:pPr>
            <a:r>
              <a:rPr lang="en-US" b="1" dirty="0" smtClean="0">
                <a:effectLst/>
              </a:rPr>
              <a:t>Degree of Tree </a:t>
            </a:r>
            <a:r>
              <a:rPr lang="en-US" dirty="0" smtClean="0">
                <a:effectLst/>
              </a:rPr>
              <a:t>→ Maximum degree among all nodes. Here, the highest is 3.</a:t>
            </a:r>
          </a:p>
          <a:p>
            <a:pPr marL="285750" indent="-285750">
              <a:buFont typeface="Arial" panose="020B0604020202020204" pitchFamily="34" charset="0"/>
              <a:buChar char="•"/>
            </a:pPr>
            <a:r>
              <a:rPr lang="en-US" b="1" dirty="0" smtClean="0">
                <a:effectLst/>
              </a:rPr>
              <a:t>Level </a:t>
            </a:r>
            <a:r>
              <a:rPr lang="en-US" dirty="0" smtClean="0">
                <a:effectLst/>
              </a:rPr>
              <a:t>→ Distance from the root:</a:t>
            </a:r>
          </a:p>
          <a:p>
            <a:pPr marL="742950" lvl="1" indent="-285750">
              <a:buFont typeface="Arial" panose="020B0604020202020204" pitchFamily="34" charset="0"/>
              <a:buChar char="•"/>
            </a:pPr>
            <a:r>
              <a:rPr lang="en-US" dirty="0" smtClean="0">
                <a:effectLst/>
              </a:rPr>
              <a:t>Root = Level 1</a:t>
            </a:r>
          </a:p>
          <a:p>
            <a:pPr marL="742950" lvl="1" indent="-285750">
              <a:buFont typeface="Arial" panose="020B0604020202020204" pitchFamily="34" charset="0"/>
              <a:buChar char="•"/>
            </a:pPr>
            <a:r>
              <a:rPr lang="en-US" dirty="0" smtClean="0">
                <a:effectLst/>
              </a:rPr>
              <a:t>Parent Nodes (A, B) = Level 2</a:t>
            </a:r>
          </a:p>
          <a:p>
            <a:pPr marL="742950" lvl="1" indent="-285750">
              <a:buFont typeface="Arial" panose="020B0604020202020204" pitchFamily="34" charset="0"/>
              <a:buChar char="•"/>
            </a:pPr>
            <a:r>
              <a:rPr lang="en-US" dirty="0" smtClean="0">
                <a:effectLst/>
              </a:rPr>
              <a:t>Child Nodes (Child1–Child6) = Level 3</a:t>
            </a:r>
          </a:p>
          <a:p>
            <a:pPr marL="742950" lvl="1" indent="-285750">
              <a:buFont typeface="Arial" panose="020B0604020202020204" pitchFamily="34" charset="0"/>
              <a:buChar char="•"/>
            </a:pPr>
            <a:r>
              <a:rPr lang="en-US" dirty="0" smtClean="0">
                <a:effectLst/>
              </a:rPr>
              <a:t>Leaf Nodes (Leaf1–Leaf4) = Level 4</a:t>
            </a:r>
          </a:p>
          <a:p>
            <a:pPr marL="285750" indent="-285750">
              <a:buFont typeface="Arial" panose="020B0604020202020204" pitchFamily="34" charset="0"/>
              <a:buChar char="•"/>
            </a:pPr>
            <a:r>
              <a:rPr lang="en-US" b="1" dirty="0" smtClean="0">
                <a:effectLst/>
              </a:rPr>
              <a:t>Depth</a:t>
            </a:r>
            <a:r>
              <a:rPr lang="en-US" dirty="0" smtClean="0">
                <a:effectLst/>
              </a:rPr>
              <a:t> → Number of edges from root to a node. Example: Leaf1 has depth 4 (Root → A → Child1 → Leaf1).</a:t>
            </a:r>
          </a:p>
          <a:p>
            <a:pPr marL="285750" indent="-285750">
              <a:buFont typeface="Arial" panose="020B0604020202020204" pitchFamily="34" charset="0"/>
              <a:buChar char="•"/>
            </a:pPr>
            <a:r>
              <a:rPr lang="en-US" b="1" dirty="0" smtClean="0">
                <a:effectLst/>
              </a:rPr>
              <a:t>Height</a:t>
            </a:r>
            <a:r>
              <a:rPr lang="en-US" dirty="0" smtClean="0">
                <a:effectLst/>
              </a:rPr>
              <a:t> → Longest path from root to a leaf. In this diagram, the height is 4.</a:t>
            </a:r>
            <a:endParaRPr lang="en-US" b="1" dirty="0" smtClean="0"/>
          </a:p>
        </p:txBody>
      </p:sp>
    </p:spTree>
    <p:extLst>
      <p:ext uri="{BB962C8B-B14F-4D97-AF65-F5344CB8AC3E}">
        <p14:creationId xmlns:p14="http://schemas.microsoft.com/office/powerpoint/2010/main" val="1716773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General Tree</a:t>
            </a:r>
          </a:p>
          <a:p>
            <a:endParaRPr lang="en-US" dirty="0" smtClean="0">
              <a:effectLst/>
            </a:endParaRPr>
          </a:p>
          <a:p>
            <a:r>
              <a:rPr lang="en-US" b="1" dirty="0" smtClean="0"/>
              <a:t>Degree of a Node</a:t>
            </a:r>
          </a:p>
          <a:p>
            <a:r>
              <a:rPr lang="en-US" dirty="0" smtClean="0">
                <a:effectLst/>
              </a:rPr>
              <a:t>The </a:t>
            </a:r>
            <a:r>
              <a:rPr lang="en-US" b="1" dirty="0" smtClean="0">
                <a:effectLst/>
              </a:rPr>
              <a:t>degree of a node</a:t>
            </a:r>
            <a:r>
              <a:rPr lang="en-US" dirty="0" smtClean="0">
                <a:effectLst/>
              </a:rPr>
              <a:t> is the </a:t>
            </a:r>
            <a:r>
              <a:rPr lang="en-US" b="1" dirty="0" smtClean="0">
                <a:effectLst/>
              </a:rPr>
              <a:t>number of children that node has</a:t>
            </a:r>
            <a:r>
              <a:rPr lang="en-US" dirty="0" smtClean="0">
                <a:effectLst/>
              </a:rPr>
              <a:t>.</a:t>
            </a:r>
            <a:endParaRPr lang="en-US" dirty="0" smtClean="0"/>
          </a:p>
          <a:p>
            <a:r>
              <a:rPr lang="en-US" dirty="0" smtClean="0">
                <a:effectLst/>
              </a:rPr>
              <a:t>Example:</a:t>
            </a:r>
            <a:endParaRPr lang="en-US" dirty="0" smtClean="0"/>
          </a:p>
          <a:p>
            <a:pPr marL="742950" lvl="1" indent="-285750">
              <a:buFont typeface="Arial" panose="020B0604020202020204" pitchFamily="34" charset="0"/>
              <a:buChar char="•"/>
            </a:pPr>
            <a:r>
              <a:rPr lang="en-US" dirty="0" smtClean="0">
                <a:effectLst/>
              </a:rPr>
              <a:t>Parent Node A has 3 children (Child1, Child2, Child3). → Degree of Node A = 3</a:t>
            </a:r>
            <a:endParaRPr lang="en-US" dirty="0" smtClean="0"/>
          </a:p>
          <a:p>
            <a:pPr marL="742950" lvl="1" indent="-285750">
              <a:buFont typeface="Arial" panose="020B0604020202020204" pitchFamily="34" charset="0"/>
              <a:buChar char="•"/>
            </a:pPr>
            <a:r>
              <a:rPr lang="en-US" dirty="0" smtClean="0">
                <a:effectLst/>
              </a:rPr>
              <a:t>Parent Node B has 3 children (Child4, Child5, Child6). → Degree of Node B = 3</a:t>
            </a:r>
            <a:endParaRPr lang="en-US" dirty="0" smtClean="0"/>
          </a:p>
          <a:p>
            <a:pPr marL="742950" lvl="1" indent="-285750">
              <a:buFont typeface="Arial" panose="020B0604020202020204" pitchFamily="34" charset="0"/>
              <a:buChar char="•"/>
            </a:pPr>
            <a:r>
              <a:rPr lang="en-US" dirty="0" smtClean="0">
                <a:effectLst/>
              </a:rPr>
              <a:t>Child1 has 2 children (Leaf1, Leaf2). → Degree of Child1 = 2</a:t>
            </a:r>
            <a:endParaRPr lang="en-US" dirty="0" smtClean="0"/>
          </a:p>
          <a:p>
            <a:pPr marL="742950" lvl="1" indent="-285750">
              <a:buFont typeface="Arial" panose="020B0604020202020204" pitchFamily="34" charset="0"/>
              <a:buChar char="•"/>
            </a:pPr>
            <a:r>
              <a:rPr lang="en-US" dirty="0" smtClean="0">
                <a:effectLst/>
              </a:rPr>
              <a:t>Child2, Child3, Child4, Child5, Child6 each have 0 children. → Degree of those nodes = 0</a:t>
            </a:r>
            <a:endParaRPr lang="en-US" dirty="0" smtClean="0"/>
          </a:p>
          <a:p>
            <a:endParaRPr lang="en-US" dirty="0" smtClean="0">
              <a:effectLst/>
            </a:endParaRPr>
          </a:p>
          <a:p>
            <a:r>
              <a:rPr lang="en-US" b="1" dirty="0" smtClean="0"/>
              <a:t>Degree of a Tree</a:t>
            </a:r>
          </a:p>
          <a:p>
            <a:r>
              <a:rPr lang="en-US" dirty="0" smtClean="0">
                <a:effectLst/>
              </a:rPr>
              <a:t>The </a:t>
            </a:r>
            <a:r>
              <a:rPr lang="en-US" b="1" dirty="0" smtClean="0">
                <a:effectLst/>
              </a:rPr>
              <a:t>degree of a tree</a:t>
            </a:r>
            <a:r>
              <a:rPr lang="en-US" dirty="0" smtClean="0">
                <a:effectLst/>
              </a:rPr>
              <a:t> is the </a:t>
            </a:r>
            <a:r>
              <a:rPr lang="en-US" b="1" dirty="0" smtClean="0">
                <a:effectLst/>
              </a:rPr>
              <a:t>maximum degree among all nodes in the tree</a:t>
            </a:r>
            <a:r>
              <a:rPr lang="en-US" dirty="0" smtClean="0">
                <a:effectLst/>
              </a:rPr>
              <a:t>.</a:t>
            </a:r>
            <a:endParaRPr lang="en-US" dirty="0" smtClean="0"/>
          </a:p>
          <a:p>
            <a:r>
              <a:rPr lang="en-US" dirty="0" smtClean="0">
                <a:effectLst/>
              </a:rPr>
              <a:t>In the diagram:</a:t>
            </a:r>
            <a:endParaRPr lang="en-US" dirty="0" smtClean="0"/>
          </a:p>
          <a:p>
            <a:pPr marL="742950" lvl="1" indent="-285750">
              <a:buFont typeface="Arial" panose="020B0604020202020204" pitchFamily="34" charset="0"/>
              <a:buChar char="•"/>
            </a:pPr>
            <a:r>
              <a:rPr lang="en-US" dirty="0" smtClean="0">
                <a:effectLst/>
              </a:rPr>
              <a:t>Node A has degree 3</a:t>
            </a:r>
            <a:endParaRPr lang="en-US" dirty="0" smtClean="0"/>
          </a:p>
          <a:p>
            <a:pPr marL="742950" lvl="1" indent="-285750">
              <a:buFont typeface="Arial" panose="020B0604020202020204" pitchFamily="34" charset="0"/>
              <a:buChar char="•"/>
            </a:pPr>
            <a:r>
              <a:rPr lang="en-US" dirty="0" smtClean="0">
                <a:effectLst/>
              </a:rPr>
              <a:t>Node B has degree 3</a:t>
            </a:r>
            <a:endParaRPr lang="en-US" dirty="0" smtClean="0"/>
          </a:p>
          <a:p>
            <a:pPr marL="742950" lvl="1" indent="-285750">
              <a:buFont typeface="Arial" panose="020B0604020202020204" pitchFamily="34" charset="0"/>
              <a:buChar char="•"/>
            </a:pPr>
            <a:r>
              <a:rPr lang="en-US" dirty="0" smtClean="0">
                <a:effectLst/>
              </a:rPr>
              <a:t>Child1 has degree 2</a:t>
            </a:r>
            <a:endParaRPr lang="en-US" dirty="0" smtClean="0"/>
          </a:p>
          <a:p>
            <a:pPr marL="742950" lvl="1" indent="-285750">
              <a:buFont typeface="Arial" panose="020B0604020202020204" pitchFamily="34" charset="0"/>
              <a:buChar char="•"/>
            </a:pPr>
            <a:r>
              <a:rPr lang="en-US" dirty="0" smtClean="0">
                <a:effectLst/>
              </a:rPr>
              <a:t>Others have degree 0</a:t>
            </a:r>
            <a:endParaRPr lang="en-US" dirty="0" smtClean="0"/>
          </a:p>
          <a:p>
            <a:r>
              <a:rPr lang="en-US" dirty="0" smtClean="0">
                <a:effectLst/>
              </a:rPr>
              <a:t>The </a:t>
            </a:r>
            <a:r>
              <a:rPr lang="en-US" b="1" dirty="0" smtClean="0">
                <a:effectLst/>
              </a:rPr>
              <a:t>highest degree is 3</a:t>
            </a:r>
            <a:r>
              <a:rPr lang="en-US" dirty="0" smtClean="0">
                <a:effectLst/>
              </a:rPr>
              <a:t>, so: Degree of Tree=3</a:t>
            </a:r>
          </a:p>
          <a:p>
            <a:endParaRPr lang="en-US" dirty="0" smtClean="0">
              <a:effectLst/>
            </a:endParaRPr>
          </a:p>
          <a:p>
            <a:r>
              <a:rPr lang="en-US" b="1" dirty="0" smtClean="0">
                <a:effectLst/>
              </a:rPr>
              <a:t>Degree of Node </a:t>
            </a:r>
            <a:r>
              <a:rPr lang="en-US" dirty="0" smtClean="0">
                <a:effectLst/>
              </a:rPr>
              <a:t>→ Number of children that specific node has.</a:t>
            </a:r>
          </a:p>
          <a:p>
            <a:r>
              <a:rPr lang="en-US" b="1" dirty="0" smtClean="0">
                <a:effectLst/>
              </a:rPr>
              <a:t>Degree of Tree </a:t>
            </a:r>
            <a:r>
              <a:rPr lang="en-US" dirty="0" smtClean="0">
                <a:effectLst/>
              </a:rPr>
              <a:t>→ The largest degree value among all nodes.</a:t>
            </a:r>
          </a:p>
          <a:p>
            <a:r>
              <a:rPr lang="en-US" dirty="0" smtClean="0">
                <a:effectLst/>
              </a:rPr>
              <a:t>In the diagram, since the maximum children any node has is 3, the degree of the tree = 3.</a:t>
            </a:r>
          </a:p>
        </p:txBody>
      </p:sp>
    </p:spTree>
    <p:extLst>
      <p:ext uri="{BB962C8B-B14F-4D97-AF65-F5344CB8AC3E}">
        <p14:creationId xmlns:p14="http://schemas.microsoft.com/office/powerpoint/2010/main" val="3511219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General Tree</a:t>
            </a:r>
          </a:p>
          <a:p>
            <a:endParaRPr lang="en-US" dirty="0" smtClean="0">
              <a:effectLst/>
            </a:endParaRPr>
          </a:p>
        </p:txBody>
      </p:sp>
      <p:pic>
        <p:nvPicPr>
          <p:cNvPr id="7" name="Picture 6"/>
          <p:cNvPicPr>
            <a:picLocks noChangeAspect="1"/>
          </p:cNvPicPr>
          <p:nvPr/>
        </p:nvPicPr>
        <p:blipFill>
          <a:blip r:embed="rId3"/>
          <a:stretch>
            <a:fillRect/>
          </a:stretch>
        </p:blipFill>
        <p:spPr>
          <a:xfrm>
            <a:off x="140291" y="914400"/>
            <a:ext cx="9716856" cy="5847971"/>
          </a:xfrm>
          <a:prstGeom prst="rect">
            <a:avLst/>
          </a:prstGeom>
        </p:spPr>
      </p:pic>
    </p:spTree>
    <p:extLst>
      <p:ext uri="{BB962C8B-B14F-4D97-AF65-F5344CB8AC3E}">
        <p14:creationId xmlns:p14="http://schemas.microsoft.com/office/powerpoint/2010/main" val="2001337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General Tree</a:t>
            </a:r>
          </a:p>
          <a:p>
            <a:endParaRPr lang="en-US" dirty="0" smtClean="0">
              <a:effectLst/>
            </a:endParaRPr>
          </a:p>
        </p:txBody>
      </p:sp>
      <p:pic>
        <p:nvPicPr>
          <p:cNvPr id="8" name="Picture 7"/>
          <p:cNvPicPr>
            <a:picLocks noChangeAspect="1"/>
          </p:cNvPicPr>
          <p:nvPr/>
        </p:nvPicPr>
        <p:blipFill>
          <a:blip r:embed="rId3"/>
          <a:stretch>
            <a:fillRect/>
          </a:stretch>
        </p:blipFill>
        <p:spPr>
          <a:xfrm>
            <a:off x="188973" y="995497"/>
            <a:ext cx="4515480" cy="4334480"/>
          </a:xfrm>
          <a:prstGeom prst="rect">
            <a:avLst/>
          </a:prstGeom>
        </p:spPr>
      </p:pic>
      <p:pic>
        <p:nvPicPr>
          <p:cNvPr id="9" name="Picture 8"/>
          <p:cNvPicPr>
            <a:picLocks noChangeAspect="1"/>
          </p:cNvPicPr>
          <p:nvPr/>
        </p:nvPicPr>
        <p:blipFill>
          <a:blip r:embed="rId4"/>
          <a:stretch>
            <a:fillRect/>
          </a:stretch>
        </p:blipFill>
        <p:spPr>
          <a:xfrm>
            <a:off x="5733360" y="2228957"/>
            <a:ext cx="1190791" cy="1000265"/>
          </a:xfrm>
          <a:prstGeom prst="rect">
            <a:avLst/>
          </a:prstGeom>
        </p:spPr>
      </p:pic>
      <p:pic>
        <p:nvPicPr>
          <p:cNvPr id="10" name="Picture 9"/>
          <p:cNvPicPr>
            <a:picLocks noChangeAspect="1"/>
          </p:cNvPicPr>
          <p:nvPr/>
        </p:nvPicPr>
        <p:blipFill>
          <a:blip r:embed="rId5"/>
          <a:stretch>
            <a:fillRect/>
          </a:stretch>
        </p:blipFill>
        <p:spPr>
          <a:xfrm>
            <a:off x="7723223" y="1928877"/>
            <a:ext cx="2381582" cy="1600423"/>
          </a:xfrm>
          <a:prstGeom prst="rect">
            <a:avLst/>
          </a:prstGeom>
        </p:spPr>
      </p:pic>
    </p:spTree>
    <p:extLst>
      <p:ext uri="{BB962C8B-B14F-4D97-AF65-F5344CB8AC3E}">
        <p14:creationId xmlns:p14="http://schemas.microsoft.com/office/powerpoint/2010/main" val="2767230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General Tree</a:t>
            </a:r>
          </a:p>
          <a:p>
            <a:endParaRPr lang="en-US" dirty="0" smtClean="0">
              <a:effectLst/>
            </a:endParaRPr>
          </a:p>
          <a:p>
            <a:r>
              <a:rPr lang="en-IN" b="1" dirty="0" err="1" smtClean="0"/>
              <a:t>TreeNode</a:t>
            </a:r>
            <a:r>
              <a:rPr lang="en-IN" b="1" dirty="0" smtClean="0"/>
              <a:t> Class</a:t>
            </a:r>
          </a:p>
          <a:p>
            <a:pPr marL="285750" indent="-285750">
              <a:buFont typeface="Arial" panose="020B0604020202020204" pitchFamily="34" charset="0"/>
              <a:buChar char="•"/>
            </a:pPr>
            <a:r>
              <a:rPr lang="en-US" dirty="0" smtClean="0">
                <a:effectLst/>
              </a:rPr>
              <a:t>Each node stores:</a:t>
            </a:r>
          </a:p>
          <a:p>
            <a:pPr marL="742950" lvl="1" indent="-285750">
              <a:buFont typeface="Arial" panose="020B0604020202020204" pitchFamily="34" charset="0"/>
              <a:buChar char="•"/>
            </a:pPr>
            <a:r>
              <a:rPr lang="en-US" dirty="0" smtClean="0">
                <a:effectLst/>
              </a:rPr>
              <a:t>data → the value.</a:t>
            </a:r>
          </a:p>
          <a:p>
            <a:pPr marL="742950" lvl="1" indent="-285750">
              <a:buFont typeface="Arial" panose="020B0604020202020204" pitchFamily="34" charset="0"/>
              <a:buChar char="•"/>
            </a:pPr>
            <a:r>
              <a:rPr lang="en-US" dirty="0" smtClean="0">
                <a:effectLst/>
              </a:rPr>
              <a:t>children → a list of child nodes (can be many, not just 2).</a:t>
            </a:r>
          </a:p>
          <a:p>
            <a:pPr marL="285750" indent="-285750">
              <a:buFont typeface="Arial" panose="020B0604020202020204" pitchFamily="34" charset="0"/>
              <a:buChar char="•"/>
            </a:pPr>
            <a:r>
              <a:rPr lang="en-US" dirty="0" err="1" smtClean="0">
                <a:effectLst/>
              </a:rPr>
              <a:t>addChild</a:t>
            </a:r>
            <a:r>
              <a:rPr lang="en-US" dirty="0" smtClean="0">
                <a:effectLst/>
              </a:rPr>
              <a:t>() → adds a new child to the node.</a:t>
            </a:r>
            <a:endParaRPr lang="en-US" dirty="0">
              <a:effectLst/>
            </a:endParaRPr>
          </a:p>
          <a:p>
            <a:endParaRPr lang="en-US" b="1" dirty="0" smtClean="0">
              <a:effectLst/>
            </a:endParaRPr>
          </a:p>
          <a:p>
            <a:r>
              <a:rPr lang="en-IN" b="1" dirty="0" err="1" smtClean="0"/>
              <a:t>printTree</a:t>
            </a:r>
            <a:r>
              <a:rPr lang="en-IN" b="1" dirty="0" smtClean="0"/>
              <a:t> Method</a:t>
            </a:r>
          </a:p>
          <a:p>
            <a:pPr marL="285750" indent="-285750">
              <a:buFont typeface="Arial" panose="020B0604020202020204" pitchFamily="34" charset="0"/>
              <a:buChar char="•"/>
            </a:pPr>
            <a:r>
              <a:rPr lang="en-US" dirty="0" smtClean="0">
                <a:effectLst/>
              </a:rPr>
              <a:t>Prints the tree hierarchy using DFS (Depth-First Search).</a:t>
            </a:r>
          </a:p>
          <a:p>
            <a:pPr marL="285750" indent="-285750">
              <a:buFont typeface="Arial" panose="020B0604020202020204" pitchFamily="34" charset="0"/>
              <a:buChar char="•"/>
            </a:pPr>
            <a:r>
              <a:rPr lang="en-US" dirty="0" smtClean="0">
                <a:effectLst/>
              </a:rPr>
              <a:t>Indentation (level) shows the depth of each node.</a:t>
            </a:r>
          </a:p>
          <a:p>
            <a:pPr marL="285750" indent="-285750">
              <a:buFont typeface="Arial" panose="020B0604020202020204" pitchFamily="34" charset="0"/>
              <a:buChar char="•"/>
            </a:pPr>
            <a:r>
              <a:rPr lang="en-US" dirty="0" smtClean="0">
                <a:effectLst/>
              </a:rPr>
              <a:t>Recursively visits each child before moving to the next sibling.</a:t>
            </a:r>
          </a:p>
          <a:p>
            <a:pPr marL="285750" indent="-285750">
              <a:buFont typeface="Arial" panose="020B0604020202020204" pitchFamily="34" charset="0"/>
              <a:buChar char="•"/>
            </a:pPr>
            <a:endParaRPr lang="en-US" dirty="0"/>
          </a:p>
          <a:p>
            <a:r>
              <a:rPr lang="en-US" b="1" dirty="0" smtClean="0">
                <a:effectLst/>
              </a:rPr>
              <a:t>main method</a:t>
            </a:r>
          </a:p>
          <a:p>
            <a:r>
              <a:rPr lang="en-US" dirty="0" smtClean="0">
                <a:effectLst/>
              </a:rPr>
              <a:t>Builds a tree like as shown in the output</a:t>
            </a:r>
          </a:p>
          <a:p>
            <a:pPr marL="285750" indent="-285750">
              <a:buFont typeface="Arial" panose="020B0604020202020204" pitchFamily="34" charset="0"/>
              <a:buChar char="•"/>
            </a:pPr>
            <a:r>
              <a:rPr lang="en-US" dirty="0" smtClean="0">
                <a:effectLst/>
              </a:rPr>
              <a:t>Root = 1</a:t>
            </a:r>
          </a:p>
          <a:p>
            <a:pPr marL="285750" indent="-285750">
              <a:buFont typeface="Arial" panose="020B0604020202020204" pitchFamily="34" charset="0"/>
              <a:buChar char="•"/>
            </a:pPr>
            <a:r>
              <a:rPr lang="en-US" dirty="0" smtClean="0">
                <a:effectLst/>
              </a:rPr>
              <a:t>Children = 2, 3, 4</a:t>
            </a:r>
          </a:p>
          <a:p>
            <a:pPr marL="285750" indent="-285750">
              <a:buFont typeface="Arial" panose="020B0604020202020204" pitchFamily="34" charset="0"/>
              <a:buChar char="•"/>
            </a:pPr>
            <a:r>
              <a:rPr lang="en-US" dirty="0" smtClean="0">
                <a:effectLst/>
              </a:rPr>
              <a:t>Node 3 has child 5</a:t>
            </a:r>
          </a:p>
          <a:p>
            <a:pPr marL="285750" indent="-285750">
              <a:buFont typeface="Arial" panose="020B0604020202020204" pitchFamily="34" charset="0"/>
              <a:buChar char="•"/>
            </a:pPr>
            <a:r>
              <a:rPr lang="en-US" dirty="0" smtClean="0">
                <a:effectLst/>
              </a:rPr>
              <a:t>Node 4 has child 6</a:t>
            </a:r>
          </a:p>
          <a:p>
            <a:endParaRPr lang="en-US" dirty="0" smtClean="0">
              <a:effectLst/>
            </a:endParaRPr>
          </a:p>
          <a:p>
            <a:r>
              <a:rPr lang="en-US" dirty="0" smtClean="0">
                <a:effectLst/>
              </a:rPr>
              <a:t>Calls </a:t>
            </a:r>
            <a:r>
              <a:rPr lang="en-US" dirty="0" err="1" smtClean="0">
                <a:effectLst/>
              </a:rPr>
              <a:t>printTree</a:t>
            </a:r>
            <a:r>
              <a:rPr lang="en-US" dirty="0" smtClean="0">
                <a:effectLst/>
              </a:rPr>
              <a:t>(root, 0) → prints the hierarchy.</a:t>
            </a:r>
          </a:p>
          <a:p>
            <a:r>
              <a:rPr lang="en-US" dirty="0" smtClean="0">
                <a:effectLst/>
              </a:rPr>
              <a:t>When you run the program, it prints: This shows the tree structure with indentation representing levels.</a:t>
            </a:r>
          </a:p>
        </p:txBody>
      </p:sp>
    </p:spTree>
    <p:extLst>
      <p:ext uri="{BB962C8B-B14F-4D97-AF65-F5344CB8AC3E}">
        <p14:creationId xmlns:p14="http://schemas.microsoft.com/office/powerpoint/2010/main" val="2484923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909310"/>
          </a:xfrm>
          <a:prstGeom prst="rect">
            <a:avLst/>
          </a:prstGeom>
        </p:spPr>
        <p:txBody>
          <a:bodyPr wrap="square">
            <a:spAutoFit/>
          </a:bodyPr>
          <a:lstStyle/>
          <a:p>
            <a:r>
              <a:rPr lang="en-US" b="1" dirty="0" smtClean="0">
                <a:solidFill>
                  <a:srgbClr val="FF0000"/>
                </a:solidFill>
              </a:rPr>
              <a:t>General Tree</a:t>
            </a:r>
          </a:p>
          <a:p>
            <a:endParaRPr lang="en-US" dirty="0" smtClean="0">
              <a:effectLst/>
            </a:endParaRPr>
          </a:p>
          <a:p>
            <a:r>
              <a:rPr lang="en-US" dirty="0" smtClean="0"/>
              <a:t>This program demonstrates:</a:t>
            </a:r>
          </a:p>
          <a:p>
            <a:pPr marL="285750" indent="-285750">
              <a:buFont typeface="Arial" panose="020B0604020202020204" pitchFamily="34" charset="0"/>
              <a:buChar char="•"/>
            </a:pPr>
            <a:r>
              <a:rPr lang="en-US" dirty="0" smtClean="0"/>
              <a:t>General Tree structure (nodes can have multiple children).</a:t>
            </a:r>
          </a:p>
          <a:p>
            <a:pPr marL="285750" indent="-285750">
              <a:buFont typeface="Arial" panose="020B0604020202020204" pitchFamily="34" charset="0"/>
              <a:buChar char="•"/>
            </a:pPr>
            <a:r>
              <a:rPr lang="en-US" dirty="0" smtClean="0"/>
              <a:t>DFS traversal to print hierarchy.</a:t>
            </a:r>
          </a:p>
          <a:p>
            <a:pPr marL="285750" indent="-285750">
              <a:buFont typeface="Arial" panose="020B0604020202020204" pitchFamily="34" charset="0"/>
              <a:buChar char="•"/>
            </a:pPr>
            <a:r>
              <a:rPr lang="en-US" dirty="0" smtClean="0"/>
              <a:t>How recursion naturally fits tree operations.</a:t>
            </a:r>
          </a:p>
          <a:p>
            <a:r>
              <a:rPr lang="en-US" dirty="0" smtClean="0"/>
              <a:t>In short: It builds a general tree with root 1, adds children, and prints the hierarchy using DFS.</a:t>
            </a:r>
          </a:p>
          <a:p>
            <a:endParaRPr lang="en-US" dirty="0">
              <a:effectLst/>
            </a:endParaRPr>
          </a:p>
          <a:p>
            <a:endParaRPr lang="en-US" dirty="0" smtClean="0"/>
          </a:p>
          <a:p>
            <a:endParaRPr lang="en-US" dirty="0">
              <a:effectLst/>
            </a:endParaRPr>
          </a:p>
          <a:p>
            <a:endParaRPr lang="en-US" dirty="0" smtClean="0"/>
          </a:p>
          <a:p>
            <a:endParaRPr lang="en-US" dirty="0">
              <a:effectLst/>
            </a:endParaRPr>
          </a:p>
          <a:p>
            <a:endParaRPr lang="en-US" dirty="0" smtClean="0"/>
          </a:p>
          <a:p>
            <a:pPr marL="285750" indent="-285750">
              <a:buFont typeface="Arial" panose="020B0604020202020204" pitchFamily="34" charset="0"/>
              <a:buChar char="•"/>
            </a:pPr>
            <a:r>
              <a:rPr lang="en-US" dirty="0" smtClean="0">
                <a:effectLst/>
              </a:rPr>
              <a:t>Root node = 1</a:t>
            </a:r>
          </a:p>
          <a:p>
            <a:pPr marL="285750" indent="-285750">
              <a:buFont typeface="Arial" panose="020B0604020202020204" pitchFamily="34" charset="0"/>
              <a:buChar char="•"/>
            </a:pPr>
            <a:r>
              <a:rPr lang="en-US" dirty="0" smtClean="0">
                <a:effectLst/>
              </a:rPr>
              <a:t>Children of 1 → 2, 3, 4</a:t>
            </a:r>
          </a:p>
          <a:p>
            <a:pPr marL="285750" indent="-285750">
              <a:buFont typeface="Arial" panose="020B0604020202020204" pitchFamily="34" charset="0"/>
              <a:buChar char="•"/>
            </a:pPr>
            <a:r>
              <a:rPr lang="en-US" dirty="0" smtClean="0">
                <a:effectLst/>
              </a:rPr>
              <a:t>Node 3 has a child → 5</a:t>
            </a:r>
          </a:p>
          <a:p>
            <a:pPr marL="285750" indent="-285750">
              <a:buFont typeface="Arial" panose="020B0604020202020204" pitchFamily="34" charset="0"/>
              <a:buChar char="•"/>
            </a:pPr>
            <a:r>
              <a:rPr lang="en-US" dirty="0" smtClean="0">
                <a:effectLst/>
              </a:rPr>
              <a:t>Node 4 has a child → 6</a:t>
            </a:r>
          </a:p>
          <a:p>
            <a:endParaRPr lang="en-US" dirty="0" smtClean="0">
              <a:effectLst/>
            </a:endParaRPr>
          </a:p>
          <a:p>
            <a:r>
              <a:rPr lang="en-US" dirty="0" smtClean="0">
                <a:effectLst/>
              </a:rPr>
              <a:t>So the tree expands outward from node 1, with multiple children allowed (unlike a binary tree which limits to 2).</a:t>
            </a:r>
          </a:p>
          <a:p>
            <a:r>
              <a:rPr lang="en-US" dirty="0" smtClean="0">
                <a:effectLst/>
              </a:rPr>
              <a:t>This program demonstrates a General Tree, where each node can have any number of children. The </a:t>
            </a:r>
            <a:r>
              <a:rPr lang="en-US" dirty="0" err="1" smtClean="0">
                <a:effectLst/>
              </a:rPr>
              <a:t>printTree</a:t>
            </a:r>
            <a:r>
              <a:rPr lang="en-US" dirty="0" smtClean="0">
                <a:effectLst/>
              </a:rPr>
              <a:t>() method uses DFS traversal to print the hierarchy with indentation, which is why the output looks like a structured outline.</a:t>
            </a:r>
          </a:p>
        </p:txBody>
      </p:sp>
      <p:pic>
        <p:nvPicPr>
          <p:cNvPr id="2" name="Picture 1"/>
          <p:cNvPicPr>
            <a:picLocks noChangeAspect="1"/>
          </p:cNvPicPr>
          <p:nvPr/>
        </p:nvPicPr>
        <p:blipFill>
          <a:blip r:embed="rId3"/>
          <a:stretch>
            <a:fillRect/>
          </a:stretch>
        </p:blipFill>
        <p:spPr>
          <a:xfrm>
            <a:off x="1548053" y="2724417"/>
            <a:ext cx="1514686" cy="1143160"/>
          </a:xfrm>
          <a:prstGeom prst="rect">
            <a:avLst/>
          </a:prstGeom>
        </p:spPr>
      </p:pic>
    </p:spTree>
    <p:extLst>
      <p:ext uri="{BB962C8B-B14F-4D97-AF65-F5344CB8AC3E}">
        <p14:creationId xmlns:p14="http://schemas.microsoft.com/office/powerpoint/2010/main" val="1738310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smtClean="0">
                <a:solidFill>
                  <a:srgbClr val="FF0000"/>
                </a:solidFill>
              </a:rPr>
              <a:t>Binary Tree</a:t>
            </a:r>
          </a:p>
          <a:p>
            <a:r>
              <a:rPr lang="en-US" dirty="0" smtClean="0">
                <a:effectLst/>
              </a:rPr>
              <a:t>A </a:t>
            </a:r>
            <a:r>
              <a:rPr lang="en-US" b="1" dirty="0" smtClean="0">
                <a:effectLst/>
              </a:rPr>
              <a:t>Binary Tree</a:t>
            </a:r>
            <a:r>
              <a:rPr lang="en-US" dirty="0" smtClean="0">
                <a:effectLst/>
              </a:rPr>
              <a:t> is a type of </a:t>
            </a:r>
            <a:r>
              <a:rPr lang="en-US" b="1" dirty="0" smtClean="0">
                <a:effectLst/>
              </a:rPr>
              <a:t>non-linear hierarchical data structure</a:t>
            </a:r>
            <a:r>
              <a:rPr lang="en-US" dirty="0" smtClean="0">
                <a:effectLst/>
              </a:rPr>
              <a:t> where:</a:t>
            </a:r>
            <a:endParaRPr lang="en-US" dirty="0" smtClean="0"/>
          </a:p>
          <a:p>
            <a:pPr marL="285750" indent="-285750">
              <a:buFont typeface="Arial" panose="020B0604020202020204" pitchFamily="34" charset="0"/>
              <a:buChar char="•"/>
            </a:pPr>
            <a:r>
              <a:rPr lang="en-US" dirty="0" smtClean="0">
                <a:effectLst/>
              </a:rPr>
              <a:t>Each node can have </a:t>
            </a:r>
            <a:r>
              <a:rPr lang="en-US" b="1" dirty="0" smtClean="0">
                <a:effectLst/>
              </a:rPr>
              <a:t>at most two children</a:t>
            </a:r>
            <a:r>
              <a:rPr lang="en-US" dirty="0" smtClean="0">
                <a:effectLst/>
              </a:rPr>
              <a:t>.</a:t>
            </a:r>
            <a:endParaRPr lang="en-US" dirty="0" smtClean="0"/>
          </a:p>
          <a:p>
            <a:pPr marL="285750" indent="-285750">
              <a:buFont typeface="Arial" panose="020B0604020202020204" pitchFamily="34" charset="0"/>
              <a:buChar char="•"/>
            </a:pPr>
            <a:r>
              <a:rPr lang="en-US" dirty="0" smtClean="0">
                <a:effectLst/>
              </a:rPr>
              <a:t>These children are referred to as the </a:t>
            </a:r>
            <a:r>
              <a:rPr lang="en-US" b="1" dirty="0" smtClean="0">
                <a:effectLst/>
              </a:rPr>
              <a:t>left child</a:t>
            </a:r>
            <a:r>
              <a:rPr lang="en-US" dirty="0" smtClean="0">
                <a:effectLst/>
              </a:rPr>
              <a:t> and the </a:t>
            </a:r>
            <a:r>
              <a:rPr lang="en-US" b="1" dirty="0" smtClean="0">
                <a:effectLst/>
              </a:rPr>
              <a:t>right child</a:t>
            </a:r>
            <a:r>
              <a:rPr lang="en-US" dirty="0" smtClean="0">
                <a:effectLst/>
              </a:rPr>
              <a:t>.</a:t>
            </a:r>
            <a:endParaRPr lang="en-US" dirty="0" smtClean="0"/>
          </a:p>
          <a:p>
            <a:pPr marL="285750" indent="-285750">
              <a:buFont typeface="Arial" panose="020B0604020202020204" pitchFamily="34" charset="0"/>
              <a:buChar char="•"/>
            </a:pPr>
            <a:r>
              <a:rPr lang="en-US" dirty="0" smtClean="0">
                <a:effectLst/>
              </a:rPr>
              <a:t>The structure is recursive: each child can itself be the root of another binary tree.</a:t>
            </a:r>
            <a:endParaRPr lang="en-US" dirty="0" smtClean="0"/>
          </a:p>
          <a:p>
            <a:endParaRPr lang="en-US" b="1" dirty="0" smtClean="0"/>
          </a:p>
          <a:p>
            <a:r>
              <a:rPr lang="en-US" b="1" dirty="0" smtClean="0"/>
              <a:t>Structure and Terminology</a:t>
            </a:r>
          </a:p>
          <a:p>
            <a:pPr marL="285750" indent="-285750">
              <a:buFont typeface="Arial" panose="020B0604020202020204" pitchFamily="34" charset="0"/>
              <a:buChar char="•"/>
            </a:pPr>
            <a:r>
              <a:rPr lang="en-US" b="1" dirty="0" smtClean="0">
                <a:effectLst/>
              </a:rPr>
              <a:t>Root Node</a:t>
            </a:r>
            <a:r>
              <a:rPr lang="en-US" dirty="0" smtClean="0">
                <a:effectLst/>
              </a:rPr>
              <a:t> → The topmost node with no parent.</a:t>
            </a:r>
            <a:endParaRPr lang="en-US" dirty="0" smtClean="0"/>
          </a:p>
          <a:p>
            <a:pPr marL="285750" indent="-285750">
              <a:buFont typeface="Arial" panose="020B0604020202020204" pitchFamily="34" charset="0"/>
              <a:buChar char="•"/>
            </a:pPr>
            <a:r>
              <a:rPr lang="en-US" b="1" dirty="0" smtClean="0">
                <a:effectLst/>
              </a:rPr>
              <a:t>Parent Node</a:t>
            </a:r>
            <a:r>
              <a:rPr lang="en-US" dirty="0" smtClean="0">
                <a:effectLst/>
              </a:rPr>
              <a:t> → Any node that has children.</a:t>
            </a:r>
            <a:endParaRPr lang="en-US" dirty="0" smtClean="0"/>
          </a:p>
          <a:p>
            <a:pPr marL="285750" indent="-285750">
              <a:buFont typeface="Arial" panose="020B0604020202020204" pitchFamily="34" charset="0"/>
              <a:buChar char="•"/>
            </a:pPr>
            <a:r>
              <a:rPr lang="en-US" b="1" dirty="0" smtClean="0">
                <a:effectLst/>
              </a:rPr>
              <a:t>Child Node</a:t>
            </a:r>
            <a:r>
              <a:rPr lang="en-US" dirty="0" smtClean="0">
                <a:effectLst/>
              </a:rPr>
              <a:t> → Immediate successors of a parent (left or right).</a:t>
            </a:r>
            <a:endParaRPr lang="en-US" dirty="0" smtClean="0"/>
          </a:p>
          <a:p>
            <a:pPr marL="285750" indent="-285750">
              <a:buFont typeface="Arial" panose="020B0604020202020204" pitchFamily="34" charset="0"/>
              <a:buChar char="•"/>
            </a:pPr>
            <a:r>
              <a:rPr lang="en-US" b="1" dirty="0" smtClean="0">
                <a:effectLst/>
              </a:rPr>
              <a:t>Leaf Node</a:t>
            </a:r>
            <a:r>
              <a:rPr lang="en-US" dirty="0" smtClean="0">
                <a:effectLst/>
              </a:rPr>
              <a:t> → Nodes with no children.</a:t>
            </a:r>
            <a:endParaRPr lang="en-US" dirty="0" smtClean="0"/>
          </a:p>
          <a:p>
            <a:pPr marL="285750" indent="-285750">
              <a:buFont typeface="Arial" panose="020B0604020202020204" pitchFamily="34" charset="0"/>
              <a:buChar char="•"/>
            </a:pPr>
            <a:r>
              <a:rPr lang="en-US" b="1" dirty="0" err="1" smtClean="0">
                <a:effectLst/>
              </a:rPr>
              <a:t>Subtree</a:t>
            </a:r>
            <a:r>
              <a:rPr lang="en-US" dirty="0" smtClean="0">
                <a:effectLst/>
              </a:rPr>
              <a:t> → A smaller tree formed from a child node and its descendants.</a:t>
            </a:r>
            <a:endParaRPr lang="en-US" dirty="0" smtClean="0"/>
          </a:p>
          <a:p>
            <a:endParaRPr lang="en-US" dirty="0" smtClean="0">
              <a:effectLst/>
            </a:endParaRPr>
          </a:p>
          <a:p>
            <a:r>
              <a:rPr lang="en-US" b="1" dirty="0" smtClean="0"/>
              <a:t>Characteristics</a:t>
            </a:r>
          </a:p>
          <a:p>
            <a:pPr marL="285750" indent="-285750">
              <a:buFont typeface="Arial" panose="020B0604020202020204" pitchFamily="34" charset="0"/>
              <a:buChar char="•"/>
            </a:pPr>
            <a:r>
              <a:rPr lang="en-US" b="1" dirty="0" smtClean="0">
                <a:effectLst/>
              </a:rPr>
              <a:t>Maximum Degree</a:t>
            </a:r>
            <a:r>
              <a:rPr lang="en-US" dirty="0" smtClean="0">
                <a:effectLst/>
              </a:rPr>
              <a:t>: Each node has a degree of at most 2.</a:t>
            </a:r>
            <a:endParaRPr lang="en-US" dirty="0" smtClean="0"/>
          </a:p>
          <a:p>
            <a:pPr marL="285750" indent="-285750">
              <a:buFont typeface="Arial" panose="020B0604020202020204" pitchFamily="34" charset="0"/>
              <a:buChar char="•"/>
            </a:pPr>
            <a:r>
              <a:rPr lang="en-US" b="1" dirty="0" smtClean="0">
                <a:effectLst/>
              </a:rPr>
              <a:t>Ordered Structure</a:t>
            </a:r>
            <a:r>
              <a:rPr lang="en-US" dirty="0" smtClean="0">
                <a:effectLst/>
              </a:rPr>
              <a:t>: Children are distinguished as </a:t>
            </a:r>
            <a:r>
              <a:rPr lang="en-US" b="1" dirty="0" smtClean="0">
                <a:effectLst/>
              </a:rPr>
              <a:t>left</a:t>
            </a:r>
            <a:r>
              <a:rPr lang="en-US" dirty="0" smtClean="0">
                <a:effectLst/>
              </a:rPr>
              <a:t> and </a:t>
            </a:r>
            <a:r>
              <a:rPr lang="en-US" b="1" dirty="0" smtClean="0">
                <a:effectLst/>
              </a:rPr>
              <a:t>right</a:t>
            </a:r>
            <a:r>
              <a:rPr lang="en-US" dirty="0" smtClean="0">
                <a:effectLst/>
              </a:rPr>
              <a:t>.</a:t>
            </a:r>
            <a:endParaRPr lang="en-US" dirty="0" smtClean="0"/>
          </a:p>
          <a:p>
            <a:pPr marL="285750" indent="-285750">
              <a:buFont typeface="Arial" panose="020B0604020202020204" pitchFamily="34" charset="0"/>
              <a:buChar char="•"/>
            </a:pPr>
            <a:r>
              <a:rPr lang="en-US" b="1" dirty="0" smtClean="0">
                <a:effectLst/>
              </a:rPr>
              <a:t>Recursive Nature</a:t>
            </a:r>
            <a:r>
              <a:rPr lang="en-US" dirty="0" smtClean="0">
                <a:effectLst/>
              </a:rPr>
              <a:t>: Each child node can itself be the root of a binary </a:t>
            </a:r>
            <a:r>
              <a:rPr lang="en-US" dirty="0" err="1" smtClean="0">
                <a:effectLst/>
              </a:rPr>
              <a:t>subtree</a:t>
            </a:r>
            <a:r>
              <a:rPr lang="en-US" dirty="0" smtClean="0">
                <a:effectLst/>
              </a:rPr>
              <a:t>.</a:t>
            </a:r>
            <a:endParaRPr lang="en-US" dirty="0" smtClean="0"/>
          </a:p>
          <a:p>
            <a:endParaRPr lang="en-US" dirty="0" smtClean="0">
              <a:effectLst/>
            </a:endParaRPr>
          </a:p>
          <a:p>
            <a:r>
              <a:rPr lang="en-US" dirty="0" smtClean="0"/>
              <a:t>A </a:t>
            </a:r>
            <a:r>
              <a:rPr lang="en-US" b="1" dirty="0" smtClean="0"/>
              <a:t>Binary Tree</a:t>
            </a:r>
            <a:r>
              <a:rPr lang="en-US" dirty="0" smtClean="0"/>
              <a:t> is a special case of a general tree where each node can branch into </a:t>
            </a:r>
            <a:r>
              <a:rPr lang="en-US" b="1" dirty="0" smtClean="0"/>
              <a:t>two directions only</a:t>
            </a:r>
            <a:r>
              <a:rPr lang="en-US" dirty="0" smtClean="0"/>
              <a:t> (left and right). This restriction makes binary trees extremely useful for </a:t>
            </a:r>
            <a:r>
              <a:rPr lang="en-US" b="1" dirty="0" smtClean="0"/>
              <a:t>searching, sorting, and hierarchical representation</a:t>
            </a:r>
            <a:r>
              <a:rPr lang="en-US" dirty="0" smtClean="0"/>
              <a:t> in computer science.</a:t>
            </a:r>
            <a:endParaRPr lang="en-US" dirty="0" smtClean="0">
              <a:effectLst/>
            </a:endParaRPr>
          </a:p>
        </p:txBody>
      </p:sp>
    </p:spTree>
    <p:extLst>
      <p:ext uri="{BB962C8B-B14F-4D97-AF65-F5344CB8AC3E}">
        <p14:creationId xmlns:p14="http://schemas.microsoft.com/office/powerpoint/2010/main" val="31397500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smtClean="0">
                <a:solidFill>
                  <a:srgbClr val="FF0000"/>
                </a:solidFill>
              </a:rPr>
              <a:t>Binary Tree</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pPr marL="285750" indent="-285750">
              <a:buFont typeface="Arial" panose="020B0604020202020204" pitchFamily="34" charset="0"/>
              <a:buChar char="•"/>
            </a:pPr>
            <a:r>
              <a:rPr lang="en-US" b="1" dirty="0" smtClean="0"/>
              <a:t>Root Node </a:t>
            </a:r>
            <a:r>
              <a:rPr lang="en-US" dirty="0" smtClean="0"/>
              <a:t>→ The topmost node with no parent.</a:t>
            </a:r>
          </a:p>
          <a:p>
            <a:pPr marL="285750" indent="-285750">
              <a:buFont typeface="Arial" panose="020B0604020202020204" pitchFamily="34" charset="0"/>
              <a:buChar char="•"/>
            </a:pPr>
            <a:r>
              <a:rPr lang="en-US" b="1" dirty="0" smtClean="0"/>
              <a:t>Left Child / Right Child </a:t>
            </a:r>
            <a:r>
              <a:rPr lang="en-US" dirty="0" smtClean="0"/>
              <a:t>→ The two possible branches from the root.</a:t>
            </a:r>
          </a:p>
          <a:p>
            <a:pPr marL="285750" indent="-285750">
              <a:buFont typeface="Arial" panose="020B0604020202020204" pitchFamily="34" charset="0"/>
              <a:buChar char="•"/>
            </a:pPr>
            <a:r>
              <a:rPr lang="en-US" b="1" dirty="0" smtClean="0"/>
              <a:t>Leaf Nodes </a:t>
            </a:r>
            <a:r>
              <a:rPr lang="en-US" dirty="0" smtClean="0"/>
              <a:t>→ Nodes with no children (end points).</a:t>
            </a:r>
          </a:p>
          <a:p>
            <a:pPr marL="285750" indent="-285750">
              <a:buFont typeface="Arial" panose="020B0604020202020204" pitchFamily="34" charset="0"/>
              <a:buChar char="•"/>
            </a:pPr>
            <a:r>
              <a:rPr lang="en-US" b="1" dirty="0" smtClean="0"/>
              <a:t>Hierarchy</a:t>
            </a:r>
            <a:r>
              <a:rPr lang="en-US" dirty="0" smtClean="0"/>
              <a:t> → Each node can have at most two children, forming a branching structure.</a:t>
            </a:r>
          </a:p>
          <a:p>
            <a:pPr marL="285750" indent="-285750">
              <a:buFont typeface="Arial" panose="020B0604020202020204" pitchFamily="34" charset="0"/>
              <a:buChar char="•"/>
            </a:pPr>
            <a:endParaRPr lang="en-US" dirty="0"/>
          </a:p>
          <a:p>
            <a:r>
              <a:rPr lang="en-US" b="1" dirty="0" smtClean="0"/>
              <a:t>Key Properties</a:t>
            </a:r>
          </a:p>
          <a:p>
            <a:pPr marL="285750" indent="-285750">
              <a:buFont typeface="Arial" panose="020B0604020202020204" pitchFamily="34" charset="0"/>
              <a:buChar char="•"/>
            </a:pPr>
            <a:r>
              <a:rPr lang="en-US" dirty="0" smtClean="0">
                <a:effectLst/>
              </a:rPr>
              <a:t>Every node has </a:t>
            </a:r>
            <a:r>
              <a:rPr lang="en-US" b="1" dirty="0" smtClean="0">
                <a:effectLst/>
              </a:rPr>
              <a:t>at most two children</a:t>
            </a:r>
            <a:r>
              <a:rPr lang="en-US" dirty="0" smtClean="0">
                <a:effectLst/>
              </a:rPr>
              <a:t>.</a:t>
            </a:r>
            <a:endParaRPr lang="en-US" dirty="0" smtClean="0"/>
          </a:p>
          <a:p>
            <a:pPr marL="285750" indent="-285750">
              <a:buFont typeface="Arial" panose="020B0604020202020204" pitchFamily="34" charset="0"/>
              <a:buChar char="•"/>
            </a:pPr>
            <a:r>
              <a:rPr lang="en-US" dirty="0" smtClean="0">
                <a:effectLst/>
              </a:rPr>
              <a:t>The tree grows </a:t>
            </a:r>
            <a:r>
              <a:rPr lang="en-US" b="1" dirty="0" smtClean="0">
                <a:effectLst/>
              </a:rPr>
              <a:t>downward</a:t>
            </a:r>
            <a:r>
              <a:rPr lang="en-US" dirty="0" smtClean="0">
                <a:effectLst/>
              </a:rPr>
              <a:t>, with each level representing a new generation of nodes.</a:t>
            </a:r>
            <a:endParaRPr lang="en-US" dirty="0" smtClean="0"/>
          </a:p>
          <a:p>
            <a:pPr marL="285750" indent="-285750">
              <a:buFont typeface="Arial" panose="020B0604020202020204" pitchFamily="34" charset="0"/>
              <a:buChar char="•"/>
            </a:pPr>
            <a:r>
              <a:rPr lang="en-US" dirty="0" smtClean="0">
                <a:effectLst/>
              </a:rPr>
              <a:t>Traversal can be done in multiple ways — </a:t>
            </a:r>
            <a:r>
              <a:rPr lang="en-US" b="1" dirty="0" err="1" smtClean="0">
                <a:effectLst/>
              </a:rPr>
              <a:t>Inorder</a:t>
            </a:r>
            <a:r>
              <a:rPr lang="en-US" dirty="0" smtClean="0">
                <a:effectLst/>
              </a:rPr>
              <a:t>, </a:t>
            </a:r>
            <a:r>
              <a:rPr lang="en-US" b="1" dirty="0" smtClean="0">
                <a:effectLst/>
              </a:rPr>
              <a:t>Preorder</a:t>
            </a:r>
            <a:r>
              <a:rPr lang="en-US" dirty="0" smtClean="0">
                <a:effectLst/>
              </a:rPr>
              <a:t>, and </a:t>
            </a:r>
            <a:r>
              <a:rPr lang="en-US" b="1" dirty="0" err="1" smtClean="0">
                <a:effectLst/>
              </a:rPr>
              <a:t>Postorder</a:t>
            </a:r>
            <a:r>
              <a:rPr lang="en-US" dirty="0" smtClean="0">
                <a:effectLst/>
              </a:rPr>
              <a:t> — depending on the order of visiting nodes.</a:t>
            </a:r>
            <a:endParaRPr lang="en-US" dirty="0" smtClean="0"/>
          </a:p>
          <a:p>
            <a:endParaRPr lang="en-US" dirty="0" smtClean="0"/>
          </a:p>
        </p:txBody>
      </p:sp>
      <p:pic>
        <p:nvPicPr>
          <p:cNvPr id="2" name="Picture 1"/>
          <p:cNvPicPr>
            <a:picLocks noChangeAspect="1"/>
          </p:cNvPicPr>
          <p:nvPr/>
        </p:nvPicPr>
        <p:blipFill>
          <a:blip r:embed="rId3"/>
          <a:stretch>
            <a:fillRect/>
          </a:stretch>
        </p:blipFill>
        <p:spPr>
          <a:xfrm>
            <a:off x="864794" y="1161624"/>
            <a:ext cx="3562847" cy="1143160"/>
          </a:xfrm>
          <a:prstGeom prst="rect">
            <a:avLst/>
          </a:prstGeom>
        </p:spPr>
      </p:pic>
    </p:spTree>
    <p:extLst>
      <p:ext uri="{BB962C8B-B14F-4D97-AF65-F5344CB8AC3E}">
        <p14:creationId xmlns:p14="http://schemas.microsoft.com/office/powerpoint/2010/main" val="30819550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Binary Tree</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smtClean="0"/>
          </a:p>
          <a:p>
            <a:pPr marL="342900" indent="-342900">
              <a:buAutoNum type="arabicPeriod"/>
            </a:pPr>
            <a:r>
              <a:rPr lang="en-US" b="1" dirty="0" err="1" smtClean="0"/>
              <a:t>Inorder</a:t>
            </a:r>
            <a:r>
              <a:rPr lang="en-US" b="1" dirty="0" smtClean="0"/>
              <a:t> Traversal (Left → Root → Right)</a:t>
            </a:r>
          </a:p>
          <a:p>
            <a:pPr marL="342900" indent="-342900">
              <a:buAutoNum type="arabicPeriod"/>
            </a:pPr>
            <a:endParaRPr lang="en-US" b="1" dirty="0"/>
          </a:p>
          <a:p>
            <a:pPr marL="342900" indent="-342900">
              <a:buAutoNum type="arabicPeriod"/>
            </a:pPr>
            <a:endParaRPr lang="en-US" b="1" dirty="0" smtClean="0"/>
          </a:p>
          <a:p>
            <a:pPr marL="342900" indent="-342900">
              <a:buAutoNum type="arabicPeriod"/>
            </a:pPr>
            <a:endParaRPr lang="en-US" b="1" dirty="0"/>
          </a:p>
          <a:p>
            <a:pPr marL="342900" indent="-342900">
              <a:buAutoNum type="arabicPeriod"/>
            </a:pPr>
            <a:endParaRPr lang="en-US" b="1" dirty="0" smtClean="0"/>
          </a:p>
          <a:p>
            <a:pPr marL="342900" indent="-342900">
              <a:buAutoNum type="arabicPeriod"/>
            </a:pPr>
            <a:endParaRPr lang="en-US" b="1" dirty="0"/>
          </a:p>
          <a:p>
            <a:pPr marL="342900" indent="-342900">
              <a:buAutoNum type="arabicPeriod"/>
            </a:pPr>
            <a:endParaRPr lang="en-US" b="1" dirty="0" smtClean="0"/>
          </a:p>
          <a:p>
            <a:pPr marL="342900" indent="-342900">
              <a:buAutoNum type="arabicPeriod"/>
            </a:pPr>
            <a:endParaRPr lang="en-US" b="1" dirty="0"/>
          </a:p>
          <a:p>
            <a:pPr marL="285750" indent="-285750">
              <a:buFont typeface="Arial" panose="020B0604020202020204" pitchFamily="34" charset="0"/>
              <a:buChar char="•"/>
            </a:pPr>
            <a:r>
              <a:rPr lang="en-US" dirty="0" smtClean="0"/>
              <a:t>You first visit the left </a:t>
            </a:r>
            <a:r>
              <a:rPr lang="en-US" dirty="0" err="1" smtClean="0"/>
              <a:t>subtree</a:t>
            </a:r>
            <a:r>
              <a:rPr lang="en-US" dirty="0" smtClean="0"/>
              <a:t>, then the root, then the right </a:t>
            </a:r>
            <a:r>
              <a:rPr lang="en-US" dirty="0" err="1" smtClean="0"/>
              <a:t>subtree</a:t>
            </a:r>
            <a:r>
              <a:rPr lang="en-US" dirty="0" smtClean="0"/>
              <a:t>.</a:t>
            </a:r>
          </a:p>
          <a:p>
            <a:pPr marL="285750" indent="-285750">
              <a:buFont typeface="Arial" panose="020B0604020202020204" pitchFamily="34" charset="0"/>
              <a:buChar char="•"/>
            </a:pPr>
            <a:r>
              <a:rPr lang="en-US" dirty="0" smtClean="0"/>
              <a:t>Used in Binary Search Trees to get nodes in sorted order.</a:t>
            </a:r>
          </a:p>
          <a:p>
            <a:pPr marL="342900" indent="-342900">
              <a:buAutoNum type="arabicPeriod"/>
            </a:pPr>
            <a:endParaRPr lang="en-US" b="1" dirty="0"/>
          </a:p>
        </p:txBody>
      </p:sp>
      <p:pic>
        <p:nvPicPr>
          <p:cNvPr id="2" name="Picture 1"/>
          <p:cNvPicPr>
            <a:picLocks noChangeAspect="1"/>
          </p:cNvPicPr>
          <p:nvPr/>
        </p:nvPicPr>
        <p:blipFill>
          <a:blip r:embed="rId3"/>
          <a:stretch>
            <a:fillRect/>
          </a:stretch>
        </p:blipFill>
        <p:spPr>
          <a:xfrm>
            <a:off x="864794" y="1161624"/>
            <a:ext cx="3562847" cy="1143160"/>
          </a:xfrm>
          <a:prstGeom prst="rect">
            <a:avLst/>
          </a:prstGeom>
        </p:spPr>
      </p:pic>
      <p:pic>
        <p:nvPicPr>
          <p:cNvPr id="3" name="Picture 2"/>
          <p:cNvPicPr>
            <a:picLocks noChangeAspect="1"/>
          </p:cNvPicPr>
          <p:nvPr/>
        </p:nvPicPr>
        <p:blipFill>
          <a:blip r:embed="rId4"/>
          <a:stretch>
            <a:fillRect/>
          </a:stretch>
        </p:blipFill>
        <p:spPr>
          <a:xfrm>
            <a:off x="836214" y="3257526"/>
            <a:ext cx="1810003" cy="1486107"/>
          </a:xfrm>
          <a:prstGeom prst="rect">
            <a:avLst/>
          </a:prstGeom>
        </p:spPr>
      </p:pic>
      <p:pic>
        <p:nvPicPr>
          <p:cNvPr id="7" name="Picture 6"/>
          <p:cNvPicPr>
            <a:picLocks noChangeAspect="1"/>
          </p:cNvPicPr>
          <p:nvPr/>
        </p:nvPicPr>
        <p:blipFill>
          <a:blip r:embed="rId5"/>
          <a:stretch>
            <a:fillRect/>
          </a:stretch>
        </p:blipFill>
        <p:spPr>
          <a:xfrm>
            <a:off x="2859051" y="3829105"/>
            <a:ext cx="6315956" cy="342948"/>
          </a:xfrm>
          <a:prstGeom prst="rect">
            <a:avLst/>
          </a:prstGeom>
        </p:spPr>
      </p:pic>
    </p:spTree>
    <p:extLst>
      <p:ext uri="{BB962C8B-B14F-4D97-AF65-F5344CB8AC3E}">
        <p14:creationId xmlns:p14="http://schemas.microsoft.com/office/powerpoint/2010/main" val="5842062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smtClean="0">
                <a:solidFill>
                  <a:srgbClr val="FF0000"/>
                </a:solidFill>
              </a:rPr>
              <a:t>Binary Tree</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smtClean="0"/>
          </a:p>
          <a:p>
            <a:pPr marL="342900" indent="-342900">
              <a:buAutoNum type="arabicPeriod"/>
            </a:pPr>
            <a:r>
              <a:rPr lang="en-US" b="1" dirty="0" err="1" smtClean="0"/>
              <a:t>Inorder</a:t>
            </a:r>
            <a:r>
              <a:rPr lang="en-US" b="1" dirty="0" smtClean="0"/>
              <a:t> Traversal (Left → Root → Right)</a:t>
            </a:r>
          </a:p>
          <a:p>
            <a:pPr marL="342900" indent="-342900">
              <a:buAutoNum type="arabicPeriod"/>
            </a:pPr>
            <a:endParaRPr lang="en-US" b="1" dirty="0" smtClean="0"/>
          </a:p>
          <a:p>
            <a:r>
              <a:rPr lang="en-US" dirty="0" smtClean="0"/>
              <a:t>Visiting Order:  </a:t>
            </a:r>
            <a:r>
              <a:rPr lang="en-US" dirty="0" smtClean="0"/>
              <a:t> 1 → 2 → 3 → 4 → 5 → 6 → 7</a:t>
            </a:r>
            <a:endParaRPr lang="en-US" dirty="0" smtClean="0"/>
          </a:p>
          <a:p>
            <a:endParaRPr lang="en-US" b="1" dirty="0" smtClean="0"/>
          </a:p>
          <a:p>
            <a:r>
              <a:rPr lang="en-US" dirty="0" smtClean="0"/>
              <a:t>Visit left </a:t>
            </a:r>
            <a:r>
              <a:rPr lang="en-US" dirty="0" err="1" smtClean="0"/>
              <a:t>subtree</a:t>
            </a:r>
            <a:r>
              <a:rPr lang="en-US" dirty="0" smtClean="0"/>
              <a:t> first, then root, then right </a:t>
            </a:r>
            <a:r>
              <a:rPr lang="en-US" dirty="0" err="1" smtClean="0"/>
              <a:t>subtree</a:t>
            </a:r>
            <a:r>
              <a:rPr lang="en-US" dirty="0" smtClean="0"/>
              <a:t>.</a:t>
            </a:r>
            <a:endParaRPr lang="en-US" dirty="0"/>
          </a:p>
        </p:txBody>
      </p:sp>
      <p:pic>
        <p:nvPicPr>
          <p:cNvPr id="8" name="Picture 7"/>
          <p:cNvPicPr>
            <a:picLocks noChangeAspect="1"/>
          </p:cNvPicPr>
          <p:nvPr/>
        </p:nvPicPr>
        <p:blipFill>
          <a:blip r:embed="rId3"/>
          <a:stretch>
            <a:fillRect/>
          </a:stretch>
        </p:blipFill>
        <p:spPr>
          <a:xfrm>
            <a:off x="938788" y="1058654"/>
            <a:ext cx="4163006" cy="1105054"/>
          </a:xfrm>
          <a:prstGeom prst="rect">
            <a:avLst/>
          </a:prstGeom>
        </p:spPr>
      </p:pic>
    </p:spTree>
    <p:extLst>
      <p:ext uri="{BB962C8B-B14F-4D97-AF65-F5344CB8AC3E}">
        <p14:creationId xmlns:p14="http://schemas.microsoft.com/office/powerpoint/2010/main" val="40192315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Binary Tree</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smtClean="0"/>
          </a:p>
          <a:p>
            <a:r>
              <a:rPr lang="en-US" b="1" dirty="0" smtClean="0"/>
              <a:t>2. Preorder Traversal (Root → Left → Right)</a:t>
            </a:r>
            <a:endParaRPr lang="en-US" b="1" dirty="0"/>
          </a:p>
          <a:p>
            <a:pPr marL="342900" indent="-342900">
              <a:buAutoNum type="arabicPeriod"/>
            </a:pPr>
            <a:endParaRPr lang="en-US" b="1" dirty="0" smtClean="0"/>
          </a:p>
          <a:p>
            <a:pPr marL="342900" indent="-342900">
              <a:buAutoNum type="arabicPeriod"/>
            </a:pPr>
            <a:endParaRPr lang="en-US" b="1" dirty="0"/>
          </a:p>
          <a:p>
            <a:pPr marL="342900" indent="-342900">
              <a:buAutoNum type="arabicPeriod"/>
            </a:pPr>
            <a:endParaRPr lang="en-US" b="1" dirty="0" smtClean="0"/>
          </a:p>
          <a:p>
            <a:pPr marL="342900" indent="-342900">
              <a:buAutoNum type="arabicPeriod"/>
            </a:pPr>
            <a:endParaRPr lang="en-US" b="1" dirty="0"/>
          </a:p>
          <a:p>
            <a:pPr marL="342900" indent="-342900">
              <a:buAutoNum type="arabicPeriod"/>
            </a:pPr>
            <a:endParaRPr lang="en-US" b="1" dirty="0" smtClean="0"/>
          </a:p>
          <a:p>
            <a:pPr marL="342900" indent="-342900">
              <a:buAutoNum type="arabicPeriod"/>
            </a:pPr>
            <a:endParaRPr lang="en-US" b="1" dirty="0"/>
          </a:p>
          <a:p>
            <a:endParaRPr lang="en-US" b="1" dirty="0" smtClean="0"/>
          </a:p>
          <a:p>
            <a:pPr marL="285750" indent="-285750">
              <a:buFont typeface="Arial" panose="020B0604020202020204" pitchFamily="34" charset="0"/>
              <a:buChar char="•"/>
            </a:pPr>
            <a:r>
              <a:rPr lang="en-US" dirty="0" smtClean="0"/>
              <a:t>You first visit the left </a:t>
            </a:r>
            <a:r>
              <a:rPr lang="en-US" dirty="0" err="1" smtClean="0"/>
              <a:t>subtree</a:t>
            </a:r>
            <a:r>
              <a:rPr lang="en-US" dirty="0" smtClean="0"/>
              <a:t>, then the root, then the right </a:t>
            </a:r>
            <a:r>
              <a:rPr lang="en-US" dirty="0" err="1" smtClean="0"/>
              <a:t>subtree</a:t>
            </a:r>
            <a:r>
              <a:rPr lang="en-US" dirty="0" smtClean="0"/>
              <a:t>.</a:t>
            </a:r>
          </a:p>
          <a:p>
            <a:pPr marL="285750" indent="-285750">
              <a:buFont typeface="Arial" panose="020B0604020202020204" pitchFamily="34" charset="0"/>
              <a:buChar char="•"/>
            </a:pPr>
            <a:r>
              <a:rPr lang="en-US" dirty="0" smtClean="0"/>
              <a:t>Used in Binary Search Trees to get nodes in sorted order.</a:t>
            </a:r>
          </a:p>
          <a:p>
            <a:pPr marL="342900" indent="-342900">
              <a:buAutoNum type="arabicPeriod"/>
            </a:pPr>
            <a:endParaRPr lang="en-US" b="1" dirty="0"/>
          </a:p>
        </p:txBody>
      </p:sp>
      <p:pic>
        <p:nvPicPr>
          <p:cNvPr id="2" name="Picture 1"/>
          <p:cNvPicPr>
            <a:picLocks noChangeAspect="1"/>
          </p:cNvPicPr>
          <p:nvPr/>
        </p:nvPicPr>
        <p:blipFill>
          <a:blip r:embed="rId3"/>
          <a:stretch>
            <a:fillRect/>
          </a:stretch>
        </p:blipFill>
        <p:spPr>
          <a:xfrm>
            <a:off x="864794" y="1161624"/>
            <a:ext cx="3562847" cy="1143160"/>
          </a:xfrm>
          <a:prstGeom prst="rect">
            <a:avLst/>
          </a:prstGeom>
        </p:spPr>
      </p:pic>
      <p:pic>
        <p:nvPicPr>
          <p:cNvPr id="8" name="Picture 7"/>
          <p:cNvPicPr>
            <a:picLocks noChangeAspect="1"/>
          </p:cNvPicPr>
          <p:nvPr/>
        </p:nvPicPr>
        <p:blipFill>
          <a:blip r:embed="rId4"/>
          <a:stretch>
            <a:fillRect/>
          </a:stretch>
        </p:blipFill>
        <p:spPr>
          <a:xfrm>
            <a:off x="2933258" y="3680537"/>
            <a:ext cx="6325483" cy="390580"/>
          </a:xfrm>
          <a:prstGeom prst="rect">
            <a:avLst/>
          </a:prstGeom>
        </p:spPr>
      </p:pic>
      <p:pic>
        <p:nvPicPr>
          <p:cNvPr id="9" name="Picture 8"/>
          <p:cNvPicPr>
            <a:picLocks noChangeAspect="1"/>
          </p:cNvPicPr>
          <p:nvPr/>
        </p:nvPicPr>
        <p:blipFill>
          <a:blip r:embed="rId5"/>
          <a:stretch>
            <a:fillRect/>
          </a:stretch>
        </p:blipFill>
        <p:spPr>
          <a:xfrm>
            <a:off x="609260" y="3159794"/>
            <a:ext cx="1714739" cy="1486107"/>
          </a:xfrm>
          <a:prstGeom prst="rect">
            <a:avLst/>
          </a:prstGeom>
        </p:spPr>
      </p:pic>
    </p:spTree>
    <p:extLst>
      <p:ext uri="{BB962C8B-B14F-4D97-AF65-F5344CB8AC3E}">
        <p14:creationId xmlns:p14="http://schemas.microsoft.com/office/powerpoint/2010/main" val="14847461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smtClean="0">
                <a:solidFill>
                  <a:srgbClr val="FF0000"/>
                </a:solidFill>
              </a:rPr>
              <a:t>Binary Tree</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smtClean="0"/>
          </a:p>
          <a:p>
            <a:r>
              <a:rPr lang="en-US" b="1" dirty="0" smtClean="0"/>
              <a:t>2. Preorder Traversal (Root → Left → Right)</a:t>
            </a:r>
            <a:endParaRPr lang="en-US" b="1" dirty="0"/>
          </a:p>
          <a:p>
            <a:endParaRPr lang="en-US" b="1" dirty="0" smtClean="0"/>
          </a:p>
          <a:p>
            <a:r>
              <a:rPr lang="en-US" dirty="0" smtClean="0"/>
              <a:t>Visiting Order:   </a:t>
            </a:r>
            <a:r>
              <a:rPr lang="en-US" dirty="0" smtClean="0"/>
              <a:t> 1 → 2 → 3 → 4 → 5 → 6 → 7</a:t>
            </a:r>
            <a:endParaRPr lang="en-US" dirty="0" smtClean="0"/>
          </a:p>
          <a:p>
            <a:endParaRPr lang="en-US" dirty="0" smtClean="0"/>
          </a:p>
          <a:p>
            <a:r>
              <a:rPr lang="en-US" dirty="0" smtClean="0"/>
              <a:t>Visit root first, then left </a:t>
            </a:r>
            <a:r>
              <a:rPr lang="en-US" dirty="0" err="1" smtClean="0"/>
              <a:t>subtree</a:t>
            </a:r>
            <a:r>
              <a:rPr lang="en-US" dirty="0" smtClean="0"/>
              <a:t>, then right </a:t>
            </a:r>
            <a:r>
              <a:rPr lang="en-US" dirty="0" err="1" smtClean="0"/>
              <a:t>subtree</a:t>
            </a:r>
            <a:r>
              <a:rPr lang="en-US" dirty="0" smtClean="0"/>
              <a:t>.</a:t>
            </a:r>
          </a:p>
        </p:txBody>
      </p:sp>
      <p:pic>
        <p:nvPicPr>
          <p:cNvPr id="3" name="Picture 2"/>
          <p:cNvPicPr>
            <a:picLocks noChangeAspect="1"/>
          </p:cNvPicPr>
          <p:nvPr/>
        </p:nvPicPr>
        <p:blipFill>
          <a:blip r:embed="rId3"/>
          <a:stretch>
            <a:fillRect/>
          </a:stretch>
        </p:blipFill>
        <p:spPr>
          <a:xfrm>
            <a:off x="883117" y="1019185"/>
            <a:ext cx="4058216" cy="1095528"/>
          </a:xfrm>
          <a:prstGeom prst="rect">
            <a:avLst/>
          </a:prstGeom>
        </p:spPr>
      </p:pic>
    </p:spTree>
    <p:extLst>
      <p:ext uri="{BB962C8B-B14F-4D97-AF65-F5344CB8AC3E}">
        <p14:creationId xmlns:p14="http://schemas.microsoft.com/office/powerpoint/2010/main" val="4132571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smtClean="0">
                <a:solidFill>
                  <a:srgbClr val="FF0000"/>
                </a:solidFill>
              </a:rPr>
              <a:t>Binary Tree</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smtClean="0"/>
          </a:p>
          <a:p>
            <a:r>
              <a:rPr lang="en-US" dirty="0" smtClean="0"/>
              <a:t>3. </a:t>
            </a:r>
            <a:r>
              <a:rPr lang="en-US" b="1" dirty="0" err="1" smtClean="0"/>
              <a:t>Postorder</a:t>
            </a:r>
            <a:r>
              <a:rPr lang="en-US" b="1" dirty="0" smtClean="0"/>
              <a:t> Traversal (Left → Right → Root)</a:t>
            </a:r>
          </a:p>
          <a:p>
            <a:pPr marL="342900" indent="-342900">
              <a:buAutoNum type="arabicPeriod"/>
            </a:pPr>
            <a:endParaRPr lang="en-US" b="1" dirty="0"/>
          </a:p>
          <a:p>
            <a:pPr marL="342900" indent="-342900">
              <a:buAutoNum type="arabicPeriod"/>
            </a:pPr>
            <a:endParaRPr lang="en-US" b="1" dirty="0" smtClean="0"/>
          </a:p>
          <a:p>
            <a:pPr marL="342900" indent="-342900">
              <a:buAutoNum type="arabicPeriod"/>
            </a:pPr>
            <a:endParaRPr lang="en-US" b="1" dirty="0"/>
          </a:p>
          <a:p>
            <a:pPr marL="342900" indent="-342900">
              <a:buAutoNum type="arabicPeriod"/>
            </a:pPr>
            <a:endParaRPr lang="en-US" b="1" dirty="0" smtClean="0"/>
          </a:p>
          <a:p>
            <a:pPr marL="342900" indent="-342900">
              <a:buAutoNum type="arabicPeriod"/>
            </a:pPr>
            <a:endParaRPr lang="en-US" b="1" dirty="0"/>
          </a:p>
          <a:p>
            <a:endParaRPr lang="en-US" b="1" dirty="0" smtClean="0"/>
          </a:p>
          <a:p>
            <a:endParaRPr lang="en-US" b="1" dirty="0" smtClean="0"/>
          </a:p>
          <a:p>
            <a:pPr marL="285750" indent="-285750">
              <a:buFont typeface="Arial" panose="020B0604020202020204" pitchFamily="34" charset="0"/>
              <a:buChar char="•"/>
            </a:pPr>
            <a:r>
              <a:rPr lang="en-US" dirty="0" smtClean="0"/>
              <a:t>You visit all children first, then the parent.</a:t>
            </a:r>
          </a:p>
          <a:p>
            <a:pPr marL="285750" indent="-285750">
              <a:buFont typeface="Arial" panose="020B0604020202020204" pitchFamily="34" charset="0"/>
              <a:buChar char="•"/>
            </a:pPr>
            <a:r>
              <a:rPr lang="en-US" dirty="0" smtClean="0"/>
              <a:t>Used to delete a tree or evaluate postfix expressions.</a:t>
            </a:r>
            <a:endParaRPr lang="en-US" b="1" dirty="0"/>
          </a:p>
        </p:txBody>
      </p:sp>
      <p:pic>
        <p:nvPicPr>
          <p:cNvPr id="2" name="Picture 1"/>
          <p:cNvPicPr>
            <a:picLocks noChangeAspect="1"/>
          </p:cNvPicPr>
          <p:nvPr/>
        </p:nvPicPr>
        <p:blipFill>
          <a:blip r:embed="rId3"/>
          <a:stretch>
            <a:fillRect/>
          </a:stretch>
        </p:blipFill>
        <p:spPr>
          <a:xfrm>
            <a:off x="864794" y="1161624"/>
            <a:ext cx="3562847" cy="1143160"/>
          </a:xfrm>
          <a:prstGeom prst="rect">
            <a:avLst/>
          </a:prstGeom>
        </p:spPr>
      </p:pic>
      <p:pic>
        <p:nvPicPr>
          <p:cNvPr id="3" name="Picture 2"/>
          <p:cNvPicPr>
            <a:picLocks noChangeAspect="1"/>
          </p:cNvPicPr>
          <p:nvPr/>
        </p:nvPicPr>
        <p:blipFill>
          <a:blip r:embed="rId4"/>
          <a:stretch>
            <a:fillRect/>
          </a:stretch>
        </p:blipFill>
        <p:spPr>
          <a:xfrm>
            <a:off x="494399" y="3147063"/>
            <a:ext cx="1743318" cy="1457528"/>
          </a:xfrm>
          <a:prstGeom prst="rect">
            <a:avLst/>
          </a:prstGeom>
        </p:spPr>
      </p:pic>
      <p:pic>
        <p:nvPicPr>
          <p:cNvPr id="7" name="Picture 6"/>
          <p:cNvPicPr>
            <a:picLocks noChangeAspect="1"/>
          </p:cNvPicPr>
          <p:nvPr/>
        </p:nvPicPr>
        <p:blipFill>
          <a:blip r:embed="rId5"/>
          <a:stretch>
            <a:fillRect/>
          </a:stretch>
        </p:blipFill>
        <p:spPr>
          <a:xfrm>
            <a:off x="2542743" y="3608722"/>
            <a:ext cx="6192114" cy="323895"/>
          </a:xfrm>
          <a:prstGeom prst="rect">
            <a:avLst/>
          </a:prstGeom>
        </p:spPr>
      </p:pic>
    </p:spTree>
    <p:extLst>
      <p:ext uri="{BB962C8B-B14F-4D97-AF65-F5344CB8AC3E}">
        <p14:creationId xmlns:p14="http://schemas.microsoft.com/office/powerpoint/2010/main" val="10994615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970318"/>
          </a:xfrm>
          <a:prstGeom prst="rect">
            <a:avLst/>
          </a:prstGeom>
        </p:spPr>
        <p:txBody>
          <a:bodyPr wrap="square">
            <a:spAutoFit/>
          </a:bodyPr>
          <a:lstStyle/>
          <a:p>
            <a:r>
              <a:rPr lang="en-US" b="1" dirty="0" smtClean="0">
                <a:solidFill>
                  <a:srgbClr val="FF0000"/>
                </a:solidFill>
              </a:rPr>
              <a:t>Binary Tree</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smtClean="0"/>
          </a:p>
          <a:p>
            <a:r>
              <a:rPr lang="en-US" dirty="0" smtClean="0"/>
              <a:t>3. </a:t>
            </a:r>
            <a:r>
              <a:rPr lang="en-US" b="1" dirty="0" err="1" smtClean="0"/>
              <a:t>Postorder</a:t>
            </a:r>
            <a:r>
              <a:rPr lang="en-US" b="1" dirty="0" smtClean="0"/>
              <a:t> Traversal (Left → Right → Root)</a:t>
            </a:r>
          </a:p>
          <a:p>
            <a:pPr marL="342900" indent="-342900">
              <a:buAutoNum type="arabicPeriod"/>
            </a:pPr>
            <a:endParaRPr lang="en-US" b="1" dirty="0"/>
          </a:p>
          <a:p>
            <a:r>
              <a:rPr lang="en-US" dirty="0" smtClean="0"/>
              <a:t>Visiting Order:  1 → 2 → 3 → 4 → 5 → 6 → 7</a:t>
            </a:r>
          </a:p>
          <a:p>
            <a:endParaRPr lang="en-US" dirty="0" smtClean="0"/>
          </a:p>
          <a:p>
            <a:r>
              <a:rPr lang="en-US" dirty="0" smtClean="0"/>
              <a:t>Visit all children first, then the parent (root last).</a:t>
            </a:r>
          </a:p>
          <a:p>
            <a:endParaRPr lang="en-US" b="1" dirty="0"/>
          </a:p>
        </p:txBody>
      </p:sp>
      <p:pic>
        <p:nvPicPr>
          <p:cNvPr id="8" name="Picture 7"/>
          <p:cNvPicPr>
            <a:picLocks noChangeAspect="1"/>
          </p:cNvPicPr>
          <p:nvPr/>
        </p:nvPicPr>
        <p:blipFill>
          <a:blip r:embed="rId3"/>
          <a:stretch>
            <a:fillRect/>
          </a:stretch>
        </p:blipFill>
        <p:spPr>
          <a:xfrm>
            <a:off x="956809" y="1095675"/>
            <a:ext cx="4010585" cy="1095528"/>
          </a:xfrm>
          <a:prstGeom prst="rect">
            <a:avLst/>
          </a:prstGeom>
        </p:spPr>
      </p:pic>
    </p:spTree>
    <p:extLst>
      <p:ext uri="{BB962C8B-B14F-4D97-AF65-F5344CB8AC3E}">
        <p14:creationId xmlns:p14="http://schemas.microsoft.com/office/powerpoint/2010/main" val="327666875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740307"/>
          </a:xfrm>
          <a:prstGeom prst="rect">
            <a:avLst/>
          </a:prstGeom>
        </p:spPr>
        <p:txBody>
          <a:bodyPr wrap="square">
            <a:spAutoFit/>
          </a:bodyPr>
          <a:lstStyle/>
          <a:p>
            <a:r>
              <a:rPr lang="en-US" b="1" dirty="0" smtClean="0">
                <a:solidFill>
                  <a:srgbClr val="FF0000"/>
                </a:solidFill>
              </a:rPr>
              <a:t>BFS </a:t>
            </a:r>
            <a:r>
              <a:rPr lang="en-IN" dirty="0" smtClean="0">
                <a:solidFill>
                  <a:srgbClr val="FF0000"/>
                </a:solidFill>
              </a:rPr>
              <a:t>(Breadth-First) </a:t>
            </a:r>
            <a:r>
              <a:rPr lang="en-US" dirty="0" smtClean="0">
                <a:solidFill>
                  <a:srgbClr val="FF0000"/>
                </a:solidFill>
              </a:rPr>
              <a:t>vs</a:t>
            </a:r>
            <a:r>
              <a:rPr lang="en-US" b="1" dirty="0" smtClean="0">
                <a:solidFill>
                  <a:srgbClr val="FF0000"/>
                </a:solidFill>
              </a:rPr>
              <a:t> DFS </a:t>
            </a:r>
            <a:r>
              <a:rPr lang="en-IN" dirty="0" smtClean="0">
                <a:solidFill>
                  <a:srgbClr val="FF0000"/>
                </a:solidFill>
              </a:rPr>
              <a:t>(Depth-First)</a:t>
            </a:r>
            <a:endParaRPr lang="en-US" b="1" dirty="0" smtClean="0">
              <a:solidFill>
                <a:srgbClr val="FF0000"/>
              </a:solidFill>
            </a:endParaRPr>
          </a:p>
          <a:p>
            <a:endParaRPr lang="en-US" b="1" dirty="0" smtClean="0"/>
          </a:p>
          <a:p>
            <a:r>
              <a:rPr lang="en-US" b="1" dirty="0" smtClean="0"/>
              <a:t>Breadth-First Search (BFS) explores a tree or graph level by level, while Depth-First Search (DFS) explores as far down one branch as possible before backtracking.</a:t>
            </a:r>
            <a:r>
              <a:rPr lang="en-US" dirty="0" smtClean="0"/>
              <a:t> BFS uses a </a:t>
            </a:r>
            <a:r>
              <a:rPr lang="en-US" b="1" dirty="0" smtClean="0"/>
              <a:t>queue (FIFO)</a:t>
            </a:r>
            <a:r>
              <a:rPr lang="en-US" dirty="0" smtClean="0"/>
              <a:t>, and DFS uses a </a:t>
            </a:r>
            <a:r>
              <a:rPr lang="en-US" b="1" dirty="0" smtClean="0"/>
              <a:t>stack (LIFO)</a:t>
            </a:r>
            <a:r>
              <a:rPr lang="en-US" dirty="0" smtClean="0"/>
              <a:t> or recursion.</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pPr lvl="1"/>
            <a:r>
              <a:rPr lang="en-US" b="1" dirty="0" smtClean="0"/>
              <a:t>BFS → </a:t>
            </a:r>
            <a:r>
              <a:rPr lang="en-US" dirty="0" smtClean="0"/>
              <a:t>Best when you need the shortest path or level-order exploration.</a:t>
            </a:r>
          </a:p>
          <a:p>
            <a:pPr lvl="1"/>
            <a:r>
              <a:rPr lang="en-US" b="1" dirty="0" smtClean="0"/>
              <a:t>DFS → </a:t>
            </a:r>
            <a:r>
              <a:rPr lang="en-US" dirty="0" smtClean="0"/>
              <a:t>Best when you need to explore deeply, detect cycles, or solve backtracking problems.</a:t>
            </a:r>
            <a:endParaRPr lang="en-US" dirty="0"/>
          </a:p>
          <a:p>
            <a:endParaRPr lang="en-US" b="1" dirty="0" smtClean="0"/>
          </a:p>
          <a:p>
            <a:endParaRPr lang="en-US" b="1" dirty="0"/>
          </a:p>
          <a:p>
            <a:endParaRPr lang="en-US" b="1" dirty="0" smtClean="0"/>
          </a:p>
          <a:p>
            <a:endParaRPr lang="en-US" b="1" dirty="0"/>
          </a:p>
          <a:p>
            <a:endParaRPr lang="en-US" b="1" dirty="0" smtClean="0"/>
          </a:p>
        </p:txBody>
      </p:sp>
      <p:graphicFrame>
        <p:nvGraphicFramePr>
          <p:cNvPr id="2" name="Table 1"/>
          <p:cNvGraphicFramePr>
            <a:graphicFrameLocks noGrp="1"/>
          </p:cNvGraphicFramePr>
          <p:nvPr>
            <p:extLst>
              <p:ext uri="{D42A27DB-BD31-4B8C-83A1-F6EECF244321}">
                <p14:modId xmlns:p14="http://schemas.microsoft.com/office/powerpoint/2010/main" val="2873504250"/>
              </p:ext>
            </p:extLst>
          </p:nvPr>
        </p:nvGraphicFramePr>
        <p:xfrm>
          <a:off x="249381" y="1923112"/>
          <a:ext cx="10515600" cy="2560320"/>
        </p:xfrm>
        <a:graphic>
          <a:graphicData uri="http://schemas.openxmlformats.org/drawingml/2006/table">
            <a:tbl>
              <a:tblPr/>
              <a:tblGrid>
                <a:gridCol w="3505200"/>
                <a:gridCol w="3505200"/>
                <a:gridCol w="3505200"/>
              </a:tblGrid>
              <a:tr h="0">
                <a:tc>
                  <a:txBody>
                    <a:bodyPr/>
                    <a:lstStyle/>
                    <a:p>
                      <a:pPr algn="ctr"/>
                      <a:r>
                        <a:rPr lang="en-IN" b="1"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BFS (Breadth-First)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DFS (Depth-First)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0">
                <a:tc>
                  <a:txBody>
                    <a:bodyPr/>
                    <a:lstStyle/>
                    <a:p>
                      <a:r>
                        <a:rPr lang="en-IN" b="1" dirty="0"/>
                        <a:t>Traversal Style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Level by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Branch by branch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dirty="0"/>
                        <a:t>Data Structure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Queue (FIFO)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Stack (LIFO) / Recursion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Best For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Shortest path, closer nodes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Exploring deep paths, connectivity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Time Complexity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O(V +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O(V +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Space Complexity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O(V) (queue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O(V) (stack/recursion)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Applications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Shortest path, bipartite check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Cycle detection, topological sort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 name="Rectangle 2"/>
          <p:cNvSpPr/>
          <p:nvPr/>
        </p:nvSpPr>
        <p:spPr>
          <a:xfrm>
            <a:off x="251903" y="4665811"/>
            <a:ext cx="4489371" cy="369332"/>
          </a:xfrm>
          <a:prstGeom prst="rect">
            <a:avLst/>
          </a:prstGeom>
        </p:spPr>
        <p:txBody>
          <a:bodyPr wrap="none">
            <a:spAutoFit/>
          </a:bodyPr>
          <a:lstStyle/>
          <a:p>
            <a:r>
              <a:rPr lang="en-US" dirty="0" smtClean="0"/>
              <a:t>(V = number of vertices, E = number of edges)</a:t>
            </a:r>
            <a:endParaRPr lang="en-IN" dirty="0"/>
          </a:p>
        </p:txBody>
      </p:sp>
    </p:spTree>
    <p:extLst>
      <p:ext uri="{BB962C8B-B14F-4D97-AF65-F5344CB8AC3E}">
        <p14:creationId xmlns:p14="http://schemas.microsoft.com/office/powerpoint/2010/main" val="31603624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BFS </a:t>
            </a:r>
            <a:r>
              <a:rPr lang="en-IN" dirty="0" smtClean="0">
                <a:solidFill>
                  <a:srgbClr val="FF0000"/>
                </a:solidFill>
              </a:rPr>
              <a:t>(Breadth-First) </a:t>
            </a:r>
            <a:r>
              <a:rPr lang="en-US" dirty="0" smtClean="0">
                <a:solidFill>
                  <a:srgbClr val="FF0000"/>
                </a:solidFill>
              </a:rPr>
              <a:t>vs</a:t>
            </a:r>
            <a:r>
              <a:rPr lang="en-US" b="1" dirty="0" smtClean="0">
                <a:solidFill>
                  <a:srgbClr val="FF0000"/>
                </a:solidFill>
              </a:rPr>
              <a:t> DFS </a:t>
            </a:r>
            <a:r>
              <a:rPr lang="en-IN" dirty="0" smtClean="0">
                <a:solidFill>
                  <a:srgbClr val="FF0000"/>
                </a:solidFill>
              </a:rPr>
              <a:t>(Depth-First)</a:t>
            </a:r>
            <a:endParaRPr lang="en-US" b="1" dirty="0" smtClean="0">
              <a:solidFill>
                <a:srgbClr val="FF0000"/>
              </a:solidFill>
            </a:endParaRPr>
          </a:p>
          <a:p>
            <a:endParaRPr lang="en-US" b="1" dirty="0" smtClean="0"/>
          </a:p>
          <a:p>
            <a:r>
              <a:rPr lang="en-US" b="1" dirty="0" smtClean="0"/>
              <a:t>BFS in Binary Trees</a:t>
            </a:r>
          </a:p>
          <a:p>
            <a:pPr marL="285750" indent="-285750">
              <a:buFont typeface="Arial" panose="020B0604020202020204" pitchFamily="34" charset="0"/>
              <a:buChar char="•"/>
            </a:pPr>
            <a:r>
              <a:rPr lang="en-US" dirty="0" smtClean="0">
                <a:effectLst/>
              </a:rPr>
              <a:t>In a binary tree, BFS is called </a:t>
            </a:r>
            <a:r>
              <a:rPr lang="en-US" b="1" dirty="0" smtClean="0">
                <a:effectLst/>
              </a:rPr>
              <a:t>Level Order Traversal</a:t>
            </a:r>
            <a:r>
              <a:rPr lang="en-US" dirty="0" smtClean="0">
                <a:effectLst/>
              </a:rPr>
              <a:t>.</a:t>
            </a:r>
            <a:endParaRPr lang="en-US" dirty="0" smtClean="0"/>
          </a:p>
          <a:p>
            <a:pPr marL="285750" indent="-285750">
              <a:buFont typeface="Arial" panose="020B0604020202020204" pitchFamily="34" charset="0"/>
              <a:buChar char="•"/>
            </a:pPr>
            <a:r>
              <a:rPr lang="en-US" dirty="0" smtClean="0">
                <a:effectLst/>
              </a:rPr>
              <a:t>It visits nodes </a:t>
            </a:r>
            <a:r>
              <a:rPr lang="en-US" b="1" dirty="0" smtClean="0">
                <a:effectLst/>
              </a:rPr>
              <a:t>level by level</a:t>
            </a:r>
            <a:r>
              <a:rPr lang="en-US" dirty="0" smtClean="0">
                <a:effectLst/>
              </a:rPr>
              <a:t> from top to bottom, left to right.</a:t>
            </a:r>
          </a:p>
          <a:p>
            <a:pPr marL="285750" indent="-285750">
              <a:buFont typeface="Arial" panose="020B0604020202020204" pitchFamily="34" charset="0"/>
              <a:buChar char="•"/>
            </a:pPr>
            <a:endParaRPr lang="en-US" dirty="0" smtClean="0"/>
          </a:p>
          <a:p>
            <a:r>
              <a:rPr lang="en-US" b="1" dirty="0" smtClean="0">
                <a:effectLst/>
              </a:rPr>
              <a:t>Example:</a:t>
            </a:r>
            <a:endParaRPr lang="en-US" b="1" dirty="0" smtClean="0"/>
          </a:p>
          <a:p>
            <a:endParaRPr lang="en-US" b="1" dirty="0" smtClean="0"/>
          </a:p>
          <a:p>
            <a:endParaRPr lang="en-US" b="1" dirty="0"/>
          </a:p>
          <a:p>
            <a:endParaRPr lang="en-US" b="1" dirty="0" smtClean="0"/>
          </a:p>
          <a:p>
            <a:endParaRPr lang="en-US" b="1" dirty="0"/>
          </a:p>
          <a:p>
            <a:endParaRPr lang="en-US" b="1" dirty="0" smtClean="0"/>
          </a:p>
          <a:p>
            <a:endParaRPr lang="en-US" b="1" dirty="0"/>
          </a:p>
          <a:p>
            <a:r>
              <a:rPr lang="en-US" b="1" dirty="0" smtClean="0"/>
              <a:t>BFS Order → </a:t>
            </a:r>
            <a:r>
              <a:rPr lang="en-US" dirty="0" smtClean="0"/>
              <a:t>Root → Node1 → Node2 → Node3 → Node4 → Node5</a:t>
            </a:r>
          </a:p>
          <a:p>
            <a:endParaRPr lang="en-US" b="1" dirty="0" smtClean="0"/>
          </a:p>
          <a:p>
            <a:r>
              <a:rPr lang="en-US" b="1" dirty="0" smtClean="0"/>
              <a:t>Applications:</a:t>
            </a:r>
          </a:p>
          <a:p>
            <a:r>
              <a:rPr lang="en-US" dirty="0" smtClean="0"/>
              <a:t>Printing tree level by level.</a:t>
            </a:r>
          </a:p>
          <a:p>
            <a:r>
              <a:rPr lang="en-US" dirty="0" smtClean="0"/>
              <a:t>Finding the shortest path in </a:t>
            </a:r>
            <a:r>
              <a:rPr lang="en-US" dirty="0" err="1" smtClean="0"/>
              <a:t>unweighted</a:t>
            </a:r>
            <a:r>
              <a:rPr lang="en-US" dirty="0" smtClean="0"/>
              <a:t> trees.</a:t>
            </a:r>
          </a:p>
          <a:p>
            <a:r>
              <a:rPr lang="en-US" dirty="0" smtClean="0"/>
              <a:t>Used in Heaps (complete binary trees).</a:t>
            </a:r>
          </a:p>
        </p:txBody>
      </p:sp>
      <p:pic>
        <p:nvPicPr>
          <p:cNvPr id="7" name="Picture 6"/>
          <p:cNvPicPr>
            <a:picLocks noChangeAspect="1"/>
          </p:cNvPicPr>
          <p:nvPr/>
        </p:nvPicPr>
        <p:blipFill>
          <a:blip r:embed="rId3"/>
          <a:stretch>
            <a:fillRect/>
          </a:stretch>
        </p:blipFill>
        <p:spPr>
          <a:xfrm>
            <a:off x="2049636" y="2602503"/>
            <a:ext cx="2057687" cy="1114581"/>
          </a:xfrm>
          <a:prstGeom prst="rect">
            <a:avLst/>
          </a:prstGeom>
        </p:spPr>
      </p:pic>
    </p:spTree>
    <p:extLst>
      <p:ext uri="{BB962C8B-B14F-4D97-AF65-F5344CB8AC3E}">
        <p14:creationId xmlns:p14="http://schemas.microsoft.com/office/powerpoint/2010/main" val="23893480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smtClean="0">
                <a:solidFill>
                  <a:srgbClr val="FF0000"/>
                </a:solidFill>
              </a:rPr>
              <a:t>BFS </a:t>
            </a:r>
            <a:r>
              <a:rPr lang="en-IN" dirty="0" smtClean="0">
                <a:solidFill>
                  <a:srgbClr val="FF0000"/>
                </a:solidFill>
              </a:rPr>
              <a:t>(Breadth-First) </a:t>
            </a:r>
            <a:r>
              <a:rPr lang="en-US" dirty="0" smtClean="0">
                <a:solidFill>
                  <a:srgbClr val="FF0000"/>
                </a:solidFill>
              </a:rPr>
              <a:t>vs</a:t>
            </a:r>
            <a:r>
              <a:rPr lang="en-US" b="1" dirty="0" smtClean="0">
                <a:solidFill>
                  <a:srgbClr val="FF0000"/>
                </a:solidFill>
              </a:rPr>
              <a:t> DFS </a:t>
            </a:r>
            <a:r>
              <a:rPr lang="en-IN" dirty="0" smtClean="0">
                <a:solidFill>
                  <a:srgbClr val="FF0000"/>
                </a:solidFill>
              </a:rPr>
              <a:t>(Depth-First)</a:t>
            </a:r>
            <a:endParaRPr lang="en-US" b="1" dirty="0" smtClean="0">
              <a:solidFill>
                <a:srgbClr val="FF0000"/>
              </a:solidFill>
            </a:endParaRPr>
          </a:p>
          <a:p>
            <a:endParaRPr lang="en-US" b="1" dirty="0" smtClean="0"/>
          </a:p>
          <a:p>
            <a:r>
              <a:rPr lang="en-IN" b="1" dirty="0" smtClean="0"/>
              <a:t>DFS in Binary Trees</a:t>
            </a:r>
          </a:p>
          <a:p>
            <a:r>
              <a:rPr lang="en-IN" dirty="0" smtClean="0">
                <a:effectLst/>
              </a:rPr>
              <a:t>DFS corresponds to the </a:t>
            </a:r>
            <a:r>
              <a:rPr lang="en-IN" b="1" dirty="0" smtClean="0">
                <a:effectLst/>
              </a:rPr>
              <a:t>three depth-first traversals</a:t>
            </a:r>
            <a:r>
              <a:rPr lang="en-IN" dirty="0" smtClean="0">
                <a:effectLst/>
              </a:rPr>
              <a:t>:</a:t>
            </a:r>
            <a:endParaRPr lang="en-IN" dirty="0" smtClean="0"/>
          </a:p>
          <a:p>
            <a:pPr marL="285750" indent="-285750">
              <a:buFont typeface="Arial" panose="020B0604020202020204" pitchFamily="34" charset="0"/>
              <a:buChar char="•"/>
            </a:pPr>
            <a:r>
              <a:rPr lang="en-IN" b="1" dirty="0" err="1" smtClean="0">
                <a:effectLst/>
              </a:rPr>
              <a:t>Inorder</a:t>
            </a:r>
            <a:r>
              <a:rPr lang="en-IN" b="1" dirty="0" smtClean="0">
                <a:effectLst/>
              </a:rPr>
              <a:t> (Left → Root → Right)</a:t>
            </a:r>
            <a:r>
              <a:rPr lang="en-IN" dirty="0" smtClean="0">
                <a:effectLst/>
              </a:rPr>
              <a:t> → Produces sorted order in Binary Search Trees.</a:t>
            </a:r>
            <a:endParaRPr lang="en-IN" dirty="0" smtClean="0"/>
          </a:p>
          <a:p>
            <a:pPr marL="285750" indent="-285750">
              <a:buFont typeface="Arial" panose="020B0604020202020204" pitchFamily="34" charset="0"/>
              <a:buChar char="•"/>
            </a:pPr>
            <a:r>
              <a:rPr lang="en-IN" b="1" dirty="0" err="1" smtClean="0">
                <a:effectLst/>
              </a:rPr>
              <a:t>Preorder</a:t>
            </a:r>
            <a:r>
              <a:rPr lang="en-IN" b="1" dirty="0" smtClean="0">
                <a:effectLst/>
              </a:rPr>
              <a:t> (Root → Left → Right)</a:t>
            </a:r>
            <a:r>
              <a:rPr lang="en-IN" dirty="0" smtClean="0">
                <a:effectLst/>
              </a:rPr>
              <a:t> → Useful for copying or reconstructing trees.</a:t>
            </a:r>
            <a:endParaRPr lang="en-IN" dirty="0" smtClean="0"/>
          </a:p>
          <a:p>
            <a:pPr marL="285750" indent="-285750">
              <a:buFont typeface="Arial" panose="020B0604020202020204" pitchFamily="34" charset="0"/>
              <a:buChar char="•"/>
            </a:pPr>
            <a:r>
              <a:rPr lang="en-IN" b="1" dirty="0" err="1" smtClean="0">
                <a:effectLst/>
              </a:rPr>
              <a:t>Postorder</a:t>
            </a:r>
            <a:r>
              <a:rPr lang="en-IN" b="1" dirty="0" smtClean="0">
                <a:effectLst/>
              </a:rPr>
              <a:t> (Left → Right → Root)</a:t>
            </a:r>
            <a:r>
              <a:rPr lang="en-IN" dirty="0" smtClean="0">
                <a:effectLst/>
              </a:rPr>
              <a:t> → Useful for deleting trees or evaluating postfix expressions.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b="1" dirty="0" err="1" smtClean="0">
                <a:effectLst/>
              </a:rPr>
              <a:t>Inorder</a:t>
            </a:r>
            <a:r>
              <a:rPr lang="en-IN" dirty="0" smtClean="0">
                <a:effectLst/>
              </a:rPr>
              <a:t> → Node3 → Node1 → Node4 → Root → Node2 → Node5</a:t>
            </a:r>
            <a:endParaRPr lang="en-IN" dirty="0" smtClean="0"/>
          </a:p>
          <a:p>
            <a:pPr marL="285750" indent="-285750">
              <a:buFont typeface="Arial" panose="020B0604020202020204" pitchFamily="34" charset="0"/>
              <a:buChar char="•"/>
            </a:pPr>
            <a:r>
              <a:rPr lang="en-IN" b="1" dirty="0" err="1" smtClean="0">
                <a:effectLst/>
              </a:rPr>
              <a:t>Preorder</a:t>
            </a:r>
            <a:r>
              <a:rPr lang="en-IN" dirty="0" smtClean="0">
                <a:effectLst/>
              </a:rPr>
              <a:t> → Root → Node1 → Node3 → Node4 → Node2 → Node5</a:t>
            </a:r>
            <a:endParaRPr lang="en-IN" dirty="0" smtClean="0"/>
          </a:p>
          <a:p>
            <a:pPr marL="285750" indent="-285750">
              <a:buFont typeface="Arial" panose="020B0604020202020204" pitchFamily="34" charset="0"/>
              <a:buChar char="•"/>
            </a:pPr>
            <a:r>
              <a:rPr lang="en-IN" b="1" dirty="0" err="1" smtClean="0">
                <a:effectLst/>
              </a:rPr>
              <a:t>Postorder</a:t>
            </a:r>
            <a:r>
              <a:rPr lang="en-IN" dirty="0" smtClean="0">
                <a:effectLst/>
              </a:rPr>
              <a:t> → Node3 → Node4 → Node1 → Node5 → Node2 → Root</a:t>
            </a:r>
            <a:endParaRPr lang="en-IN" dirty="0" smtClean="0"/>
          </a:p>
          <a:p>
            <a:endParaRPr lang="en-IN" dirty="0"/>
          </a:p>
        </p:txBody>
      </p:sp>
      <p:pic>
        <p:nvPicPr>
          <p:cNvPr id="2" name="Picture 1"/>
          <p:cNvPicPr>
            <a:picLocks noChangeAspect="1"/>
          </p:cNvPicPr>
          <p:nvPr/>
        </p:nvPicPr>
        <p:blipFill>
          <a:blip r:embed="rId3"/>
          <a:stretch>
            <a:fillRect/>
          </a:stretch>
        </p:blipFill>
        <p:spPr>
          <a:xfrm>
            <a:off x="2986730" y="2777842"/>
            <a:ext cx="1962424" cy="1152686"/>
          </a:xfrm>
          <a:prstGeom prst="rect">
            <a:avLst/>
          </a:prstGeom>
        </p:spPr>
      </p:pic>
    </p:spTree>
    <p:extLst>
      <p:ext uri="{BB962C8B-B14F-4D97-AF65-F5344CB8AC3E}">
        <p14:creationId xmlns:p14="http://schemas.microsoft.com/office/powerpoint/2010/main" val="11852499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031325"/>
          </a:xfrm>
          <a:prstGeom prst="rect">
            <a:avLst/>
          </a:prstGeom>
        </p:spPr>
        <p:txBody>
          <a:bodyPr wrap="square">
            <a:spAutoFit/>
          </a:bodyPr>
          <a:lstStyle/>
          <a:p>
            <a:r>
              <a:rPr lang="en-US" b="1" dirty="0" smtClean="0">
                <a:solidFill>
                  <a:srgbClr val="FF0000"/>
                </a:solidFill>
              </a:rPr>
              <a:t>BFS </a:t>
            </a:r>
            <a:r>
              <a:rPr lang="en-IN" dirty="0" smtClean="0">
                <a:solidFill>
                  <a:srgbClr val="FF0000"/>
                </a:solidFill>
              </a:rPr>
              <a:t>(Breadth-First) </a:t>
            </a:r>
            <a:r>
              <a:rPr lang="en-US" dirty="0" smtClean="0">
                <a:solidFill>
                  <a:srgbClr val="FF0000"/>
                </a:solidFill>
              </a:rPr>
              <a:t>vs</a:t>
            </a:r>
            <a:r>
              <a:rPr lang="en-US" b="1" dirty="0" smtClean="0">
                <a:solidFill>
                  <a:srgbClr val="FF0000"/>
                </a:solidFill>
              </a:rPr>
              <a:t> DFS </a:t>
            </a:r>
            <a:r>
              <a:rPr lang="en-IN" dirty="0" smtClean="0">
                <a:solidFill>
                  <a:srgbClr val="FF0000"/>
                </a:solidFill>
              </a:rPr>
              <a:t>(Depth-First)</a:t>
            </a:r>
            <a:endParaRPr lang="en-US" b="1" dirty="0" smtClean="0">
              <a:solidFill>
                <a:srgbClr val="FF0000"/>
              </a:solidFill>
            </a:endParaRPr>
          </a:p>
          <a:p>
            <a:endParaRPr lang="en-US" b="1" dirty="0" smtClean="0"/>
          </a:p>
          <a:p>
            <a:r>
              <a:rPr lang="en-US" b="1" dirty="0" smtClean="0"/>
              <a:t>BFS → </a:t>
            </a:r>
            <a:r>
              <a:rPr lang="en-US" dirty="0" smtClean="0"/>
              <a:t>Level Order Traversal (breadth-first).</a:t>
            </a:r>
          </a:p>
          <a:p>
            <a:endParaRPr lang="en-US" b="1" dirty="0" smtClean="0"/>
          </a:p>
          <a:p>
            <a:r>
              <a:rPr lang="en-US" b="1" dirty="0" smtClean="0"/>
              <a:t>DFS → </a:t>
            </a:r>
            <a:r>
              <a:rPr lang="en-US" dirty="0" err="1" smtClean="0"/>
              <a:t>Inorder</a:t>
            </a:r>
            <a:r>
              <a:rPr lang="en-US" dirty="0" smtClean="0"/>
              <a:t>, Preorder, </a:t>
            </a:r>
            <a:r>
              <a:rPr lang="en-US" dirty="0" err="1" smtClean="0"/>
              <a:t>Postorder</a:t>
            </a:r>
            <a:r>
              <a:rPr lang="en-US" dirty="0" smtClean="0"/>
              <a:t> (depth-first).</a:t>
            </a:r>
          </a:p>
          <a:p>
            <a:endParaRPr lang="en-US" b="1" dirty="0" smtClean="0"/>
          </a:p>
          <a:p>
            <a:r>
              <a:rPr lang="en-US" dirty="0" smtClean="0"/>
              <a:t>Both are fundamental for searching, sorting, and processing binary trees.</a:t>
            </a:r>
          </a:p>
        </p:txBody>
      </p:sp>
    </p:spTree>
    <p:extLst>
      <p:ext uri="{BB962C8B-B14F-4D97-AF65-F5344CB8AC3E}">
        <p14:creationId xmlns:p14="http://schemas.microsoft.com/office/powerpoint/2010/main" val="10124672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Full Binary Tree</a:t>
            </a:r>
          </a:p>
          <a:p>
            <a:r>
              <a:rPr lang="en-US" dirty="0" smtClean="0"/>
              <a:t>A Full Binary Tree is a special type of binary tree where:</a:t>
            </a:r>
          </a:p>
          <a:p>
            <a:pPr marL="285750" indent="-285750">
              <a:buFont typeface="Arial" panose="020B0604020202020204" pitchFamily="34" charset="0"/>
              <a:buChar char="•"/>
            </a:pPr>
            <a:r>
              <a:rPr lang="en-US" dirty="0" smtClean="0"/>
              <a:t>Every node has either 0 or 2 children.</a:t>
            </a:r>
          </a:p>
          <a:p>
            <a:pPr marL="285750" indent="-285750">
              <a:buFont typeface="Arial" panose="020B0604020202020204" pitchFamily="34" charset="0"/>
              <a:buChar char="•"/>
            </a:pPr>
            <a:r>
              <a:rPr lang="en-US" dirty="0" smtClean="0"/>
              <a:t>No node has only one child.</a:t>
            </a:r>
          </a:p>
          <a:p>
            <a:pPr marL="285750" indent="-285750">
              <a:buFont typeface="Arial" panose="020B0604020202020204" pitchFamily="34" charset="0"/>
              <a:buChar char="•"/>
            </a:pPr>
            <a:r>
              <a:rPr lang="en-US" dirty="0" smtClean="0"/>
              <a:t>All internal nodes (non-leaf nodes) are completely filled with two branches.</a:t>
            </a:r>
          </a:p>
          <a:p>
            <a:endParaRPr lang="en-US" b="1" dirty="0" smtClean="0"/>
          </a:p>
          <a:p>
            <a:endParaRPr lang="en-US" b="1" dirty="0"/>
          </a:p>
          <a:p>
            <a:endParaRPr lang="en-US" b="1" dirty="0" smtClean="0"/>
          </a:p>
          <a:p>
            <a:endParaRPr lang="en-US" b="1" dirty="0"/>
          </a:p>
          <a:p>
            <a:endParaRPr lang="en-US" b="1" dirty="0" smtClean="0"/>
          </a:p>
          <a:p>
            <a:endParaRPr lang="en-US" b="1" dirty="0"/>
          </a:p>
          <a:p>
            <a:r>
              <a:rPr lang="en-US" b="1" dirty="0" smtClean="0"/>
              <a:t>Explanation:</a:t>
            </a:r>
          </a:p>
          <a:p>
            <a:pPr marL="285750" indent="-285750">
              <a:buFont typeface="Arial" panose="020B0604020202020204" pitchFamily="34" charset="0"/>
              <a:buChar char="•"/>
            </a:pPr>
            <a:r>
              <a:rPr lang="en-US" dirty="0" smtClean="0"/>
              <a:t>The Root Node has two children.</a:t>
            </a:r>
          </a:p>
          <a:p>
            <a:pPr marL="285750" indent="-285750">
              <a:buFont typeface="Arial" panose="020B0604020202020204" pitchFamily="34" charset="0"/>
              <a:buChar char="•"/>
            </a:pPr>
            <a:r>
              <a:rPr lang="en-US" dirty="0" smtClean="0"/>
              <a:t>Each Child Node also has two children.</a:t>
            </a:r>
          </a:p>
          <a:p>
            <a:pPr marL="285750" indent="-285750">
              <a:buFont typeface="Arial" panose="020B0604020202020204" pitchFamily="34" charset="0"/>
              <a:buChar char="•"/>
            </a:pPr>
            <a:r>
              <a:rPr lang="en-US" dirty="0" smtClean="0"/>
              <a:t>Leaf Nodes have no children.</a:t>
            </a:r>
          </a:p>
          <a:p>
            <a:pPr marL="285750" indent="-285750">
              <a:buFont typeface="Arial" panose="020B0604020202020204" pitchFamily="34" charset="0"/>
              <a:buChar char="•"/>
            </a:pPr>
            <a:r>
              <a:rPr lang="en-US" dirty="0" smtClean="0"/>
              <a:t>No node has just one child — that’s what makes it full.</a:t>
            </a:r>
          </a:p>
          <a:p>
            <a:pPr marL="285750" indent="-285750">
              <a:buFont typeface="Arial" panose="020B0604020202020204" pitchFamily="34" charset="0"/>
              <a:buChar char="•"/>
            </a:pPr>
            <a:endParaRPr lang="en-US" dirty="0"/>
          </a:p>
          <a:p>
            <a:r>
              <a:rPr lang="en-US" b="1" dirty="0" smtClean="0"/>
              <a:t>Characteristics</a:t>
            </a:r>
          </a:p>
          <a:p>
            <a:r>
              <a:rPr lang="en-US" dirty="0" smtClean="0"/>
              <a:t>Every internal node has exactly two children.</a:t>
            </a:r>
          </a:p>
          <a:p>
            <a:r>
              <a:rPr lang="en-US" dirty="0" smtClean="0"/>
              <a:t>Leaf nodes may appear at different levels.</a:t>
            </a:r>
          </a:p>
          <a:p>
            <a:r>
              <a:rPr lang="en-US" dirty="0" smtClean="0"/>
              <a:t>Height (h) and number of nodes (n) are related by:</a:t>
            </a:r>
          </a:p>
          <a:p>
            <a:endParaRPr lang="en-US" dirty="0" smtClean="0"/>
          </a:p>
        </p:txBody>
      </p:sp>
      <p:pic>
        <p:nvPicPr>
          <p:cNvPr id="9" name="Picture 8"/>
          <p:cNvPicPr>
            <a:picLocks noChangeAspect="1"/>
          </p:cNvPicPr>
          <p:nvPr/>
        </p:nvPicPr>
        <p:blipFill>
          <a:blip r:embed="rId3"/>
          <a:stretch>
            <a:fillRect/>
          </a:stretch>
        </p:blipFill>
        <p:spPr>
          <a:xfrm>
            <a:off x="2326229" y="2243400"/>
            <a:ext cx="3000794" cy="1190791"/>
          </a:xfrm>
          <a:prstGeom prst="rect">
            <a:avLst/>
          </a:prstGeom>
        </p:spPr>
      </p:pic>
      <p:pic>
        <p:nvPicPr>
          <p:cNvPr id="10" name="Picture 9"/>
          <p:cNvPicPr>
            <a:picLocks noChangeAspect="1"/>
          </p:cNvPicPr>
          <p:nvPr/>
        </p:nvPicPr>
        <p:blipFill>
          <a:blip r:embed="rId4"/>
          <a:stretch>
            <a:fillRect/>
          </a:stretch>
        </p:blipFill>
        <p:spPr>
          <a:xfrm>
            <a:off x="5014734" y="5953185"/>
            <a:ext cx="1314633" cy="371527"/>
          </a:xfrm>
          <a:prstGeom prst="rect">
            <a:avLst/>
          </a:prstGeom>
        </p:spPr>
      </p:pic>
    </p:spTree>
    <p:extLst>
      <p:ext uri="{BB962C8B-B14F-4D97-AF65-F5344CB8AC3E}">
        <p14:creationId xmlns:p14="http://schemas.microsoft.com/office/powerpoint/2010/main" val="421374252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Full Binary Tree</a:t>
            </a:r>
          </a:p>
          <a:p>
            <a:endParaRPr lang="en-US" dirty="0" smtClean="0"/>
          </a:p>
        </p:txBody>
      </p:sp>
      <p:pic>
        <p:nvPicPr>
          <p:cNvPr id="7" name="Picture 6"/>
          <p:cNvPicPr>
            <a:picLocks noChangeAspect="1"/>
          </p:cNvPicPr>
          <p:nvPr/>
        </p:nvPicPr>
        <p:blipFill>
          <a:blip r:embed="rId3"/>
          <a:stretch>
            <a:fillRect/>
          </a:stretch>
        </p:blipFill>
        <p:spPr>
          <a:xfrm>
            <a:off x="116378" y="955963"/>
            <a:ext cx="6209607" cy="5745364"/>
          </a:xfrm>
          <a:prstGeom prst="rect">
            <a:avLst/>
          </a:prstGeom>
        </p:spPr>
      </p:pic>
      <p:pic>
        <p:nvPicPr>
          <p:cNvPr id="8" name="Picture 7"/>
          <p:cNvPicPr>
            <a:picLocks noChangeAspect="1"/>
          </p:cNvPicPr>
          <p:nvPr/>
        </p:nvPicPr>
        <p:blipFill>
          <a:blip r:embed="rId4"/>
          <a:stretch>
            <a:fillRect/>
          </a:stretch>
        </p:blipFill>
        <p:spPr>
          <a:xfrm>
            <a:off x="6442363" y="1018372"/>
            <a:ext cx="5591695" cy="4772691"/>
          </a:xfrm>
          <a:prstGeom prst="rect">
            <a:avLst/>
          </a:prstGeom>
        </p:spPr>
      </p:pic>
    </p:spTree>
    <p:extLst>
      <p:ext uri="{BB962C8B-B14F-4D97-AF65-F5344CB8AC3E}">
        <p14:creationId xmlns:p14="http://schemas.microsoft.com/office/powerpoint/2010/main" val="52824994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Full Binary Tree</a:t>
            </a:r>
          </a:p>
          <a:p>
            <a:endParaRPr lang="en-US" dirty="0" smtClean="0"/>
          </a:p>
        </p:txBody>
      </p:sp>
      <p:pic>
        <p:nvPicPr>
          <p:cNvPr id="9" name="Picture 8"/>
          <p:cNvPicPr>
            <a:picLocks noChangeAspect="1"/>
          </p:cNvPicPr>
          <p:nvPr/>
        </p:nvPicPr>
        <p:blipFill>
          <a:blip r:embed="rId3"/>
          <a:stretch>
            <a:fillRect/>
          </a:stretch>
        </p:blipFill>
        <p:spPr>
          <a:xfrm>
            <a:off x="97031" y="1012123"/>
            <a:ext cx="9221487" cy="1543265"/>
          </a:xfrm>
          <a:prstGeom prst="rect">
            <a:avLst/>
          </a:prstGeom>
        </p:spPr>
      </p:pic>
    </p:spTree>
    <p:extLst>
      <p:ext uri="{BB962C8B-B14F-4D97-AF65-F5344CB8AC3E}">
        <p14:creationId xmlns:p14="http://schemas.microsoft.com/office/powerpoint/2010/main" val="31240002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smtClean="0">
                <a:solidFill>
                  <a:srgbClr val="FF0000"/>
                </a:solidFill>
              </a:rPr>
              <a:t>Full Binary Tree</a:t>
            </a:r>
          </a:p>
          <a:p>
            <a:endParaRPr lang="en-US" dirty="0" smtClean="0"/>
          </a:p>
          <a:p>
            <a:r>
              <a:rPr lang="en-US" dirty="0" smtClean="0"/>
              <a:t>This Java program checks whether a given binary tree is a </a:t>
            </a:r>
            <a:r>
              <a:rPr lang="en-US" b="1" dirty="0" smtClean="0"/>
              <a:t>Full Binary Tree</a:t>
            </a:r>
            <a:r>
              <a:rPr lang="en-US" dirty="0" smtClean="0"/>
              <a:t> — meaning every node has either </a:t>
            </a:r>
            <a:r>
              <a:rPr lang="en-US" b="1" dirty="0" smtClean="0"/>
              <a:t>0 or 2 children</a:t>
            </a:r>
            <a:r>
              <a:rPr lang="en-US" dirty="0" smtClean="0"/>
              <a:t>, never just one.</a:t>
            </a:r>
          </a:p>
          <a:p>
            <a:endParaRPr lang="en-US" dirty="0"/>
          </a:p>
          <a:p>
            <a:r>
              <a:rPr lang="en-US" b="1" dirty="0" smtClean="0"/>
              <a:t>Node Class</a:t>
            </a:r>
          </a:p>
          <a:p>
            <a:pPr marL="285750" indent="-285750">
              <a:buFont typeface="Arial" panose="020B0604020202020204" pitchFamily="34" charset="0"/>
              <a:buChar char="•"/>
            </a:pPr>
            <a:r>
              <a:rPr lang="en-US" dirty="0" smtClean="0"/>
              <a:t>Defines the structure of a tree node.</a:t>
            </a:r>
          </a:p>
          <a:p>
            <a:pPr marL="285750" indent="-285750">
              <a:buFont typeface="Arial" panose="020B0604020202020204" pitchFamily="34" charset="0"/>
              <a:buChar char="•"/>
            </a:pPr>
            <a:r>
              <a:rPr lang="en-US" dirty="0" smtClean="0"/>
              <a:t>Each node stores:</a:t>
            </a:r>
          </a:p>
          <a:p>
            <a:pPr marL="285750" indent="-285750">
              <a:buFont typeface="Arial" panose="020B0604020202020204" pitchFamily="34" charset="0"/>
              <a:buChar char="•"/>
            </a:pPr>
            <a:r>
              <a:rPr lang="en-US" dirty="0" smtClean="0"/>
              <a:t>data → the value.</a:t>
            </a:r>
          </a:p>
          <a:p>
            <a:pPr marL="285750" indent="-285750">
              <a:buFont typeface="Arial" panose="020B0604020202020204" pitchFamily="34" charset="0"/>
              <a:buChar char="•"/>
            </a:pPr>
            <a:r>
              <a:rPr lang="en-US" dirty="0" smtClean="0"/>
              <a:t>left and right → pointers to child nodes.</a:t>
            </a:r>
          </a:p>
          <a:p>
            <a:pPr marL="285750" indent="-285750">
              <a:buFont typeface="Arial" panose="020B0604020202020204" pitchFamily="34" charset="0"/>
              <a:buChar char="•"/>
            </a:pPr>
            <a:endParaRPr lang="en-US" dirty="0"/>
          </a:p>
          <a:p>
            <a:r>
              <a:rPr lang="en-IN" b="1" dirty="0" err="1" smtClean="0"/>
              <a:t>isFullBinaryTree</a:t>
            </a:r>
            <a:r>
              <a:rPr lang="en-IN" b="1" dirty="0" smtClean="0"/>
              <a:t>() Method</a:t>
            </a:r>
          </a:p>
          <a:p>
            <a:r>
              <a:rPr lang="en-US" dirty="0" smtClean="0"/>
              <a:t>Recursively checks each node:</a:t>
            </a:r>
          </a:p>
          <a:p>
            <a:pPr marL="285750" indent="-285750">
              <a:buFont typeface="Arial" panose="020B0604020202020204" pitchFamily="34" charset="0"/>
              <a:buChar char="•"/>
            </a:pPr>
            <a:r>
              <a:rPr lang="en-US" dirty="0" smtClean="0"/>
              <a:t>If the node is empty → considered full.</a:t>
            </a:r>
          </a:p>
          <a:p>
            <a:pPr marL="285750" indent="-285750">
              <a:buFont typeface="Arial" panose="020B0604020202020204" pitchFamily="34" charset="0"/>
              <a:buChar char="•"/>
            </a:pPr>
            <a:r>
              <a:rPr lang="en-US" dirty="0" smtClean="0"/>
              <a:t>If it’s a leaf node (no children) → full.</a:t>
            </a:r>
          </a:p>
          <a:p>
            <a:pPr marL="285750" indent="-285750">
              <a:buFont typeface="Arial" panose="020B0604020202020204" pitchFamily="34" charset="0"/>
              <a:buChar char="•"/>
            </a:pPr>
            <a:r>
              <a:rPr lang="en-US" dirty="0" smtClean="0"/>
              <a:t>If it has both children → check both </a:t>
            </a:r>
            <a:r>
              <a:rPr lang="en-US" dirty="0" err="1" smtClean="0"/>
              <a:t>subtrees</a:t>
            </a:r>
            <a:r>
              <a:rPr lang="en-US" dirty="0" smtClean="0"/>
              <a:t>.</a:t>
            </a:r>
          </a:p>
          <a:p>
            <a:pPr marL="285750" indent="-285750">
              <a:buFont typeface="Arial" panose="020B0604020202020204" pitchFamily="34" charset="0"/>
              <a:buChar char="•"/>
            </a:pPr>
            <a:r>
              <a:rPr lang="en-US" dirty="0" smtClean="0"/>
              <a:t>If it has only one child → not full.</a:t>
            </a:r>
          </a:p>
          <a:p>
            <a:r>
              <a:rPr lang="en-US" dirty="0" smtClean="0"/>
              <a:t>So, it ensures every node has either two children or none.</a:t>
            </a:r>
          </a:p>
        </p:txBody>
      </p:sp>
    </p:spTree>
    <p:extLst>
      <p:ext uri="{BB962C8B-B14F-4D97-AF65-F5344CB8AC3E}">
        <p14:creationId xmlns:p14="http://schemas.microsoft.com/office/powerpoint/2010/main" val="20868022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Full Binary Tree</a:t>
            </a:r>
          </a:p>
          <a:p>
            <a:endParaRPr lang="en-US" dirty="0" smtClean="0"/>
          </a:p>
          <a:p>
            <a:r>
              <a:rPr lang="en-IN" b="1" dirty="0" err="1" smtClean="0"/>
              <a:t>inorder</a:t>
            </a:r>
            <a:r>
              <a:rPr lang="en-IN" b="1" dirty="0" smtClean="0"/>
              <a:t>() Method</a:t>
            </a:r>
          </a:p>
          <a:p>
            <a:pPr marL="285750" indent="-285750">
              <a:buFont typeface="Arial" panose="020B0604020202020204" pitchFamily="34" charset="0"/>
              <a:buChar char="•"/>
            </a:pPr>
            <a:r>
              <a:rPr lang="en-US" dirty="0" smtClean="0">
                <a:effectLst/>
              </a:rPr>
              <a:t>Performs </a:t>
            </a:r>
            <a:r>
              <a:rPr lang="en-US" b="1" dirty="0" err="1" smtClean="0">
                <a:effectLst/>
              </a:rPr>
              <a:t>inorder</a:t>
            </a:r>
            <a:r>
              <a:rPr lang="en-US" b="1" dirty="0" smtClean="0">
                <a:effectLst/>
              </a:rPr>
              <a:t> traversal</a:t>
            </a:r>
            <a:r>
              <a:rPr lang="en-US" dirty="0" smtClean="0">
                <a:effectLst/>
              </a:rPr>
              <a:t> (Left → Root → Right).</a:t>
            </a:r>
            <a:endParaRPr lang="en-US" dirty="0" smtClean="0"/>
          </a:p>
          <a:p>
            <a:pPr marL="285750" indent="-285750">
              <a:buFont typeface="Arial" panose="020B0604020202020204" pitchFamily="34" charset="0"/>
              <a:buChar char="•"/>
            </a:pPr>
            <a:r>
              <a:rPr lang="en-US" dirty="0" smtClean="0">
                <a:effectLst/>
              </a:rPr>
              <a:t>Prints nodes in sorted order for a binary tree.</a:t>
            </a:r>
            <a:endParaRPr lang="en-US" dirty="0" smtClean="0"/>
          </a:p>
          <a:p>
            <a:endParaRPr lang="en-US" dirty="0" smtClean="0"/>
          </a:p>
          <a:p>
            <a:r>
              <a:rPr lang="en-IN" b="1" dirty="0" smtClean="0"/>
              <a:t>main() Method</a:t>
            </a:r>
          </a:p>
          <a:p>
            <a:r>
              <a:rPr lang="en-IN" dirty="0" smtClean="0"/>
              <a:t>Builds this tree:</a:t>
            </a:r>
          </a:p>
          <a:p>
            <a:endParaRPr lang="en-US" dirty="0"/>
          </a:p>
          <a:p>
            <a:endParaRPr lang="en-US" dirty="0" smtClean="0"/>
          </a:p>
          <a:p>
            <a:endParaRPr lang="en-US" dirty="0"/>
          </a:p>
          <a:p>
            <a:r>
              <a:rPr lang="en-US" dirty="0" smtClean="0"/>
              <a:t>Every node has either two children or none, so it’s Full.</a:t>
            </a:r>
          </a:p>
          <a:p>
            <a:endParaRPr lang="en-US" dirty="0" smtClean="0"/>
          </a:p>
          <a:p>
            <a:r>
              <a:rPr lang="en-US" dirty="0" smtClean="0"/>
              <a:t>Prints:</a:t>
            </a:r>
          </a:p>
          <a:p>
            <a:r>
              <a:rPr lang="en-US" dirty="0" err="1" smtClean="0"/>
              <a:t>Inorder</a:t>
            </a:r>
            <a:r>
              <a:rPr lang="en-US" dirty="0" smtClean="0"/>
              <a:t> Traversal: 4 2 5 1 6 3 7</a:t>
            </a:r>
          </a:p>
          <a:p>
            <a:r>
              <a:rPr lang="en-US" dirty="0" smtClean="0"/>
              <a:t>This is a Full Binary Tree</a:t>
            </a:r>
          </a:p>
          <a:p>
            <a:endParaRPr lang="en-US" dirty="0"/>
          </a:p>
          <a:p>
            <a:r>
              <a:rPr lang="en-US" b="1" dirty="0" smtClean="0"/>
              <a:t>This program:</a:t>
            </a:r>
          </a:p>
          <a:p>
            <a:pPr marL="285750" indent="-285750">
              <a:buFont typeface="Arial" panose="020B0604020202020204" pitchFamily="34" charset="0"/>
              <a:buChar char="•"/>
            </a:pPr>
            <a:r>
              <a:rPr lang="en-US" dirty="0" smtClean="0"/>
              <a:t>Builds a binary tree.</a:t>
            </a:r>
          </a:p>
          <a:p>
            <a:pPr marL="285750" indent="-285750">
              <a:buFont typeface="Arial" panose="020B0604020202020204" pitchFamily="34" charset="0"/>
              <a:buChar char="•"/>
            </a:pPr>
            <a:r>
              <a:rPr lang="en-US" dirty="0" smtClean="0"/>
              <a:t>Traverses it in </a:t>
            </a:r>
            <a:r>
              <a:rPr lang="en-US" dirty="0" err="1" smtClean="0"/>
              <a:t>inorder</a:t>
            </a:r>
            <a:r>
              <a:rPr lang="en-US" dirty="0" smtClean="0"/>
              <a:t>.</a:t>
            </a:r>
          </a:p>
          <a:p>
            <a:pPr marL="285750" indent="-285750">
              <a:buFont typeface="Arial" panose="020B0604020202020204" pitchFamily="34" charset="0"/>
              <a:buChar char="•"/>
            </a:pPr>
            <a:r>
              <a:rPr lang="en-US" dirty="0" smtClean="0"/>
              <a:t>Checks whether it’s a Full Binary Tree using recursion.</a:t>
            </a:r>
          </a:p>
          <a:p>
            <a:r>
              <a:rPr lang="en-US" dirty="0" smtClean="0"/>
              <a:t>In short: it verifies that every node has either 0 or 2 children, confirming the tree’s completeness in structure.</a:t>
            </a:r>
          </a:p>
        </p:txBody>
      </p:sp>
      <p:pic>
        <p:nvPicPr>
          <p:cNvPr id="2" name="Picture 1"/>
          <p:cNvPicPr>
            <a:picLocks noChangeAspect="1"/>
          </p:cNvPicPr>
          <p:nvPr/>
        </p:nvPicPr>
        <p:blipFill>
          <a:blip r:embed="rId3"/>
          <a:stretch>
            <a:fillRect/>
          </a:stretch>
        </p:blipFill>
        <p:spPr>
          <a:xfrm>
            <a:off x="1995453" y="2396191"/>
            <a:ext cx="1733792" cy="1133633"/>
          </a:xfrm>
          <a:prstGeom prst="rect">
            <a:avLst/>
          </a:prstGeom>
        </p:spPr>
      </p:pic>
    </p:spTree>
    <p:extLst>
      <p:ext uri="{BB962C8B-B14F-4D97-AF65-F5344CB8AC3E}">
        <p14:creationId xmlns:p14="http://schemas.microsoft.com/office/powerpoint/2010/main" val="20689005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smtClean="0">
                <a:solidFill>
                  <a:srgbClr val="FF0000"/>
                </a:solidFill>
              </a:rPr>
              <a:t>Complete Binary Tree</a:t>
            </a:r>
          </a:p>
          <a:p>
            <a:endParaRPr lang="en-US" b="1" dirty="0" smtClean="0"/>
          </a:p>
          <a:p>
            <a:r>
              <a:rPr lang="en-US" dirty="0" smtClean="0">
                <a:effectLst/>
              </a:rPr>
              <a:t>A </a:t>
            </a:r>
            <a:r>
              <a:rPr lang="en-US" b="1" dirty="0" smtClean="0">
                <a:effectLst/>
              </a:rPr>
              <a:t>Complete Binary Tree</a:t>
            </a:r>
            <a:r>
              <a:rPr lang="en-US" dirty="0" smtClean="0">
                <a:effectLst/>
              </a:rPr>
              <a:t> is a binary tree where:</a:t>
            </a:r>
            <a:endParaRPr lang="en-US" dirty="0" smtClean="0"/>
          </a:p>
          <a:p>
            <a:pPr marL="285750" indent="-285750">
              <a:buFont typeface="Arial" panose="020B0604020202020204" pitchFamily="34" charset="0"/>
              <a:buChar char="•"/>
            </a:pPr>
            <a:r>
              <a:rPr lang="en-US" dirty="0" smtClean="0">
                <a:effectLst/>
              </a:rPr>
              <a:t>All levels are </a:t>
            </a:r>
            <a:r>
              <a:rPr lang="en-US" b="1" dirty="0" smtClean="0">
                <a:effectLst/>
              </a:rPr>
              <a:t>completely filled</a:t>
            </a:r>
            <a:r>
              <a:rPr lang="en-US" dirty="0" smtClean="0">
                <a:effectLst/>
              </a:rPr>
              <a:t>,</a:t>
            </a:r>
            <a:endParaRPr lang="en-US" dirty="0" smtClean="0"/>
          </a:p>
          <a:p>
            <a:pPr marL="285750" indent="-285750">
              <a:buFont typeface="Arial" panose="020B0604020202020204" pitchFamily="34" charset="0"/>
              <a:buChar char="•"/>
            </a:pPr>
            <a:r>
              <a:rPr lang="en-US" dirty="0" smtClean="0">
                <a:effectLst/>
              </a:rPr>
              <a:t>Except possibly the </a:t>
            </a:r>
            <a:r>
              <a:rPr lang="en-US" b="1" dirty="0" smtClean="0">
                <a:effectLst/>
              </a:rPr>
              <a:t>last level</a:t>
            </a:r>
            <a:r>
              <a:rPr lang="en-US" dirty="0" smtClean="0">
                <a:effectLst/>
              </a:rPr>
              <a:t>, which is filled </a:t>
            </a:r>
            <a:r>
              <a:rPr lang="en-US" b="1" dirty="0" smtClean="0">
                <a:effectLst/>
              </a:rPr>
              <a:t>from left to right</a:t>
            </a:r>
            <a:r>
              <a:rPr lang="en-US" dirty="0" smtClean="0">
                <a:effectLst/>
              </a:rPr>
              <a:t> without gaps.</a:t>
            </a:r>
            <a:endParaRPr lang="en-US" dirty="0" smtClean="0"/>
          </a:p>
          <a:p>
            <a:pPr marL="285750" indent="-285750">
              <a:buFont typeface="Arial" panose="020B0604020202020204" pitchFamily="34" charset="0"/>
              <a:buChar char="•"/>
            </a:pPr>
            <a:r>
              <a:rPr lang="en-US" dirty="0" smtClean="0">
                <a:effectLst/>
              </a:rPr>
              <a:t>No node in the last level can have a right child unless it already has a left child.</a:t>
            </a:r>
            <a:endParaRPr lang="en-US" dirty="0" smtClean="0"/>
          </a:p>
          <a:p>
            <a:endParaRPr lang="en-US" dirty="0" smtClean="0"/>
          </a:p>
          <a:p>
            <a:endParaRPr lang="en-US" dirty="0" smtClean="0"/>
          </a:p>
          <a:p>
            <a:endParaRPr lang="en-US" dirty="0"/>
          </a:p>
          <a:p>
            <a:endParaRPr lang="en-US" dirty="0" smtClean="0"/>
          </a:p>
          <a:p>
            <a:endParaRPr lang="en-US" dirty="0"/>
          </a:p>
          <a:p>
            <a:endParaRPr lang="en-US" dirty="0" smtClean="0"/>
          </a:p>
          <a:p>
            <a:endParaRPr lang="en-US" dirty="0"/>
          </a:p>
          <a:p>
            <a:r>
              <a:rPr lang="en-US" b="1" dirty="0" smtClean="0">
                <a:effectLst/>
              </a:rPr>
              <a:t>Level 1 (Root)</a:t>
            </a:r>
            <a:r>
              <a:rPr lang="en-US" dirty="0" smtClean="0">
                <a:effectLst/>
              </a:rPr>
              <a:t> → The root is filled.</a:t>
            </a:r>
            <a:endParaRPr lang="en-US" dirty="0" smtClean="0"/>
          </a:p>
          <a:p>
            <a:r>
              <a:rPr lang="en-US" b="1" dirty="0" smtClean="0">
                <a:effectLst/>
              </a:rPr>
              <a:t>Level 2</a:t>
            </a:r>
            <a:r>
              <a:rPr lang="en-US" dirty="0" smtClean="0">
                <a:effectLst/>
              </a:rPr>
              <a:t> → Both children of the root (Node1 and Node2) are present → fully filled.</a:t>
            </a:r>
            <a:endParaRPr lang="en-US" dirty="0" smtClean="0"/>
          </a:p>
          <a:p>
            <a:r>
              <a:rPr lang="en-US" b="1" dirty="0" smtClean="0">
                <a:effectLst/>
              </a:rPr>
              <a:t>Level 3</a:t>
            </a:r>
            <a:r>
              <a:rPr lang="en-US" dirty="0" smtClean="0">
                <a:effectLst/>
              </a:rPr>
              <a:t> → Nodes are added </a:t>
            </a:r>
            <a:r>
              <a:rPr lang="en-US" b="1" dirty="0" smtClean="0">
                <a:effectLst/>
              </a:rPr>
              <a:t>from left to right</a:t>
            </a:r>
            <a:r>
              <a:rPr lang="en-US" dirty="0" smtClean="0">
                <a:effectLst/>
              </a:rPr>
              <a:t>:</a:t>
            </a:r>
            <a:endParaRPr lang="en-US" dirty="0" smtClean="0"/>
          </a:p>
          <a:p>
            <a:pPr marL="742950" lvl="1" indent="-285750">
              <a:buFont typeface="Arial" panose="020B0604020202020204" pitchFamily="34" charset="0"/>
              <a:buChar char="•"/>
            </a:pPr>
            <a:r>
              <a:rPr lang="en-US" dirty="0" smtClean="0">
                <a:effectLst/>
              </a:rPr>
              <a:t>Node1 has two children (Node3, Node4).</a:t>
            </a:r>
            <a:endParaRPr lang="en-US" dirty="0" smtClean="0"/>
          </a:p>
          <a:p>
            <a:pPr marL="742950" lvl="1" indent="-285750">
              <a:buFont typeface="Arial" panose="020B0604020202020204" pitchFamily="34" charset="0"/>
              <a:buChar char="•"/>
            </a:pPr>
            <a:r>
              <a:rPr lang="en-US" dirty="0" smtClean="0">
                <a:effectLst/>
              </a:rPr>
              <a:t>Node2 has one child (Node5).</a:t>
            </a:r>
            <a:endParaRPr lang="en-US" dirty="0" smtClean="0"/>
          </a:p>
          <a:p>
            <a:pPr marL="742950" lvl="1" indent="-285750">
              <a:buFont typeface="Arial" panose="020B0604020202020204" pitchFamily="34" charset="0"/>
              <a:buChar char="•"/>
            </a:pPr>
            <a:r>
              <a:rPr lang="en-US" dirty="0" smtClean="0">
                <a:effectLst/>
              </a:rPr>
              <a:t>Notice: Node2’s left child exists, but the right child is missing. This is allowed because filling happens left to right.</a:t>
            </a:r>
            <a:endParaRPr lang="en-US" dirty="0" smtClean="0"/>
          </a:p>
          <a:p>
            <a:endParaRPr lang="en-US" dirty="0" smtClean="0"/>
          </a:p>
        </p:txBody>
      </p:sp>
      <p:pic>
        <p:nvPicPr>
          <p:cNvPr id="2" name="Picture 1"/>
          <p:cNvPicPr>
            <a:picLocks noChangeAspect="1"/>
          </p:cNvPicPr>
          <p:nvPr/>
        </p:nvPicPr>
        <p:blipFill>
          <a:blip r:embed="rId3"/>
          <a:stretch>
            <a:fillRect/>
          </a:stretch>
        </p:blipFill>
        <p:spPr>
          <a:xfrm>
            <a:off x="2033769" y="2476248"/>
            <a:ext cx="2372056" cy="1124107"/>
          </a:xfrm>
          <a:prstGeom prst="rect">
            <a:avLst/>
          </a:prstGeom>
        </p:spPr>
      </p:pic>
    </p:spTree>
    <p:extLst>
      <p:ext uri="{BB962C8B-B14F-4D97-AF65-F5344CB8AC3E}">
        <p14:creationId xmlns:p14="http://schemas.microsoft.com/office/powerpoint/2010/main" val="33215659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Full Binary Tree</a:t>
            </a:r>
          </a:p>
          <a:p>
            <a:endParaRPr lang="en-US" dirty="0" smtClean="0"/>
          </a:p>
        </p:txBody>
      </p:sp>
      <p:pic>
        <p:nvPicPr>
          <p:cNvPr id="7" name="Picture 6"/>
          <p:cNvPicPr>
            <a:picLocks noChangeAspect="1"/>
          </p:cNvPicPr>
          <p:nvPr/>
        </p:nvPicPr>
        <p:blipFill>
          <a:blip r:embed="rId3"/>
          <a:stretch>
            <a:fillRect/>
          </a:stretch>
        </p:blipFill>
        <p:spPr>
          <a:xfrm>
            <a:off x="180632" y="1128469"/>
            <a:ext cx="3667637" cy="5087060"/>
          </a:xfrm>
          <a:prstGeom prst="rect">
            <a:avLst/>
          </a:prstGeom>
        </p:spPr>
      </p:pic>
    </p:spTree>
    <p:extLst>
      <p:ext uri="{BB962C8B-B14F-4D97-AF65-F5344CB8AC3E}">
        <p14:creationId xmlns:p14="http://schemas.microsoft.com/office/powerpoint/2010/main" val="30522564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Complete Binary Tree</a:t>
            </a:r>
          </a:p>
          <a:p>
            <a:endParaRPr lang="en-US" b="1" dirty="0" smtClean="0"/>
          </a:p>
          <a:p>
            <a:r>
              <a:rPr lang="en-US" b="1" dirty="0" smtClean="0"/>
              <a:t>Key Rule</a:t>
            </a:r>
          </a:p>
          <a:p>
            <a:pPr marL="285750" indent="-285750">
              <a:buFont typeface="Arial" panose="020B0604020202020204" pitchFamily="34" charset="0"/>
              <a:buChar char="•"/>
            </a:pPr>
            <a:r>
              <a:rPr lang="en-US" dirty="0" smtClean="0">
                <a:effectLst/>
              </a:rPr>
              <a:t>In a </a:t>
            </a:r>
            <a:r>
              <a:rPr lang="en-US" b="1" dirty="0" smtClean="0">
                <a:effectLst/>
              </a:rPr>
              <a:t>Complete Binary Tree</a:t>
            </a:r>
            <a:r>
              <a:rPr lang="en-US" dirty="0" smtClean="0">
                <a:effectLst/>
              </a:rPr>
              <a:t>, the last level doesn’t need to be completely filled, but it </a:t>
            </a:r>
            <a:r>
              <a:rPr lang="en-US" b="1" dirty="0" smtClean="0">
                <a:effectLst/>
              </a:rPr>
              <a:t>must not have gaps</a:t>
            </a:r>
            <a:r>
              <a:rPr lang="en-US" dirty="0" smtClean="0">
                <a:effectLst/>
              </a:rPr>
              <a:t> when filled from left to right.</a:t>
            </a:r>
            <a:endParaRPr lang="en-US" dirty="0" smtClean="0"/>
          </a:p>
          <a:p>
            <a:pPr marL="285750" indent="-285750">
              <a:buFont typeface="Arial" panose="020B0604020202020204" pitchFamily="34" charset="0"/>
              <a:buChar char="•"/>
            </a:pPr>
            <a:r>
              <a:rPr lang="en-US" dirty="0" smtClean="0">
                <a:effectLst/>
              </a:rPr>
              <a:t>That’s why Node5 is placed as the </a:t>
            </a:r>
            <a:r>
              <a:rPr lang="en-US" b="1" dirty="0" smtClean="0">
                <a:effectLst/>
              </a:rPr>
              <a:t>left child of Node2</a:t>
            </a:r>
            <a:r>
              <a:rPr lang="en-US" dirty="0" smtClean="0">
                <a:effectLst/>
              </a:rPr>
              <a:t>. If Node2 had only a right child and no left child, it would </a:t>
            </a:r>
            <a:r>
              <a:rPr lang="en-US" b="1" dirty="0" smtClean="0">
                <a:effectLst/>
              </a:rPr>
              <a:t>not</a:t>
            </a:r>
            <a:r>
              <a:rPr lang="en-US" dirty="0" smtClean="0">
                <a:effectLst/>
              </a:rPr>
              <a:t> be complete.</a:t>
            </a:r>
            <a:endParaRPr lang="en-US" dirty="0" smtClean="0"/>
          </a:p>
          <a:p>
            <a:endParaRPr lang="en-US" b="1" dirty="0" smtClean="0"/>
          </a:p>
          <a:p>
            <a:r>
              <a:rPr lang="en-US" b="1" dirty="0" smtClean="0"/>
              <a:t>Characteristics</a:t>
            </a:r>
          </a:p>
          <a:p>
            <a:pPr marL="285750" indent="-285750">
              <a:buFont typeface="Arial" panose="020B0604020202020204" pitchFamily="34" charset="0"/>
              <a:buChar char="•"/>
            </a:pPr>
            <a:r>
              <a:rPr lang="en-US" b="1" dirty="0" smtClean="0">
                <a:effectLst/>
              </a:rPr>
              <a:t>Balanced filling</a:t>
            </a:r>
            <a:r>
              <a:rPr lang="en-US" dirty="0" smtClean="0">
                <a:effectLst/>
              </a:rPr>
              <a:t>: Nodes are added level by level, left to right.</a:t>
            </a:r>
            <a:endParaRPr lang="en-US" dirty="0" smtClean="0"/>
          </a:p>
          <a:p>
            <a:pPr marL="285750" indent="-285750">
              <a:buFont typeface="Arial" panose="020B0604020202020204" pitchFamily="34" charset="0"/>
              <a:buChar char="•"/>
            </a:pPr>
            <a:r>
              <a:rPr lang="en-US" b="1" dirty="0" smtClean="0">
                <a:effectLst/>
              </a:rPr>
              <a:t>Height efficiency</a:t>
            </a:r>
            <a:r>
              <a:rPr lang="en-US" dirty="0" smtClean="0">
                <a:effectLst/>
              </a:rPr>
              <a:t>: Keeps the tree compact.</a:t>
            </a:r>
            <a:endParaRPr lang="en-US" dirty="0" smtClean="0"/>
          </a:p>
          <a:p>
            <a:pPr marL="285750" indent="-285750">
              <a:buFont typeface="Arial" panose="020B0604020202020204" pitchFamily="34" charset="0"/>
              <a:buChar char="•"/>
            </a:pPr>
            <a:r>
              <a:rPr lang="en-US" b="1" dirty="0" smtClean="0">
                <a:effectLst/>
              </a:rPr>
              <a:t>Relation to arrays</a:t>
            </a:r>
            <a:r>
              <a:rPr lang="en-US" dirty="0" smtClean="0">
                <a:effectLst/>
              </a:rPr>
              <a:t>: A complete binary tree can be easily represented in an array (index-based storage).</a:t>
            </a:r>
            <a:endParaRPr lang="en-US" dirty="0" smtClean="0"/>
          </a:p>
          <a:p>
            <a:endParaRPr lang="en-US" b="1" dirty="0" smtClean="0"/>
          </a:p>
          <a:p>
            <a:r>
              <a:rPr lang="en-IN" b="1" dirty="0" smtClean="0"/>
              <a:t>Real-Life Applications</a:t>
            </a:r>
          </a:p>
          <a:p>
            <a:pPr marL="285750" indent="-285750">
              <a:buFont typeface="Arial" panose="020B0604020202020204" pitchFamily="34" charset="0"/>
              <a:buChar char="•"/>
            </a:pPr>
            <a:r>
              <a:rPr lang="en-IN" b="1" dirty="0" smtClean="0">
                <a:effectLst/>
              </a:rPr>
              <a:t>Heaps (Min-Heap / Max-Heap)</a:t>
            </a:r>
            <a:r>
              <a:rPr lang="en-IN" dirty="0" smtClean="0">
                <a:effectLst/>
              </a:rPr>
              <a:t> → Priority queues rely on complete binary trees.</a:t>
            </a:r>
            <a:endParaRPr lang="en-IN" dirty="0" smtClean="0"/>
          </a:p>
          <a:p>
            <a:pPr marL="285750" indent="-285750">
              <a:buFont typeface="Arial" panose="020B0604020202020204" pitchFamily="34" charset="0"/>
              <a:buChar char="•"/>
            </a:pPr>
            <a:r>
              <a:rPr lang="en-IN" b="1" dirty="0" smtClean="0">
                <a:effectLst/>
              </a:rPr>
              <a:t>Efficient storage</a:t>
            </a:r>
            <a:r>
              <a:rPr lang="en-IN" dirty="0" smtClean="0">
                <a:effectLst/>
              </a:rPr>
              <a:t> → Array representation avoids wasted space.</a:t>
            </a:r>
            <a:endParaRPr lang="en-IN" dirty="0" smtClean="0"/>
          </a:p>
          <a:p>
            <a:pPr marL="285750" indent="-285750">
              <a:buFont typeface="Arial" panose="020B0604020202020204" pitchFamily="34" charset="0"/>
              <a:buChar char="•"/>
            </a:pPr>
            <a:r>
              <a:rPr lang="en-IN" b="1" dirty="0" smtClean="0">
                <a:effectLst/>
              </a:rPr>
              <a:t>Scheduling &amp; resource allocation</a:t>
            </a:r>
            <a:r>
              <a:rPr lang="en-IN" dirty="0" smtClean="0">
                <a:effectLst/>
              </a:rPr>
              <a:t> → Balanced structure ensures fairness.</a:t>
            </a:r>
            <a:endParaRPr lang="en-IN" dirty="0" smtClean="0"/>
          </a:p>
          <a:p>
            <a:endParaRPr lang="en-US" b="1" dirty="0"/>
          </a:p>
          <a:p>
            <a:endParaRPr lang="en-US" b="1" dirty="0" smtClean="0"/>
          </a:p>
        </p:txBody>
      </p:sp>
    </p:spTree>
    <p:extLst>
      <p:ext uri="{BB962C8B-B14F-4D97-AF65-F5344CB8AC3E}">
        <p14:creationId xmlns:p14="http://schemas.microsoft.com/office/powerpoint/2010/main" val="18568828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smtClean="0">
                <a:solidFill>
                  <a:srgbClr val="FF0000"/>
                </a:solidFill>
              </a:rPr>
              <a:t>Complete Binary Tree</a:t>
            </a:r>
          </a:p>
          <a:p>
            <a:endParaRPr lang="en-US" b="1" dirty="0" smtClean="0"/>
          </a:p>
          <a:p>
            <a:endParaRPr lang="en-US" b="1" dirty="0" smtClean="0"/>
          </a:p>
        </p:txBody>
      </p:sp>
      <p:pic>
        <p:nvPicPr>
          <p:cNvPr id="7" name="Picture 6"/>
          <p:cNvPicPr>
            <a:picLocks noChangeAspect="1"/>
          </p:cNvPicPr>
          <p:nvPr/>
        </p:nvPicPr>
        <p:blipFill>
          <a:blip r:embed="rId3"/>
          <a:stretch>
            <a:fillRect/>
          </a:stretch>
        </p:blipFill>
        <p:spPr>
          <a:xfrm>
            <a:off x="132957" y="881149"/>
            <a:ext cx="6830378" cy="5857068"/>
          </a:xfrm>
          <a:prstGeom prst="rect">
            <a:avLst/>
          </a:prstGeom>
        </p:spPr>
      </p:pic>
    </p:spTree>
    <p:extLst>
      <p:ext uri="{BB962C8B-B14F-4D97-AF65-F5344CB8AC3E}">
        <p14:creationId xmlns:p14="http://schemas.microsoft.com/office/powerpoint/2010/main" val="6710482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smtClean="0">
                <a:solidFill>
                  <a:srgbClr val="FF0000"/>
                </a:solidFill>
              </a:rPr>
              <a:t>Complete Binary Tree</a:t>
            </a:r>
          </a:p>
          <a:p>
            <a:endParaRPr lang="en-US" b="1" dirty="0" smtClean="0"/>
          </a:p>
          <a:p>
            <a:endParaRPr lang="en-US" b="1" dirty="0" smtClean="0"/>
          </a:p>
        </p:txBody>
      </p:sp>
      <p:pic>
        <p:nvPicPr>
          <p:cNvPr id="8" name="Picture 7"/>
          <p:cNvPicPr>
            <a:picLocks noChangeAspect="1"/>
          </p:cNvPicPr>
          <p:nvPr/>
        </p:nvPicPr>
        <p:blipFill>
          <a:blip r:embed="rId3"/>
          <a:stretch>
            <a:fillRect/>
          </a:stretch>
        </p:blipFill>
        <p:spPr>
          <a:xfrm>
            <a:off x="132808" y="943803"/>
            <a:ext cx="6506483" cy="5797362"/>
          </a:xfrm>
          <a:prstGeom prst="rect">
            <a:avLst/>
          </a:prstGeom>
        </p:spPr>
      </p:pic>
    </p:spTree>
    <p:extLst>
      <p:ext uri="{BB962C8B-B14F-4D97-AF65-F5344CB8AC3E}">
        <p14:creationId xmlns:p14="http://schemas.microsoft.com/office/powerpoint/2010/main" val="285197024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smtClean="0">
                <a:solidFill>
                  <a:srgbClr val="FF0000"/>
                </a:solidFill>
              </a:rPr>
              <a:t>Complete Binary Tree</a:t>
            </a:r>
          </a:p>
          <a:p>
            <a:endParaRPr lang="en-US" b="1" dirty="0" smtClean="0"/>
          </a:p>
          <a:p>
            <a:endParaRPr lang="en-US" b="1" dirty="0" smtClean="0"/>
          </a:p>
        </p:txBody>
      </p:sp>
      <p:pic>
        <p:nvPicPr>
          <p:cNvPr id="7" name="Picture 6"/>
          <p:cNvPicPr>
            <a:picLocks noChangeAspect="1"/>
          </p:cNvPicPr>
          <p:nvPr/>
        </p:nvPicPr>
        <p:blipFill>
          <a:blip r:embed="rId3"/>
          <a:stretch>
            <a:fillRect/>
          </a:stretch>
        </p:blipFill>
        <p:spPr>
          <a:xfrm>
            <a:off x="153286" y="933265"/>
            <a:ext cx="7163800" cy="1400370"/>
          </a:xfrm>
          <a:prstGeom prst="rect">
            <a:avLst/>
          </a:prstGeom>
        </p:spPr>
      </p:pic>
    </p:spTree>
    <p:extLst>
      <p:ext uri="{BB962C8B-B14F-4D97-AF65-F5344CB8AC3E}">
        <p14:creationId xmlns:p14="http://schemas.microsoft.com/office/powerpoint/2010/main" val="10007013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909310"/>
          </a:xfrm>
          <a:prstGeom prst="rect">
            <a:avLst/>
          </a:prstGeom>
        </p:spPr>
        <p:txBody>
          <a:bodyPr wrap="square">
            <a:spAutoFit/>
          </a:bodyPr>
          <a:lstStyle/>
          <a:p>
            <a:r>
              <a:rPr lang="en-US" b="1" dirty="0" smtClean="0">
                <a:solidFill>
                  <a:srgbClr val="FF0000"/>
                </a:solidFill>
              </a:rPr>
              <a:t>Complete Binary Tree</a:t>
            </a:r>
          </a:p>
          <a:p>
            <a:endParaRPr lang="en-US" b="1" dirty="0" smtClean="0"/>
          </a:p>
          <a:p>
            <a:r>
              <a:rPr lang="en-US" dirty="0" smtClean="0"/>
              <a:t>This program checks whether a given binary tree is a </a:t>
            </a:r>
            <a:r>
              <a:rPr lang="en-US" b="1" dirty="0" smtClean="0"/>
              <a:t>Complete Binary Tree</a:t>
            </a:r>
            <a:r>
              <a:rPr lang="en-US" dirty="0" smtClean="0"/>
              <a:t> — meaning all levels are fully filled except possibly the last, which is filled </a:t>
            </a:r>
            <a:r>
              <a:rPr lang="en-US" b="1" dirty="0" smtClean="0"/>
              <a:t>from left to right</a:t>
            </a:r>
            <a:r>
              <a:rPr lang="en-US" dirty="0" smtClean="0"/>
              <a:t> without gaps.</a:t>
            </a:r>
          </a:p>
          <a:p>
            <a:endParaRPr lang="en-US" b="1" dirty="0"/>
          </a:p>
          <a:p>
            <a:r>
              <a:rPr lang="en-IN" b="1" dirty="0" smtClean="0"/>
              <a:t>Node Class</a:t>
            </a:r>
          </a:p>
          <a:p>
            <a:r>
              <a:rPr lang="en-US" dirty="0" smtClean="0"/>
              <a:t>Defines a node with:</a:t>
            </a:r>
          </a:p>
          <a:p>
            <a:pPr marL="285750" indent="-285750">
              <a:buFont typeface="Arial" panose="020B0604020202020204" pitchFamily="34" charset="0"/>
              <a:buChar char="•"/>
            </a:pPr>
            <a:r>
              <a:rPr lang="en-US" dirty="0" smtClean="0"/>
              <a:t>data → value stored in the node.</a:t>
            </a:r>
          </a:p>
          <a:p>
            <a:pPr marL="285750" indent="-285750">
              <a:buFont typeface="Arial" panose="020B0604020202020204" pitchFamily="34" charset="0"/>
              <a:buChar char="•"/>
            </a:pPr>
            <a:r>
              <a:rPr lang="en-US" dirty="0" smtClean="0"/>
              <a:t>left and right → pointers to child nodes.</a:t>
            </a:r>
          </a:p>
          <a:p>
            <a:pPr marL="285750" indent="-285750">
              <a:buFont typeface="Arial" panose="020B0604020202020204" pitchFamily="34" charset="0"/>
              <a:buChar char="•"/>
            </a:pPr>
            <a:endParaRPr lang="en-US" dirty="0"/>
          </a:p>
          <a:p>
            <a:r>
              <a:rPr lang="en-US" b="1" dirty="0" err="1" smtClean="0"/>
              <a:t>isCompleteBinaryTree</a:t>
            </a:r>
            <a:r>
              <a:rPr lang="en-US" b="1" dirty="0" smtClean="0"/>
              <a:t>() Method</a:t>
            </a:r>
          </a:p>
          <a:p>
            <a:pPr marL="285750" indent="-285750">
              <a:buFont typeface="Arial" panose="020B0604020202020204" pitchFamily="34" charset="0"/>
              <a:buChar char="•"/>
            </a:pPr>
            <a:r>
              <a:rPr lang="en-US" dirty="0" smtClean="0"/>
              <a:t>Uses a queue for level-order traversal (Breadth-First Search).</a:t>
            </a:r>
          </a:p>
          <a:p>
            <a:pPr marL="285750" indent="-285750">
              <a:buFont typeface="Arial" panose="020B0604020202020204" pitchFamily="34" charset="0"/>
              <a:buChar char="•"/>
            </a:pPr>
            <a:r>
              <a:rPr lang="en-US" dirty="0" smtClean="0"/>
              <a:t>Visits nodes level by level:</a:t>
            </a:r>
          </a:p>
          <a:p>
            <a:pPr marL="285750" indent="-285750">
              <a:buFont typeface="Arial" panose="020B0604020202020204" pitchFamily="34" charset="0"/>
              <a:buChar char="•"/>
            </a:pPr>
            <a:r>
              <a:rPr lang="en-US" dirty="0" smtClean="0"/>
              <a:t>If a null child is found, mark </a:t>
            </a:r>
            <a:r>
              <a:rPr lang="en-US" dirty="0" err="1" smtClean="0"/>
              <a:t>foundNull</a:t>
            </a:r>
            <a:r>
              <a:rPr lang="en-US" dirty="0" smtClean="0"/>
              <a:t> = true.</a:t>
            </a:r>
          </a:p>
          <a:p>
            <a:pPr marL="285750" indent="-285750">
              <a:buFont typeface="Arial" panose="020B0604020202020204" pitchFamily="34" charset="0"/>
              <a:buChar char="•"/>
            </a:pPr>
            <a:r>
              <a:rPr lang="en-US" dirty="0" smtClean="0"/>
              <a:t>If later a non-null node appears after a null → tree is not complete.</a:t>
            </a:r>
          </a:p>
          <a:p>
            <a:pPr marL="285750" indent="-285750">
              <a:buFont typeface="Arial" panose="020B0604020202020204" pitchFamily="34" charset="0"/>
              <a:buChar char="•"/>
            </a:pPr>
            <a:r>
              <a:rPr lang="en-US" dirty="0" smtClean="0"/>
              <a:t>This ensures all nodes are filled left to right without gaps.</a:t>
            </a:r>
          </a:p>
          <a:p>
            <a:pPr marL="285750" indent="-285750">
              <a:buFont typeface="Arial" panose="020B0604020202020204" pitchFamily="34" charset="0"/>
              <a:buChar char="•"/>
            </a:pPr>
            <a:endParaRPr lang="en-US" dirty="0"/>
          </a:p>
          <a:p>
            <a:r>
              <a:rPr lang="en-IN" b="1" dirty="0" err="1" smtClean="0"/>
              <a:t>levelOrder</a:t>
            </a:r>
            <a:r>
              <a:rPr lang="en-IN" b="1" dirty="0" smtClean="0"/>
              <a:t>() Method</a:t>
            </a:r>
          </a:p>
          <a:p>
            <a:r>
              <a:rPr lang="en-US" dirty="0" smtClean="0">
                <a:effectLst/>
              </a:rPr>
              <a:t>Prints nodes level by level (top to bottom, left to right).</a:t>
            </a:r>
            <a:endParaRPr lang="en-US" dirty="0" smtClean="0"/>
          </a:p>
          <a:p>
            <a:r>
              <a:rPr lang="en-US" dirty="0" smtClean="0">
                <a:effectLst/>
              </a:rPr>
              <a:t>Helps visualize the tree structure.</a:t>
            </a:r>
            <a:endParaRPr lang="en-US" dirty="0" smtClean="0"/>
          </a:p>
          <a:p>
            <a:endParaRPr lang="en-US" b="1" dirty="0" smtClean="0"/>
          </a:p>
        </p:txBody>
      </p:sp>
    </p:spTree>
    <p:extLst>
      <p:ext uri="{BB962C8B-B14F-4D97-AF65-F5344CB8AC3E}">
        <p14:creationId xmlns:p14="http://schemas.microsoft.com/office/powerpoint/2010/main" val="390984477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Complete Binary Tree</a:t>
            </a:r>
          </a:p>
          <a:p>
            <a:endParaRPr lang="en-US" b="1" dirty="0" smtClean="0"/>
          </a:p>
          <a:p>
            <a:r>
              <a:rPr lang="en-IN" b="1" dirty="0" smtClean="0"/>
              <a:t>main() Method</a:t>
            </a:r>
          </a:p>
          <a:p>
            <a:r>
              <a:rPr lang="en-IN" dirty="0" smtClean="0"/>
              <a:t>Builds this tree:</a:t>
            </a:r>
          </a:p>
          <a:p>
            <a:endParaRPr lang="en-US" b="1" dirty="0"/>
          </a:p>
          <a:p>
            <a:endParaRPr lang="en-US" b="1" dirty="0" smtClean="0"/>
          </a:p>
          <a:p>
            <a:endParaRPr lang="en-US" b="1" dirty="0"/>
          </a:p>
          <a:p>
            <a:endParaRPr lang="en-US" b="1" dirty="0" smtClean="0"/>
          </a:p>
          <a:p>
            <a:r>
              <a:rPr lang="en-US" dirty="0" smtClean="0"/>
              <a:t>Level order traversal prints: 1 2 3 4 5 6</a:t>
            </a:r>
          </a:p>
          <a:p>
            <a:r>
              <a:rPr lang="en-US" dirty="0" smtClean="0"/>
              <a:t>Checks completeness → True, because:</a:t>
            </a:r>
          </a:p>
          <a:p>
            <a:pPr marL="285750" indent="-285750">
              <a:buFont typeface="Arial" panose="020B0604020202020204" pitchFamily="34" charset="0"/>
              <a:buChar char="•"/>
            </a:pPr>
            <a:r>
              <a:rPr lang="en-US" dirty="0" smtClean="0"/>
              <a:t>All levels are filled except the last.</a:t>
            </a:r>
          </a:p>
          <a:p>
            <a:pPr marL="285750" indent="-285750">
              <a:buFont typeface="Arial" panose="020B0604020202020204" pitchFamily="34" charset="0"/>
              <a:buChar char="•"/>
            </a:pPr>
            <a:r>
              <a:rPr lang="en-US" dirty="0" smtClean="0"/>
              <a:t>The last level is filled left to right.</a:t>
            </a:r>
          </a:p>
          <a:p>
            <a:pPr marL="285750" indent="-285750">
              <a:buFont typeface="Arial" panose="020B0604020202020204" pitchFamily="34" charset="0"/>
              <a:buChar char="•"/>
            </a:pPr>
            <a:endParaRPr lang="en-US" dirty="0"/>
          </a:p>
          <a:p>
            <a:r>
              <a:rPr lang="en-IN" b="1" dirty="0" smtClean="0"/>
              <a:t>Output</a:t>
            </a:r>
          </a:p>
          <a:p>
            <a:r>
              <a:rPr lang="en-US" dirty="0" smtClean="0"/>
              <a:t>Level Order Traversal: 1 2 3 4 5 6</a:t>
            </a:r>
          </a:p>
          <a:p>
            <a:r>
              <a:rPr lang="en-US" dirty="0" smtClean="0"/>
              <a:t>This is a Complete Binary Tree</a:t>
            </a:r>
          </a:p>
          <a:p>
            <a:endParaRPr lang="en-US" dirty="0"/>
          </a:p>
          <a:p>
            <a:r>
              <a:rPr lang="en-US" dirty="0" smtClean="0"/>
              <a:t>This program:</a:t>
            </a:r>
          </a:p>
          <a:p>
            <a:pPr marL="285750" indent="-285750">
              <a:buFont typeface="Arial" panose="020B0604020202020204" pitchFamily="34" charset="0"/>
              <a:buChar char="•"/>
            </a:pPr>
            <a:r>
              <a:rPr lang="en-US" dirty="0" smtClean="0"/>
              <a:t>Builds a binary tree.</a:t>
            </a:r>
          </a:p>
          <a:p>
            <a:pPr marL="285750" indent="-285750">
              <a:buFont typeface="Arial" panose="020B0604020202020204" pitchFamily="34" charset="0"/>
              <a:buChar char="•"/>
            </a:pPr>
            <a:r>
              <a:rPr lang="en-US" dirty="0" smtClean="0"/>
              <a:t>Prints it level by level.</a:t>
            </a:r>
          </a:p>
          <a:p>
            <a:pPr marL="285750" indent="-285750">
              <a:buFont typeface="Arial" panose="020B0604020202020204" pitchFamily="34" charset="0"/>
              <a:buChar char="•"/>
            </a:pPr>
            <a:r>
              <a:rPr lang="en-US" dirty="0" smtClean="0"/>
              <a:t>Checks if it’s complete using a queue-based traversal.</a:t>
            </a:r>
          </a:p>
          <a:p>
            <a:r>
              <a:rPr lang="en-US" dirty="0" smtClean="0"/>
              <a:t>It ensures there are no gaps in the tree’s structure — every level is filled properly from left to right.</a:t>
            </a:r>
          </a:p>
        </p:txBody>
      </p:sp>
      <p:pic>
        <p:nvPicPr>
          <p:cNvPr id="2" name="Picture 1"/>
          <p:cNvPicPr>
            <a:picLocks noChangeAspect="1"/>
          </p:cNvPicPr>
          <p:nvPr/>
        </p:nvPicPr>
        <p:blipFill>
          <a:blip r:embed="rId3"/>
          <a:stretch>
            <a:fillRect/>
          </a:stretch>
        </p:blipFill>
        <p:spPr>
          <a:xfrm>
            <a:off x="1828531" y="1398112"/>
            <a:ext cx="1352739" cy="1019317"/>
          </a:xfrm>
          <a:prstGeom prst="rect">
            <a:avLst/>
          </a:prstGeom>
        </p:spPr>
      </p:pic>
    </p:spTree>
    <p:extLst>
      <p:ext uri="{BB962C8B-B14F-4D97-AF65-F5344CB8AC3E}">
        <p14:creationId xmlns:p14="http://schemas.microsoft.com/office/powerpoint/2010/main" val="67813196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923330"/>
          </a:xfrm>
          <a:prstGeom prst="rect">
            <a:avLst/>
          </a:prstGeom>
        </p:spPr>
        <p:txBody>
          <a:bodyPr wrap="square">
            <a:spAutoFit/>
          </a:bodyPr>
          <a:lstStyle/>
          <a:p>
            <a:r>
              <a:rPr lang="en-US" b="1" dirty="0" smtClean="0">
                <a:solidFill>
                  <a:srgbClr val="FF0000"/>
                </a:solidFill>
              </a:rPr>
              <a:t>Complete Binary Tree</a:t>
            </a:r>
          </a:p>
          <a:p>
            <a:endParaRPr lang="en-US" b="1" dirty="0" smtClean="0"/>
          </a:p>
          <a:p>
            <a:endParaRPr lang="en-US" b="1" dirty="0" smtClean="0"/>
          </a:p>
        </p:txBody>
      </p:sp>
      <p:pic>
        <p:nvPicPr>
          <p:cNvPr id="8" name="Picture 7"/>
          <p:cNvPicPr>
            <a:picLocks noChangeAspect="1"/>
          </p:cNvPicPr>
          <p:nvPr/>
        </p:nvPicPr>
        <p:blipFill>
          <a:blip r:embed="rId3"/>
          <a:stretch>
            <a:fillRect/>
          </a:stretch>
        </p:blipFill>
        <p:spPr>
          <a:xfrm>
            <a:off x="187513" y="1128501"/>
            <a:ext cx="5582429" cy="5153744"/>
          </a:xfrm>
          <a:prstGeom prst="rect">
            <a:avLst/>
          </a:prstGeom>
        </p:spPr>
      </p:pic>
    </p:spTree>
    <p:extLst>
      <p:ext uri="{BB962C8B-B14F-4D97-AF65-F5344CB8AC3E}">
        <p14:creationId xmlns:p14="http://schemas.microsoft.com/office/powerpoint/2010/main" val="158867061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Perfect Binary Tree</a:t>
            </a:r>
          </a:p>
          <a:p>
            <a:r>
              <a:rPr lang="en-US" dirty="0" smtClean="0"/>
              <a:t>A </a:t>
            </a:r>
            <a:r>
              <a:rPr lang="en-US" b="1" dirty="0" smtClean="0"/>
              <a:t>Perfect Binary Tree</a:t>
            </a:r>
            <a:r>
              <a:rPr lang="en-US" dirty="0" smtClean="0"/>
              <a:t> is the most “balanced” form of a binary tree. </a:t>
            </a:r>
          </a:p>
          <a:p>
            <a:r>
              <a:rPr lang="en-US" b="1" dirty="0" smtClean="0"/>
              <a:t>A </a:t>
            </a:r>
            <a:r>
              <a:rPr lang="en-US" b="1" dirty="0" smtClean="0">
                <a:effectLst/>
              </a:rPr>
              <a:t>Perfect Binary Tree</a:t>
            </a:r>
            <a:r>
              <a:rPr lang="en-US" dirty="0" smtClean="0">
                <a:effectLst/>
              </a:rPr>
              <a:t> is a binary tree in which:</a:t>
            </a:r>
            <a:endParaRPr lang="en-US" dirty="0" smtClean="0"/>
          </a:p>
          <a:p>
            <a:pPr marL="285750" indent="-285750">
              <a:buFont typeface="Arial" panose="020B0604020202020204" pitchFamily="34" charset="0"/>
              <a:buChar char="•"/>
            </a:pPr>
            <a:r>
              <a:rPr lang="en-US" b="1" dirty="0" smtClean="0">
                <a:effectLst/>
              </a:rPr>
              <a:t>All internal nodes</a:t>
            </a:r>
            <a:r>
              <a:rPr lang="en-US" dirty="0" smtClean="0">
                <a:effectLst/>
              </a:rPr>
              <a:t> have exactly </a:t>
            </a:r>
            <a:r>
              <a:rPr lang="en-US" b="1" dirty="0" smtClean="0">
                <a:effectLst/>
              </a:rPr>
              <a:t>two children</a:t>
            </a:r>
            <a:r>
              <a:rPr lang="en-US" dirty="0" smtClean="0">
                <a:effectLst/>
              </a:rPr>
              <a:t>.</a:t>
            </a:r>
            <a:endParaRPr lang="en-US" dirty="0" smtClean="0"/>
          </a:p>
          <a:p>
            <a:pPr marL="285750" indent="-285750">
              <a:buFont typeface="Arial" panose="020B0604020202020204" pitchFamily="34" charset="0"/>
              <a:buChar char="•"/>
            </a:pPr>
            <a:r>
              <a:rPr lang="en-US" b="1" dirty="0" smtClean="0">
                <a:effectLst/>
              </a:rPr>
              <a:t>All leaf nodes</a:t>
            </a:r>
            <a:r>
              <a:rPr lang="en-US" dirty="0" smtClean="0">
                <a:effectLst/>
              </a:rPr>
              <a:t> are at the </a:t>
            </a:r>
            <a:r>
              <a:rPr lang="en-US" b="1" dirty="0" smtClean="0">
                <a:effectLst/>
              </a:rPr>
              <a:t>same level</a:t>
            </a:r>
            <a:r>
              <a:rPr lang="en-US" dirty="0" smtClean="0">
                <a:effectLst/>
              </a:rPr>
              <a:t>.</a:t>
            </a:r>
            <a:endParaRPr lang="en-US" dirty="0" smtClean="0"/>
          </a:p>
          <a:p>
            <a:pPr marL="285750" indent="-285750">
              <a:buFont typeface="Arial" panose="020B0604020202020204" pitchFamily="34" charset="0"/>
              <a:buChar char="•"/>
            </a:pPr>
            <a:r>
              <a:rPr lang="en-US" dirty="0" smtClean="0">
                <a:effectLst/>
              </a:rPr>
              <a:t>The tree is completely filled — no gaps at any level.</a:t>
            </a:r>
            <a:endParaRPr lang="en-US" dirty="0" smtClean="0"/>
          </a:p>
          <a:p>
            <a:pPr marL="285750" indent="-285750">
              <a:buFont typeface="Arial" panose="020B0604020202020204" pitchFamily="34" charset="0"/>
              <a:buChar char="•"/>
            </a:pPr>
            <a:endParaRPr lang="en-US" b="1" dirty="0" smtClean="0"/>
          </a:p>
          <a:p>
            <a:endParaRPr lang="en-US" b="1" dirty="0" smtClean="0"/>
          </a:p>
          <a:p>
            <a:endParaRPr lang="en-US" b="1" dirty="0"/>
          </a:p>
          <a:p>
            <a:endParaRPr lang="en-US" b="1" dirty="0" smtClean="0"/>
          </a:p>
          <a:p>
            <a:endParaRPr lang="en-US" b="1" dirty="0"/>
          </a:p>
          <a:p>
            <a:endParaRPr lang="en-US" b="1" dirty="0" smtClean="0"/>
          </a:p>
          <a:p>
            <a:endParaRPr lang="en-US" b="1" dirty="0"/>
          </a:p>
          <a:p>
            <a:r>
              <a:rPr lang="en-US" b="1" dirty="0" smtClean="0"/>
              <a:t>Explanation:</a:t>
            </a:r>
          </a:p>
          <a:p>
            <a:pPr marL="285750" indent="-285750">
              <a:buFont typeface="Arial" panose="020B0604020202020204" pitchFamily="34" charset="0"/>
              <a:buChar char="•"/>
            </a:pPr>
            <a:r>
              <a:rPr lang="en-US" dirty="0" smtClean="0">
                <a:effectLst/>
              </a:rPr>
              <a:t>The </a:t>
            </a:r>
            <a:r>
              <a:rPr lang="en-US" b="1" dirty="0" smtClean="0">
                <a:effectLst/>
              </a:rPr>
              <a:t>Root</a:t>
            </a:r>
            <a:r>
              <a:rPr lang="en-US" dirty="0" smtClean="0">
                <a:effectLst/>
              </a:rPr>
              <a:t> has two children.</a:t>
            </a:r>
            <a:endParaRPr lang="en-US" dirty="0" smtClean="0"/>
          </a:p>
          <a:p>
            <a:pPr marL="285750" indent="-285750">
              <a:buFont typeface="Arial" panose="020B0604020202020204" pitchFamily="34" charset="0"/>
              <a:buChar char="•"/>
            </a:pPr>
            <a:r>
              <a:rPr lang="en-US" dirty="0" smtClean="0">
                <a:effectLst/>
              </a:rPr>
              <a:t>Each child (Node1, Node2) also has two children.</a:t>
            </a:r>
            <a:endParaRPr lang="en-US" dirty="0" smtClean="0"/>
          </a:p>
          <a:p>
            <a:pPr marL="285750" indent="-285750">
              <a:buFont typeface="Arial" panose="020B0604020202020204" pitchFamily="34" charset="0"/>
              <a:buChar char="•"/>
            </a:pPr>
            <a:r>
              <a:rPr lang="en-US" dirty="0" smtClean="0">
                <a:effectLst/>
              </a:rPr>
              <a:t>All leaves (Node3, Node4, Node5, Node6) are at the </a:t>
            </a:r>
            <a:r>
              <a:rPr lang="en-US" b="1" dirty="0" smtClean="0">
                <a:effectLst/>
              </a:rPr>
              <a:t>same depth</a:t>
            </a:r>
            <a:r>
              <a:rPr lang="en-US" dirty="0" smtClean="0">
                <a:effectLst/>
              </a:rPr>
              <a:t>.</a:t>
            </a:r>
            <a:endParaRPr lang="en-US" dirty="0" smtClean="0"/>
          </a:p>
          <a:p>
            <a:pPr marL="285750" indent="-285750">
              <a:buFont typeface="Arial" panose="020B0604020202020204" pitchFamily="34" charset="0"/>
              <a:buChar char="•"/>
            </a:pPr>
            <a:r>
              <a:rPr lang="en-US" dirty="0" smtClean="0">
                <a:effectLst/>
              </a:rPr>
              <a:t>No node is missing a child, and no leaf is higher or lower than another.</a:t>
            </a:r>
            <a:endParaRPr lang="en-US" dirty="0" smtClean="0"/>
          </a:p>
          <a:p>
            <a:endParaRPr lang="en-US" b="1" dirty="0" smtClean="0"/>
          </a:p>
        </p:txBody>
      </p:sp>
      <p:pic>
        <p:nvPicPr>
          <p:cNvPr id="2" name="Picture 1"/>
          <p:cNvPicPr>
            <a:picLocks noChangeAspect="1"/>
          </p:cNvPicPr>
          <p:nvPr/>
        </p:nvPicPr>
        <p:blipFill>
          <a:blip r:embed="rId3"/>
          <a:stretch>
            <a:fillRect/>
          </a:stretch>
        </p:blipFill>
        <p:spPr>
          <a:xfrm>
            <a:off x="3276206" y="2478583"/>
            <a:ext cx="2819794" cy="1152686"/>
          </a:xfrm>
          <a:prstGeom prst="rect">
            <a:avLst/>
          </a:prstGeom>
        </p:spPr>
      </p:pic>
    </p:spTree>
    <p:extLst>
      <p:ext uri="{BB962C8B-B14F-4D97-AF65-F5344CB8AC3E}">
        <p14:creationId xmlns:p14="http://schemas.microsoft.com/office/powerpoint/2010/main" val="43723496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smtClean="0">
                <a:solidFill>
                  <a:srgbClr val="FF0000"/>
                </a:solidFill>
              </a:rPr>
              <a:t>Perfect Binary Tree</a:t>
            </a:r>
          </a:p>
          <a:p>
            <a:endParaRPr lang="en-US" b="1" dirty="0"/>
          </a:p>
          <a:p>
            <a:r>
              <a:rPr lang="en-US" b="1" dirty="0" smtClean="0"/>
              <a:t>Characteristics</a:t>
            </a:r>
          </a:p>
          <a:p>
            <a:pPr marL="285750" indent="-285750">
              <a:buFont typeface="Arial" panose="020B0604020202020204" pitchFamily="34" charset="0"/>
              <a:buChar char="•"/>
            </a:pPr>
            <a:r>
              <a:rPr lang="en-US" dirty="0" smtClean="0">
                <a:effectLst/>
              </a:rPr>
              <a:t>Height (h) and number of nodes (n) are related by:</a:t>
            </a:r>
            <a:endParaRPr lang="en-US" dirty="0" smtClean="0"/>
          </a:p>
          <a:p>
            <a:pPr marL="285750" indent="-285750">
              <a:buFont typeface="Arial" panose="020B0604020202020204" pitchFamily="34" charset="0"/>
              <a:buChar char="•"/>
            </a:pPr>
            <a:r>
              <a:rPr lang="en-US" dirty="0" smtClean="0">
                <a:effectLst/>
              </a:rPr>
              <a:t>Every level is fully filled.</a:t>
            </a:r>
            <a:endParaRPr lang="en-US" dirty="0" smtClean="0"/>
          </a:p>
          <a:p>
            <a:pPr marL="285750" indent="-285750">
              <a:buFont typeface="Arial" panose="020B0604020202020204" pitchFamily="34" charset="0"/>
              <a:buChar char="•"/>
            </a:pPr>
            <a:r>
              <a:rPr lang="en-US" dirty="0" smtClean="0">
                <a:effectLst/>
              </a:rPr>
              <a:t>Symmetry is guaranteed.</a:t>
            </a:r>
            <a:endParaRPr lang="en-US" dirty="0" smtClean="0"/>
          </a:p>
          <a:p>
            <a:endParaRPr lang="en-US" b="1" dirty="0" smtClean="0"/>
          </a:p>
          <a:p>
            <a:endParaRPr lang="en-US" b="1" dirty="0"/>
          </a:p>
          <a:p>
            <a:r>
              <a:rPr lang="en-US" b="1" dirty="0" smtClean="0"/>
              <a:t>Real-Life Applications</a:t>
            </a:r>
          </a:p>
          <a:p>
            <a:pPr marL="285750" indent="-285750">
              <a:buFont typeface="Arial" panose="020B0604020202020204" pitchFamily="34" charset="0"/>
              <a:buChar char="•"/>
            </a:pPr>
            <a:r>
              <a:rPr lang="en-US" b="1" dirty="0" smtClean="0">
                <a:effectLst/>
              </a:rPr>
              <a:t>Balanced Search Trees</a:t>
            </a:r>
            <a:r>
              <a:rPr lang="en-US" dirty="0" smtClean="0">
                <a:effectLst/>
              </a:rPr>
              <a:t> → Ensures efficient searching and insertion.</a:t>
            </a:r>
            <a:endParaRPr lang="en-US" dirty="0" smtClean="0"/>
          </a:p>
          <a:p>
            <a:pPr marL="285750" indent="-285750">
              <a:buFont typeface="Arial" panose="020B0604020202020204" pitchFamily="34" charset="0"/>
              <a:buChar char="•"/>
            </a:pPr>
            <a:r>
              <a:rPr lang="en-US" b="1" dirty="0" smtClean="0">
                <a:effectLst/>
              </a:rPr>
              <a:t>Heap Structures</a:t>
            </a:r>
            <a:r>
              <a:rPr lang="en-US" dirty="0" smtClean="0">
                <a:effectLst/>
              </a:rPr>
              <a:t> → Priority queues often rely on perfect or complete trees.</a:t>
            </a:r>
            <a:endParaRPr lang="en-US" dirty="0" smtClean="0"/>
          </a:p>
          <a:p>
            <a:pPr marL="285750" indent="-285750">
              <a:buFont typeface="Arial" panose="020B0604020202020204" pitchFamily="34" charset="0"/>
              <a:buChar char="•"/>
            </a:pPr>
            <a:r>
              <a:rPr lang="en-US" b="1" dirty="0" smtClean="0">
                <a:effectLst/>
              </a:rPr>
              <a:t>Networking &amp; Routing</a:t>
            </a:r>
            <a:r>
              <a:rPr lang="en-US" dirty="0" smtClean="0">
                <a:effectLst/>
              </a:rPr>
              <a:t> → Balanced branching for equal distribution.</a:t>
            </a:r>
            <a:endParaRPr lang="en-US" dirty="0" smtClean="0"/>
          </a:p>
          <a:p>
            <a:endParaRPr lang="en-US" b="1" dirty="0" smtClean="0"/>
          </a:p>
          <a:p>
            <a:r>
              <a:rPr lang="en-US" dirty="0" smtClean="0"/>
              <a:t>A </a:t>
            </a:r>
            <a:r>
              <a:rPr lang="en-US" b="1" dirty="0" smtClean="0"/>
              <a:t>Perfect Binary Tree</a:t>
            </a:r>
            <a:r>
              <a:rPr lang="en-US" dirty="0" smtClean="0"/>
              <a:t> is both </a:t>
            </a:r>
            <a:r>
              <a:rPr lang="en-US" b="1" dirty="0" smtClean="0"/>
              <a:t>full</a:t>
            </a:r>
            <a:r>
              <a:rPr lang="en-US" dirty="0" smtClean="0"/>
              <a:t> (every internal node has 2 children) and </a:t>
            </a:r>
            <a:r>
              <a:rPr lang="en-US" b="1" dirty="0" smtClean="0"/>
              <a:t>complete</a:t>
            </a:r>
            <a:r>
              <a:rPr lang="en-US" dirty="0" smtClean="0"/>
              <a:t> (all levels filled). It’s the ideal structure for maximum efficiency in searching and balancing operations.</a:t>
            </a:r>
            <a:endParaRPr lang="en-US" b="1" dirty="0" smtClean="0"/>
          </a:p>
        </p:txBody>
      </p:sp>
      <p:pic>
        <p:nvPicPr>
          <p:cNvPr id="3" name="Picture 2"/>
          <p:cNvPicPr>
            <a:picLocks noChangeAspect="1"/>
          </p:cNvPicPr>
          <p:nvPr/>
        </p:nvPicPr>
        <p:blipFill>
          <a:blip r:embed="rId3"/>
          <a:stretch>
            <a:fillRect/>
          </a:stretch>
        </p:blipFill>
        <p:spPr>
          <a:xfrm>
            <a:off x="5299036" y="1312036"/>
            <a:ext cx="962159" cy="371527"/>
          </a:xfrm>
          <a:prstGeom prst="rect">
            <a:avLst/>
          </a:prstGeom>
        </p:spPr>
      </p:pic>
    </p:spTree>
    <p:extLst>
      <p:ext uri="{BB962C8B-B14F-4D97-AF65-F5344CB8AC3E}">
        <p14:creationId xmlns:p14="http://schemas.microsoft.com/office/powerpoint/2010/main" val="259367138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Perfect Binary Tree</a:t>
            </a:r>
          </a:p>
          <a:p>
            <a:endParaRPr lang="en-US" b="1" dirty="0"/>
          </a:p>
        </p:txBody>
      </p:sp>
      <p:pic>
        <p:nvPicPr>
          <p:cNvPr id="7" name="Picture 6"/>
          <p:cNvPicPr>
            <a:picLocks noChangeAspect="1"/>
          </p:cNvPicPr>
          <p:nvPr/>
        </p:nvPicPr>
        <p:blipFill>
          <a:blip r:embed="rId3"/>
          <a:stretch>
            <a:fillRect/>
          </a:stretch>
        </p:blipFill>
        <p:spPr>
          <a:xfrm>
            <a:off x="138211" y="922713"/>
            <a:ext cx="6030167" cy="5866268"/>
          </a:xfrm>
          <a:prstGeom prst="rect">
            <a:avLst/>
          </a:prstGeom>
        </p:spPr>
      </p:pic>
    </p:spTree>
    <p:extLst>
      <p:ext uri="{BB962C8B-B14F-4D97-AF65-F5344CB8AC3E}">
        <p14:creationId xmlns:p14="http://schemas.microsoft.com/office/powerpoint/2010/main" val="266368588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Perfect Binary Tree</a:t>
            </a:r>
          </a:p>
          <a:p>
            <a:endParaRPr lang="en-US" b="1" dirty="0"/>
          </a:p>
        </p:txBody>
      </p:sp>
      <p:pic>
        <p:nvPicPr>
          <p:cNvPr id="8" name="Picture 7"/>
          <p:cNvPicPr>
            <a:picLocks noChangeAspect="1"/>
          </p:cNvPicPr>
          <p:nvPr/>
        </p:nvPicPr>
        <p:blipFill>
          <a:blip r:embed="rId3"/>
          <a:stretch>
            <a:fillRect/>
          </a:stretch>
        </p:blipFill>
        <p:spPr>
          <a:xfrm>
            <a:off x="145128" y="914400"/>
            <a:ext cx="6182588" cy="5867868"/>
          </a:xfrm>
          <a:prstGeom prst="rect">
            <a:avLst/>
          </a:prstGeom>
        </p:spPr>
      </p:pic>
    </p:spTree>
    <p:extLst>
      <p:ext uri="{BB962C8B-B14F-4D97-AF65-F5344CB8AC3E}">
        <p14:creationId xmlns:p14="http://schemas.microsoft.com/office/powerpoint/2010/main" val="356767616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Perfect Binary Tree</a:t>
            </a:r>
          </a:p>
          <a:p>
            <a:endParaRPr lang="en-US" b="1" dirty="0"/>
          </a:p>
        </p:txBody>
      </p:sp>
      <p:pic>
        <p:nvPicPr>
          <p:cNvPr id="7" name="Picture 6"/>
          <p:cNvPicPr>
            <a:picLocks noChangeAspect="1"/>
          </p:cNvPicPr>
          <p:nvPr/>
        </p:nvPicPr>
        <p:blipFill>
          <a:blip r:embed="rId3"/>
          <a:stretch>
            <a:fillRect/>
          </a:stretch>
        </p:blipFill>
        <p:spPr>
          <a:xfrm>
            <a:off x="119267" y="987185"/>
            <a:ext cx="9459645" cy="1533739"/>
          </a:xfrm>
          <a:prstGeom prst="rect">
            <a:avLst/>
          </a:prstGeom>
        </p:spPr>
      </p:pic>
    </p:spTree>
    <p:extLst>
      <p:ext uri="{BB962C8B-B14F-4D97-AF65-F5344CB8AC3E}">
        <p14:creationId xmlns:p14="http://schemas.microsoft.com/office/powerpoint/2010/main" val="219476110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smtClean="0">
                <a:solidFill>
                  <a:srgbClr val="FF0000"/>
                </a:solidFill>
              </a:rPr>
              <a:t>Perfect Binary Tree</a:t>
            </a:r>
          </a:p>
          <a:p>
            <a:endParaRPr lang="en-US" b="1" dirty="0" smtClean="0"/>
          </a:p>
          <a:p>
            <a:r>
              <a:rPr lang="en-US" dirty="0" smtClean="0"/>
              <a:t>This program checks whether a given binary tree is a </a:t>
            </a:r>
            <a:r>
              <a:rPr lang="en-US" b="1" dirty="0" smtClean="0"/>
              <a:t>Perfect Binary Tree</a:t>
            </a:r>
            <a:r>
              <a:rPr lang="en-US" dirty="0" smtClean="0"/>
              <a:t> — meaning all internal nodes have exactly </a:t>
            </a:r>
            <a:r>
              <a:rPr lang="en-US" b="1" dirty="0" smtClean="0"/>
              <a:t>two children</a:t>
            </a:r>
            <a:r>
              <a:rPr lang="en-US" dirty="0" smtClean="0"/>
              <a:t> and all leaf nodes are at the </a:t>
            </a:r>
            <a:r>
              <a:rPr lang="en-US" b="1" dirty="0" smtClean="0"/>
              <a:t>same level.</a:t>
            </a:r>
          </a:p>
          <a:p>
            <a:endParaRPr lang="en-US" b="1" dirty="0"/>
          </a:p>
          <a:p>
            <a:r>
              <a:rPr lang="en-IN" b="1" dirty="0" smtClean="0"/>
              <a:t>Node Class</a:t>
            </a:r>
          </a:p>
          <a:p>
            <a:pPr marL="285750" indent="-285750">
              <a:buFont typeface="Arial" panose="020B0604020202020204" pitchFamily="34" charset="0"/>
              <a:buChar char="•"/>
            </a:pPr>
            <a:r>
              <a:rPr lang="en-US" dirty="0" smtClean="0"/>
              <a:t>Defines a tree node with:</a:t>
            </a:r>
          </a:p>
          <a:p>
            <a:pPr marL="285750" indent="-285750">
              <a:buFont typeface="Arial" panose="020B0604020202020204" pitchFamily="34" charset="0"/>
              <a:buChar char="•"/>
            </a:pPr>
            <a:r>
              <a:rPr lang="en-US" dirty="0" smtClean="0"/>
              <a:t>data → value stored.</a:t>
            </a:r>
          </a:p>
          <a:p>
            <a:pPr marL="285750" indent="-285750">
              <a:buFont typeface="Arial" panose="020B0604020202020204" pitchFamily="34" charset="0"/>
              <a:buChar char="•"/>
            </a:pPr>
            <a:r>
              <a:rPr lang="en-US" dirty="0" smtClean="0"/>
              <a:t>left and right → child references.</a:t>
            </a:r>
          </a:p>
          <a:p>
            <a:endParaRPr lang="en-US" b="1" dirty="0"/>
          </a:p>
          <a:p>
            <a:r>
              <a:rPr lang="en-IN" b="1" dirty="0" err="1" smtClean="0"/>
              <a:t>findDepth</a:t>
            </a:r>
            <a:r>
              <a:rPr lang="en-IN" b="1" dirty="0" smtClean="0"/>
              <a:t>() Method</a:t>
            </a:r>
          </a:p>
          <a:p>
            <a:pPr marL="285750" indent="-285750">
              <a:buFont typeface="Arial" panose="020B0604020202020204" pitchFamily="34" charset="0"/>
              <a:buChar char="•"/>
            </a:pPr>
            <a:r>
              <a:rPr lang="en-US" dirty="0"/>
              <a:t>Calculates the depth of the tree by following the leftmost path.</a:t>
            </a:r>
          </a:p>
          <a:p>
            <a:pPr marL="285750" indent="-285750">
              <a:buFont typeface="Arial" panose="020B0604020202020204" pitchFamily="34" charset="0"/>
              <a:buChar char="•"/>
            </a:pPr>
            <a:r>
              <a:rPr lang="en-US" dirty="0"/>
              <a:t>This depth is used as the expected level for all leaf nodes.</a:t>
            </a:r>
          </a:p>
          <a:p>
            <a:endParaRPr lang="en-US" dirty="0" smtClean="0"/>
          </a:p>
          <a:p>
            <a:r>
              <a:rPr lang="en-IN" b="1" dirty="0" err="1" smtClean="0"/>
              <a:t>isPerfect</a:t>
            </a:r>
            <a:r>
              <a:rPr lang="en-IN" b="1" dirty="0" smtClean="0"/>
              <a:t>() Method</a:t>
            </a:r>
          </a:p>
          <a:p>
            <a:r>
              <a:rPr lang="en-US" dirty="0" smtClean="0">
                <a:effectLst/>
              </a:rPr>
              <a:t>Checks recursively:</a:t>
            </a:r>
            <a:endParaRPr lang="en-US" dirty="0" smtClean="0"/>
          </a:p>
          <a:p>
            <a:pPr marL="285750" indent="-285750">
              <a:buFont typeface="Arial" panose="020B0604020202020204" pitchFamily="34" charset="0"/>
              <a:buChar char="•"/>
            </a:pPr>
            <a:r>
              <a:rPr lang="en-US" dirty="0" smtClean="0">
                <a:effectLst/>
              </a:rPr>
              <a:t>If node is a leaf → must be at the same depth as all other leaves.</a:t>
            </a:r>
            <a:endParaRPr lang="en-US" dirty="0" smtClean="0"/>
          </a:p>
          <a:p>
            <a:pPr marL="285750" indent="-285750">
              <a:buFont typeface="Arial" panose="020B0604020202020204" pitchFamily="34" charset="0"/>
              <a:buChar char="•"/>
            </a:pPr>
            <a:r>
              <a:rPr lang="en-US" dirty="0" smtClean="0">
                <a:effectLst/>
              </a:rPr>
              <a:t>If node has only one child → not perfect.</a:t>
            </a:r>
            <a:endParaRPr lang="en-US" dirty="0" smtClean="0"/>
          </a:p>
          <a:p>
            <a:pPr marL="285750" indent="-285750">
              <a:buFont typeface="Arial" panose="020B0604020202020204" pitchFamily="34" charset="0"/>
              <a:buChar char="•"/>
            </a:pPr>
            <a:r>
              <a:rPr lang="en-US" dirty="0" smtClean="0">
                <a:effectLst/>
              </a:rPr>
              <a:t>If node has two children → check both </a:t>
            </a:r>
            <a:r>
              <a:rPr lang="en-US" dirty="0" err="1" smtClean="0">
                <a:effectLst/>
              </a:rPr>
              <a:t>subtrees</a:t>
            </a:r>
            <a:r>
              <a:rPr lang="en-US" dirty="0" smtClean="0">
                <a:effectLst/>
              </a:rPr>
              <a:t>.</a:t>
            </a:r>
            <a:endParaRPr lang="en-US" dirty="0" smtClean="0"/>
          </a:p>
          <a:p>
            <a:endParaRPr lang="en-US" dirty="0"/>
          </a:p>
        </p:txBody>
      </p:sp>
    </p:spTree>
    <p:extLst>
      <p:ext uri="{BB962C8B-B14F-4D97-AF65-F5344CB8AC3E}">
        <p14:creationId xmlns:p14="http://schemas.microsoft.com/office/powerpoint/2010/main" val="237249454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740307"/>
          </a:xfrm>
          <a:prstGeom prst="rect">
            <a:avLst/>
          </a:prstGeom>
        </p:spPr>
        <p:txBody>
          <a:bodyPr wrap="square">
            <a:spAutoFit/>
          </a:bodyPr>
          <a:lstStyle/>
          <a:p>
            <a:r>
              <a:rPr lang="en-US" b="1" dirty="0" smtClean="0">
                <a:solidFill>
                  <a:srgbClr val="FF0000"/>
                </a:solidFill>
              </a:rPr>
              <a:t>Perfect Binary Tree</a:t>
            </a:r>
          </a:p>
          <a:p>
            <a:endParaRPr lang="en-US" b="1" dirty="0" smtClean="0"/>
          </a:p>
          <a:p>
            <a:r>
              <a:rPr lang="en-IN" b="1" dirty="0" err="1" smtClean="0"/>
              <a:t>inorder</a:t>
            </a:r>
            <a:r>
              <a:rPr lang="en-IN" b="1" dirty="0" smtClean="0"/>
              <a:t>() Method</a:t>
            </a:r>
          </a:p>
          <a:p>
            <a:pPr marL="285750" indent="-285750">
              <a:buFont typeface="Arial" panose="020B0604020202020204" pitchFamily="34" charset="0"/>
              <a:buChar char="•"/>
            </a:pPr>
            <a:r>
              <a:rPr lang="en-US" dirty="0"/>
              <a:t>Performs </a:t>
            </a:r>
            <a:r>
              <a:rPr lang="en-US" dirty="0" err="1"/>
              <a:t>inorder</a:t>
            </a:r>
            <a:r>
              <a:rPr lang="en-US" dirty="0"/>
              <a:t> traversal (Left → Root → Right).</a:t>
            </a:r>
          </a:p>
          <a:p>
            <a:pPr marL="285750" indent="-285750">
              <a:buFont typeface="Arial" panose="020B0604020202020204" pitchFamily="34" charset="0"/>
              <a:buChar char="•"/>
            </a:pPr>
            <a:r>
              <a:rPr lang="en-US" dirty="0" smtClean="0"/>
              <a:t>Prints </a:t>
            </a:r>
            <a:r>
              <a:rPr lang="en-US" dirty="0"/>
              <a:t>nodes in sorted order.</a:t>
            </a:r>
          </a:p>
          <a:p>
            <a:endParaRPr lang="en-US" b="1" dirty="0" smtClean="0"/>
          </a:p>
          <a:p>
            <a:r>
              <a:rPr lang="en-IN" b="1" dirty="0"/>
              <a:t>main() Method</a:t>
            </a:r>
          </a:p>
          <a:p>
            <a:r>
              <a:rPr lang="en-IN" dirty="0"/>
              <a:t>Builds this tree:</a:t>
            </a:r>
          </a:p>
          <a:p>
            <a:endParaRPr lang="en-US" b="1" dirty="0" smtClean="0"/>
          </a:p>
          <a:p>
            <a:endParaRPr lang="en-US" b="1" dirty="0"/>
          </a:p>
          <a:p>
            <a:endParaRPr lang="en-US" b="1" dirty="0" smtClean="0"/>
          </a:p>
          <a:p>
            <a:pPr marL="285750" indent="-285750">
              <a:buFont typeface="Arial" panose="020B0604020202020204" pitchFamily="34" charset="0"/>
              <a:buChar char="•"/>
            </a:pPr>
            <a:r>
              <a:rPr lang="en-US" dirty="0"/>
              <a:t>All internal nodes have two children.</a:t>
            </a:r>
          </a:p>
          <a:p>
            <a:pPr marL="285750" indent="-285750">
              <a:buFont typeface="Arial" panose="020B0604020202020204" pitchFamily="34" charset="0"/>
              <a:buChar char="•"/>
            </a:pPr>
            <a:r>
              <a:rPr lang="en-US" dirty="0" smtClean="0"/>
              <a:t>All </a:t>
            </a:r>
            <a:r>
              <a:rPr lang="en-US" dirty="0"/>
              <a:t>leaf nodes (4, 5, 6, 7) are at the same level.</a:t>
            </a:r>
          </a:p>
          <a:p>
            <a:pPr marL="285750" indent="-285750">
              <a:buFont typeface="Arial" panose="020B0604020202020204" pitchFamily="34" charset="0"/>
              <a:buChar char="•"/>
            </a:pPr>
            <a:r>
              <a:rPr lang="en-IN" dirty="0" err="1" smtClean="0"/>
              <a:t>Inorder</a:t>
            </a:r>
            <a:r>
              <a:rPr lang="en-IN" dirty="0" smtClean="0"/>
              <a:t> </a:t>
            </a:r>
            <a:r>
              <a:rPr lang="en-IN" dirty="0"/>
              <a:t>traversal prints</a:t>
            </a:r>
            <a:r>
              <a:rPr lang="en-IN" dirty="0" smtClean="0"/>
              <a:t>: 4 </a:t>
            </a:r>
            <a:r>
              <a:rPr lang="en-IN" dirty="0"/>
              <a:t>2 5 1 6 3 7</a:t>
            </a:r>
          </a:p>
          <a:p>
            <a:pPr marL="285750" indent="-285750">
              <a:buFont typeface="Arial" panose="020B0604020202020204" pitchFamily="34" charset="0"/>
              <a:buChar char="•"/>
            </a:pPr>
            <a:r>
              <a:rPr lang="en-IN" dirty="0" smtClean="0"/>
              <a:t>Program </a:t>
            </a:r>
            <a:r>
              <a:rPr lang="en-IN" dirty="0"/>
              <a:t>confirms</a:t>
            </a:r>
            <a:r>
              <a:rPr lang="en-IN" dirty="0" smtClean="0"/>
              <a:t>:  </a:t>
            </a:r>
            <a:r>
              <a:rPr lang="en-US" dirty="0" smtClean="0"/>
              <a:t>This </a:t>
            </a:r>
            <a:r>
              <a:rPr lang="en-US" dirty="0"/>
              <a:t>is a Perfect Binary Tree</a:t>
            </a:r>
          </a:p>
          <a:p>
            <a:endParaRPr lang="en-US" b="1" dirty="0" smtClean="0"/>
          </a:p>
          <a:p>
            <a:r>
              <a:rPr lang="en-IN" sz="1600" dirty="0"/>
              <a:t>This program:</a:t>
            </a:r>
          </a:p>
          <a:p>
            <a:pPr marL="285750" indent="-285750">
              <a:buFont typeface="Arial" panose="020B0604020202020204" pitchFamily="34" charset="0"/>
              <a:buChar char="•"/>
            </a:pPr>
            <a:r>
              <a:rPr lang="en-IN" sz="1600" dirty="0"/>
              <a:t>Builds a binary tree.</a:t>
            </a:r>
          </a:p>
          <a:p>
            <a:pPr marL="285750" indent="-285750">
              <a:buFont typeface="Arial" panose="020B0604020202020204" pitchFamily="34" charset="0"/>
              <a:buChar char="•"/>
            </a:pPr>
            <a:r>
              <a:rPr lang="en-IN" sz="1600" dirty="0"/>
              <a:t>Prints it in </a:t>
            </a:r>
            <a:r>
              <a:rPr lang="en-IN" sz="1600" dirty="0" err="1"/>
              <a:t>inorder</a:t>
            </a:r>
            <a:r>
              <a:rPr lang="en-IN" sz="1600" dirty="0"/>
              <a:t>.</a:t>
            </a:r>
          </a:p>
          <a:p>
            <a:pPr marL="285750" indent="-285750">
              <a:buFont typeface="Arial" panose="020B0604020202020204" pitchFamily="34" charset="0"/>
              <a:buChar char="•"/>
            </a:pPr>
            <a:r>
              <a:rPr lang="en-US" sz="1600" dirty="0"/>
              <a:t>Checks if it’s Perfect by ensuring:</a:t>
            </a:r>
          </a:p>
          <a:p>
            <a:pPr marL="285750" indent="-285750">
              <a:buFont typeface="Arial" panose="020B0604020202020204" pitchFamily="34" charset="0"/>
              <a:buChar char="•"/>
            </a:pPr>
            <a:r>
              <a:rPr lang="en-US" sz="1600" dirty="0"/>
              <a:t>Every internal node has 2 children.</a:t>
            </a:r>
          </a:p>
          <a:p>
            <a:pPr marL="285750" indent="-285750">
              <a:buFont typeface="Arial" panose="020B0604020202020204" pitchFamily="34" charset="0"/>
              <a:buChar char="•"/>
            </a:pPr>
            <a:r>
              <a:rPr lang="en-US" sz="1600" dirty="0"/>
              <a:t>All leaves are at the same depth.</a:t>
            </a:r>
          </a:p>
          <a:p>
            <a:r>
              <a:rPr lang="en-US" sz="1600" dirty="0" smtClean="0"/>
              <a:t>In </a:t>
            </a:r>
            <a:r>
              <a:rPr lang="en-US" sz="1600" dirty="0"/>
              <a:t>short: It verifies the strictest form of balance and completeness in a binary tree.</a:t>
            </a:r>
          </a:p>
          <a:p>
            <a:endParaRPr lang="en-US" b="1" dirty="0"/>
          </a:p>
        </p:txBody>
      </p:sp>
      <p:pic>
        <p:nvPicPr>
          <p:cNvPr id="3" name="Picture 2"/>
          <p:cNvPicPr>
            <a:picLocks noChangeAspect="1"/>
          </p:cNvPicPr>
          <p:nvPr/>
        </p:nvPicPr>
        <p:blipFill>
          <a:blip r:embed="rId3"/>
          <a:stretch>
            <a:fillRect/>
          </a:stretch>
        </p:blipFill>
        <p:spPr>
          <a:xfrm>
            <a:off x="1847037" y="2401616"/>
            <a:ext cx="1714739" cy="990738"/>
          </a:xfrm>
          <a:prstGeom prst="rect">
            <a:avLst/>
          </a:prstGeom>
        </p:spPr>
      </p:pic>
    </p:spTree>
    <p:extLst>
      <p:ext uri="{BB962C8B-B14F-4D97-AF65-F5344CB8AC3E}">
        <p14:creationId xmlns:p14="http://schemas.microsoft.com/office/powerpoint/2010/main" val="26227657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Perfect Binary Tree</a:t>
            </a:r>
          </a:p>
          <a:p>
            <a:endParaRPr lang="en-US" b="1" dirty="0"/>
          </a:p>
        </p:txBody>
      </p:sp>
      <p:pic>
        <p:nvPicPr>
          <p:cNvPr id="8" name="Picture 7"/>
          <p:cNvPicPr>
            <a:picLocks noChangeAspect="1"/>
          </p:cNvPicPr>
          <p:nvPr/>
        </p:nvPicPr>
        <p:blipFill>
          <a:blip r:embed="rId3"/>
          <a:stretch>
            <a:fillRect/>
          </a:stretch>
        </p:blipFill>
        <p:spPr>
          <a:xfrm>
            <a:off x="184329" y="1005699"/>
            <a:ext cx="5306165" cy="5744377"/>
          </a:xfrm>
          <a:prstGeom prst="rect">
            <a:avLst/>
          </a:prstGeom>
        </p:spPr>
      </p:pic>
    </p:spTree>
    <p:extLst>
      <p:ext uri="{BB962C8B-B14F-4D97-AF65-F5344CB8AC3E}">
        <p14:creationId xmlns:p14="http://schemas.microsoft.com/office/powerpoint/2010/main" val="383757493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801314"/>
          </a:xfrm>
          <a:prstGeom prst="rect">
            <a:avLst/>
          </a:prstGeom>
        </p:spPr>
        <p:txBody>
          <a:bodyPr wrap="square">
            <a:spAutoFit/>
          </a:bodyPr>
          <a:lstStyle/>
          <a:p>
            <a:r>
              <a:rPr lang="en-US" b="1" dirty="0" smtClean="0">
                <a:solidFill>
                  <a:srgbClr val="FF0000"/>
                </a:solidFill>
              </a:rPr>
              <a:t>Skewed Binary Tree</a:t>
            </a:r>
          </a:p>
          <a:p>
            <a:r>
              <a:rPr lang="en-US" dirty="0" smtClean="0">
                <a:effectLst/>
              </a:rPr>
              <a:t>A </a:t>
            </a:r>
            <a:r>
              <a:rPr lang="en-US" b="1" dirty="0" smtClean="0">
                <a:effectLst/>
              </a:rPr>
              <a:t>Skewed Binary Tree</a:t>
            </a:r>
            <a:r>
              <a:rPr lang="en-US" dirty="0" smtClean="0">
                <a:effectLst/>
              </a:rPr>
              <a:t> is a special type of binary tree where </a:t>
            </a:r>
            <a:r>
              <a:rPr lang="en-US" b="1" dirty="0" smtClean="0">
                <a:effectLst/>
              </a:rPr>
              <a:t>all nodes have only one child</a:t>
            </a:r>
            <a:r>
              <a:rPr lang="en-US" dirty="0" smtClean="0">
                <a:effectLst/>
              </a:rPr>
              <a:t> — meaning the tree grows in a straight line rather than branching evenly.</a:t>
            </a:r>
            <a:endParaRPr lang="en-US" dirty="0" smtClean="0"/>
          </a:p>
          <a:p>
            <a:endParaRPr lang="en-US" dirty="0" smtClean="0">
              <a:effectLst/>
            </a:endParaRPr>
          </a:p>
          <a:p>
            <a:r>
              <a:rPr lang="en-US" dirty="0" smtClean="0">
                <a:effectLst/>
              </a:rPr>
              <a:t>A </a:t>
            </a:r>
            <a:r>
              <a:rPr lang="en-US" b="1" dirty="0" smtClean="0">
                <a:effectLst/>
              </a:rPr>
              <a:t>Skewed Binary Tree</a:t>
            </a:r>
            <a:r>
              <a:rPr lang="en-US" dirty="0" smtClean="0">
                <a:effectLst/>
              </a:rPr>
              <a:t> is a binary tree in which every parent node has </a:t>
            </a:r>
            <a:r>
              <a:rPr lang="en-US" b="1" dirty="0" smtClean="0">
                <a:effectLst/>
              </a:rPr>
              <a:t>only one child</a:t>
            </a:r>
            <a:r>
              <a:rPr lang="en-US" dirty="0" smtClean="0">
                <a:effectLst/>
              </a:rPr>
              <a:t>.</a:t>
            </a:r>
            <a:endParaRPr lang="en-US" dirty="0" smtClean="0"/>
          </a:p>
          <a:p>
            <a:r>
              <a:rPr lang="en-US" dirty="0" smtClean="0">
                <a:effectLst/>
              </a:rPr>
              <a:t>The child can be either always on the </a:t>
            </a:r>
            <a:r>
              <a:rPr lang="en-US" b="1" dirty="0" smtClean="0">
                <a:effectLst/>
              </a:rPr>
              <a:t>left side</a:t>
            </a:r>
            <a:r>
              <a:rPr lang="en-US" dirty="0" smtClean="0">
                <a:effectLst/>
              </a:rPr>
              <a:t> or always on the </a:t>
            </a:r>
            <a:r>
              <a:rPr lang="en-US" b="1" dirty="0" smtClean="0">
                <a:effectLst/>
              </a:rPr>
              <a:t>right side</a:t>
            </a:r>
            <a:r>
              <a:rPr lang="en-US" dirty="0" smtClean="0">
                <a:effectLst/>
              </a:rPr>
              <a:t>.</a:t>
            </a:r>
            <a:endParaRPr lang="en-US" dirty="0" smtClean="0"/>
          </a:p>
          <a:p>
            <a:endParaRPr lang="en-US" b="1" dirty="0" smtClean="0"/>
          </a:p>
          <a:p>
            <a:r>
              <a:rPr lang="en-IN" b="1" dirty="0" smtClean="0"/>
              <a:t>Left-Skewed Binary Tree</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r>
              <a:rPr lang="en-US" dirty="0" smtClean="0"/>
              <a:t>Every node has only a </a:t>
            </a:r>
            <a:r>
              <a:rPr lang="en-US" b="1" dirty="0" smtClean="0"/>
              <a:t>left child</a:t>
            </a:r>
            <a:r>
              <a:rPr lang="en-US" dirty="0" smtClean="0"/>
              <a:t>, so the tree grows downward to the left like a chain.</a:t>
            </a:r>
            <a:endParaRPr lang="en-US" b="1" dirty="0"/>
          </a:p>
        </p:txBody>
      </p:sp>
      <p:pic>
        <p:nvPicPr>
          <p:cNvPr id="2" name="Picture 1"/>
          <p:cNvPicPr>
            <a:picLocks noChangeAspect="1"/>
          </p:cNvPicPr>
          <p:nvPr/>
        </p:nvPicPr>
        <p:blipFill>
          <a:blip r:embed="rId3"/>
          <a:stretch>
            <a:fillRect/>
          </a:stretch>
        </p:blipFill>
        <p:spPr>
          <a:xfrm>
            <a:off x="631683" y="3101583"/>
            <a:ext cx="1219370" cy="1486107"/>
          </a:xfrm>
          <a:prstGeom prst="rect">
            <a:avLst/>
          </a:prstGeom>
        </p:spPr>
      </p:pic>
    </p:spTree>
    <p:extLst>
      <p:ext uri="{BB962C8B-B14F-4D97-AF65-F5344CB8AC3E}">
        <p14:creationId xmlns:p14="http://schemas.microsoft.com/office/powerpoint/2010/main" val="225181893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970318"/>
          </a:xfrm>
          <a:prstGeom prst="rect">
            <a:avLst/>
          </a:prstGeom>
        </p:spPr>
        <p:txBody>
          <a:bodyPr wrap="square">
            <a:spAutoFit/>
          </a:bodyPr>
          <a:lstStyle/>
          <a:p>
            <a:r>
              <a:rPr lang="en-US" b="1" dirty="0" smtClean="0">
                <a:solidFill>
                  <a:srgbClr val="FF0000"/>
                </a:solidFill>
              </a:rPr>
              <a:t>Skewed Binary Tree</a:t>
            </a:r>
          </a:p>
          <a:p>
            <a:endParaRPr lang="en-US" b="1" dirty="0" smtClean="0"/>
          </a:p>
          <a:p>
            <a:r>
              <a:rPr lang="en-IN" b="1" dirty="0" smtClean="0"/>
              <a:t>Right-Skewed Binary Tree</a:t>
            </a: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r>
              <a:rPr lang="en-US" dirty="0" smtClean="0"/>
              <a:t>Every node has only a </a:t>
            </a:r>
            <a:r>
              <a:rPr lang="en-US" b="1" dirty="0" smtClean="0"/>
              <a:t>right child</a:t>
            </a:r>
            <a:r>
              <a:rPr lang="en-US" dirty="0" smtClean="0"/>
              <a:t>, so the tree grows downward to the right like a chain.</a:t>
            </a:r>
          </a:p>
          <a:p>
            <a:endParaRPr lang="en-US" b="1" dirty="0"/>
          </a:p>
          <a:p>
            <a:endParaRPr lang="en-US" b="1" dirty="0" smtClean="0"/>
          </a:p>
        </p:txBody>
      </p:sp>
      <p:pic>
        <p:nvPicPr>
          <p:cNvPr id="3" name="Picture 2"/>
          <p:cNvPicPr>
            <a:picLocks noChangeAspect="1"/>
          </p:cNvPicPr>
          <p:nvPr/>
        </p:nvPicPr>
        <p:blipFill>
          <a:blip r:embed="rId3"/>
          <a:stretch>
            <a:fillRect/>
          </a:stretch>
        </p:blipFill>
        <p:spPr>
          <a:xfrm>
            <a:off x="988764" y="1670580"/>
            <a:ext cx="1486107" cy="1505160"/>
          </a:xfrm>
          <a:prstGeom prst="rect">
            <a:avLst/>
          </a:prstGeom>
        </p:spPr>
      </p:pic>
    </p:spTree>
    <p:extLst>
      <p:ext uri="{BB962C8B-B14F-4D97-AF65-F5344CB8AC3E}">
        <p14:creationId xmlns:p14="http://schemas.microsoft.com/office/powerpoint/2010/main" val="24375982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754326"/>
          </a:xfrm>
          <a:prstGeom prst="rect">
            <a:avLst/>
          </a:prstGeom>
        </p:spPr>
        <p:txBody>
          <a:bodyPr wrap="square">
            <a:spAutoFit/>
          </a:bodyPr>
          <a:lstStyle/>
          <a:p>
            <a:r>
              <a:rPr lang="en-US" b="1" dirty="0" smtClean="0">
                <a:solidFill>
                  <a:srgbClr val="FF0000"/>
                </a:solidFill>
              </a:rPr>
              <a:t>Skewed Binary Tree</a:t>
            </a:r>
          </a:p>
          <a:p>
            <a:endParaRPr lang="en-US" b="1" dirty="0" smtClean="0"/>
          </a:p>
          <a:p>
            <a:pPr marL="285750" indent="-285750">
              <a:buFont typeface="Arial" panose="020B0604020202020204" pitchFamily="34" charset="0"/>
              <a:buChar char="•"/>
            </a:pPr>
            <a:r>
              <a:rPr lang="en-US" dirty="0" smtClean="0"/>
              <a:t>Both Left and Right Skewed Binary Trees are degenerate forms of binary trees.</a:t>
            </a:r>
          </a:p>
          <a:p>
            <a:pPr marL="285750" indent="-285750">
              <a:buFont typeface="Arial" panose="020B0604020202020204" pitchFamily="34" charset="0"/>
              <a:buChar char="•"/>
            </a:pPr>
            <a:r>
              <a:rPr lang="en-US" dirty="0" smtClean="0"/>
              <a:t>They behave almost like a linked list because there’s only one path.</a:t>
            </a:r>
          </a:p>
          <a:p>
            <a:pPr marL="285750" indent="-285750">
              <a:buFont typeface="Arial" panose="020B0604020202020204" pitchFamily="34" charset="0"/>
              <a:buChar char="•"/>
            </a:pPr>
            <a:r>
              <a:rPr lang="en-US" dirty="0" smtClean="0"/>
              <a:t>Searching in such trees is inefficient compared to balanced trees.</a:t>
            </a:r>
          </a:p>
          <a:p>
            <a:endParaRPr lang="en-US" dirty="0" smtClean="0"/>
          </a:p>
        </p:txBody>
      </p:sp>
    </p:spTree>
    <p:extLst>
      <p:ext uri="{BB962C8B-B14F-4D97-AF65-F5344CB8AC3E}">
        <p14:creationId xmlns:p14="http://schemas.microsoft.com/office/powerpoint/2010/main" val="288429852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Skewed Binary Tree</a:t>
            </a:r>
          </a:p>
          <a:p>
            <a:endParaRPr lang="en-US" b="1" dirty="0" smtClean="0"/>
          </a:p>
        </p:txBody>
      </p:sp>
      <p:pic>
        <p:nvPicPr>
          <p:cNvPr id="7" name="Picture 6"/>
          <p:cNvPicPr>
            <a:picLocks noChangeAspect="1"/>
          </p:cNvPicPr>
          <p:nvPr/>
        </p:nvPicPr>
        <p:blipFill>
          <a:blip r:embed="rId3"/>
          <a:stretch>
            <a:fillRect/>
          </a:stretch>
        </p:blipFill>
        <p:spPr>
          <a:xfrm>
            <a:off x="116339" y="939338"/>
            <a:ext cx="5525271" cy="5799250"/>
          </a:xfrm>
          <a:prstGeom prst="rect">
            <a:avLst/>
          </a:prstGeom>
        </p:spPr>
      </p:pic>
    </p:spTree>
    <p:extLst>
      <p:ext uri="{BB962C8B-B14F-4D97-AF65-F5344CB8AC3E}">
        <p14:creationId xmlns:p14="http://schemas.microsoft.com/office/powerpoint/2010/main" val="262439657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Skewed Binary Tree</a:t>
            </a:r>
          </a:p>
          <a:p>
            <a:endParaRPr lang="en-US" b="1" dirty="0" smtClean="0"/>
          </a:p>
        </p:txBody>
      </p:sp>
      <p:pic>
        <p:nvPicPr>
          <p:cNvPr id="8" name="Picture 7"/>
          <p:cNvPicPr>
            <a:picLocks noChangeAspect="1"/>
          </p:cNvPicPr>
          <p:nvPr/>
        </p:nvPicPr>
        <p:blipFill>
          <a:blip r:embed="rId3"/>
          <a:stretch>
            <a:fillRect/>
          </a:stretch>
        </p:blipFill>
        <p:spPr>
          <a:xfrm>
            <a:off x="118638" y="993882"/>
            <a:ext cx="7316221" cy="1362265"/>
          </a:xfrm>
          <a:prstGeom prst="rect">
            <a:avLst/>
          </a:prstGeom>
        </p:spPr>
      </p:pic>
    </p:spTree>
    <p:extLst>
      <p:ext uri="{BB962C8B-B14F-4D97-AF65-F5344CB8AC3E}">
        <p14:creationId xmlns:p14="http://schemas.microsoft.com/office/powerpoint/2010/main" val="337755858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970318"/>
          </a:xfrm>
          <a:prstGeom prst="rect">
            <a:avLst/>
          </a:prstGeom>
        </p:spPr>
        <p:txBody>
          <a:bodyPr wrap="square">
            <a:spAutoFit/>
          </a:bodyPr>
          <a:lstStyle/>
          <a:p>
            <a:r>
              <a:rPr lang="en-US" b="1" dirty="0" smtClean="0">
                <a:solidFill>
                  <a:srgbClr val="FF0000"/>
                </a:solidFill>
              </a:rPr>
              <a:t>Skewed Binary Tree</a:t>
            </a:r>
          </a:p>
          <a:p>
            <a:endParaRPr lang="en-US" b="1" dirty="0" smtClean="0"/>
          </a:p>
          <a:p>
            <a:r>
              <a:rPr lang="en-US" dirty="0" smtClean="0"/>
              <a:t>This program demonstrates </a:t>
            </a:r>
            <a:r>
              <a:rPr lang="en-US" b="1" dirty="0" smtClean="0"/>
              <a:t>Skewed Binary Trees</a:t>
            </a:r>
            <a:r>
              <a:rPr lang="en-US" dirty="0" smtClean="0"/>
              <a:t> — a special type of binary tree where every node has only </a:t>
            </a:r>
            <a:r>
              <a:rPr lang="en-US" b="1" dirty="0" smtClean="0"/>
              <a:t>one child</a:t>
            </a:r>
            <a:r>
              <a:rPr lang="en-US" dirty="0" smtClean="0"/>
              <a:t> (either always left or always right).</a:t>
            </a:r>
          </a:p>
          <a:p>
            <a:endParaRPr lang="en-US" b="1" dirty="0"/>
          </a:p>
          <a:p>
            <a:r>
              <a:rPr lang="en-IN" b="1" dirty="0" smtClean="0"/>
              <a:t>Node Class</a:t>
            </a:r>
          </a:p>
          <a:p>
            <a:r>
              <a:rPr lang="en-US" dirty="0"/>
              <a:t>Defines a tree node with:</a:t>
            </a:r>
          </a:p>
          <a:p>
            <a:pPr marL="285750" indent="-285750">
              <a:buFont typeface="Arial" panose="020B0604020202020204" pitchFamily="34" charset="0"/>
              <a:buChar char="•"/>
            </a:pPr>
            <a:r>
              <a:rPr lang="en-IN" dirty="0"/>
              <a:t>data → value stored.</a:t>
            </a:r>
          </a:p>
          <a:p>
            <a:pPr marL="285750" indent="-285750">
              <a:buFont typeface="Arial" panose="020B0604020202020204" pitchFamily="34" charset="0"/>
              <a:buChar char="•"/>
            </a:pPr>
            <a:r>
              <a:rPr lang="en-US" dirty="0"/>
              <a:t>left and right → child references.</a:t>
            </a:r>
          </a:p>
          <a:p>
            <a:endParaRPr lang="en-US" b="1" dirty="0" smtClean="0"/>
          </a:p>
          <a:p>
            <a:r>
              <a:rPr lang="en-IN" b="1" dirty="0" err="1" smtClean="0"/>
              <a:t>inorder</a:t>
            </a:r>
            <a:r>
              <a:rPr lang="en-IN" b="1" dirty="0" smtClean="0"/>
              <a:t>() Method</a:t>
            </a:r>
          </a:p>
          <a:p>
            <a:pPr marL="285750" indent="-285750">
              <a:buFont typeface="Arial" panose="020B0604020202020204" pitchFamily="34" charset="0"/>
              <a:buChar char="•"/>
            </a:pPr>
            <a:r>
              <a:rPr lang="en-US" dirty="0"/>
              <a:t>Performs </a:t>
            </a:r>
            <a:r>
              <a:rPr lang="en-US" dirty="0" err="1"/>
              <a:t>inorder</a:t>
            </a:r>
            <a:r>
              <a:rPr lang="en-US" dirty="0"/>
              <a:t> traversal (Left → Root → Right).</a:t>
            </a:r>
          </a:p>
          <a:p>
            <a:pPr marL="285750" indent="-285750">
              <a:buFont typeface="Arial" panose="020B0604020202020204" pitchFamily="34" charset="0"/>
              <a:buChar char="•"/>
            </a:pPr>
            <a:r>
              <a:rPr lang="en-US" dirty="0" smtClean="0"/>
              <a:t>For </a:t>
            </a:r>
            <a:r>
              <a:rPr lang="en-US" dirty="0"/>
              <a:t>skewed trees, this essentially prints values in a straight sequence.</a:t>
            </a:r>
          </a:p>
          <a:p>
            <a:endParaRPr lang="en-US" b="1" dirty="0" smtClean="0"/>
          </a:p>
        </p:txBody>
      </p:sp>
    </p:spTree>
    <p:extLst>
      <p:ext uri="{BB962C8B-B14F-4D97-AF65-F5344CB8AC3E}">
        <p14:creationId xmlns:p14="http://schemas.microsoft.com/office/powerpoint/2010/main" val="258398313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smtClean="0">
                <a:solidFill>
                  <a:srgbClr val="FF0000"/>
                </a:solidFill>
              </a:rPr>
              <a:t>Skewed Binary Tree</a:t>
            </a:r>
          </a:p>
          <a:p>
            <a:endParaRPr lang="en-US" b="1" dirty="0" smtClean="0"/>
          </a:p>
          <a:p>
            <a:r>
              <a:rPr lang="en-IN" b="1" dirty="0" smtClean="0"/>
              <a:t>main() Method</a:t>
            </a:r>
          </a:p>
          <a:p>
            <a:endParaRPr lang="en-IN" b="1" dirty="0" smtClean="0"/>
          </a:p>
          <a:p>
            <a:r>
              <a:rPr lang="en-US" i="1" dirty="0" smtClean="0"/>
              <a:t>Left </a:t>
            </a:r>
            <a:r>
              <a:rPr lang="en-US" i="1" dirty="0"/>
              <a:t>Skewed Tree </a:t>
            </a:r>
            <a:r>
              <a:rPr lang="en-US" i="1" dirty="0" smtClean="0"/>
              <a:t>Construction:</a:t>
            </a:r>
            <a:endParaRPr lang="en-US" i="1" dirty="0"/>
          </a:p>
          <a:p>
            <a:pPr marL="285750" indent="-285750">
              <a:buFont typeface="Arial" panose="020B0604020202020204" pitchFamily="34" charset="0"/>
              <a:buChar char="•"/>
            </a:pPr>
            <a:r>
              <a:rPr lang="en-US" dirty="0"/>
              <a:t>Creates a root node with value 1.</a:t>
            </a:r>
          </a:p>
          <a:p>
            <a:pPr marL="285750" indent="-285750">
              <a:buFont typeface="Arial" panose="020B0604020202020204" pitchFamily="34" charset="0"/>
              <a:buChar char="•"/>
            </a:pPr>
            <a:r>
              <a:rPr lang="en-US" dirty="0" smtClean="0"/>
              <a:t>Attaches </a:t>
            </a:r>
            <a:r>
              <a:rPr lang="en-US" dirty="0"/>
              <a:t>a left child 2.</a:t>
            </a:r>
          </a:p>
          <a:p>
            <a:pPr marL="285750" indent="-285750">
              <a:buFont typeface="Arial" panose="020B0604020202020204" pitchFamily="34" charset="0"/>
              <a:buChar char="•"/>
            </a:pPr>
            <a:r>
              <a:rPr lang="en-US" dirty="0" smtClean="0"/>
              <a:t>Attaches </a:t>
            </a:r>
            <a:r>
              <a:rPr lang="en-US" dirty="0"/>
              <a:t>another left child 3.</a:t>
            </a:r>
          </a:p>
          <a:p>
            <a:pPr marL="285750" indent="-285750">
              <a:buFont typeface="Arial" panose="020B0604020202020204" pitchFamily="34" charset="0"/>
              <a:buChar char="•"/>
            </a:pPr>
            <a:r>
              <a:rPr lang="en-US" dirty="0" smtClean="0"/>
              <a:t>Attaches </a:t>
            </a:r>
            <a:r>
              <a:rPr lang="en-US" dirty="0"/>
              <a:t>another left child 4.</a:t>
            </a:r>
          </a:p>
          <a:p>
            <a:endParaRPr lang="en-US" b="1" dirty="0" smtClean="0"/>
          </a:p>
          <a:p>
            <a:r>
              <a:rPr lang="en-US" i="1" dirty="0" err="1"/>
              <a:t>Inorder</a:t>
            </a:r>
            <a:r>
              <a:rPr lang="en-US" i="1" dirty="0"/>
              <a:t> Traversal of Left Skewed </a:t>
            </a:r>
            <a:r>
              <a:rPr lang="en-US" i="1" dirty="0" smtClean="0"/>
              <a:t>Tree:</a:t>
            </a:r>
            <a:endParaRPr lang="en-US" i="1" dirty="0"/>
          </a:p>
          <a:p>
            <a:r>
              <a:rPr lang="en-IN" dirty="0" err="1" smtClean="0"/>
              <a:t>Inorder</a:t>
            </a:r>
            <a:r>
              <a:rPr lang="en-IN" dirty="0" smtClean="0"/>
              <a:t> </a:t>
            </a:r>
            <a:r>
              <a:rPr lang="en-IN" dirty="0"/>
              <a:t>= Left → Root → Right.</a:t>
            </a:r>
          </a:p>
          <a:p>
            <a:r>
              <a:rPr lang="en-US" dirty="0" smtClean="0"/>
              <a:t>Traversal </a:t>
            </a:r>
            <a:r>
              <a:rPr lang="en-US" dirty="0"/>
              <a:t>order: 4 → 3 → 2 → 1.</a:t>
            </a:r>
          </a:p>
          <a:p>
            <a:r>
              <a:rPr lang="en-US" dirty="0" smtClean="0"/>
              <a:t>Prints</a:t>
            </a:r>
            <a:r>
              <a:rPr lang="en-US" dirty="0"/>
              <a:t>: Left Skewed Tree (</a:t>
            </a:r>
            <a:r>
              <a:rPr lang="en-US" dirty="0" err="1"/>
              <a:t>Inorder</a:t>
            </a:r>
            <a:r>
              <a:rPr lang="en-US" dirty="0"/>
              <a:t>): 4 3 2 1</a:t>
            </a:r>
          </a:p>
          <a:p>
            <a:endParaRPr lang="en-US" b="1" dirty="0" smtClean="0"/>
          </a:p>
        </p:txBody>
      </p:sp>
      <p:pic>
        <p:nvPicPr>
          <p:cNvPr id="2" name="Picture 1"/>
          <p:cNvPicPr>
            <a:picLocks noChangeAspect="1"/>
          </p:cNvPicPr>
          <p:nvPr/>
        </p:nvPicPr>
        <p:blipFill>
          <a:blip r:embed="rId3"/>
          <a:stretch>
            <a:fillRect/>
          </a:stretch>
        </p:blipFill>
        <p:spPr>
          <a:xfrm>
            <a:off x="3870735" y="1657778"/>
            <a:ext cx="743054" cy="1314633"/>
          </a:xfrm>
          <a:prstGeom prst="rect">
            <a:avLst/>
          </a:prstGeom>
        </p:spPr>
      </p:pic>
    </p:spTree>
    <p:extLst>
      <p:ext uri="{BB962C8B-B14F-4D97-AF65-F5344CB8AC3E}">
        <p14:creationId xmlns:p14="http://schemas.microsoft.com/office/powerpoint/2010/main" val="61663929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078313"/>
          </a:xfrm>
          <a:prstGeom prst="rect">
            <a:avLst/>
          </a:prstGeom>
        </p:spPr>
        <p:txBody>
          <a:bodyPr wrap="square">
            <a:spAutoFit/>
          </a:bodyPr>
          <a:lstStyle/>
          <a:p>
            <a:r>
              <a:rPr lang="en-US" b="1" dirty="0" smtClean="0">
                <a:solidFill>
                  <a:srgbClr val="FF0000"/>
                </a:solidFill>
              </a:rPr>
              <a:t>Skewed Binary Tree</a:t>
            </a:r>
          </a:p>
          <a:p>
            <a:endParaRPr lang="en-US" b="1" dirty="0" smtClean="0"/>
          </a:p>
          <a:p>
            <a:r>
              <a:rPr lang="en-IN" b="1" dirty="0" smtClean="0"/>
              <a:t>main() Method</a:t>
            </a:r>
          </a:p>
          <a:p>
            <a:endParaRPr lang="en-US" b="1" dirty="0" smtClean="0"/>
          </a:p>
          <a:p>
            <a:r>
              <a:rPr lang="en-IN" i="1" dirty="0" smtClean="0"/>
              <a:t>Right </a:t>
            </a:r>
            <a:r>
              <a:rPr lang="en-IN" i="1" dirty="0"/>
              <a:t>Skewed Tree </a:t>
            </a:r>
            <a:r>
              <a:rPr lang="en-IN" i="1" dirty="0" smtClean="0"/>
              <a:t>Construction:</a:t>
            </a:r>
            <a:endParaRPr lang="en-IN" i="1" dirty="0"/>
          </a:p>
          <a:p>
            <a:pPr marL="285750" indent="-285750">
              <a:buFont typeface="Arial" panose="020B0604020202020204" pitchFamily="34" charset="0"/>
              <a:buChar char="•"/>
            </a:pPr>
            <a:r>
              <a:rPr lang="en-US" dirty="0"/>
              <a:t>Creates a root node with value 1.</a:t>
            </a:r>
          </a:p>
          <a:p>
            <a:pPr marL="285750" indent="-285750">
              <a:buFont typeface="Arial" panose="020B0604020202020204" pitchFamily="34" charset="0"/>
              <a:buChar char="•"/>
            </a:pPr>
            <a:r>
              <a:rPr lang="en-US" dirty="0"/>
              <a:t>Attaches a right child 2.</a:t>
            </a:r>
          </a:p>
          <a:p>
            <a:pPr marL="285750" indent="-285750">
              <a:buFont typeface="Arial" panose="020B0604020202020204" pitchFamily="34" charset="0"/>
              <a:buChar char="•"/>
            </a:pPr>
            <a:r>
              <a:rPr lang="en-US" dirty="0"/>
              <a:t>Attaches another right child 3.</a:t>
            </a:r>
          </a:p>
          <a:p>
            <a:pPr marL="285750" indent="-285750">
              <a:buFont typeface="Arial" panose="020B0604020202020204" pitchFamily="34" charset="0"/>
              <a:buChar char="•"/>
            </a:pPr>
            <a:r>
              <a:rPr lang="en-US" dirty="0"/>
              <a:t>Attaches another right child 4.</a:t>
            </a:r>
          </a:p>
          <a:p>
            <a:r>
              <a:rPr lang="en-US" dirty="0"/>
              <a:t>So the structure looks like:</a:t>
            </a:r>
          </a:p>
          <a:p>
            <a:endParaRPr lang="en-US" b="1" dirty="0" smtClean="0"/>
          </a:p>
          <a:p>
            <a:endParaRPr lang="en-US" b="1" dirty="0"/>
          </a:p>
          <a:p>
            <a:endParaRPr lang="en-US" b="1" dirty="0" smtClean="0"/>
          </a:p>
          <a:p>
            <a:r>
              <a:rPr lang="en-US" i="1" dirty="0" err="1"/>
              <a:t>Inorder</a:t>
            </a:r>
            <a:r>
              <a:rPr lang="en-US" i="1" dirty="0"/>
              <a:t> Traversal of Right Skewed </a:t>
            </a:r>
            <a:r>
              <a:rPr lang="en-US" i="1" dirty="0" smtClean="0"/>
              <a:t>Tree:</a:t>
            </a:r>
            <a:endParaRPr lang="en-US" i="1" dirty="0"/>
          </a:p>
          <a:p>
            <a:pPr marL="285750" indent="-285750">
              <a:buFont typeface="Arial" panose="020B0604020202020204" pitchFamily="34" charset="0"/>
              <a:buChar char="•"/>
            </a:pPr>
            <a:r>
              <a:rPr lang="en-IN" dirty="0" err="1"/>
              <a:t>Inorder</a:t>
            </a:r>
            <a:r>
              <a:rPr lang="en-IN" dirty="0"/>
              <a:t> = Left → Root → Right.</a:t>
            </a:r>
          </a:p>
          <a:p>
            <a:pPr marL="285750" indent="-285750">
              <a:buFont typeface="Arial" panose="020B0604020202020204" pitchFamily="34" charset="0"/>
              <a:buChar char="•"/>
            </a:pPr>
            <a:r>
              <a:rPr lang="en-US" dirty="0"/>
              <a:t>Traversal order: 1 → 2 → 3 → 4.</a:t>
            </a:r>
          </a:p>
          <a:p>
            <a:pPr marL="285750" indent="-285750">
              <a:buFont typeface="Arial" panose="020B0604020202020204" pitchFamily="34" charset="0"/>
              <a:buChar char="•"/>
            </a:pPr>
            <a:r>
              <a:rPr lang="en-US" dirty="0"/>
              <a:t>Prints</a:t>
            </a:r>
            <a:r>
              <a:rPr lang="en-US" dirty="0" smtClean="0"/>
              <a:t>: Right </a:t>
            </a:r>
            <a:r>
              <a:rPr lang="en-US" dirty="0"/>
              <a:t>Skewed Tree (</a:t>
            </a:r>
            <a:r>
              <a:rPr lang="en-US" dirty="0" err="1"/>
              <a:t>Inorder</a:t>
            </a:r>
            <a:r>
              <a:rPr lang="en-US" dirty="0"/>
              <a:t>): 1 2 3 4</a:t>
            </a:r>
          </a:p>
          <a:p>
            <a:endParaRPr lang="en-IN" b="1" dirty="0" smtClean="0"/>
          </a:p>
        </p:txBody>
      </p:sp>
      <p:pic>
        <p:nvPicPr>
          <p:cNvPr id="3" name="Picture 2"/>
          <p:cNvPicPr>
            <a:picLocks noChangeAspect="1"/>
          </p:cNvPicPr>
          <p:nvPr/>
        </p:nvPicPr>
        <p:blipFill>
          <a:blip r:embed="rId3"/>
          <a:stretch>
            <a:fillRect/>
          </a:stretch>
        </p:blipFill>
        <p:spPr>
          <a:xfrm>
            <a:off x="3907626" y="1739782"/>
            <a:ext cx="822316" cy="1460617"/>
          </a:xfrm>
          <a:prstGeom prst="rect">
            <a:avLst/>
          </a:prstGeom>
        </p:spPr>
      </p:pic>
    </p:spTree>
    <p:extLst>
      <p:ext uri="{BB962C8B-B14F-4D97-AF65-F5344CB8AC3E}">
        <p14:creationId xmlns:p14="http://schemas.microsoft.com/office/powerpoint/2010/main" val="297525492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524315"/>
          </a:xfrm>
          <a:prstGeom prst="rect">
            <a:avLst/>
          </a:prstGeom>
        </p:spPr>
        <p:txBody>
          <a:bodyPr wrap="square">
            <a:spAutoFit/>
          </a:bodyPr>
          <a:lstStyle/>
          <a:p>
            <a:r>
              <a:rPr lang="en-US" b="1" dirty="0" smtClean="0">
                <a:solidFill>
                  <a:srgbClr val="FF0000"/>
                </a:solidFill>
              </a:rPr>
              <a:t>Skewed Binary Tree</a:t>
            </a:r>
          </a:p>
          <a:p>
            <a:endParaRPr lang="en-US" b="1" dirty="0" smtClean="0"/>
          </a:p>
          <a:p>
            <a:r>
              <a:rPr lang="en-IN" b="1" dirty="0" smtClean="0"/>
              <a:t>main() Method</a:t>
            </a:r>
          </a:p>
          <a:p>
            <a:endParaRPr lang="en-US" b="1" dirty="0" smtClean="0"/>
          </a:p>
          <a:p>
            <a:r>
              <a:rPr lang="en-IN" i="1" dirty="0"/>
              <a:t>Final </a:t>
            </a:r>
            <a:r>
              <a:rPr lang="en-IN" i="1" dirty="0" smtClean="0"/>
              <a:t>Output:</a:t>
            </a:r>
            <a:endParaRPr lang="en-IN" i="1" dirty="0"/>
          </a:p>
          <a:p>
            <a:r>
              <a:rPr lang="en-US" dirty="0"/>
              <a:t>When you run the program, the console shows:</a:t>
            </a:r>
          </a:p>
          <a:p>
            <a:endParaRPr lang="en-IN" dirty="0"/>
          </a:p>
          <a:p>
            <a:r>
              <a:rPr lang="en-US" dirty="0"/>
              <a:t>Left Skewed Tree (</a:t>
            </a:r>
            <a:r>
              <a:rPr lang="en-US" dirty="0" err="1"/>
              <a:t>Inorder</a:t>
            </a:r>
            <a:r>
              <a:rPr lang="en-US" dirty="0"/>
              <a:t>): 4 3 2 1</a:t>
            </a:r>
          </a:p>
          <a:p>
            <a:r>
              <a:rPr lang="en-US" dirty="0"/>
              <a:t>Right Skewed Tree (</a:t>
            </a:r>
            <a:r>
              <a:rPr lang="en-US" dirty="0" err="1"/>
              <a:t>Inorder</a:t>
            </a:r>
            <a:r>
              <a:rPr lang="en-US" dirty="0"/>
              <a:t>): 1 2 3 4</a:t>
            </a:r>
          </a:p>
          <a:p>
            <a:endParaRPr lang="en-IN" dirty="0"/>
          </a:p>
          <a:p>
            <a:endParaRPr lang="en-IN" dirty="0"/>
          </a:p>
          <a:p>
            <a:r>
              <a:rPr lang="en-US" dirty="0"/>
              <a:t>The main method builds two skewed binary trees (one left-skewed, one right-skewed) and demonstrates how </a:t>
            </a:r>
            <a:r>
              <a:rPr lang="en-US" dirty="0" err="1"/>
              <a:t>inorder</a:t>
            </a:r>
            <a:r>
              <a:rPr lang="en-US" dirty="0"/>
              <a:t> traversal behaves differently:</a:t>
            </a:r>
          </a:p>
          <a:p>
            <a:pPr marL="285750" indent="-285750">
              <a:buFont typeface="Arial" panose="020B0604020202020204" pitchFamily="34" charset="0"/>
              <a:buChar char="•"/>
            </a:pPr>
            <a:r>
              <a:rPr lang="en-US" dirty="0"/>
              <a:t>Left-skewed → prints values in descending order.</a:t>
            </a:r>
          </a:p>
          <a:p>
            <a:pPr marL="285750" indent="-285750">
              <a:buFont typeface="Arial" panose="020B0604020202020204" pitchFamily="34" charset="0"/>
              <a:buChar char="•"/>
            </a:pPr>
            <a:r>
              <a:rPr lang="en-US" dirty="0"/>
              <a:t>Right-skewed → prints values in ascending order.</a:t>
            </a:r>
          </a:p>
          <a:p>
            <a:endParaRPr lang="en-US" b="1" dirty="0" smtClean="0"/>
          </a:p>
        </p:txBody>
      </p:sp>
    </p:spTree>
    <p:extLst>
      <p:ext uri="{BB962C8B-B14F-4D97-AF65-F5344CB8AC3E}">
        <p14:creationId xmlns:p14="http://schemas.microsoft.com/office/powerpoint/2010/main" val="295288443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Skewed Binary Tree</a:t>
            </a:r>
          </a:p>
          <a:p>
            <a:endParaRPr lang="en-US" b="1" dirty="0" smtClean="0"/>
          </a:p>
        </p:txBody>
      </p:sp>
      <p:pic>
        <p:nvPicPr>
          <p:cNvPr id="7" name="Picture 6"/>
          <p:cNvPicPr>
            <a:picLocks noChangeAspect="1"/>
          </p:cNvPicPr>
          <p:nvPr/>
        </p:nvPicPr>
        <p:blipFill>
          <a:blip r:embed="rId3"/>
          <a:stretch>
            <a:fillRect/>
          </a:stretch>
        </p:blipFill>
        <p:spPr>
          <a:xfrm>
            <a:off x="87157" y="1128469"/>
            <a:ext cx="4286848" cy="4677428"/>
          </a:xfrm>
          <a:prstGeom prst="rect">
            <a:avLst/>
          </a:prstGeom>
        </p:spPr>
      </p:pic>
    </p:spTree>
    <p:extLst>
      <p:ext uri="{BB962C8B-B14F-4D97-AF65-F5344CB8AC3E}">
        <p14:creationId xmlns:p14="http://schemas.microsoft.com/office/powerpoint/2010/main" val="210945980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585323"/>
          </a:xfrm>
          <a:prstGeom prst="rect">
            <a:avLst/>
          </a:prstGeom>
        </p:spPr>
        <p:txBody>
          <a:bodyPr wrap="square">
            <a:spAutoFit/>
          </a:bodyPr>
          <a:lstStyle/>
          <a:p>
            <a:r>
              <a:rPr lang="en-US" b="1" dirty="0" smtClean="0">
                <a:solidFill>
                  <a:srgbClr val="FF0000"/>
                </a:solidFill>
              </a:rPr>
              <a:t>Balanced Binary Tree</a:t>
            </a:r>
          </a:p>
          <a:p>
            <a:r>
              <a:rPr lang="en-US" dirty="0" smtClean="0"/>
              <a:t>A </a:t>
            </a:r>
            <a:r>
              <a:rPr lang="en-US" b="1" dirty="0" smtClean="0"/>
              <a:t>Balanced Binary Tree</a:t>
            </a:r>
            <a:r>
              <a:rPr lang="en-US" dirty="0" smtClean="0"/>
              <a:t> is a binary tree where the </a:t>
            </a:r>
            <a:r>
              <a:rPr lang="en-US" b="1" dirty="0" smtClean="0"/>
              <a:t>height difference between the left and right </a:t>
            </a:r>
            <a:r>
              <a:rPr lang="en-US" b="1" dirty="0" err="1" smtClean="0"/>
              <a:t>subtrees</a:t>
            </a:r>
            <a:r>
              <a:rPr lang="en-US" b="1" dirty="0" smtClean="0"/>
              <a:t> of any node is at most 1</a:t>
            </a:r>
            <a:r>
              <a:rPr lang="en-US" dirty="0" smtClean="0"/>
              <a:t>. This ensures the tree stays compact and efficient for searching, inserting, and deleting operations.</a:t>
            </a:r>
          </a:p>
          <a:p>
            <a:endParaRPr lang="en-US" b="1" dirty="0"/>
          </a:p>
          <a:p>
            <a:r>
              <a:rPr lang="en-US" dirty="0" smtClean="0">
                <a:effectLst/>
              </a:rPr>
              <a:t>A binary tree is </a:t>
            </a:r>
            <a:r>
              <a:rPr lang="en-US" b="1" dirty="0" smtClean="0">
                <a:effectLst/>
              </a:rPr>
              <a:t>balanced</a:t>
            </a:r>
            <a:r>
              <a:rPr lang="en-US" dirty="0" smtClean="0">
                <a:effectLst/>
              </a:rPr>
              <a:t> if, for every node:   </a:t>
            </a:r>
            <a:r>
              <a:rPr lang="en-US" b="1" dirty="0" smtClean="0">
                <a:effectLst/>
              </a:rPr>
              <a:t>height(left </a:t>
            </a:r>
            <a:r>
              <a:rPr lang="en-US" b="1" dirty="0" err="1" smtClean="0">
                <a:effectLst/>
              </a:rPr>
              <a:t>subtree</a:t>
            </a:r>
            <a:r>
              <a:rPr lang="en-US" b="1" dirty="0" smtClean="0">
                <a:effectLst/>
              </a:rPr>
              <a:t>) − height(right </a:t>
            </a:r>
            <a:r>
              <a:rPr lang="en-US" b="1" dirty="0" err="1" smtClean="0">
                <a:effectLst/>
              </a:rPr>
              <a:t>subtree</a:t>
            </a:r>
            <a:r>
              <a:rPr lang="en-US" b="1" dirty="0" smtClean="0">
                <a:effectLst/>
              </a:rPr>
              <a:t>) ≤ 1</a:t>
            </a:r>
          </a:p>
          <a:p>
            <a:endParaRPr lang="en-US" dirty="0" smtClean="0">
              <a:effectLst/>
            </a:endParaRPr>
          </a:p>
          <a:p>
            <a:r>
              <a:rPr lang="en-US" dirty="0" smtClean="0">
                <a:effectLst/>
              </a:rPr>
              <a:t>This prevents the tree from degenerating into a skewed structure (like a linked list).</a:t>
            </a:r>
            <a:endParaRPr lang="en-US" dirty="0" smtClean="0"/>
          </a:p>
          <a:p>
            <a:endParaRPr lang="en-US" b="1" dirty="0" smtClean="0"/>
          </a:p>
          <a:p>
            <a:endParaRPr lang="en-US" b="1" dirty="0" smtClean="0"/>
          </a:p>
        </p:txBody>
      </p:sp>
    </p:spTree>
    <p:extLst>
      <p:ext uri="{BB962C8B-B14F-4D97-AF65-F5344CB8AC3E}">
        <p14:creationId xmlns:p14="http://schemas.microsoft.com/office/powerpoint/2010/main" val="362908474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smtClean="0">
                <a:solidFill>
                  <a:srgbClr val="FF0000"/>
                </a:solidFill>
              </a:rPr>
              <a:t>Balanced Binary Tree</a:t>
            </a:r>
          </a:p>
          <a:p>
            <a:endParaRPr lang="en-US" b="1" dirty="0" smtClean="0"/>
          </a:p>
          <a:p>
            <a:r>
              <a:rPr lang="en-US" b="1" dirty="0" smtClean="0"/>
              <a:t>Balanced Binary Tree (height difference ≤ 1):</a:t>
            </a:r>
          </a:p>
          <a:p>
            <a:endParaRPr lang="en-US" b="1" dirty="0"/>
          </a:p>
          <a:p>
            <a:endParaRPr lang="en-US" b="1" dirty="0" smtClean="0"/>
          </a:p>
          <a:p>
            <a:endParaRPr lang="en-US" b="1" dirty="0"/>
          </a:p>
          <a:p>
            <a:endParaRPr lang="en-US" b="1" dirty="0" smtClean="0"/>
          </a:p>
          <a:p>
            <a:endParaRPr lang="en-US" b="1" dirty="0"/>
          </a:p>
          <a:p>
            <a:endParaRPr lang="en-US" b="1" dirty="0" smtClean="0"/>
          </a:p>
          <a:p>
            <a:r>
              <a:rPr lang="en-US" dirty="0" smtClean="0"/>
              <a:t>Both left and right </a:t>
            </a:r>
            <a:r>
              <a:rPr lang="en-US" dirty="0" err="1" smtClean="0"/>
              <a:t>subtrees</a:t>
            </a:r>
            <a:r>
              <a:rPr lang="en-US" dirty="0" smtClean="0"/>
              <a:t> are nearly equal in height.</a:t>
            </a:r>
          </a:p>
          <a:p>
            <a:endParaRPr lang="en-US" b="1" dirty="0"/>
          </a:p>
          <a:p>
            <a:r>
              <a:rPr lang="en-IN" b="1" dirty="0" smtClean="0"/>
              <a:t>Unbalanced Binary Tree (skewed):</a:t>
            </a:r>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r>
              <a:rPr lang="en-US" dirty="0" smtClean="0"/>
              <a:t>Right side is much deeper than the left, making it inefficient.</a:t>
            </a:r>
            <a:endParaRPr lang="en-US" b="1" dirty="0" smtClean="0"/>
          </a:p>
        </p:txBody>
      </p:sp>
      <p:pic>
        <p:nvPicPr>
          <p:cNvPr id="2" name="Picture 1"/>
          <p:cNvPicPr>
            <a:picLocks noChangeAspect="1"/>
          </p:cNvPicPr>
          <p:nvPr/>
        </p:nvPicPr>
        <p:blipFill>
          <a:blip r:embed="rId3"/>
          <a:stretch>
            <a:fillRect/>
          </a:stretch>
        </p:blipFill>
        <p:spPr>
          <a:xfrm>
            <a:off x="2055823" y="1615274"/>
            <a:ext cx="2743583" cy="1133633"/>
          </a:xfrm>
          <a:prstGeom prst="rect">
            <a:avLst/>
          </a:prstGeom>
        </p:spPr>
      </p:pic>
      <p:pic>
        <p:nvPicPr>
          <p:cNvPr id="3" name="Picture 2"/>
          <p:cNvPicPr>
            <a:picLocks noChangeAspect="1"/>
          </p:cNvPicPr>
          <p:nvPr/>
        </p:nvPicPr>
        <p:blipFill>
          <a:blip r:embed="rId4"/>
          <a:stretch>
            <a:fillRect/>
          </a:stretch>
        </p:blipFill>
        <p:spPr>
          <a:xfrm>
            <a:off x="2328235" y="4008882"/>
            <a:ext cx="1533739" cy="1467055"/>
          </a:xfrm>
          <a:prstGeom prst="rect">
            <a:avLst/>
          </a:prstGeom>
        </p:spPr>
      </p:pic>
    </p:spTree>
    <p:extLst>
      <p:ext uri="{BB962C8B-B14F-4D97-AF65-F5344CB8AC3E}">
        <p14:creationId xmlns:p14="http://schemas.microsoft.com/office/powerpoint/2010/main" val="419479411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2585323"/>
          </a:xfrm>
          <a:prstGeom prst="rect">
            <a:avLst/>
          </a:prstGeom>
        </p:spPr>
        <p:txBody>
          <a:bodyPr wrap="square">
            <a:spAutoFit/>
          </a:bodyPr>
          <a:lstStyle/>
          <a:p>
            <a:r>
              <a:rPr lang="en-US" b="1" dirty="0" smtClean="0">
                <a:solidFill>
                  <a:srgbClr val="FF0000"/>
                </a:solidFill>
              </a:rPr>
              <a:t>Balanced Binary Tree</a:t>
            </a:r>
          </a:p>
          <a:p>
            <a:endParaRPr lang="en-US" b="1" dirty="0" smtClean="0"/>
          </a:p>
          <a:p>
            <a:r>
              <a:rPr lang="en-US" dirty="0" smtClean="0">
                <a:effectLst/>
              </a:rPr>
              <a:t>For </a:t>
            </a:r>
            <a:r>
              <a:rPr lang="en-US" b="1" dirty="0" smtClean="0">
                <a:effectLst/>
              </a:rPr>
              <a:t>every node</a:t>
            </a:r>
            <a:r>
              <a:rPr lang="en-US" dirty="0" smtClean="0">
                <a:effectLst/>
              </a:rPr>
              <a:t> in the tree:</a:t>
            </a:r>
            <a:endParaRPr lang="en-US" dirty="0" smtClean="0"/>
          </a:p>
          <a:p>
            <a:endParaRPr lang="en-US" dirty="0" smtClean="0">
              <a:effectLst/>
            </a:endParaRPr>
          </a:p>
          <a:p>
            <a:r>
              <a:rPr lang="en-US" dirty="0" smtClean="0">
                <a:effectLst/>
              </a:rPr>
              <a:t>height(left </a:t>
            </a:r>
            <a:r>
              <a:rPr lang="en-US" dirty="0" err="1" smtClean="0">
                <a:effectLst/>
              </a:rPr>
              <a:t>subtree</a:t>
            </a:r>
            <a:r>
              <a:rPr lang="en-US" dirty="0" smtClean="0">
                <a:effectLst/>
              </a:rPr>
              <a:t>) − height(right </a:t>
            </a:r>
            <a:r>
              <a:rPr lang="en-US" dirty="0" err="1" smtClean="0">
                <a:effectLst/>
              </a:rPr>
              <a:t>subtree</a:t>
            </a:r>
            <a:r>
              <a:rPr lang="en-US" dirty="0" smtClean="0">
                <a:effectLst/>
              </a:rPr>
              <a:t>) ≤1</a:t>
            </a:r>
          </a:p>
          <a:p>
            <a:endParaRPr lang="en-US" dirty="0" smtClean="0">
              <a:effectLst/>
            </a:endParaRPr>
          </a:p>
          <a:p>
            <a:pPr marL="285750" indent="-285750">
              <a:buFont typeface="Arial" panose="020B0604020202020204" pitchFamily="34" charset="0"/>
              <a:buChar char="•"/>
            </a:pPr>
            <a:r>
              <a:rPr lang="en-US" dirty="0" smtClean="0">
                <a:effectLst/>
              </a:rPr>
              <a:t>If this holds true everywhere, the tree is </a:t>
            </a:r>
            <a:r>
              <a:rPr lang="en-US" b="1" dirty="0" smtClean="0">
                <a:effectLst/>
              </a:rPr>
              <a:t>balanced</a:t>
            </a:r>
            <a:r>
              <a:rPr lang="en-US" dirty="0" smtClean="0">
                <a:effectLst/>
              </a:rPr>
              <a:t>. </a:t>
            </a:r>
          </a:p>
          <a:p>
            <a:pPr marL="285750" indent="-285750">
              <a:buFont typeface="Arial" panose="020B0604020202020204" pitchFamily="34" charset="0"/>
              <a:buChar char="•"/>
            </a:pPr>
            <a:r>
              <a:rPr lang="en-US" dirty="0" smtClean="0">
                <a:effectLst/>
              </a:rPr>
              <a:t>If any node breaks this rule, the tree becomes </a:t>
            </a:r>
            <a:r>
              <a:rPr lang="en-US" b="1" dirty="0" smtClean="0">
                <a:effectLst/>
              </a:rPr>
              <a:t>unbalanced</a:t>
            </a:r>
            <a:r>
              <a:rPr lang="en-US" dirty="0" smtClean="0">
                <a:effectLst/>
              </a:rPr>
              <a:t>.</a:t>
            </a:r>
            <a:endParaRPr lang="en-US" dirty="0" smtClean="0"/>
          </a:p>
          <a:p>
            <a:endParaRPr lang="en-US" b="1" dirty="0" smtClean="0"/>
          </a:p>
        </p:txBody>
      </p:sp>
    </p:spTree>
    <p:extLst>
      <p:ext uri="{BB962C8B-B14F-4D97-AF65-F5344CB8AC3E}">
        <p14:creationId xmlns:p14="http://schemas.microsoft.com/office/powerpoint/2010/main" val="255830880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smtClean="0">
                <a:solidFill>
                  <a:srgbClr val="FF0000"/>
                </a:solidFill>
              </a:rPr>
              <a:t>Balanced Binary Tree</a:t>
            </a:r>
          </a:p>
          <a:p>
            <a:endParaRPr lang="en-US" b="1" dirty="0" smtClean="0"/>
          </a:p>
          <a:p>
            <a:endParaRPr lang="en-US" b="1" dirty="0"/>
          </a:p>
          <a:p>
            <a:endParaRPr lang="en-US" b="1" dirty="0" smtClean="0"/>
          </a:p>
          <a:p>
            <a:endParaRPr lang="en-US" b="1" dirty="0"/>
          </a:p>
          <a:p>
            <a:endParaRPr lang="en-US" b="1" dirty="0" smtClean="0"/>
          </a:p>
          <a:p>
            <a:endParaRPr lang="en-US" b="1" dirty="0"/>
          </a:p>
          <a:p>
            <a:r>
              <a:rPr lang="en-US" b="1" dirty="0" smtClean="0"/>
              <a:t>Why It’s Balanced</a:t>
            </a:r>
          </a:p>
          <a:p>
            <a:pPr marL="285750" indent="-285750">
              <a:buFont typeface="Arial" panose="020B0604020202020204" pitchFamily="34" charset="0"/>
              <a:buChar char="•"/>
            </a:pPr>
            <a:r>
              <a:rPr lang="en-US" b="1" dirty="0" smtClean="0">
                <a:effectLst/>
              </a:rPr>
              <a:t>Height Difference Rule</a:t>
            </a:r>
            <a:r>
              <a:rPr lang="en-US" dirty="0" smtClean="0">
                <a:effectLst/>
              </a:rPr>
              <a:t>: For every node, the difference in height between its left and right </a:t>
            </a:r>
            <a:r>
              <a:rPr lang="en-US" dirty="0" err="1" smtClean="0">
                <a:effectLst/>
              </a:rPr>
              <a:t>subtrees</a:t>
            </a:r>
            <a:r>
              <a:rPr lang="en-US" dirty="0" smtClean="0">
                <a:effectLst/>
              </a:rPr>
              <a:t> is </a:t>
            </a:r>
            <a:r>
              <a:rPr lang="en-US" b="1" dirty="0" smtClean="0">
                <a:effectLst/>
              </a:rPr>
              <a:t>≤ 1</a:t>
            </a:r>
            <a:r>
              <a:rPr lang="en-US" dirty="0" smtClean="0">
                <a:effectLst/>
              </a:rPr>
              <a:t>.</a:t>
            </a:r>
            <a:endParaRPr lang="en-US" dirty="0" smtClean="0"/>
          </a:p>
          <a:p>
            <a:pPr marL="285750" indent="-285750">
              <a:buFont typeface="Arial" panose="020B0604020202020204" pitchFamily="34" charset="0"/>
              <a:buChar char="•"/>
            </a:pPr>
            <a:r>
              <a:rPr lang="en-US" dirty="0" smtClean="0">
                <a:effectLst/>
              </a:rPr>
              <a:t>In this diagram:</a:t>
            </a:r>
            <a:endParaRPr lang="en-US" dirty="0" smtClean="0"/>
          </a:p>
          <a:p>
            <a:pPr marL="742950" lvl="1" indent="-285750">
              <a:buFont typeface="Arial" panose="020B0604020202020204" pitchFamily="34" charset="0"/>
              <a:buChar char="•"/>
            </a:pPr>
            <a:r>
              <a:rPr lang="en-US" dirty="0" smtClean="0">
                <a:effectLst/>
              </a:rPr>
              <a:t>The </a:t>
            </a:r>
            <a:r>
              <a:rPr lang="en-US" b="1" dirty="0" smtClean="0">
                <a:effectLst/>
              </a:rPr>
              <a:t>Root</a:t>
            </a:r>
            <a:r>
              <a:rPr lang="en-US" dirty="0" smtClean="0">
                <a:effectLst/>
              </a:rPr>
              <a:t> has two </a:t>
            </a:r>
            <a:r>
              <a:rPr lang="en-US" dirty="0" err="1" smtClean="0">
                <a:effectLst/>
              </a:rPr>
              <a:t>subtrees</a:t>
            </a:r>
            <a:r>
              <a:rPr lang="en-US" dirty="0" smtClean="0">
                <a:effectLst/>
              </a:rPr>
              <a:t> of equal height (both have 2 levels).</a:t>
            </a:r>
            <a:endParaRPr lang="en-US" dirty="0" smtClean="0"/>
          </a:p>
          <a:p>
            <a:pPr marL="742950" lvl="1" indent="-285750">
              <a:buFont typeface="Arial" panose="020B0604020202020204" pitchFamily="34" charset="0"/>
              <a:buChar char="•"/>
            </a:pPr>
            <a:r>
              <a:rPr lang="en-US" dirty="0" smtClean="0">
                <a:effectLst/>
              </a:rPr>
              <a:t>Node1’s left and right children (Node3, Node4) are at the same depth.</a:t>
            </a:r>
            <a:endParaRPr lang="en-US" dirty="0" smtClean="0"/>
          </a:p>
          <a:p>
            <a:pPr marL="742950" lvl="1" indent="-285750">
              <a:buFont typeface="Arial" panose="020B0604020202020204" pitchFamily="34" charset="0"/>
              <a:buChar char="•"/>
            </a:pPr>
            <a:r>
              <a:rPr lang="en-US" dirty="0" smtClean="0">
                <a:effectLst/>
              </a:rPr>
              <a:t>Node2’s left and right children (Node5, Node6) are also at the same depth.</a:t>
            </a:r>
            <a:endParaRPr lang="en-US" dirty="0" smtClean="0"/>
          </a:p>
          <a:p>
            <a:pPr marL="285750" indent="-285750">
              <a:buFont typeface="Arial" panose="020B0604020202020204" pitchFamily="34" charset="0"/>
              <a:buChar char="•"/>
            </a:pPr>
            <a:r>
              <a:rPr lang="en-US" dirty="0" smtClean="0">
                <a:effectLst/>
              </a:rPr>
              <a:t>Since no branch is significantly deeper than another, the tree is </a:t>
            </a:r>
            <a:r>
              <a:rPr lang="en-US" b="1" dirty="0" smtClean="0">
                <a:effectLst/>
              </a:rPr>
              <a:t>balanced</a:t>
            </a:r>
            <a:r>
              <a:rPr lang="en-US" dirty="0" smtClean="0">
                <a:effectLst/>
              </a:rPr>
              <a:t>.</a:t>
            </a:r>
            <a:endParaRPr lang="en-US" dirty="0" smtClean="0"/>
          </a:p>
          <a:p>
            <a:endParaRPr lang="en-US" b="1" dirty="0" smtClean="0"/>
          </a:p>
        </p:txBody>
      </p:sp>
      <p:pic>
        <p:nvPicPr>
          <p:cNvPr id="7" name="Picture 6"/>
          <p:cNvPicPr>
            <a:picLocks noChangeAspect="1"/>
          </p:cNvPicPr>
          <p:nvPr/>
        </p:nvPicPr>
        <p:blipFill>
          <a:blip r:embed="rId3"/>
          <a:stretch>
            <a:fillRect/>
          </a:stretch>
        </p:blipFill>
        <p:spPr>
          <a:xfrm>
            <a:off x="912398" y="1128469"/>
            <a:ext cx="2619741" cy="1076475"/>
          </a:xfrm>
          <a:prstGeom prst="rect">
            <a:avLst/>
          </a:prstGeom>
        </p:spPr>
      </p:pic>
    </p:spTree>
    <p:extLst>
      <p:ext uri="{BB962C8B-B14F-4D97-AF65-F5344CB8AC3E}">
        <p14:creationId xmlns:p14="http://schemas.microsoft.com/office/powerpoint/2010/main" val="308335734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smtClean="0">
                <a:solidFill>
                  <a:srgbClr val="FF0000"/>
                </a:solidFill>
              </a:rPr>
              <a:t>Balanced Binary Tree</a:t>
            </a:r>
          </a:p>
          <a:p>
            <a:r>
              <a:rPr lang="en-US" b="1" dirty="0" smtClean="0"/>
              <a:t>Height of a </a:t>
            </a:r>
            <a:r>
              <a:rPr lang="en-US" b="1" dirty="0" err="1" smtClean="0"/>
              <a:t>Subtree</a:t>
            </a:r>
            <a:endParaRPr lang="en-US" b="1" dirty="0" smtClean="0"/>
          </a:p>
          <a:p>
            <a:r>
              <a:rPr lang="en-US" dirty="0" smtClean="0">
                <a:effectLst/>
              </a:rPr>
              <a:t>The </a:t>
            </a:r>
            <a:r>
              <a:rPr lang="en-US" b="1" dirty="0" smtClean="0">
                <a:effectLst/>
              </a:rPr>
              <a:t>height</a:t>
            </a:r>
            <a:r>
              <a:rPr lang="en-US" dirty="0" smtClean="0">
                <a:effectLst/>
              </a:rPr>
              <a:t> of a </a:t>
            </a:r>
            <a:r>
              <a:rPr lang="en-US" dirty="0" err="1" smtClean="0">
                <a:effectLst/>
              </a:rPr>
              <a:t>subtree</a:t>
            </a:r>
            <a:r>
              <a:rPr lang="en-US" dirty="0" smtClean="0">
                <a:effectLst/>
              </a:rPr>
              <a:t> = the number of edges from that node down to its deepest leaf.</a:t>
            </a:r>
            <a:endParaRPr lang="en-US" dirty="0" smtClean="0"/>
          </a:p>
          <a:p>
            <a:r>
              <a:rPr lang="en-US" dirty="0" smtClean="0">
                <a:effectLst/>
              </a:rPr>
              <a:t>Example:</a:t>
            </a:r>
          </a:p>
          <a:p>
            <a:endParaRPr lang="en-US" dirty="0"/>
          </a:p>
          <a:p>
            <a:endParaRPr lang="en-US" dirty="0" smtClean="0"/>
          </a:p>
          <a:p>
            <a:endParaRPr lang="en-US" dirty="0"/>
          </a:p>
          <a:p>
            <a:endParaRPr lang="en-US" dirty="0" smtClean="0"/>
          </a:p>
          <a:p>
            <a:endParaRPr lang="en-US" dirty="0" smtClean="0"/>
          </a:p>
          <a:p>
            <a:pPr marL="742950" lvl="1" indent="-285750">
              <a:buFont typeface="Arial" panose="020B0604020202020204" pitchFamily="34" charset="0"/>
              <a:buChar char="•"/>
            </a:pPr>
            <a:r>
              <a:rPr lang="en-US" dirty="0" smtClean="0">
                <a:effectLst/>
              </a:rPr>
              <a:t>Height of </a:t>
            </a:r>
            <a:r>
              <a:rPr lang="en-US" dirty="0" err="1" smtClean="0">
                <a:effectLst/>
              </a:rPr>
              <a:t>subtree</a:t>
            </a:r>
            <a:r>
              <a:rPr lang="en-US" dirty="0" smtClean="0">
                <a:effectLst/>
              </a:rPr>
              <a:t> rooted at </a:t>
            </a:r>
            <a:r>
              <a:rPr lang="en-US" b="1" dirty="0" smtClean="0">
                <a:effectLst/>
              </a:rPr>
              <a:t>B</a:t>
            </a:r>
            <a:r>
              <a:rPr lang="en-US" dirty="0" smtClean="0">
                <a:effectLst/>
              </a:rPr>
              <a:t> = 1 (B → leaf).</a:t>
            </a:r>
            <a:endParaRPr lang="en-US" dirty="0" smtClean="0"/>
          </a:p>
          <a:p>
            <a:pPr marL="742950" lvl="1" indent="-285750">
              <a:buFont typeface="Arial" panose="020B0604020202020204" pitchFamily="34" charset="0"/>
              <a:buChar char="•"/>
            </a:pPr>
            <a:r>
              <a:rPr lang="en-US" dirty="0" smtClean="0">
                <a:effectLst/>
              </a:rPr>
              <a:t>Height of </a:t>
            </a:r>
            <a:r>
              <a:rPr lang="en-US" dirty="0" err="1" smtClean="0">
                <a:effectLst/>
              </a:rPr>
              <a:t>subtree</a:t>
            </a:r>
            <a:r>
              <a:rPr lang="en-US" dirty="0" smtClean="0">
                <a:effectLst/>
              </a:rPr>
              <a:t> rooted at </a:t>
            </a:r>
            <a:r>
              <a:rPr lang="en-US" b="1" dirty="0" smtClean="0">
                <a:effectLst/>
              </a:rPr>
              <a:t>C</a:t>
            </a:r>
            <a:r>
              <a:rPr lang="en-US" dirty="0" smtClean="0">
                <a:effectLst/>
              </a:rPr>
              <a:t> = 1 (C → leaf).</a:t>
            </a:r>
            <a:endParaRPr lang="en-US" dirty="0" smtClean="0"/>
          </a:p>
          <a:p>
            <a:pPr marL="742950" lvl="1" indent="-285750">
              <a:buFont typeface="Arial" panose="020B0604020202020204" pitchFamily="34" charset="0"/>
              <a:buChar char="•"/>
            </a:pPr>
            <a:r>
              <a:rPr lang="en-US" dirty="0" smtClean="0">
                <a:effectLst/>
              </a:rPr>
              <a:t>Height difference = |1 – 1| = 0 → Balanced.</a:t>
            </a:r>
            <a:endParaRPr lang="en-US" dirty="0" smtClean="0"/>
          </a:p>
          <a:p>
            <a:pPr marL="285750" indent="-285750">
              <a:buFont typeface="Arial" panose="020B0604020202020204" pitchFamily="34" charset="0"/>
              <a:buChar char="•"/>
            </a:pPr>
            <a:endParaRPr lang="en-US" dirty="0"/>
          </a:p>
        </p:txBody>
      </p:sp>
      <p:pic>
        <p:nvPicPr>
          <p:cNvPr id="2" name="Picture 1"/>
          <p:cNvPicPr>
            <a:picLocks noChangeAspect="1"/>
          </p:cNvPicPr>
          <p:nvPr/>
        </p:nvPicPr>
        <p:blipFill>
          <a:blip r:embed="rId3"/>
          <a:stretch>
            <a:fillRect/>
          </a:stretch>
        </p:blipFill>
        <p:spPr>
          <a:xfrm>
            <a:off x="1595110" y="1682467"/>
            <a:ext cx="971686" cy="771633"/>
          </a:xfrm>
          <a:prstGeom prst="rect">
            <a:avLst/>
          </a:prstGeom>
        </p:spPr>
      </p:pic>
    </p:spTree>
    <p:extLst>
      <p:ext uri="{BB962C8B-B14F-4D97-AF65-F5344CB8AC3E}">
        <p14:creationId xmlns:p14="http://schemas.microsoft.com/office/powerpoint/2010/main" val="238037026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970318"/>
          </a:xfrm>
          <a:prstGeom prst="rect">
            <a:avLst/>
          </a:prstGeom>
        </p:spPr>
        <p:txBody>
          <a:bodyPr wrap="square">
            <a:spAutoFit/>
          </a:bodyPr>
          <a:lstStyle/>
          <a:p>
            <a:r>
              <a:rPr lang="en-US" b="1" dirty="0" smtClean="0">
                <a:solidFill>
                  <a:srgbClr val="FF0000"/>
                </a:solidFill>
              </a:rPr>
              <a:t>Balanced Binary Tree</a:t>
            </a:r>
          </a:p>
          <a:p>
            <a:endParaRPr lang="en-US" b="1" dirty="0">
              <a:solidFill>
                <a:srgbClr val="FF0000"/>
              </a:solidFill>
            </a:endParaRPr>
          </a:p>
          <a:p>
            <a:r>
              <a:rPr lang="en-IN" dirty="0" smtClean="0"/>
              <a:t>Balanced Binary Tree</a:t>
            </a: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pPr marL="285750" indent="-285750">
              <a:buFont typeface="Arial" panose="020B0604020202020204" pitchFamily="34" charset="0"/>
              <a:buChar char="•"/>
            </a:pPr>
            <a:r>
              <a:rPr lang="en-US" dirty="0" smtClean="0">
                <a:effectLst/>
              </a:rPr>
              <a:t>Left </a:t>
            </a:r>
            <a:r>
              <a:rPr lang="en-US" dirty="0" err="1" smtClean="0">
                <a:effectLst/>
              </a:rPr>
              <a:t>subtree</a:t>
            </a:r>
            <a:r>
              <a:rPr lang="en-US" dirty="0" smtClean="0">
                <a:effectLst/>
              </a:rPr>
              <a:t> height = 2</a:t>
            </a:r>
            <a:endParaRPr lang="en-US" dirty="0" smtClean="0"/>
          </a:p>
          <a:p>
            <a:pPr marL="285750" indent="-285750">
              <a:buFont typeface="Arial" panose="020B0604020202020204" pitchFamily="34" charset="0"/>
              <a:buChar char="•"/>
            </a:pPr>
            <a:r>
              <a:rPr lang="en-US" dirty="0" smtClean="0">
                <a:effectLst/>
              </a:rPr>
              <a:t>Right </a:t>
            </a:r>
            <a:r>
              <a:rPr lang="en-US" dirty="0" err="1" smtClean="0">
                <a:effectLst/>
              </a:rPr>
              <a:t>subtree</a:t>
            </a:r>
            <a:r>
              <a:rPr lang="en-US" dirty="0" smtClean="0">
                <a:effectLst/>
              </a:rPr>
              <a:t> height = 2</a:t>
            </a:r>
            <a:endParaRPr lang="en-US" dirty="0" smtClean="0"/>
          </a:p>
          <a:p>
            <a:pPr marL="285750" indent="-285750">
              <a:buFont typeface="Arial" panose="020B0604020202020204" pitchFamily="34" charset="0"/>
              <a:buChar char="•"/>
            </a:pPr>
            <a:r>
              <a:rPr lang="en-US" dirty="0" smtClean="0">
                <a:effectLst/>
              </a:rPr>
              <a:t>Difference = |2 – 2| = 0 → Balanced.</a:t>
            </a:r>
            <a:endParaRPr lang="en-US" dirty="0" smtClean="0"/>
          </a:p>
          <a:p>
            <a:pPr marL="285750" indent="-285750">
              <a:buFont typeface="Arial" panose="020B0604020202020204" pitchFamily="34" charset="0"/>
              <a:buChar char="•"/>
            </a:pPr>
            <a:endParaRPr lang="en-US" b="1" dirty="0" smtClean="0">
              <a:solidFill>
                <a:srgbClr val="FF0000"/>
              </a:solidFill>
            </a:endParaRPr>
          </a:p>
        </p:txBody>
      </p:sp>
      <p:pic>
        <p:nvPicPr>
          <p:cNvPr id="3" name="Picture 2"/>
          <p:cNvPicPr>
            <a:picLocks noChangeAspect="1"/>
          </p:cNvPicPr>
          <p:nvPr/>
        </p:nvPicPr>
        <p:blipFill>
          <a:blip r:embed="rId3"/>
          <a:stretch>
            <a:fillRect/>
          </a:stretch>
        </p:blipFill>
        <p:spPr>
          <a:xfrm>
            <a:off x="966099" y="1827386"/>
            <a:ext cx="2429214" cy="1143160"/>
          </a:xfrm>
          <a:prstGeom prst="rect">
            <a:avLst/>
          </a:prstGeom>
        </p:spPr>
      </p:pic>
    </p:spTree>
    <p:extLst>
      <p:ext uri="{BB962C8B-B14F-4D97-AF65-F5344CB8AC3E}">
        <p14:creationId xmlns:p14="http://schemas.microsoft.com/office/powerpoint/2010/main" val="247228178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smtClean="0">
                <a:solidFill>
                  <a:srgbClr val="FF0000"/>
                </a:solidFill>
              </a:rPr>
              <a:t>Balanced Binary Tree</a:t>
            </a:r>
          </a:p>
          <a:p>
            <a:endParaRPr lang="en-US" b="1" dirty="0">
              <a:solidFill>
                <a:srgbClr val="FF0000"/>
              </a:solidFill>
            </a:endParaRPr>
          </a:p>
          <a:p>
            <a:r>
              <a:rPr lang="en-IN" dirty="0" smtClean="0"/>
              <a:t>Unbalanced Binary Tree</a:t>
            </a:r>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a:solidFill>
                <a:srgbClr val="FF0000"/>
              </a:solidFill>
            </a:endParaRPr>
          </a:p>
          <a:p>
            <a:endParaRPr lang="en-US" b="1" dirty="0" smtClean="0">
              <a:solidFill>
                <a:srgbClr val="FF0000"/>
              </a:solidFill>
            </a:endParaRPr>
          </a:p>
          <a:p>
            <a:endParaRPr lang="en-US" b="1" dirty="0" smtClean="0">
              <a:solidFill>
                <a:srgbClr val="FF0000"/>
              </a:solidFill>
            </a:endParaRPr>
          </a:p>
          <a:p>
            <a:endParaRPr lang="en-US" b="1" dirty="0">
              <a:solidFill>
                <a:srgbClr val="FF0000"/>
              </a:solidFill>
            </a:endParaRPr>
          </a:p>
          <a:p>
            <a:pPr marL="285750" indent="-285750">
              <a:buFont typeface="Arial" panose="020B0604020202020204" pitchFamily="34" charset="0"/>
              <a:buChar char="•"/>
            </a:pPr>
            <a:r>
              <a:rPr lang="en-US" dirty="0" smtClean="0"/>
              <a:t>Left </a:t>
            </a:r>
            <a:r>
              <a:rPr lang="en-US" dirty="0" err="1" smtClean="0"/>
              <a:t>subtree</a:t>
            </a:r>
            <a:r>
              <a:rPr lang="en-US" dirty="0" smtClean="0"/>
              <a:t> height = 3</a:t>
            </a:r>
          </a:p>
          <a:p>
            <a:pPr marL="285750" indent="-285750">
              <a:buFont typeface="Arial" panose="020B0604020202020204" pitchFamily="34" charset="0"/>
              <a:buChar char="•"/>
            </a:pPr>
            <a:r>
              <a:rPr lang="en-US" dirty="0" smtClean="0"/>
              <a:t>Right </a:t>
            </a:r>
            <a:r>
              <a:rPr lang="en-US" dirty="0" err="1" smtClean="0"/>
              <a:t>subtree</a:t>
            </a:r>
            <a:r>
              <a:rPr lang="en-US" dirty="0" smtClean="0"/>
              <a:t> height = 0</a:t>
            </a:r>
          </a:p>
          <a:p>
            <a:pPr marL="285750" indent="-285750">
              <a:buFont typeface="Arial" panose="020B0604020202020204" pitchFamily="34" charset="0"/>
              <a:buChar char="•"/>
            </a:pPr>
            <a:r>
              <a:rPr lang="en-US" dirty="0" smtClean="0"/>
              <a:t>Difference = |3 – 0| = 3 → Not Balanced.</a:t>
            </a:r>
            <a:endParaRPr lang="en-US" dirty="0"/>
          </a:p>
        </p:txBody>
      </p:sp>
      <p:pic>
        <p:nvPicPr>
          <p:cNvPr id="2" name="Picture 1"/>
          <p:cNvPicPr>
            <a:picLocks noChangeAspect="1"/>
          </p:cNvPicPr>
          <p:nvPr/>
        </p:nvPicPr>
        <p:blipFill>
          <a:blip r:embed="rId3"/>
          <a:stretch>
            <a:fillRect/>
          </a:stretch>
        </p:blipFill>
        <p:spPr>
          <a:xfrm>
            <a:off x="973627" y="1457998"/>
            <a:ext cx="1267002" cy="1514686"/>
          </a:xfrm>
          <a:prstGeom prst="rect">
            <a:avLst/>
          </a:prstGeom>
        </p:spPr>
      </p:pic>
    </p:spTree>
    <p:extLst>
      <p:ext uri="{BB962C8B-B14F-4D97-AF65-F5344CB8AC3E}">
        <p14:creationId xmlns:p14="http://schemas.microsoft.com/office/powerpoint/2010/main" val="429323591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Balanced Binary Tree</a:t>
            </a:r>
          </a:p>
          <a:p>
            <a:endParaRPr lang="en-US" b="1" dirty="0" smtClean="0"/>
          </a:p>
          <a:p>
            <a:r>
              <a:rPr lang="en-US" b="1" dirty="0" smtClean="0"/>
              <a:t>Characteristics</a:t>
            </a:r>
          </a:p>
          <a:p>
            <a:pPr marL="285750" indent="-285750">
              <a:buFont typeface="Arial" panose="020B0604020202020204" pitchFamily="34" charset="0"/>
              <a:buChar char="•"/>
            </a:pPr>
            <a:r>
              <a:rPr lang="en-US" b="1" dirty="0" smtClean="0">
                <a:effectLst/>
              </a:rPr>
              <a:t>Height is minimized</a:t>
            </a:r>
            <a:r>
              <a:rPr lang="en-US" dirty="0" smtClean="0">
                <a:effectLst/>
              </a:rPr>
              <a:t> → operations are faster.</a:t>
            </a:r>
            <a:endParaRPr lang="en-US" dirty="0" smtClean="0"/>
          </a:p>
          <a:p>
            <a:pPr marL="285750" indent="-285750">
              <a:buFont typeface="Arial" panose="020B0604020202020204" pitchFamily="34" charset="0"/>
              <a:buChar char="•"/>
            </a:pPr>
            <a:r>
              <a:rPr lang="en-US" b="1" dirty="0" smtClean="0">
                <a:effectLst/>
              </a:rPr>
              <a:t>Time complexity</a:t>
            </a:r>
            <a:r>
              <a:rPr lang="en-US" dirty="0" smtClean="0">
                <a:effectLst/>
              </a:rPr>
              <a:t> for search, insert, delete:</a:t>
            </a:r>
            <a:endParaRPr lang="en-US" dirty="0" smtClean="0"/>
          </a:p>
          <a:p>
            <a:pPr marL="742950" lvl="1" indent="-285750">
              <a:buFont typeface="Arial" panose="020B0604020202020204" pitchFamily="34" charset="0"/>
              <a:buChar char="•"/>
            </a:pPr>
            <a:r>
              <a:rPr lang="en-US" dirty="0" smtClean="0">
                <a:effectLst/>
              </a:rPr>
              <a:t>Balanced Tree → O(log n)</a:t>
            </a:r>
            <a:endParaRPr lang="en-US" dirty="0" smtClean="0"/>
          </a:p>
          <a:p>
            <a:pPr marL="742950" lvl="1" indent="-285750">
              <a:buFont typeface="Arial" panose="020B0604020202020204" pitchFamily="34" charset="0"/>
              <a:buChar char="•"/>
            </a:pPr>
            <a:r>
              <a:rPr lang="en-US" dirty="0" smtClean="0">
                <a:effectLst/>
              </a:rPr>
              <a:t>Skewed Tree → O(n)</a:t>
            </a:r>
            <a:endParaRPr lang="en-US" dirty="0" smtClean="0"/>
          </a:p>
          <a:p>
            <a:pPr marL="285750" indent="-285750">
              <a:buFont typeface="Arial" panose="020B0604020202020204" pitchFamily="34" charset="0"/>
              <a:buChar char="•"/>
            </a:pPr>
            <a:r>
              <a:rPr lang="en-US" dirty="0" smtClean="0">
                <a:effectLst/>
              </a:rPr>
              <a:t>Examples of balanced trees:</a:t>
            </a:r>
            <a:endParaRPr lang="en-US" dirty="0" smtClean="0"/>
          </a:p>
          <a:p>
            <a:pPr marL="742950" lvl="1" indent="-285750">
              <a:buFont typeface="Arial" panose="020B0604020202020204" pitchFamily="34" charset="0"/>
              <a:buChar char="•"/>
            </a:pPr>
            <a:r>
              <a:rPr lang="en-US" b="1" dirty="0" smtClean="0">
                <a:effectLst/>
              </a:rPr>
              <a:t>AVL Tree</a:t>
            </a:r>
            <a:r>
              <a:rPr lang="en-US" dirty="0" smtClean="0">
                <a:effectLst/>
              </a:rPr>
              <a:t> (strictly balanced).</a:t>
            </a:r>
            <a:endParaRPr lang="en-US" dirty="0" smtClean="0"/>
          </a:p>
          <a:p>
            <a:pPr marL="742950" lvl="1" indent="-285750">
              <a:buFont typeface="Arial" panose="020B0604020202020204" pitchFamily="34" charset="0"/>
              <a:buChar char="•"/>
            </a:pPr>
            <a:r>
              <a:rPr lang="en-US" b="1" dirty="0" smtClean="0">
                <a:effectLst/>
              </a:rPr>
              <a:t>Red-Black Tree</a:t>
            </a:r>
            <a:r>
              <a:rPr lang="en-US" dirty="0" smtClean="0">
                <a:effectLst/>
              </a:rPr>
              <a:t> (loosely balanced).</a:t>
            </a:r>
            <a:endParaRPr lang="en-US" dirty="0" smtClean="0"/>
          </a:p>
          <a:p>
            <a:pPr marL="742950" lvl="1" indent="-285750">
              <a:buFont typeface="Arial" panose="020B0604020202020204" pitchFamily="34" charset="0"/>
              <a:buChar char="•"/>
            </a:pPr>
            <a:r>
              <a:rPr lang="en-US" b="1" dirty="0" smtClean="0">
                <a:effectLst/>
              </a:rPr>
              <a:t>B-Trees</a:t>
            </a:r>
            <a:r>
              <a:rPr lang="en-US" dirty="0" smtClean="0">
                <a:effectLst/>
              </a:rPr>
              <a:t> (used in databases).</a:t>
            </a:r>
            <a:endParaRPr lang="en-US" dirty="0" smtClean="0"/>
          </a:p>
          <a:p>
            <a:endParaRPr lang="en-US" b="1" dirty="0" smtClean="0"/>
          </a:p>
          <a:p>
            <a:r>
              <a:rPr lang="en-US" b="1" dirty="0" smtClean="0"/>
              <a:t>Real-Life Applications</a:t>
            </a:r>
          </a:p>
          <a:p>
            <a:pPr marL="285750" indent="-285750">
              <a:buFont typeface="Arial" panose="020B0604020202020204" pitchFamily="34" charset="0"/>
              <a:buChar char="•"/>
            </a:pPr>
            <a:r>
              <a:rPr lang="en-US" b="1" dirty="0" smtClean="0">
                <a:effectLst/>
              </a:rPr>
              <a:t>Databases</a:t>
            </a:r>
            <a:r>
              <a:rPr lang="en-US" dirty="0" smtClean="0">
                <a:effectLst/>
              </a:rPr>
              <a:t> → B-Trees and B+ Trees for indexing.</a:t>
            </a:r>
            <a:endParaRPr lang="en-US" dirty="0" smtClean="0"/>
          </a:p>
          <a:p>
            <a:pPr marL="285750" indent="-285750">
              <a:buFont typeface="Arial" panose="020B0604020202020204" pitchFamily="34" charset="0"/>
              <a:buChar char="•"/>
            </a:pPr>
            <a:r>
              <a:rPr lang="en-US" b="1" dirty="0" smtClean="0">
                <a:effectLst/>
              </a:rPr>
              <a:t>Compilers</a:t>
            </a:r>
            <a:r>
              <a:rPr lang="en-US" dirty="0" smtClean="0">
                <a:effectLst/>
              </a:rPr>
              <a:t> → Expression parsing with balanced trees.</a:t>
            </a:r>
            <a:endParaRPr lang="en-US" dirty="0" smtClean="0"/>
          </a:p>
          <a:p>
            <a:pPr marL="285750" indent="-285750">
              <a:buFont typeface="Arial" panose="020B0604020202020204" pitchFamily="34" charset="0"/>
              <a:buChar char="•"/>
            </a:pPr>
            <a:r>
              <a:rPr lang="en-US" b="1" dirty="0" smtClean="0">
                <a:effectLst/>
              </a:rPr>
              <a:t>File systems</a:t>
            </a:r>
            <a:r>
              <a:rPr lang="en-US" dirty="0" smtClean="0">
                <a:effectLst/>
              </a:rPr>
              <a:t> → Directory structures often rely on balanced trees.</a:t>
            </a:r>
            <a:endParaRPr lang="en-US" dirty="0" smtClean="0"/>
          </a:p>
          <a:p>
            <a:endParaRPr lang="en-US" b="1" dirty="0" smtClean="0"/>
          </a:p>
          <a:p>
            <a:r>
              <a:rPr lang="en-US" dirty="0" smtClean="0"/>
              <a:t>A </a:t>
            </a:r>
            <a:r>
              <a:rPr lang="en-US" b="1" dirty="0" smtClean="0"/>
              <a:t>Balanced Binary Tree</a:t>
            </a:r>
            <a:r>
              <a:rPr lang="en-US" dirty="0" smtClean="0"/>
              <a:t> ensures efficiency by keeping the height small. It avoids the inefficiency of skewed trees and guarantees faster operations in practice.</a:t>
            </a:r>
            <a:endParaRPr lang="en-US" b="1" dirty="0" smtClean="0"/>
          </a:p>
        </p:txBody>
      </p:sp>
    </p:spTree>
    <p:extLst>
      <p:ext uri="{BB962C8B-B14F-4D97-AF65-F5344CB8AC3E}">
        <p14:creationId xmlns:p14="http://schemas.microsoft.com/office/powerpoint/2010/main" val="86705113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Balanced Binary Tree</a:t>
            </a:r>
          </a:p>
          <a:p>
            <a:endParaRPr lang="en-US" b="1" dirty="0" smtClean="0"/>
          </a:p>
        </p:txBody>
      </p:sp>
      <p:pic>
        <p:nvPicPr>
          <p:cNvPr id="7" name="Picture 6"/>
          <p:cNvPicPr>
            <a:picLocks noChangeAspect="1"/>
          </p:cNvPicPr>
          <p:nvPr/>
        </p:nvPicPr>
        <p:blipFill>
          <a:blip r:embed="rId3"/>
          <a:stretch>
            <a:fillRect/>
          </a:stretch>
        </p:blipFill>
        <p:spPr>
          <a:xfrm>
            <a:off x="130537" y="914400"/>
            <a:ext cx="5563376" cy="5822810"/>
          </a:xfrm>
          <a:prstGeom prst="rect">
            <a:avLst/>
          </a:prstGeom>
        </p:spPr>
      </p:pic>
    </p:spTree>
    <p:extLst>
      <p:ext uri="{BB962C8B-B14F-4D97-AF65-F5344CB8AC3E}">
        <p14:creationId xmlns:p14="http://schemas.microsoft.com/office/powerpoint/2010/main" val="231929445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Balanced Binary Tree</a:t>
            </a:r>
          </a:p>
          <a:p>
            <a:endParaRPr lang="en-US" b="1" dirty="0" smtClean="0"/>
          </a:p>
        </p:txBody>
      </p:sp>
      <p:pic>
        <p:nvPicPr>
          <p:cNvPr id="8" name="Picture 7"/>
          <p:cNvPicPr>
            <a:picLocks noChangeAspect="1"/>
          </p:cNvPicPr>
          <p:nvPr/>
        </p:nvPicPr>
        <p:blipFill>
          <a:blip r:embed="rId3"/>
          <a:stretch>
            <a:fillRect/>
          </a:stretch>
        </p:blipFill>
        <p:spPr>
          <a:xfrm>
            <a:off x="197523" y="922713"/>
            <a:ext cx="6077798" cy="5831340"/>
          </a:xfrm>
          <a:prstGeom prst="rect">
            <a:avLst/>
          </a:prstGeom>
        </p:spPr>
      </p:pic>
    </p:spTree>
    <p:extLst>
      <p:ext uri="{BB962C8B-B14F-4D97-AF65-F5344CB8AC3E}">
        <p14:creationId xmlns:p14="http://schemas.microsoft.com/office/powerpoint/2010/main" val="337849182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Balanced Binary Tree</a:t>
            </a:r>
          </a:p>
          <a:p>
            <a:endParaRPr lang="en-US" b="1" dirty="0" smtClean="0"/>
          </a:p>
        </p:txBody>
      </p:sp>
      <p:pic>
        <p:nvPicPr>
          <p:cNvPr id="7" name="Picture 6"/>
          <p:cNvPicPr>
            <a:picLocks noChangeAspect="1"/>
          </p:cNvPicPr>
          <p:nvPr/>
        </p:nvPicPr>
        <p:blipFill>
          <a:blip r:embed="rId3"/>
          <a:stretch>
            <a:fillRect/>
          </a:stretch>
        </p:blipFill>
        <p:spPr>
          <a:xfrm>
            <a:off x="80989" y="975586"/>
            <a:ext cx="7059010" cy="1714739"/>
          </a:xfrm>
          <a:prstGeom prst="rect">
            <a:avLst/>
          </a:prstGeom>
        </p:spPr>
      </p:pic>
    </p:spTree>
    <p:extLst>
      <p:ext uri="{BB962C8B-B14F-4D97-AF65-F5344CB8AC3E}">
        <p14:creationId xmlns:p14="http://schemas.microsoft.com/office/powerpoint/2010/main" val="219891147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632311"/>
          </a:xfrm>
          <a:prstGeom prst="rect">
            <a:avLst/>
          </a:prstGeom>
        </p:spPr>
        <p:txBody>
          <a:bodyPr wrap="square">
            <a:spAutoFit/>
          </a:bodyPr>
          <a:lstStyle/>
          <a:p>
            <a:r>
              <a:rPr lang="en-US" b="1" dirty="0" smtClean="0">
                <a:solidFill>
                  <a:srgbClr val="FF0000"/>
                </a:solidFill>
              </a:rPr>
              <a:t>Balanced Binary Tree</a:t>
            </a:r>
          </a:p>
          <a:p>
            <a:r>
              <a:rPr lang="en-US" dirty="0" smtClean="0"/>
              <a:t>This program checks whether a given binary tree is a </a:t>
            </a:r>
            <a:r>
              <a:rPr lang="en-US" b="1" dirty="0" smtClean="0"/>
              <a:t>Balanced Binary Tree</a:t>
            </a:r>
            <a:r>
              <a:rPr lang="en-US" dirty="0" smtClean="0"/>
              <a:t> — meaning the height difference between the left and right </a:t>
            </a:r>
            <a:r>
              <a:rPr lang="en-US" dirty="0" err="1" smtClean="0"/>
              <a:t>subtrees</a:t>
            </a:r>
            <a:r>
              <a:rPr lang="en-US" dirty="0" smtClean="0"/>
              <a:t> of every node is at most </a:t>
            </a:r>
            <a:r>
              <a:rPr lang="en-US" b="1" dirty="0" smtClean="0"/>
              <a:t>1</a:t>
            </a:r>
            <a:r>
              <a:rPr lang="en-US" dirty="0" smtClean="0"/>
              <a:t>.</a:t>
            </a:r>
          </a:p>
          <a:p>
            <a:endParaRPr lang="en-US" b="1" dirty="0"/>
          </a:p>
          <a:p>
            <a:r>
              <a:rPr lang="en-IN" b="1" dirty="0" smtClean="0"/>
              <a:t>Node Class</a:t>
            </a:r>
          </a:p>
          <a:p>
            <a:r>
              <a:rPr lang="en-US" dirty="0"/>
              <a:t>Defines a tree node with:</a:t>
            </a:r>
          </a:p>
          <a:p>
            <a:pPr marL="285750" indent="-285750">
              <a:buFont typeface="Arial" panose="020B0604020202020204" pitchFamily="34" charset="0"/>
              <a:buChar char="•"/>
            </a:pPr>
            <a:r>
              <a:rPr lang="en-IN" dirty="0"/>
              <a:t>data → value stored.</a:t>
            </a:r>
          </a:p>
          <a:p>
            <a:pPr marL="285750" indent="-285750">
              <a:buFont typeface="Arial" panose="020B0604020202020204" pitchFamily="34" charset="0"/>
              <a:buChar char="•"/>
            </a:pPr>
            <a:r>
              <a:rPr lang="en-US" dirty="0"/>
              <a:t>left and right → child references.</a:t>
            </a:r>
          </a:p>
          <a:p>
            <a:endParaRPr lang="en-US" b="1" dirty="0" smtClean="0"/>
          </a:p>
          <a:p>
            <a:r>
              <a:rPr lang="en-IN" b="1" dirty="0" err="1"/>
              <a:t>checkHeight</a:t>
            </a:r>
            <a:r>
              <a:rPr lang="en-IN" b="1" dirty="0"/>
              <a:t>() Method</a:t>
            </a:r>
          </a:p>
          <a:p>
            <a:pPr marL="285750" indent="-285750">
              <a:buFont typeface="Arial" panose="020B0604020202020204" pitchFamily="34" charset="0"/>
              <a:buChar char="•"/>
            </a:pPr>
            <a:r>
              <a:rPr lang="en-US" dirty="0"/>
              <a:t>Recursively calculates the height of left and right </a:t>
            </a:r>
            <a:r>
              <a:rPr lang="en-US" dirty="0" err="1"/>
              <a:t>subtrees</a:t>
            </a:r>
            <a:r>
              <a:rPr lang="en-US" dirty="0"/>
              <a:t>.</a:t>
            </a:r>
          </a:p>
          <a:p>
            <a:pPr marL="285750" indent="-285750">
              <a:buFont typeface="Arial" panose="020B0604020202020204" pitchFamily="34" charset="0"/>
              <a:buChar char="•"/>
            </a:pPr>
            <a:r>
              <a:rPr lang="en-US" dirty="0"/>
              <a:t>If any </a:t>
            </a:r>
            <a:r>
              <a:rPr lang="en-US" dirty="0" err="1"/>
              <a:t>subtree</a:t>
            </a:r>
            <a:r>
              <a:rPr lang="en-US" dirty="0"/>
              <a:t> is unbalanced, returns -1.</a:t>
            </a:r>
          </a:p>
          <a:p>
            <a:pPr marL="285750" indent="-285750">
              <a:buFont typeface="Arial" panose="020B0604020202020204" pitchFamily="34" charset="0"/>
              <a:buChar char="•"/>
            </a:pPr>
            <a:r>
              <a:rPr lang="en-US" dirty="0"/>
              <a:t>If the difference in heights &gt; 1 → not balanced.</a:t>
            </a:r>
          </a:p>
          <a:p>
            <a:pPr marL="285750" indent="-285750">
              <a:buFont typeface="Arial" panose="020B0604020202020204" pitchFamily="34" charset="0"/>
              <a:buChar char="•"/>
            </a:pPr>
            <a:r>
              <a:rPr lang="en-US" dirty="0"/>
              <a:t>Otherwise, returns the height of the current node.</a:t>
            </a:r>
          </a:p>
          <a:p>
            <a:endParaRPr lang="en-US" b="1" dirty="0" smtClean="0"/>
          </a:p>
          <a:p>
            <a:r>
              <a:rPr lang="en-IN" b="1" dirty="0" err="1"/>
              <a:t>isBalanced</a:t>
            </a:r>
            <a:r>
              <a:rPr lang="en-IN" b="1" dirty="0"/>
              <a:t>() Method</a:t>
            </a:r>
          </a:p>
          <a:p>
            <a:pPr marL="285750" indent="-285750">
              <a:buFont typeface="Arial" panose="020B0604020202020204" pitchFamily="34" charset="0"/>
              <a:buChar char="•"/>
            </a:pPr>
            <a:r>
              <a:rPr lang="en-IN" dirty="0" smtClean="0"/>
              <a:t>Wrapper </a:t>
            </a:r>
            <a:r>
              <a:rPr lang="en-IN" dirty="0"/>
              <a:t>function.</a:t>
            </a:r>
          </a:p>
          <a:p>
            <a:pPr marL="285750" indent="-285750">
              <a:buFont typeface="Arial" panose="020B0604020202020204" pitchFamily="34" charset="0"/>
              <a:buChar char="•"/>
            </a:pPr>
            <a:r>
              <a:rPr lang="en-US" dirty="0"/>
              <a:t>If </a:t>
            </a:r>
            <a:r>
              <a:rPr lang="en-US" dirty="0" err="1"/>
              <a:t>checkHeight</a:t>
            </a:r>
            <a:r>
              <a:rPr lang="en-US" dirty="0"/>
              <a:t>() returns -1 → tree is not balanced.</a:t>
            </a:r>
          </a:p>
          <a:p>
            <a:pPr marL="285750" indent="-285750">
              <a:buFont typeface="Arial" panose="020B0604020202020204" pitchFamily="34" charset="0"/>
              <a:buChar char="•"/>
            </a:pPr>
            <a:r>
              <a:rPr lang="en-IN" dirty="0"/>
              <a:t>Otherwise → tree is balanced.</a:t>
            </a:r>
          </a:p>
          <a:p>
            <a:endParaRPr lang="en-US" dirty="0" smtClean="0"/>
          </a:p>
        </p:txBody>
      </p:sp>
    </p:spTree>
    <p:extLst>
      <p:ext uri="{BB962C8B-B14F-4D97-AF65-F5344CB8AC3E}">
        <p14:creationId xmlns:p14="http://schemas.microsoft.com/office/powerpoint/2010/main" val="363588632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5355312"/>
          </a:xfrm>
          <a:prstGeom prst="rect">
            <a:avLst/>
          </a:prstGeom>
        </p:spPr>
        <p:txBody>
          <a:bodyPr wrap="square">
            <a:spAutoFit/>
          </a:bodyPr>
          <a:lstStyle/>
          <a:p>
            <a:r>
              <a:rPr lang="en-US" b="1" dirty="0" smtClean="0">
                <a:solidFill>
                  <a:srgbClr val="FF0000"/>
                </a:solidFill>
              </a:rPr>
              <a:t>Balanced Binary Tree</a:t>
            </a:r>
          </a:p>
          <a:p>
            <a:endParaRPr lang="en-US" dirty="0" smtClean="0"/>
          </a:p>
          <a:p>
            <a:r>
              <a:rPr lang="en-IN" b="1" dirty="0" err="1"/>
              <a:t>inorder</a:t>
            </a:r>
            <a:r>
              <a:rPr lang="en-IN" b="1" dirty="0"/>
              <a:t>() Method</a:t>
            </a:r>
          </a:p>
          <a:p>
            <a:pPr marL="285750" indent="-285750">
              <a:buFont typeface="Arial" panose="020B0604020202020204" pitchFamily="34" charset="0"/>
              <a:buChar char="•"/>
            </a:pPr>
            <a:r>
              <a:rPr lang="en-US" dirty="0"/>
              <a:t>Performs </a:t>
            </a:r>
            <a:r>
              <a:rPr lang="en-US" dirty="0" err="1"/>
              <a:t>inorder</a:t>
            </a:r>
            <a:r>
              <a:rPr lang="en-US" dirty="0"/>
              <a:t> traversal (Left → Root → Right).</a:t>
            </a:r>
          </a:p>
          <a:p>
            <a:pPr marL="285750" indent="-285750">
              <a:buFont typeface="Arial" panose="020B0604020202020204" pitchFamily="34" charset="0"/>
              <a:buChar char="•"/>
            </a:pPr>
            <a:r>
              <a:rPr lang="en-US" dirty="0"/>
              <a:t>Prints nodes in sorted order.</a:t>
            </a:r>
          </a:p>
          <a:p>
            <a:endParaRPr lang="en-US" dirty="0" smtClean="0"/>
          </a:p>
          <a:p>
            <a:r>
              <a:rPr lang="en-IN" b="1" dirty="0"/>
              <a:t>main() Method</a:t>
            </a:r>
          </a:p>
          <a:p>
            <a:r>
              <a:rPr lang="en-IN" dirty="0"/>
              <a:t>Builds this tree:</a:t>
            </a:r>
          </a:p>
          <a:p>
            <a:endParaRPr lang="en-US" dirty="0" smtClean="0"/>
          </a:p>
          <a:p>
            <a:endParaRPr lang="en-US" dirty="0"/>
          </a:p>
          <a:p>
            <a:endParaRPr lang="en-US" dirty="0" smtClean="0"/>
          </a:p>
          <a:p>
            <a:endParaRPr lang="en-IN" dirty="0"/>
          </a:p>
          <a:p>
            <a:r>
              <a:rPr lang="en-IN" dirty="0" err="1"/>
              <a:t>Inorder</a:t>
            </a:r>
            <a:r>
              <a:rPr lang="en-IN" dirty="0"/>
              <a:t> traversal prints</a:t>
            </a:r>
            <a:r>
              <a:rPr lang="en-IN" dirty="0" smtClean="0"/>
              <a:t>: 4 </a:t>
            </a:r>
            <a:r>
              <a:rPr lang="en-IN" dirty="0"/>
              <a:t>2 5 1 3</a:t>
            </a:r>
          </a:p>
          <a:p>
            <a:endParaRPr lang="en-IN" dirty="0"/>
          </a:p>
          <a:p>
            <a:r>
              <a:rPr lang="en-IN" dirty="0"/>
              <a:t>Checks balance:</a:t>
            </a:r>
          </a:p>
          <a:p>
            <a:pPr marL="285750" indent="-285750">
              <a:buFont typeface="Arial" panose="020B0604020202020204" pitchFamily="34" charset="0"/>
              <a:buChar char="•"/>
            </a:pPr>
            <a:r>
              <a:rPr lang="en-IN" dirty="0"/>
              <a:t>Left </a:t>
            </a:r>
            <a:r>
              <a:rPr lang="en-IN" dirty="0" err="1"/>
              <a:t>subtree</a:t>
            </a:r>
            <a:r>
              <a:rPr lang="en-IN" dirty="0"/>
              <a:t> height = 2</a:t>
            </a:r>
          </a:p>
          <a:p>
            <a:pPr marL="285750" indent="-285750">
              <a:buFont typeface="Arial" panose="020B0604020202020204" pitchFamily="34" charset="0"/>
              <a:buChar char="•"/>
            </a:pPr>
            <a:r>
              <a:rPr lang="en-IN" dirty="0"/>
              <a:t>Right </a:t>
            </a:r>
            <a:r>
              <a:rPr lang="en-IN" dirty="0" err="1"/>
              <a:t>subtree</a:t>
            </a:r>
            <a:r>
              <a:rPr lang="en-IN" dirty="0"/>
              <a:t> height = 1</a:t>
            </a:r>
          </a:p>
          <a:p>
            <a:pPr marL="285750" indent="-285750">
              <a:buFont typeface="Arial" panose="020B0604020202020204" pitchFamily="34" charset="0"/>
              <a:buChar char="•"/>
            </a:pPr>
            <a:r>
              <a:rPr lang="en-IN" dirty="0"/>
              <a:t>Difference = 1 → Balanced.</a:t>
            </a:r>
          </a:p>
          <a:p>
            <a:endParaRPr lang="en-US" dirty="0" smtClean="0"/>
          </a:p>
        </p:txBody>
      </p:sp>
      <p:pic>
        <p:nvPicPr>
          <p:cNvPr id="2" name="Picture 1"/>
          <p:cNvPicPr>
            <a:picLocks noChangeAspect="1"/>
          </p:cNvPicPr>
          <p:nvPr/>
        </p:nvPicPr>
        <p:blipFill>
          <a:blip r:embed="rId3"/>
          <a:stretch>
            <a:fillRect/>
          </a:stretch>
        </p:blipFill>
        <p:spPr>
          <a:xfrm>
            <a:off x="1865333" y="2491842"/>
            <a:ext cx="1362265" cy="1009791"/>
          </a:xfrm>
          <a:prstGeom prst="rect">
            <a:avLst/>
          </a:prstGeom>
        </p:spPr>
      </p:pic>
    </p:spTree>
    <p:extLst>
      <p:ext uri="{BB962C8B-B14F-4D97-AF65-F5344CB8AC3E}">
        <p14:creationId xmlns:p14="http://schemas.microsoft.com/office/powerpoint/2010/main" val="231916801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970318"/>
          </a:xfrm>
          <a:prstGeom prst="rect">
            <a:avLst/>
          </a:prstGeom>
        </p:spPr>
        <p:txBody>
          <a:bodyPr wrap="square">
            <a:spAutoFit/>
          </a:bodyPr>
          <a:lstStyle/>
          <a:p>
            <a:r>
              <a:rPr lang="en-US" b="1" dirty="0" smtClean="0">
                <a:solidFill>
                  <a:srgbClr val="FF0000"/>
                </a:solidFill>
              </a:rPr>
              <a:t>Balanced Binary Tree</a:t>
            </a:r>
          </a:p>
          <a:p>
            <a:endParaRPr lang="en-US" dirty="0" smtClean="0"/>
          </a:p>
          <a:p>
            <a:r>
              <a:rPr lang="en-US" b="1" dirty="0" smtClean="0"/>
              <a:t>Output:</a:t>
            </a:r>
          </a:p>
          <a:p>
            <a:r>
              <a:rPr lang="en-IN" dirty="0" err="1"/>
              <a:t>Inorder</a:t>
            </a:r>
            <a:r>
              <a:rPr lang="en-IN" dirty="0"/>
              <a:t> Traversal: 4 2 5 1 3</a:t>
            </a:r>
          </a:p>
          <a:p>
            <a:r>
              <a:rPr lang="en-US" dirty="0"/>
              <a:t>This is a Balanced Binary Tree</a:t>
            </a:r>
          </a:p>
          <a:p>
            <a:endParaRPr lang="en-US" dirty="0" smtClean="0"/>
          </a:p>
          <a:p>
            <a:endParaRPr lang="en-US" dirty="0"/>
          </a:p>
          <a:p>
            <a:r>
              <a:rPr lang="en-US" dirty="0" smtClean="0">
                <a:effectLst/>
              </a:rPr>
              <a:t>This program:</a:t>
            </a:r>
            <a:endParaRPr lang="en-US" dirty="0" smtClean="0"/>
          </a:p>
          <a:p>
            <a:pPr marL="285750" indent="-285750">
              <a:buFont typeface="Arial" panose="020B0604020202020204" pitchFamily="34" charset="0"/>
              <a:buChar char="•"/>
            </a:pPr>
            <a:r>
              <a:rPr lang="en-US" dirty="0" smtClean="0">
                <a:effectLst/>
              </a:rPr>
              <a:t>Builds a binary tree.</a:t>
            </a:r>
            <a:endParaRPr lang="en-US" dirty="0" smtClean="0"/>
          </a:p>
          <a:p>
            <a:pPr marL="285750" indent="-285750">
              <a:buFont typeface="Arial" panose="020B0604020202020204" pitchFamily="34" charset="0"/>
              <a:buChar char="•"/>
            </a:pPr>
            <a:r>
              <a:rPr lang="en-US" dirty="0" smtClean="0">
                <a:effectLst/>
              </a:rPr>
              <a:t>Prints it in </a:t>
            </a:r>
            <a:r>
              <a:rPr lang="en-US" dirty="0" err="1" smtClean="0">
                <a:effectLst/>
              </a:rPr>
              <a:t>inorder</a:t>
            </a:r>
            <a:r>
              <a:rPr lang="en-US" dirty="0" smtClean="0">
                <a:effectLst/>
              </a:rPr>
              <a:t>.</a:t>
            </a:r>
            <a:endParaRPr lang="en-US" dirty="0" smtClean="0"/>
          </a:p>
          <a:p>
            <a:pPr marL="285750" indent="-285750">
              <a:buFont typeface="Arial" panose="020B0604020202020204" pitchFamily="34" charset="0"/>
              <a:buChar char="•"/>
            </a:pPr>
            <a:r>
              <a:rPr lang="en-US" dirty="0" smtClean="0">
                <a:effectLst/>
              </a:rPr>
              <a:t>Checks if it’s </a:t>
            </a:r>
            <a:r>
              <a:rPr lang="en-US" b="1" dirty="0" smtClean="0">
                <a:effectLst/>
              </a:rPr>
              <a:t>Balanced</a:t>
            </a:r>
            <a:r>
              <a:rPr lang="en-US" dirty="0" smtClean="0">
                <a:effectLst/>
              </a:rPr>
              <a:t> by ensuring no node has left/right </a:t>
            </a:r>
            <a:r>
              <a:rPr lang="en-US" dirty="0" err="1" smtClean="0">
                <a:effectLst/>
              </a:rPr>
              <a:t>subtree</a:t>
            </a:r>
            <a:r>
              <a:rPr lang="en-US" dirty="0" smtClean="0">
                <a:effectLst/>
              </a:rPr>
              <a:t> height difference greater than 1.</a:t>
            </a:r>
            <a:endParaRPr lang="en-US" dirty="0" smtClean="0"/>
          </a:p>
          <a:p>
            <a:endParaRPr lang="en-US" dirty="0" smtClean="0">
              <a:effectLst/>
            </a:endParaRPr>
          </a:p>
          <a:p>
            <a:r>
              <a:rPr lang="en-US" dirty="0" smtClean="0">
                <a:effectLst/>
              </a:rPr>
              <a:t>It verifies that the tree is compact and efficient, avoiding skewed structures.</a:t>
            </a:r>
            <a:endParaRPr lang="en-US" dirty="0" smtClean="0"/>
          </a:p>
          <a:p>
            <a:endParaRPr lang="en-US" dirty="0" smtClean="0"/>
          </a:p>
        </p:txBody>
      </p:sp>
    </p:spTree>
    <p:extLst>
      <p:ext uri="{BB962C8B-B14F-4D97-AF65-F5344CB8AC3E}">
        <p14:creationId xmlns:p14="http://schemas.microsoft.com/office/powerpoint/2010/main" val="213156281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46331"/>
          </a:xfrm>
          <a:prstGeom prst="rect">
            <a:avLst/>
          </a:prstGeom>
        </p:spPr>
        <p:txBody>
          <a:bodyPr wrap="square">
            <a:spAutoFit/>
          </a:bodyPr>
          <a:lstStyle/>
          <a:p>
            <a:r>
              <a:rPr lang="en-US" b="1" dirty="0" smtClean="0">
                <a:solidFill>
                  <a:srgbClr val="FF0000"/>
                </a:solidFill>
              </a:rPr>
              <a:t>Balanced Binary Tree</a:t>
            </a:r>
          </a:p>
          <a:p>
            <a:endParaRPr lang="en-US" b="1" dirty="0" smtClean="0"/>
          </a:p>
        </p:txBody>
      </p:sp>
      <p:pic>
        <p:nvPicPr>
          <p:cNvPr id="8" name="Picture 7"/>
          <p:cNvPicPr>
            <a:picLocks noChangeAspect="1"/>
          </p:cNvPicPr>
          <p:nvPr/>
        </p:nvPicPr>
        <p:blipFill>
          <a:blip r:embed="rId3"/>
          <a:stretch>
            <a:fillRect/>
          </a:stretch>
        </p:blipFill>
        <p:spPr>
          <a:xfrm>
            <a:off x="122413" y="947651"/>
            <a:ext cx="5001323" cy="5719156"/>
          </a:xfrm>
          <a:prstGeom prst="rect">
            <a:avLst/>
          </a:prstGeom>
        </p:spPr>
      </p:pic>
    </p:spTree>
    <p:extLst>
      <p:ext uri="{BB962C8B-B14F-4D97-AF65-F5344CB8AC3E}">
        <p14:creationId xmlns:p14="http://schemas.microsoft.com/office/powerpoint/2010/main" val="381093324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Binary Tree - Differences</a:t>
            </a:r>
          </a:p>
          <a:p>
            <a:endParaRPr lang="en-US" b="1" dirty="0" smtClean="0"/>
          </a:p>
          <a:p>
            <a:r>
              <a:rPr lang="en-US" b="1" dirty="0" smtClean="0"/>
              <a:t>Big-O Notation</a:t>
            </a:r>
          </a:p>
          <a:p>
            <a:r>
              <a:rPr lang="en-US" b="1" dirty="0" smtClean="0">
                <a:effectLst/>
              </a:rPr>
              <a:t>Big-O</a:t>
            </a:r>
            <a:r>
              <a:rPr lang="en-US" dirty="0" smtClean="0">
                <a:effectLst/>
              </a:rPr>
              <a:t> describes the </a:t>
            </a:r>
            <a:r>
              <a:rPr lang="en-US" b="1" dirty="0" smtClean="0">
                <a:effectLst/>
              </a:rPr>
              <a:t>upper bound</a:t>
            </a:r>
            <a:r>
              <a:rPr lang="en-US" dirty="0" smtClean="0">
                <a:effectLst/>
              </a:rPr>
              <a:t> of how long an algorithm takes (or how much space it uses) relative to input size n.</a:t>
            </a:r>
            <a:endParaRPr lang="en-US" dirty="0" smtClean="0"/>
          </a:p>
          <a:p>
            <a:r>
              <a:rPr lang="en-US" dirty="0" smtClean="0">
                <a:effectLst/>
              </a:rPr>
              <a:t>It ignores constants and focuses on growth rate as n increases.</a:t>
            </a:r>
            <a:endParaRPr lang="en-US" dirty="0" smtClean="0"/>
          </a:p>
          <a:p>
            <a:endParaRPr lang="en-US" b="1" dirty="0" smtClean="0"/>
          </a:p>
          <a:p>
            <a:r>
              <a:rPr lang="en-US" b="1" dirty="0" smtClean="0"/>
              <a:t>O(log n)</a:t>
            </a:r>
          </a:p>
          <a:p>
            <a:pPr marL="285750" indent="-285750">
              <a:buFont typeface="Arial" panose="020B0604020202020204" pitchFamily="34" charset="0"/>
              <a:buChar char="•"/>
            </a:pPr>
            <a:r>
              <a:rPr lang="en-US" b="1" dirty="0" smtClean="0">
                <a:effectLst/>
              </a:rPr>
              <a:t>Logarithmic time</a:t>
            </a:r>
            <a:r>
              <a:rPr lang="en-US" dirty="0" smtClean="0">
                <a:effectLst/>
              </a:rPr>
              <a:t>: Operations take time proportional to the logarithm of the number of nodes.</a:t>
            </a:r>
            <a:endParaRPr lang="en-US" dirty="0" smtClean="0"/>
          </a:p>
          <a:p>
            <a:pPr marL="285750" indent="-285750">
              <a:buFont typeface="Arial" panose="020B0604020202020204" pitchFamily="34" charset="0"/>
              <a:buChar char="•"/>
            </a:pPr>
            <a:r>
              <a:rPr lang="en-US" dirty="0" smtClean="0">
                <a:effectLst/>
              </a:rPr>
              <a:t>Example: Searching in a </a:t>
            </a:r>
            <a:r>
              <a:rPr lang="en-US" b="1" dirty="0" smtClean="0">
                <a:effectLst/>
              </a:rPr>
              <a:t>Balanced Binary Tree</a:t>
            </a:r>
            <a:r>
              <a:rPr lang="en-US" dirty="0" smtClean="0">
                <a:effectLst/>
              </a:rPr>
              <a:t>.</a:t>
            </a:r>
            <a:endParaRPr lang="en-US" dirty="0" smtClean="0"/>
          </a:p>
          <a:p>
            <a:pPr marL="285750" indent="-285750">
              <a:buFont typeface="Arial" panose="020B0604020202020204" pitchFamily="34" charset="0"/>
              <a:buChar char="•"/>
            </a:pPr>
            <a:r>
              <a:rPr lang="en-US" dirty="0" smtClean="0">
                <a:effectLst/>
              </a:rPr>
              <a:t>Why? Each step cuts the problem in half:</a:t>
            </a:r>
            <a:endParaRPr lang="en-US" dirty="0" smtClean="0"/>
          </a:p>
          <a:p>
            <a:pPr marL="742950" lvl="1" indent="-285750">
              <a:buFont typeface="Arial" panose="020B0604020202020204" pitchFamily="34" charset="0"/>
              <a:buChar char="•"/>
            </a:pPr>
            <a:r>
              <a:rPr lang="en-US" dirty="0" smtClean="0">
                <a:effectLst/>
              </a:rPr>
              <a:t>Root → Left or Right → Next level → … until found.</a:t>
            </a:r>
            <a:endParaRPr lang="en-US" dirty="0" smtClean="0"/>
          </a:p>
          <a:p>
            <a:pPr marL="742950" lvl="1" indent="-285750">
              <a:buFont typeface="Arial" panose="020B0604020202020204" pitchFamily="34" charset="0"/>
              <a:buChar char="•"/>
            </a:pPr>
            <a:r>
              <a:rPr lang="en-US" dirty="0" smtClean="0">
                <a:effectLst/>
              </a:rPr>
              <a:t>With n nodes, height ≈ log⁡2n.</a:t>
            </a:r>
            <a:endParaRPr lang="en-US" dirty="0" smtClean="0"/>
          </a:p>
          <a:p>
            <a:pPr marL="285750" indent="-285750">
              <a:buFont typeface="Arial" panose="020B0604020202020204" pitchFamily="34" charset="0"/>
              <a:buChar char="•"/>
            </a:pPr>
            <a:r>
              <a:rPr lang="en-US" b="1" dirty="0" smtClean="0">
                <a:effectLst/>
              </a:rPr>
              <a:t>Efficiency</a:t>
            </a:r>
            <a:r>
              <a:rPr lang="en-US" dirty="0" smtClean="0">
                <a:effectLst/>
              </a:rPr>
              <a:t>: Very fast, even for large trees.</a:t>
            </a:r>
            <a:endParaRPr lang="en-US" dirty="0" smtClean="0"/>
          </a:p>
          <a:p>
            <a:pPr marL="742950" lvl="1" indent="-285750">
              <a:buFont typeface="Arial" panose="020B0604020202020204" pitchFamily="34" charset="0"/>
              <a:buChar char="•"/>
            </a:pPr>
            <a:r>
              <a:rPr lang="en-US" dirty="0" smtClean="0">
                <a:effectLst/>
              </a:rPr>
              <a:t>If n=1,000,000, log⁡2n≈20. Only ~20 steps needed!</a:t>
            </a:r>
            <a:endParaRPr lang="en-US" dirty="0" smtClean="0"/>
          </a:p>
          <a:p>
            <a:endParaRPr lang="en-US" b="1" dirty="0" smtClean="0"/>
          </a:p>
          <a:p>
            <a:r>
              <a:rPr lang="en-US" b="1" dirty="0" smtClean="0"/>
              <a:t>O(n)</a:t>
            </a:r>
          </a:p>
          <a:p>
            <a:pPr marL="285750" indent="-285750">
              <a:buFont typeface="Arial" panose="020B0604020202020204" pitchFamily="34" charset="0"/>
              <a:buChar char="•"/>
            </a:pPr>
            <a:r>
              <a:rPr lang="en-US" b="1" dirty="0" smtClean="0">
                <a:effectLst/>
              </a:rPr>
              <a:t>Linear time</a:t>
            </a:r>
            <a:r>
              <a:rPr lang="en-US" dirty="0" smtClean="0">
                <a:effectLst/>
              </a:rPr>
              <a:t>: Operations take time proportional to the number of nodes.</a:t>
            </a:r>
            <a:endParaRPr lang="en-US" dirty="0" smtClean="0"/>
          </a:p>
          <a:p>
            <a:pPr marL="285750" indent="-285750">
              <a:buFont typeface="Arial" panose="020B0604020202020204" pitchFamily="34" charset="0"/>
              <a:buChar char="•"/>
            </a:pPr>
            <a:r>
              <a:rPr lang="en-US" dirty="0" smtClean="0">
                <a:effectLst/>
              </a:rPr>
              <a:t>Example: Searching in a </a:t>
            </a:r>
            <a:r>
              <a:rPr lang="en-US" b="1" dirty="0" smtClean="0">
                <a:effectLst/>
              </a:rPr>
              <a:t>Skewed Binary Tree</a:t>
            </a:r>
            <a:r>
              <a:rPr lang="en-US" dirty="0" smtClean="0">
                <a:effectLst/>
              </a:rPr>
              <a:t> (like a linked list).</a:t>
            </a:r>
            <a:endParaRPr lang="en-US" dirty="0" smtClean="0"/>
          </a:p>
          <a:p>
            <a:pPr marL="285750" indent="-285750">
              <a:buFont typeface="Arial" panose="020B0604020202020204" pitchFamily="34" charset="0"/>
              <a:buChar char="•"/>
            </a:pPr>
            <a:r>
              <a:rPr lang="en-US" dirty="0" smtClean="0">
                <a:effectLst/>
              </a:rPr>
              <a:t>Why? You may need to check every node one by one.</a:t>
            </a:r>
            <a:endParaRPr lang="en-US" dirty="0" smtClean="0"/>
          </a:p>
          <a:p>
            <a:pPr marL="285750" indent="-285750">
              <a:buFont typeface="Arial" panose="020B0604020202020204" pitchFamily="34" charset="0"/>
              <a:buChar char="•"/>
            </a:pPr>
            <a:r>
              <a:rPr lang="en-US" b="1" dirty="0" smtClean="0">
                <a:effectLst/>
              </a:rPr>
              <a:t>Efficiency</a:t>
            </a:r>
            <a:r>
              <a:rPr lang="en-US" dirty="0" smtClean="0">
                <a:effectLst/>
              </a:rPr>
              <a:t>: Much slower.</a:t>
            </a:r>
            <a:endParaRPr lang="en-US" dirty="0" smtClean="0"/>
          </a:p>
          <a:p>
            <a:pPr marL="742950" lvl="1" indent="-285750">
              <a:buFont typeface="Arial" panose="020B0604020202020204" pitchFamily="34" charset="0"/>
              <a:buChar char="•"/>
            </a:pPr>
            <a:r>
              <a:rPr lang="en-US" dirty="0" smtClean="0">
                <a:effectLst/>
              </a:rPr>
              <a:t>If n=1,000,000, you might need up to 1,000,000 steps.</a:t>
            </a:r>
            <a:endParaRPr lang="en-US" dirty="0" smtClean="0"/>
          </a:p>
          <a:p>
            <a:endParaRPr lang="en-US" b="1" dirty="0" smtClean="0"/>
          </a:p>
        </p:txBody>
      </p:sp>
    </p:spTree>
    <p:extLst>
      <p:ext uri="{BB962C8B-B14F-4D97-AF65-F5344CB8AC3E}">
        <p14:creationId xmlns:p14="http://schemas.microsoft.com/office/powerpoint/2010/main" val="332862161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3693319"/>
          </a:xfrm>
          <a:prstGeom prst="rect">
            <a:avLst/>
          </a:prstGeom>
        </p:spPr>
        <p:txBody>
          <a:bodyPr wrap="square">
            <a:spAutoFit/>
          </a:bodyPr>
          <a:lstStyle/>
          <a:p>
            <a:r>
              <a:rPr lang="en-US" b="1" dirty="0" smtClean="0">
                <a:solidFill>
                  <a:srgbClr val="FF0000"/>
                </a:solidFill>
              </a:rPr>
              <a:t>Binary Tree - Differences</a:t>
            </a:r>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pPr marL="285750" indent="-285750">
              <a:buFont typeface="Arial" panose="020B0604020202020204" pitchFamily="34" charset="0"/>
              <a:buChar char="•"/>
            </a:pPr>
            <a:r>
              <a:rPr lang="en-US" dirty="0" smtClean="0"/>
              <a:t>Balanced Binary Trees keep operations efficient (O(log n)).</a:t>
            </a:r>
          </a:p>
          <a:p>
            <a:pPr marL="285750" indent="-285750">
              <a:buFont typeface="Arial" panose="020B0604020202020204" pitchFamily="34" charset="0"/>
              <a:buChar char="•"/>
            </a:pPr>
            <a:r>
              <a:rPr lang="en-US" dirty="0" smtClean="0"/>
              <a:t>Skewed Binary Trees degrade into inefficient linked lists (O(n)).</a:t>
            </a:r>
          </a:p>
        </p:txBody>
      </p:sp>
      <p:graphicFrame>
        <p:nvGraphicFramePr>
          <p:cNvPr id="2" name="Table 1"/>
          <p:cNvGraphicFramePr>
            <a:graphicFrameLocks noGrp="1"/>
          </p:cNvGraphicFramePr>
          <p:nvPr>
            <p:extLst>
              <p:ext uri="{D42A27DB-BD31-4B8C-83A1-F6EECF244321}">
                <p14:modId xmlns:p14="http://schemas.microsoft.com/office/powerpoint/2010/main" val="1224881727"/>
              </p:ext>
            </p:extLst>
          </p:nvPr>
        </p:nvGraphicFramePr>
        <p:xfrm>
          <a:off x="189807" y="1291345"/>
          <a:ext cx="10515600" cy="1645920"/>
        </p:xfrm>
        <a:graphic>
          <a:graphicData uri="http://schemas.openxmlformats.org/drawingml/2006/table">
            <a:tbl>
              <a:tblPr/>
              <a:tblGrid>
                <a:gridCol w="2628900"/>
                <a:gridCol w="2628900"/>
                <a:gridCol w="2628900"/>
                <a:gridCol w="2628900"/>
              </a:tblGrid>
              <a:tr h="0">
                <a:tc>
                  <a:txBody>
                    <a:bodyPr/>
                    <a:lstStyle/>
                    <a:p>
                      <a:pPr algn="ctr"/>
                      <a:r>
                        <a:rPr lang="en-IN" b="1" dirty="0"/>
                        <a:t>Complexity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Binary Tree 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Steps for n=1,000,000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0">
                <a:tc>
                  <a:txBody>
                    <a:bodyPr/>
                    <a:lstStyle/>
                    <a:p>
                      <a:r>
                        <a:rPr lang="en-IN" b="1"/>
                        <a:t>O(log 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Logarithmic 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Balanced Binary Tree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~20 steps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r>
                        <a:rPr lang="en-IN" b="1"/>
                        <a:t>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Linear growth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Skewed Binary Tree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~1,000,000 steps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9327556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477328"/>
          </a:xfrm>
          <a:prstGeom prst="rect">
            <a:avLst/>
          </a:prstGeom>
        </p:spPr>
        <p:txBody>
          <a:bodyPr wrap="square">
            <a:spAutoFit/>
          </a:bodyPr>
          <a:lstStyle/>
          <a:p>
            <a:r>
              <a:rPr lang="en-US" b="1" dirty="0" smtClean="0">
                <a:solidFill>
                  <a:srgbClr val="FF0000"/>
                </a:solidFill>
              </a:rPr>
              <a:t>Binary Tree - Differences</a:t>
            </a:r>
          </a:p>
          <a:p>
            <a:endParaRPr lang="en-US" b="1" dirty="0" smtClean="0"/>
          </a:p>
          <a:p>
            <a:endParaRPr lang="en-US" b="1" dirty="0"/>
          </a:p>
          <a:p>
            <a:endParaRPr lang="en-US" b="1" dirty="0" smtClean="0"/>
          </a:p>
          <a:p>
            <a:endParaRPr lang="en-US" b="1" dirty="0"/>
          </a:p>
        </p:txBody>
      </p:sp>
      <p:graphicFrame>
        <p:nvGraphicFramePr>
          <p:cNvPr id="3" name="Table 2"/>
          <p:cNvGraphicFramePr>
            <a:graphicFrameLocks noGrp="1"/>
          </p:cNvGraphicFramePr>
          <p:nvPr>
            <p:extLst>
              <p:ext uri="{D42A27DB-BD31-4B8C-83A1-F6EECF244321}">
                <p14:modId xmlns:p14="http://schemas.microsoft.com/office/powerpoint/2010/main" val="749843635"/>
              </p:ext>
            </p:extLst>
          </p:nvPr>
        </p:nvGraphicFramePr>
        <p:xfrm>
          <a:off x="282632" y="1245626"/>
          <a:ext cx="11662757" cy="1828800"/>
        </p:xfrm>
        <a:graphic>
          <a:graphicData uri="http://schemas.openxmlformats.org/drawingml/2006/table">
            <a:tbl>
              <a:tblPr/>
              <a:tblGrid>
                <a:gridCol w="1487979"/>
                <a:gridCol w="5386647"/>
                <a:gridCol w="1562793"/>
                <a:gridCol w="3225338"/>
              </a:tblGrid>
              <a:tr h="0">
                <a:tc>
                  <a:txBody>
                    <a:bodyPr/>
                    <a:lstStyle/>
                    <a:p>
                      <a:pPr algn="ctr"/>
                      <a:r>
                        <a:rPr lang="en-IN" b="1"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Rule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Efficiency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IN" b="1" dirty="0"/>
                        <a:t>Example 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0">
                <a:tc>
                  <a:txBody>
                    <a:bodyPr/>
                    <a:lstStyle/>
                    <a:p>
                      <a:pPr algn="ctr"/>
                      <a:r>
                        <a:rPr lang="en-IN" b="1" dirty="0"/>
                        <a:t>Complete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All levels filled, last filled left to 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O(log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Heaps, priority queues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b="1" dirty="0"/>
                        <a:t>Perfect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All internal nodes have 2 children, leaves at same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O(log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Balanced search 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b="1" dirty="0"/>
                        <a:t>Skewed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Every node has only one child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nb-NO" dirty="0"/>
                        <a:t>Degenerate BST (like linked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b="1" dirty="0"/>
                        <a:t>Balanced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Height difference ≤ 1 for all nodes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O(log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AVL, Red-Black, B-Trees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38394059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477328"/>
          </a:xfrm>
          <a:prstGeom prst="rect">
            <a:avLst/>
          </a:prstGeom>
        </p:spPr>
        <p:txBody>
          <a:bodyPr wrap="square">
            <a:spAutoFit/>
          </a:bodyPr>
          <a:lstStyle/>
          <a:p>
            <a:r>
              <a:rPr lang="en-US" b="1" dirty="0" smtClean="0">
                <a:solidFill>
                  <a:srgbClr val="FF0000"/>
                </a:solidFill>
              </a:rPr>
              <a:t>Binary Tree - Differences</a:t>
            </a:r>
          </a:p>
          <a:p>
            <a:endParaRPr lang="en-US" b="1" dirty="0" smtClean="0"/>
          </a:p>
          <a:p>
            <a:endParaRPr lang="en-US" b="1" dirty="0"/>
          </a:p>
          <a:p>
            <a:endParaRPr lang="en-US" b="1" dirty="0" smtClean="0"/>
          </a:p>
          <a:p>
            <a:endParaRPr lang="en-US" b="1" dirty="0"/>
          </a:p>
        </p:txBody>
      </p:sp>
      <p:pic>
        <p:nvPicPr>
          <p:cNvPr id="2" name="Picture 1"/>
          <p:cNvPicPr>
            <a:picLocks noChangeAspect="1"/>
          </p:cNvPicPr>
          <p:nvPr/>
        </p:nvPicPr>
        <p:blipFill>
          <a:blip r:embed="rId3"/>
          <a:stretch>
            <a:fillRect/>
          </a:stretch>
        </p:blipFill>
        <p:spPr>
          <a:xfrm>
            <a:off x="3009442" y="1017926"/>
            <a:ext cx="5325218" cy="5487166"/>
          </a:xfrm>
          <a:prstGeom prst="rect">
            <a:avLst/>
          </a:prstGeom>
        </p:spPr>
      </p:pic>
    </p:spTree>
    <p:extLst>
      <p:ext uri="{BB962C8B-B14F-4D97-AF65-F5344CB8AC3E}">
        <p14:creationId xmlns:p14="http://schemas.microsoft.com/office/powerpoint/2010/main" val="109783101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247317"/>
          </a:xfrm>
          <a:prstGeom prst="rect">
            <a:avLst/>
          </a:prstGeom>
        </p:spPr>
        <p:txBody>
          <a:bodyPr wrap="square">
            <a:spAutoFit/>
          </a:bodyPr>
          <a:lstStyle/>
          <a:p>
            <a:r>
              <a:rPr lang="en-US" b="1" dirty="0" smtClean="0">
                <a:solidFill>
                  <a:srgbClr val="FF0000"/>
                </a:solidFill>
              </a:rPr>
              <a:t>Binary Searc</a:t>
            </a:r>
            <a:r>
              <a:rPr lang="en-US" b="1" dirty="0" smtClean="0">
                <a:solidFill>
                  <a:srgbClr val="FF0000"/>
                </a:solidFill>
              </a:rPr>
              <a:t>h Tree (BST)</a:t>
            </a:r>
            <a:endParaRPr lang="en-US" b="1" dirty="0" smtClean="0">
              <a:solidFill>
                <a:srgbClr val="FF0000"/>
              </a:solidFill>
            </a:endParaRPr>
          </a:p>
          <a:p>
            <a:endParaRPr lang="en-US" b="1" dirty="0" smtClean="0"/>
          </a:p>
          <a:p>
            <a:r>
              <a:rPr lang="en-US" dirty="0" smtClean="0"/>
              <a:t>A Binary Search Tree (BST) is a special type of binary tree where each node’s left child contains values smaller than the node, and the right child contains values larger than the node. This ordering property makes searching, insertion, and deletion efficient — typically O(log n) in balanced trees, but O(n) in skewed ones.</a:t>
            </a:r>
            <a:endParaRPr lang="en-US" b="1" dirty="0"/>
          </a:p>
          <a:p>
            <a:endParaRPr lang="en-US" b="1" dirty="0" smtClean="0"/>
          </a:p>
          <a:p>
            <a:r>
              <a:rPr lang="en-US" b="1" dirty="0" smtClean="0"/>
              <a:t>Core Properties of BST</a:t>
            </a:r>
          </a:p>
          <a:p>
            <a:endParaRPr lang="en-US" b="1" dirty="0" smtClean="0"/>
          </a:p>
          <a:p>
            <a:pPr marL="285750" indent="-285750">
              <a:buFont typeface="Arial" panose="020B0604020202020204" pitchFamily="34" charset="0"/>
              <a:buChar char="•"/>
            </a:pPr>
            <a:r>
              <a:rPr lang="en-US" b="1" dirty="0" smtClean="0">
                <a:effectLst/>
              </a:rPr>
              <a:t>Node Rule</a:t>
            </a:r>
            <a:r>
              <a:rPr lang="en-US" dirty="0" smtClean="0">
                <a:effectLst/>
              </a:rPr>
              <a:t>:</a:t>
            </a:r>
            <a:endParaRPr lang="en-US" dirty="0" smtClean="0"/>
          </a:p>
          <a:p>
            <a:pPr marL="742950" lvl="1" indent="-285750">
              <a:buFont typeface="Arial" panose="020B0604020202020204" pitchFamily="34" charset="0"/>
              <a:buChar char="•"/>
            </a:pPr>
            <a:r>
              <a:rPr lang="en-US" dirty="0" smtClean="0">
                <a:effectLst/>
              </a:rPr>
              <a:t>Left </a:t>
            </a:r>
            <a:r>
              <a:rPr lang="en-US" dirty="0" err="1" smtClean="0">
                <a:effectLst/>
              </a:rPr>
              <a:t>subtree</a:t>
            </a:r>
            <a:r>
              <a:rPr lang="en-US" dirty="0" smtClean="0">
                <a:effectLst/>
              </a:rPr>
              <a:t> → values strictly less than the node.</a:t>
            </a:r>
            <a:endParaRPr lang="en-US" dirty="0" smtClean="0"/>
          </a:p>
          <a:p>
            <a:pPr marL="742950" lvl="1" indent="-285750">
              <a:buFont typeface="Arial" panose="020B0604020202020204" pitchFamily="34" charset="0"/>
              <a:buChar char="•"/>
            </a:pPr>
            <a:r>
              <a:rPr lang="en-US" dirty="0" smtClean="0">
                <a:effectLst/>
              </a:rPr>
              <a:t>Right </a:t>
            </a:r>
            <a:r>
              <a:rPr lang="en-US" dirty="0" err="1" smtClean="0">
                <a:effectLst/>
              </a:rPr>
              <a:t>subtree</a:t>
            </a:r>
            <a:r>
              <a:rPr lang="en-US" dirty="0" smtClean="0">
                <a:effectLst/>
              </a:rPr>
              <a:t> → values strictly greater than the node.</a:t>
            </a:r>
            <a:endParaRPr lang="en-US" dirty="0" smtClean="0"/>
          </a:p>
          <a:p>
            <a:pPr marL="285750" indent="-285750">
              <a:buFont typeface="Arial" panose="020B0604020202020204" pitchFamily="34" charset="0"/>
              <a:buChar char="•"/>
            </a:pPr>
            <a:r>
              <a:rPr lang="en-US" b="1" dirty="0" smtClean="0">
                <a:effectLst/>
              </a:rPr>
              <a:t>No duplicates</a:t>
            </a:r>
            <a:r>
              <a:rPr lang="en-US" dirty="0" smtClean="0">
                <a:effectLst/>
              </a:rPr>
              <a:t>: Each value must be unique to maintain order.</a:t>
            </a:r>
            <a:endParaRPr lang="en-US" dirty="0" smtClean="0"/>
          </a:p>
          <a:p>
            <a:pPr marL="285750" indent="-285750">
              <a:buFont typeface="Arial" panose="020B0604020202020204" pitchFamily="34" charset="0"/>
              <a:buChar char="•"/>
            </a:pPr>
            <a:r>
              <a:rPr lang="en-US" b="1" dirty="0" smtClean="0">
                <a:effectLst/>
              </a:rPr>
              <a:t>Recursive definition</a:t>
            </a:r>
            <a:r>
              <a:rPr lang="en-US" dirty="0" smtClean="0">
                <a:effectLst/>
              </a:rPr>
              <a:t>: Every </a:t>
            </a:r>
            <a:r>
              <a:rPr lang="en-US" dirty="0" err="1" smtClean="0">
                <a:effectLst/>
              </a:rPr>
              <a:t>subtree</a:t>
            </a:r>
            <a:r>
              <a:rPr lang="en-US" dirty="0" smtClean="0">
                <a:effectLst/>
              </a:rPr>
              <a:t> of a BST is itself a BST.</a:t>
            </a:r>
            <a:endParaRPr lang="en-US" dirty="0" smtClean="0"/>
          </a:p>
          <a:p>
            <a:endParaRPr lang="en-US" b="1" dirty="0" smtClean="0"/>
          </a:p>
          <a:p>
            <a:endParaRPr lang="en-US" b="1" dirty="0"/>
          </a:p>
        </p:txBody>
      </p:sp>
    </p:spTree>
    <p:extLst>
      <p:ext uri="{BB962C8B-B14F-4D97-AF65-F5344CB8AC3E}">
        <p14:creationId xmlns:p14="http://schemas.microsoft.com/office/powerpoint/2010/main" val="32367415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Binary Search Tree (BST)</a:t>
            </a:r>
          </a:p>
          <a:p>
            <a:endParaRPr lang="en-US" b="1" dirty="0" smtClean="0"/>
          </a:p>
          <a:p>
            <a:endParaRPr lang="en-US" b="1" dirty="0"/>
          </a:p>
          <a:p>
            <a:endParaRPr lang="en-US" b="1" dirty="0" smtClean="0"/>
          </a:p>
          <a:p>
            <a:endParaRPr lang="en-US" b="1" dirty="0"/>
          </a:p>
          <a:p>
            <a:endParaRPr lang="en-US" b="1" dirty="0" smtClean="0"/>
          </a:p>
          <a:p>
            <a:endParaRPr lang="en-US" b="1" dirty="0"/>
          </a:p>
          <a:p>
            <a:pPr marL="285750" indent="-285750">
              <a:buFont typeface="Arial" panose="020B0604020202020204" pitchFamily="34" charset="0"/>
              <a:buChar char="•"/>
            </a:pPr>
            <a:r>
              <a:rPr lang="en-US" dirty="0" smtClean="0">
                <a:effectLst/>
              </a:rPr>
              <a:t>Left of 10 → all values &lt; 10 (5, 3, 7).</a:t>
            </a:r>
            <a:endParaRPr lang="en-US" dirty="0" smtClean="0"/>
          </a:p>
          <a:p>
            <a:pPr marL="285750" indent="-285750">
              <a:buFont typeface="Arial" panose="020B0604020202020204" pitchFamily="34" charset="0"/>
              <a:buChar char="•"/>
            </a:pPr>
            <a:r>
              <a:rPr lang="en-US" dirty="0" smtClean="0">
                <a:effectLst/>
              </a:rPr>
              <a:t>Right of 10 → all values &gt; 10 (15, 20).</a:t>
            </a:r>
            <a:endParaRPr lang="en-US" dirty="0" smtClean="0"/>
          </a:p>
          <a:p>
            <a:endParaRPr lang="en-US" b="1" dirty="0" smtClean="0"/>
          </a:p>
          <a:p>
            <a:r>
              <a:rPr lang="en-US" dirty="0" smtClean="0">
                <a:effectLst/>
              </a:rPr>
              <a:t>A </a:t>
            </a:r>
            <a:r>
              <a:rPr lang="en-US" b="1" dirty="0" smtClean="0">
                <a:effectLst/>
              </a:rPr>
              <a:t>Binary Search Tree (BST)</a:t>
            </a:r>
            <a:r>
              <a:rPr lang="en-US" dirty="0" smtClean="0">
                <a:effectLst/>
              </a:rPr>
              <a:t> has the rule:</a:t>
            </a:r>
            <a:endParaRPr lang="en-US" dirty="0" smtClean="0"/>
          </a:p>
          <a:p>
            <a:pPr marL="285750" indent="-285750">
              <a:buFont typeface="Arial" panose="020B0604020202020204" pitchFamily="34" charset="0"/>
              <a:buChar char="•"/>
            </a:pPr>
            <a:r>
              <a:rPr lang="en-US" dirty="0" smtClean="0">
                <a:effectLst/>
              </a:rPr>
              <a:t>Left child &lt; Parent &lt; Right child.</a:t>
            </a:r>
            <a:endParaRPr lang="en-US" dirty="0" smtClean="0"/>
          </a:p>
          <a:p>
            <a:pPr marL="285750" indent="-285750">
              <a:buFont typeface="Arial" panose="020B0604020202020204" pitchFamily="34" charset="0"/>
              <a:buChar char="•"/>
            </a:pPr>
            <a:r>
              <a:rPr lang="en-US" dirty="0" smtClean="0">
                <a:effectLst/>
              </a:rPr>
              <a:t>Now, the </a:t>
            </a:r>
            <a:r>
              <a:rPr lang="en-US" b="1" dirty="0" smtClean="0">
                <a:effectLst/>
              </a:rPr>
              <a:t>recursive definition</a:t>
            </a:r>
            <a:r>
              <a:rPr lang="en-US" dirty="0" smtClean="0">
                <a:effectLst/>
              </a:rPr>
              <a:t> says:</a:t>
            </a:r>
            <a:endParaRPr lang="en-US" dirty="0" smtClean="0"/>
          </a:p>
          <a:p>
            <a:pPr marL="285750" indent="-285750">
              <a:buFont typeface="Arial" panose="020B0604020202020204" pitchFamily="34" charset="0"/>
              <a:buChar char="•"/>
            </a:pPr>
            <a:r>
              <a:rPr lang="en-US" dirty="0" smtClean="0">
                <a:effectLst/>
              </a:rPr>
              <a:t>If you take </a:t>
            </a:r>
            <a:r>
              <a:rPr lang="en-US" b="1" dirty="0" smtClean="0">
                <a:effectLst/>
              </a:rPr>
              <a:t>any node</a:t>
            </a:r>
            <a:r>
              <a:rPr lang="en-US" dirty="0" smtClean="0">
                <a:effectLst/>
              </a:rPr>
              <a:t> in the BST and look at its children, the </a:t>
            </a:r>
            <a:r>
              <a:rPr lang="en-US" dirty="0" err="1" smtClean="0">
                <a:effectLst/>
              </a:rPr>
              <a:t>subtree</a:t>
            </a:r>
            <a:r>
              <a:rPr lang="en-US" dirty="0" smtClean="0">
                <a:effectLst/>
              </a:rPr>
              <a:t> rooted at that node must also follow the BST rules.</a:t>
            </a:r>
            <a:endParaRPr lang="en-US" dirty="0" smtClean="0"/>
          </a:p>
          <a:p>
            <a:pPr marL="285750" indent="-285750">
              <a:buFont typeface="Arial" panose="020B0604020202020204" pitchFamily="34" charset="0"/>
              <a:buChar char="•"/>
            </a:pPr>
            <a:r>
              <a:rPr lang="en-US" dirty="0" smtClean="0">
                <a:effectLst/>
              </a:rPr>
              <a:t>In other words, </a:t>
            </a:r>
            <a:r>
              <a:rPr lang="en-US" b="1" dirty="0" smtClean="0">
                <a:effectLst/>
              </a:rPr>
              <a:t>every smaller piece of the tree is itself a BST</a:t>
            </a:r>
            <a:r>
              <a:rPr lang="en-US" dirty="0" smtClean="0">
                <a:effectLst/>
              </a:rPr>
              <a:t>.</a:t>
            </a:r>
            <a:endParaRPr lang="en-US" dirty="0" smtClean="0"/>
          </a:p>
          <a:p>
            <a:endParaRPr lang="en-US" b="1" dirty="0" smtClean="0"/>
          </a:p>
          <a:p>
            <a:r>
              <a:rPr lang="en-US" b="1" dirty="0" err="1" smtClean="0"/>
              <a:t>Subtree</a:t>
            </a:r>
            <a:r>
              <a:rPr lang="en-US" b="1" dirty="0" smtClean="0"/>
              <a:t> rooted at 10:</a:t>
            </a:r>
          </a:p>
          <a:p>
            <a:r>
              <a:rPr lang="en-US" dirty="0" smtClean="0">
                <a:effectLst/>
              </a:rPr>
              <a:t>Left = values &lt; 10 → {5, 3, 7}</a:t>
            </a:r>
            <a:endParaRPr lang="en-US" dirty="0" smtClean="0"/>
          </a:p>
          <a:p>
            <a:r>
              <a:rPr lang="en-US" dirty="0" smtClean="0">
                <a:effectLst/>
              </a:rPr>
              <a:t>Right = values &gt; 10 → {15, 20} </a:t>
            </a:r>
          </a:p>
          <a:p>
            <a:r>
              <a:rPr lang="en-US" dirty="0" smtClean="0">
                <a:effectLst/>
              </a:rPr>
              <a:t>BST property holds.</a:t>
            </a:r>
            <a:endParaRPr lang="en-US" dirty="0" smtClean="0"/>
          </a:p>
          <a:p>
            <a:endParaRPr lang="en-US" b="1" dirty="0" smtClean="0"/>
          </a:p>
          <a:p>
            <a:r>
              <a:rPr lang="en-US" dirty="0" smtClean="0"/>
              <a:t>Each </a:t>
            </a:r>
            <a:r>
              <a:rPr lang="en-US" dirty="0" err="1" smtClean="0"/>
              <a:t>subtree</a:t>
            </a:r>
            <a:r>
              <a:rPr lang="en-US" dirty="0" smtClean="0"/>
              <a:t> is itself a valid BST.</a:t>
            </a:r>
            <a:endParaRPr lang="en-US" b="1" dirty="0"/>
          </a:p>
        </p:txBody>
      </p:sp>
      <p:pic>
        <p:nvPicPr>
          <p:cNvPr id="2" name="Picture 1"/>
          <p:cNvPicPr>
            <a:picLocks noChangeAspect="1"/>
          </p:cNvPicPr>
          <p:nvPr/>
        </p:nvPicPr>
        <p:blipFill>
          <a:blip r:embed="rId3"/>
          <a:stretch>
            <a:fillRect/>
          </a:stretch>
        </p:blipFill>
        <p:spPr>
          <a:xfrm>
            <a:off x="1292329" y="1026192"/>
            <a:ext cx="1810003" cy="1181265"/>
          </a:xfrm>
          <a:prstGeom prst="rect">
            <a:avLst/>
          </a:prstGeom>
        </p:spPr>
      </p:pic>
      <p:sp>
        <p:nvSpPr>
          <p:cNvPr id="7" name="Rectangle 6"/>
          <p:cNvSpPr/>
          <p:nvPr/>
        </p:nvSpPr>
        <p:spPr>
          <a:xfrm>
            <a:off x="4543884" y="4831261"/>
            <a:ext cx="2555185" cy="1200329"/>
          </a:xfrm>
          <a:prstGeom prst="rect">
            <a:avLst/>
          </a:prstGeom>
        </p:spPr>
        <p:txBody>
          <a:bodyPr wrap="square">
            <a:spAutoFit/>
          </a:bodyPr>
          <a:lstStyle/>
          <a:p>
            <a:r>
              <a:rPr lang="en-IN" b="1" dirty="0" err="1" smtClean="0"/>
              <a:t>Subtree</a:t>
            </a:r>
            <a:r>
              <a:rPr lang="en-IN" b="1" dirty="0" smtClean="0"/>
              <a:t> rooted at 5:</a:t>
            </a:r>
          </a:p>
          <a:p>
            <a:r>
              <a:rPr lang="en-IN" dirty="0" smtClean="0"/>
              <a:t>Left = values &lt; 5 → {3}</a:t>
            </a:r>
          </a:p>
          <a:p>
            <a:r>
              <a:rPr lang="en-IN" dirty="0" smtClean="0"/>
              <a:t>Right = values &gt; 5 → {7}</a:t>
            </a:r>
          </a:p>
          <a:p>
            <a:r>
              <a:rPr lang="en-IN" dirty="0" smtClean="0"/>
              <a:t>BST property holds.</a:t>
            </a:r>
            <a:endParaRPr lang="en-IN" dirty="0"/>
          </a:p>
        </p:txBody>
      </p:sp>
      <p:sp>
        <p:nvSpPr>
          <p:cNvPr id="9" name="Rectangle 8"/>
          <p:cNvSpPr/>
          <p:nvPr/>
        </p:nvSpPr>
        <p:spPr>
          <a:xfrm>
            <a:off x="8822555" y="4831262"/>
            <a:ext cx="2951038" cy="1200329"/>
          </a:xfrm>
          <a:prstGeom prst="rect">
            <a:avLst/>
          </a:prstGeom>
        </p:spPr>
        <p:txBody>
          <a:bodyPr wrap="square">
            <a:spAutoFit/>
          </a:bodyPr>
          <a:lstStyle/>
          <a:p>
            <a:r>
              <a:rPr lang="en-IN" b="1" dirty="0" err="1" smtClean="0"/>
              <a:t>Subtree</a:t>
            </a:r>
            <a:r>
              <a:rPr lang="en-IN" b="1" dirty="0" smtClean="0"/>
              <a:t> rooted at 15:</a:t>
            </a:r>
          </a:p>
          <a:p>
            <a:r>
              <a:rPr lang="en-US" dirty="0" smtClean="0"/>
              <a:t>Left = none</a:t>
            </a:r>
          </a:p>
          <a:p>
            <a:r>
              <a:rPr lang="en-US" dirty="0" smtClean="0"/>
              <a:t>Right = values &gt; 15 → {20}</a:t>
            </a:r>
          </a:p>
          <a:p>
            <a:r>
              <a:rPr lang="en-US" dirty="0" smtClean="0"/>
              <a:t>BST property holds.</a:t>
            </a:r>
          </a:p>
        </p:txBody>
      </p:sp>
      <p:pic>
        <p:nvPicPr>
          <p:cNvPr id="10" name="Picture 9"/>
          <p:cNvPicPr>
            <a:picLocks noChangeAspect="1"/>
          </p:cNvPicPr>
          <p:nvPr/>
        </p:nvPicPr>
        <p:blipFill>
          <a:blip r:embed="rId4"/>
          <a:stretch>
            <a:fillRect/>
          </a:stretch>
        </p:blipFill>
        <p:spPr>
          <a:xfrm>
            <a:off x="3368632" y="5074190"/>
            <a:ext cx="1009791" cy="714475"/>
          </a:xfrm>
          <a:prstGeom prst="rect">
            <a:avLst/>
          </a:prstGeom>
        </p:spPr>
      </p:pic>
      <p:pic>
        <p:nvPicPr>
          <p:cNvPr id="11" name="Picture 10"/>
          <p:cNvPicPr>
            <a:picLocks noChangeAspect="1"/>
          </p:cNvPicPr>
          <p:nvPr/>
        </p:nvPicPr>
        <p:blipFill>
          <a:blip r:embed="rId5"/>
          <a:stretch>
            <a:fillRect/>
          </a:stretch>
        </p:blipFill>
        <p:spPr>
          <a:xfrm>
            <a:off x="7712419" y="5074190"/>
            <a:ext cx="895475" cy="762106"/>
          </a:xfrm>
          <a:prstGeom prst="rect">
            <a:avLst/>
          </a:prstGeom>
        </p:spPr>
      </p:pic>
    </p:spTree>
    <p:extLst>
      <p:ext uri="{BB962C8B-B14F-4D97-AF65-F5344CB8AC3E}">
        <p14:creationId xmlns:p14="http://schemas.microsoft.com/office/powerpoint/2010/main" val="412316248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754326"/>
          </a:xfrm>
          <a:prstGeom prst="rect">
            <a:avLst/>
          </a:prstGeom>
        </p:spPr>
        <p:txBody>
          <a:bodyPr wrap="square">
            <a:spAutoFit/>
          </a:bodyPr>
          <a:lstStyle/>
          <a:p>
            <a:r>
              <a:rPr lang="en-US" b="1" dirty="0" smtClean="0">
                <a:solidFill>
                  <a:srgbClr val="FF0000"/>
                </a:solidFill>
              </a:rPr>
              <a:t>Binary Search Tree (BST)</a:t>
            </a:r>
          </a:p>
          <a:p>
            <a:endParaRPr lang="en-US" b="1" dirty="0" smtClean="0"/>
          </a:p>
          <a:p>
            <a:endParaRPr lang="en-US" b="1" dirty="0"/>
          </a:p>
          <a:p>
            <a:endParaRPr lang="en-US" b="1" dirty="0" smtClean="0"/>
          </a:p>
          <a:p>
            <a:endParaRPr lang="en-US" b="1" dirty="0"/>
          </a:p>
          <a:p>
            <a:endParaRPr lang="en-US" b="1" dirty="0" smtClean="0"/>
          </a:p>
        </p:txBody>
      </p:sp>
      <p:pic>
        <p:nvPicPr>
          <p:cNvPr id="12" name="Picture 11"/>
          <p:cNvPicPr>
            <a:picLocks noChangeAspect="1"/>
          </p:cNvPicPr>
          <p:nvPr/>
        </p:nvPicPr>
        <p:blipFill>
          <a:blip r:embed="rId3"/>
          <a:stretch>
            <a:fillRect/>
          </a:stretch>
        </p:blipFill>
        <p:spPr>
          <a:xfrm>
            <a:off x="143338" y="922713"/>
            <a:ext cx="5753903" cy="5860471"/>
          </a:xfrm>
          <a:prstGeom prst="rect">
            <a:avLst/>
          </a:prstGeom>
        </p:spPr>
      </p:pic>
    </p:spTree>
    <p:extLst>
      <p:ext uri="{BB962C8B-B14F-4D97-AF65-F5344CB8AC3E}">
        <p14:creationId xmlns:p14="http://schemas.microsoft.com/office/powerpoint/2010/main" val="422331162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754326"/>
          </a:xfrm>
          <a:prstGeom prst="rect">
            <a:avLst/>
          </a:prstGeom>
        </p:spPr>
        <p:txBody>
          <a:bodyPr wrap="square">
            <a:spAutoFit/>
          </a:bodyPr>
          <a:lstStyle/>
          <a:p>
            <a:r>
              <a:rPr lang="en-US" b="1" dirty="0" smtClean="0">
                <a:solidFill>
                  <a:srgbClr val="FF0000"/>
                </a:solidFill>
              </a:rPr>
              <a:t>Binary Search Tree (BST)</a:t>
            </a:r>
          </a:p>
          <a:p>
            <a:endParaRPr lang="en-US" b="1" dirty="0" smtClean="0"/>
          </a:p>
          <a:p>
            <a:endParaRPr lang="en-US" b="1" dirty="0"/>
          </a:p>
          <a:p>
            <a:endParaRPr lang="en-US" b="1" dirty="0" smtClean="0"/>
          </a:p>
          <a:p>
            <a:endParaRPr lang="en-US" b="1" dirty="0"/>
          </a:p>
          <a:p>
            <a:endParaRPr lang="en-US" b="1" dirty="0" smtClean="0"/>
          </a:p>
        </p:txBody>
      </p:sp>
      <p:pic>
        <p:nvPicPr>
          <p:cNvPr id="7" name="Picture 6"/>
          <p:cNvPicPr>
            <a:picLocks noChangeAspect="1"/>
          </p:cNvPicPr>
          <p:nvPr/>
        </p:nvPicPr>
        <p:blipFill>
          <a:blip r:embed="rId3"/>
          <a:stretch>
            <a:fillRect/>
          </a:stretch>
        </p:blipFill>
        <p:spPr>
          <a:xfrm>
            <a:off x="115882" y="906087"/>
            <a:ext cx="5858693" cy="5826965"/>
          </a:xfrm>
          <a:prstGeom prst="rect">
            <a:avLst/>
          </a:prstGeom>
        </p:spPr>
      </p:pic>
    </p:spTree>
    <p:extLst>
      <p:ext uri="{BB962C8B-B14F-4D97-AF65-F5344CB8AC3E}">
        <p14:creationId xmlns:p14="http://schemas.microsoft.com/office/powerpoint/2010/main" val="353919361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1754326"/>
          </a:xfrm>
          <a:prstGeom prst="rect">
            <a:avLst/>
          </a:prstGeom>
        </p:spPr>
        <p:txBody>
          <a:bodyPr wrap="square">
            <a:spAutoFit/>
          </a:bodyPr>
          <a:lstStyle/>
          <a:p>
            <a:r>
              <a:rPr lang="en-US" b="1" dirty="0" smtClean="0">
                <a:solidFill>
                  <a:srgbClr val="FF0000"/>
                </a:solidFill>
              </a:rPr>
              <a:t>Binary Search Tree (BST)</a:t>
            </a:r>
          </a:p>
          <a:p>
            <a:endParaRPr lang="en-US" b="1" dirty="0" smtClean="0"/>
          </a:p>
          <a:p>
            <a:endParaRPr lang="en-US" b="1" dirty="0"/>
          </a:p>
          <a:p>
            <a:endParaRPr lang="en-US" b="1" dirty="0" smtClean="0"/>
          </a:p>
          <a:p>
            <a:endParaRPr lang="en-US" b="1" dirty="0"/>
          </a:p>
          <a:p>
            <a:endParaRPr lang="en-US" b="1" dirty="0" smtClean="0"/>
          </a:p>
        </p:txBody>
      </p:sp>
      <p:pic>
        <p:nvPicPr>
          <p:cNvPr id="8" name="Picture 7"/>
          <p:cNvPicPr>
            <a:picLocks noChangeAspect="1"/>
          </p:cNvPicPr>
          <p:nvPr/>
        </p:nvPicPr>
        <p:blipFill>
          <a:blip r:embed="rId3"/>
          <a:stretch>
            <a:fillRect/>
          </a:stretch>
        </p:blipFill>
        <p:spPr>
          <a:xfrm>
            <a:off x="129757" y="1004348"/>
            <a:ext cx="5887272" cy="1524213"/>
          </a:xfrm>
          <a:prstGeom prst="rect">
            <a:avLst/>
          </a:prstGeom>
        </p:spPr>
      </p:pic>
    </p:spTree>
    <p:extLst>
      <p:ext uri="{BB962C8B-B14F-4D97-AF65-F5344CB8AC3E}">
        <p14:creationId xmlns:p14="http://schemas.microsoft.com/office/powerpoint/2010/main" val="323190202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6186309"/>
          </a:xfrm>
          <a:prstGeom prst="rect">
            <a:avLst/>
          </a:prstGeom>
        </p:spPr>
        <p:txBody>
          <a:bodyPr wrap="square">
            <a:spAutoFit/>
          </a:bodyPr>
          <a:lstStyle/>
          <a:p>
            <a:r>
              <a:rPr lang="en-US" b="1" dirty="0" smtClean="0">
                <a:solidFill>
                  <a:srgbClr val="FF0000"/>
                </a:solidFill>
              </a:rPr>
              <a:t>Binary Search Tree (BST)</a:t>
            </a:r>
          </a:p>
          <a:p>
            <a:endParaRPr lang="en-US" b="1" dirty="0" smtClean="0"/>
          </a:p>
          <a:p>
            <a:r>
              <a:rPr lang="en-US" b="1" dirty="0" smtClean="0"/>
              <a:t>Node Class</a:t>
            </a:r>
          </a:p>
          <a:p>
            <a:pPr marL="285750" indent="-285750">
              <a:buFont typeface="Arial" panose="020B0604020202020204" pitchFamily="34" charset="0"/>
              <a:buChar char="•"/>
            </a:pPr>
            <a:r>
              <a:rPr lang="en-US" dirty="0" smtClean="0"/>
              <a:t>Represents a single node in the tree.</a:t>
            </a:r>
          </a:p>
          <a:p>
            <a:pPr marL="285750" indent="-285750">
              <a:buFont typeface="Arial" panose="020B0604020202020204" pitchFamily="34" charset="0"/>
              <a:buChar char="•"/>
            </a:pPr>
            <a:r>
              <a:rPr lang="en-US" dirty="0" smtClean="0"/>
              <a:t>Each node stores:</a:t>
            </a:r>
          </a:p>
          <a:p>
            <a:pPr marL="285750" indent="-285750">
              <a:buFont typeface="Arial" panose="020B0604020202020204" pitchFamily="34" charset="0"/>
              <a:buChar char="•"/>
            </a:pPr>
            <a:r>
              <a:rPr lang="en-US" dirty="0" smtClean="0"/>
              <a:t>data → the value.</a:t>
            </a:r>
          </a:p>
          <a:p>
            <a:pPr marL="285750" indent="-285750">
              <a:buFont typeface="Arial" panose="020B0604020202020204" pitchFamily="34" charset="0"/>
              <a:buChar char="•"/>
            </a:pPr>
            <a:r>
              <a:rPr lang="en-US" dirty="0" smtClean="0"/>
              <a:t>left → pointer to left child.</a:t>
            </a:r>
          </a:p>
          <a:p>
            <a:pPr marL="285750" indent="-285750">
              <a:buFont typeface="Arial" panose="020B0604020202020204" pitchFamily="34" charset="0"/>
              <a:buChar char="•"/>
            </a:pPr>
            <a:r>
              <a:rPr lang="en-US" dirty="0" smtClean="0"/>
              <a:t>right → pointer to right child.</a:t>
            </a:r>
          </a:p>
          <a:p>
            <a:endParaRPr lang="en-US" b="1" dirty="0"/>
          </a:p>
          <a:p>
            <a:r>
              <a:rPr lang="en-IN" b="1" dirty="0" smtClean="0"/>
              <a:t>Insert Method</a:t>
            </a:r>
            <a:endParaRPr lang="en-US" b="1" dirty="0" smtClean="0"/>
          </a:p>
          <a:p>
            <a:pPr marL="285750" indent="-285750">
              <a:buFont typeface="Arial" panose="020B0604020202020204" pitchFamily="34" charset="0"/>
              <a:buChar char="•"/>
            </a:pPr>
            <a:r>
              <a:rPr lang="en-US" dirty="0" smtClean="0">
                <a:effectLst/>
              </a:rPr>
              <a:t>Inserts a new value into the BST.</a:t>
            </a:r>
            <a:endParaRPr lang="en-US" dirty="0" smtClean="0"/>
          </a:p>
          <a:p>
            <a:pPr marL="285750" indent="-285750">
              <a:buFont typeface="Arial" panose="020B0604020202020204" pitchFamily="34" charset="0"/>
              <a:buChar char="•"/>
            </a:pPr>
            <a:r>
              <a:rPr lang="en-US" dirty="0" smtClean="0">
                <a:effectLst/>
              </a:rPr>
              <a:t>Rule:</a:t>
            </a:r>
            <a:endParaRPr lang="en-US" dirty="0" smtClean="0"/>
          </a:p>
          <a:p>
            <a:pPr marL="742950" lvl="1" indent="-285750">
              <a:buFont typeface="Arial" panose="020B0604020202020204" pitchFamily="34" charset="0"/>
              <a:buChar char="•"/>
            </a:pPr>
            <a:r>
              <a:rPr lang="en-US" dirty="0" smtClean="0">
                <a:effectLst/>
              </a:rPr>
              <a:t>If smaller → go left.</a:t>
            </a:r>
            <a:endParaRPr lang="en-US" dirty="0" smtClean="0"/>
          </a:p>
          <a:p>
            <a:pPr marL="742950" lvl="1" indent="-285750">
              <a:buFont typeface="Arial" panose="020B0604020202020204" pitchFamily="34" charset="0"/>
              <a:buChar char="•"/>
            </a:pPr>
            <a:r>
              <a:rPr lang="en-US" dirty="0" smtClean="0">
                <a:effectLst/>
              </a:rPr>
              <a:t>If larger → go right.</a:t>
            </a:r>
            <a:endParaRPr lang="en-US" dirty="0" smtClean="0"/>
          </a:p>
          <a:p>
            <a:pPr marL="285750" indent="-285750">
              <a:buFont typeface="Arial" panose="020B0604020202020204" pitchFamily="34" charset="0"/>
              <a:buChar char="•"/>
            </a:pPr>
            <a:r>
              <a:rPr lang="en-US" dirty="0" smtClean="0">
                <a:effectLst/>
              </a:rPr>
              <a:t>Uses </a:t>
            </a:r>
            <a:r>
              <a:rPr lang="en-US" b="1" dirty="0" smtClean="0">
                <a:effectLst/>
              </a:rPr>
              <a:t>recursion</a:t>
            </a:r>
            <a:r>
              <a:rPr lang="en-US" dirty="0" smtClean="0">
                <a:effectLst/>
              </a:rPr>
              <a:t> to find the correct spot.</a:t>
            </a:r>
            <a:endParaRPr lang="en-US" dirty="0" smtClean="0"/>
          </a:p>
          <a:p>
            <a:endParaRPr lang="en-US" b="1" dirty="0"/>
          </a:p>
          <a:p>
            <a:r>
              <a:rPr lang="en-IN" b="1" dirty="0" smtClean="0"/>
              <a:t>Search Method</a:t>
            </a:r>
          </a:p>
          <a:p>
            <a:pPr marL="285750" indent="-285750">
              <a:buFont typeface="Arial" panose="020B0604020202020204" pitchFamily="34" charset="0"/>
              <a:buChar char="•"/>
            </a:pPr>
            <a:r>
              <a:rPr lang="en-US" dirty="0" smtClean="0"/>
              <a:t>Searches for a value (key) in the BST.</a:t>
            </a:r>
          </a:p>
          <a:p>
            <a:pPr marL="285750" indent="-285750">
              <a:buFont typeface="Arial" panose="020B0604020202020204" pitchFamily="34" charset="0"/>
              <a:buChar char="•"/>
            </a:pPr>
            <a:r>
              <a:rPr lang="en-US" dirty="0" smtClean="0"/>
              <a:t>Recursively checks:</a:t>
            </a:r>
          </a:p>
          <a:p>
            <a:pPr marL="285750" indent="-285750">
              <a:buFont typeface="Arial" panose="020B0604020202020204" pitchFamily="34" charset="0"/>
              <a:buChar char="•"/>
            </a:pPr>
            <a:r>
              <a:rPr lang="en-US" dirty="0" smtClean="0"/>
              <a:t>If equal → found.</a:t>
            </a:r>
          </a:p>
          <a:p>
            <a:pPr marL="285750" indent="-285750">
              <a:buFont typeface="Arial" panose="020B0604020202020204" pitchFamily="34" charset="0"/>
              <a:buChar char="•"/>
            </a:pPr>
            <a:r>
              <a:rPr lang="en-US" dirty="0" smtClean="0"/>
              <a:t>If smaller → search left.</a:t>
            </a:r>
          </a:p>
          <a:p>
            <a:pPr marL="285750" indent="-285750">
              <a:buFont typeface="Arial" panose="020B0604020202020204" pitchFamily="34" charset="0"/>
              <a:buChar char="•"/>
            </a:pPr>
            <a:r>
              <a:rPr lang="en-US" dirty="0" smtClean="0"/>
              <a:t>If larger → search right.</a:t>
            </a:r>
          </a:p>
        </p:txBody>
      </p:sp>
    </p:spTree>
    <p:extLst>
      <p:ext uri="{BB962C8B-B14F-4D97-AF65-F5344CB8AC3E}">
        <p14:creationId xmlns:p14="http://schemas.microsoft.com/office/powerpoint/2010/main" val="249678834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034058" cy="369332"/>
          </a:xfrm>
          <a:prstGeom prst="rect">
            <a:avLst/>
          </a:prstGeom>
          <a:noFill/>
        </p:spPr>
        <p:txBody>
          <a:bodyPr wrap="square" rtlCol="0">
            <a:spAutoFit/>
          </a:bodyPr>
          <a:lstStyle/>
          <a:p>
            <a:r>
              <a:rPr lang="en-US" b="1" dirty="0" smtClean="0"/>
              <a:t>2. Non-Primitive – Non Linear Data Structures</a:t>
            </a:r>
            <a:endParaRPr lang="en-IN" b="1" dirty="0"/>
          </a:p>
        </p:txBody>
      </p:sp>
      <p:pic>
        <p:nvPicPr>
          <p:cNvPr id="5" name="Picture 4"/>
          <p:cNvPicPr>
            <a:picLocks noChangeAspect="1"/>
          </p:cNvPicPr>
          <p:nvPr/>
        </p:nvPicPr>
        <p:blipFill>
          <a:blip r:embed="rId2"/>
          <a:stretch>
            <a:fillRect/>
          </a:stretch>
        </p:blipFill>
        <p:spPr>
          <a:xfrm>
            <a:off x="10764981" y="60220"/>
            <a:ext cx="1321073" cy="421918"/>
          </a:xfrm>
          <a:prstGeom prst="rect">
            <a:avLst/>
          </a:prstGeom>
        </p:spPr>
      </p:pic>
      <p:sp>
        <p:nvSpPr>
          <p:cNvPr id="6" name="Rectangle 5"/>
          <p:cNvSpPr/>
          <p:nvPr/>
        </p:nvSpPr>
        <p:spPr>
          <a:xfrm>
            <a:off x="0" y="482138"/>
            <a:ext cx="12192000" cy="4801314"/>
          </a:xfrm>
          <a:prstGeom prst="rect">
            <a:avLst/>
          </a:prstGeom>
        </p:spPr>
        <p:txBody>
          <a:bodyPr wrap="square">
            <a:spAutoFit/>
          </a:bodyPr>
          <a:lstStyle/>
          <a:p>
            <a:r>
              <a:rPr lang="en-US" b="1" dirty="0" smtClean="0">
                <a:solidFill>
                  <a:srgbClr val="FF0000"/>
                </a:solidFill>
              </a:rPr>
              <a:t>Binary Search Tree (BST)</a:t>
            </a:r>
          </a:p>
          <a:p>
            <a:endParaRPr lang="en-US" b="1" dirty="0" smtClean="0"/>
          </a:p>
          <a:p>
            <a:r>
              <a:rPr lang="en-IN" b="1" dirty="0" err="1" smtClean="0"/>
              <a:t>Inorder</a:t>
            </a:r>
            <a:r>
              <a:rPr lang="en-IN" b="1" dirty="0" smtClean="0"/>
              <a:t> Traversal</a:t>
            </a:r>
          </a:p>
          <a:p>
            <a:pPr marL="285750" indent="-285750">
              <a:buFont typeface="Arial" panose="020B0604020202020204" pitchFamily="34" charset="0"/>
              <a:buChar char="•"/>
            </a:pPr>
            <a:r>
              <a:rPr lang="en-US" dirty="0" smtClean="0"/>
              <a:t>Traverses the tree </a:t>
            </a:r>
            <a:r>
              <a:rPr lang="en-US" dirty="0" err="1" smtClean="0"/>
              <a:t>inorder</a:t>
            </a:r>
            <a:r>
              <a:rPr lang="en-US" dirty="0" smtClean="0"/>
              <a:t> (Left → Root → Right).</a:t>
            </a:r>
          </a:p>
          <a:p>
            <a:pPr marL="285750" indent="-285750">
              <a:buFont typeface="Arial" panose="020B0604020202020204" pitchFamily="34" charset="0"/>
              <a:buChar char="•"/>
            </a:pPr>
            <a:r>
              <a:rPr lang="en-US" dirty="0" smtClean="0"/>
              <a:t>In a BST, </a:t>
            </a:r>
            <a:r>
              <a:rPr lang="en-US" dirty="0" err="1" smtClean="0"/>
              <a:t>inorder</a:t>
            </a:r>
            <a:r>
              <a:rPr lang="en-US" dirty="0" smtClean="0"/>
              <a:t> traversal always prints values in sorted order.</a:t>
            </a:r>
            <a:endParaRPr lang="en-US" dirty="0"/>
          </a:p>
          <a:p>
            <a:endParaRPr lang="en-US" dirty="0" smtClean="0"/>
          </a:p>
          <a:p>
            <a:r>
              <a:rPr lang="en-IN" b="1" dirty="0" smtClean="0"/>
              <a:t>Main Method</a:t>
            </a:r>
          </a:p>
          <a:p>
            <a:pPr marL="285750" indent="-285750">
              <a:buFont typeface="Arial" panose="020B0604020202020204" pitchFamily="34" charset="0"/>
              <a:buChar char="•"/>
            </a:pPr>
            <a:r>
              <a:rPr lang="en-US" dirty="0" smtClean="0"/>
              <a:t>Builds a BST with values {50, 30, 70, 20, 40, 60, 80}.</a:t>
            </a:r>
          </a:p>
          <a:p>
            <a:pPr marL="285750" indent="-285750">
              <a:buFont typeface="Arial" panose="020B0604020202020204" pitchFamily="34" charset="0"/>
              <a:buChar char="•"/>
            </a:pPr>
            <a:r>
              <a:rPr lang="en-US" dirty="0" smtClean="0"/>
              <a:t>Prints the tree in sorted order using </a:t>
            </a:r>
            <a:r>
              <a:rPr lang="en-US" dirty="0" err="1" smtClean="0"/>
              <a:t>inorder</a:t>
            </a:r>
            <a:r>
              <a:rPr lang="en-US" dirty="0" smtClean="0"/>
              <a:t> traversal → 20 30 40 50 60 70 80.</a:t>
            </a:r>
          </a:p>
          <a:p>
            <a:pPr marL="285750" indent="-285750">
              <a:buFont typeface="Arial" panose="020B0604020202020204" pitchFamily="34" charset="0"/>
              <a:buChar char="•"/>
            </a:pPr>
            <a:r>
              <a:rPr lang="en-US" dirty="0" smtClean="0"/>
              <a:t>Searches for 40 → found, so it prints: 40 found in BST</a:t>
            </a:r>
          </a:p>
          <a:p>
            <a:pPr marL="285750" indent="-285750">
              <a:buFont typeface="Arial" panose="020B0604020202020204" pitchFamily="34" charset="0"/>
              <a:buChar char="•"/>
            </a:pPr>
            <a:endParaRPr lang="en-US" dirty="0" smtClean="0"/>
          </a:p>
          <a:p>
            <a:r>
              <a:rPr lang="en-US" dirty="0" smtClean="0"/>
              <a:t>This program demonstrates the three core operations of a BST:</a:t>
            </a:r>
          </a:p>
          <a:p>
            <a:pPr marL="285750" indent="-285750">
              <a:buFont typeface="Arial" panose="020B0604020202020204" pitchFamily="34" charset="0"/>
              <a:buChar char="•"/>
            </a:pPr>
            <a:r>
              <a:rPr lang="en-US" dirty="0" smtClean="0"/>
              <a:t>Insert → Add nodes while maintaining BST property.</a:t>
            </a:r>
          </a:p>
          <a:p>
            <a:pPr marL="285750" indent="-285750">
              <a:buFont typeface="Arial" panose="020B0604020202020204" pitchFamily="34" charset="0"/>
              <a:buChar char="•"/>
            </a:pPr>
            <a:r>
              <a:rPr lang="en-US" dirty="0" smtClean="0"/>
              <a:t>Search → Efficient lookup using recursion.</a:t>
            </a:r>
          </a:p>
          <a:p>
            <a:pPr marL="285750" indent="-285750">
              <a:buFont typeface="Arial" panose="020B0604020202020204" pitchFamily="34" charset="0"/>
              <a:buChar char="•"/>
            </a:pPr>
            <a:r>
              <a:rPr lang="en-US" dirty="0" err="1" smtClean="0"/>
              <a:t>Inorder</a:t>
            </a:r>
            <a:r>
              <a:rPr lang="en-US" dirty="0" smtClean="0"/>
              <a:t> Traversal → Sorted output of all values.</a:t>
            </a:r>
          </a:p>
          <a:p>
            <a:endParaRPr lang="en-US" dirty="0" smtClean="0"/>
          </a:p>
          <a:p>
            <a:r>
              <a:rPr lang="en-US" dirty="0" smtClean="0"/>
              <a:t>It’s a classic example showing why BSTs are powerful: they keep data ordered and allow fast search/insert operations.</a:t>
            </a:r>
          </a:p>
        </p:txBody>
      </p:sp>
    </p:spTree>
    <p:extLst>
      <p:ext uri="{BB962C8B-B14F-4D97-AF65-F5344CB8AC3E}">
        <p14:creationId xmlns:p14="http://schemas.microsoft.com/office/powerpoint/2010/main" val="17331083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228</TotalTime>
  <Words>6895</Words>
  <Application>Microsoft Office PowerPoint</Application>
  <PresentationFormat>Widescreen</PresentationFormat>
  <Paragraphs>1195</Paragraphs>
  <Slides>91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91</vt:i4>
      </vt:variant>
    </vt:vector>
  </HeadingPairs>
  <TitlesOfParts>
    <vt:vector size="9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57</cp:revision>
  <dcterms:created xsi:type="dcterms:W3CDTF">2026-04-26T04:16:51Z</dcterms:created>
  <dcterms:modified xsi:type="dcterms:W3CDTF">2026-04-26T08:04:57Z</dcterms:modified>
</cp:coreProperties>
</file>