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331" r:id="rId2"/>
    <p:sldId id="332" r:id="rId3"/>
    <p:sldId id="333" r:id="rId4"/>
    <p:sldId id="334" r:id="rId5"/>
    <p:sldId id="335" r:id="rId6"/>
    <p:sldId id="400" r:id="rId7"/>
    <p:sldId id="401" r:id="rId8"/>
    <p:sldId id="402" r:id="rId9"/>
    <p:sldId id="399" r:id="rId10"/>
    <p:sldId id="337" r:id="rId11"/>
    <p:sldId id="338" r:id="rId12"/>
    <p:sldId id="339" r:id="rId13"/>
    <p:sldId id="340" r:id="rId14"/>
    <p:sldId id="346" r:id="rId15"/>
    <p:sldId id="347" r:id="rId16"/>
    <p:sldId id="407" r:id="rId17"/>
    <p:sldId id="403" r:id="rId18"/>
    <p:sldId id="404" r:id="rId19"/>
    <p:sldId id="405" r:id="rId20"/>
    <p:sldId id="408" r:id="rId21"/>
    <p:sldId id="409" r:id="rId22"/>
    <p:sldId id="410" r:id="rId23"/>
    <p:sldId id="411" r:id="rId24"/>
    <p:sldId id="412" r:id="rId25"/>
    <p:sldId id="413" r:id="rId26"/>
    <p:sldId id="414" r:id="rId27"/>
    <p:sldId id="415" r:id="rId28"/>
    <p:sldId id="416" r:id="rId29"/>
    <p:sldId id="417" r:id="rId30"/>
    <p:sldId id="418" r:id="rId31"/>
    <p:sldId id="419" r:id="rId32"/>
    <p:sldId id="420" r:id="rId33"/>
    <p:sldId id="421" r:id="rId34"/>
    <p:sldId id="422" r:id="rId35"/>
    <p:sldId id="423" r:id="rId36"/>
    <p:sldId id="424" r:id="rId37"/>
    <p:sldId id="425" r:id="rId38"/>
    <p:sldId id="426" r:id="rId39"/>
    <p:sldId id="427" r:id="rId40"/>
    <p:sldId id="428" r:id="rId41"/>
    <p:sldId id="429" r:id="rId42"/>
    <p:sldId id="430" r:id="rId43"/>
    <p:sldId id="431" r:id="rId44"/>
    <p:sldId id="432" r:id="rId45"/>
    <p:sldId id="433" r:id="rId46"/>
    <p:sldId id="434" r:id="rId47"/>
    <p:sldId id="435" r:id="rId48"/>
    <p:sldId id="436" r:id="rId49"/>
    <p:sldId id="437" r:id="rId50"/>
    <p:sldId id="438"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5" d="100"/>
          <a:sy n="115" d="100"/>
        </p:scale>
        <p:origin x="372"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IN"/>
          </a:p>
        </p:txBody>
      </p:sp>
      <p:sp>
        <p:nvSpPr>
          <p:cNvPr id="4" name="Date Placeholder 3"/>
          <p:cNvSpPr>
            <a:spLocks noGrp="1"/>
          </p:cNvSpPr>
          <p:nvPr>
            <p:ph type="dt" sz="half" idx="10"/>
          </p:nvPr>
        </p:nvSpPr>
        <p:spPr/>
        <p:txBody>
          <a:bodyPr/>
          <a:lstStyle/>
          <a:p>
            <a:fld id="{71DBA90E-DD96-458D-ACE7-89A0584897CD}" type="datetimeFigureOut">
              <a:rPr lang="en-IN" smtClean="0"/>
              <a:t>09-05-2026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676182D-1858-435D-A8BA-618F8D4916E9}" type="slidenum">
              <a:rPr lang="en-IN" smtClean="0"/>
              <a:t>‹#›</a:t>
            </a:fld>
            <a:endParaRPr lang="en-IN"/>
          </a:p>
        </p:txBody>
      </p:sp>
    </p:spTree>
    <p:extLst>
      <p:ext uri="{BB962C8B-B14F-4D97-AF65-F5344CB8AC3E}">
        <p14:creationId xmlns:p14="http://schemas.microsoft.com/office/powerpoint/2010/main" val="7426459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71DBA90E-DD96-458D-ACE7-89A0584897CD}" type="datetimeFigureOut">
              <a:rPr lang="en-IN" smtClean="0"/>
              <a:t>09-05-2026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676182D-1858-435D-A8BA-618F8D4916E9}" type="slidenum">
              <a:rPr lang="en-IN" smtClean="0"/>
              <a:t>‹#›</a:t>
            </a:fld>
            <a:endParaRPr lang="en-IN"/>
          </a:p>
        </p:txBody>
      </p:sp>
    </p:spTree>
    <p:extLst>
      <p:ext uri="{BB962C8B-B14F-4D97-AF65-F5344CB8AC3E}">
        <p14:creationId xmlns:p14="http://schemas.microsoft.com/office/powerpoint/2010/main" val="3047602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71DBA90E-DD96-458D-ACE7-89A0584897CD}" type="datetimeFigureOut">
              <a:rPr lang="en-IN" smtClean="0"/>
              <a:t>09-05-2026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676182D-1858-435D-A8BA-618F8D4916E9}" type="slidenum">
              <a:rPr lang="en-IN" smtClean="0"/>
              <a:t>‹#›</a:t>
            </a:fld>
            <a:endParaRPr lang="en-IN"/>
          </a:p>
        </p:txBody>
      </p:sp>
    </p:spTree>
    <p:extLst>
      <p:ext uri="{BB962C8B-B14F-4D97-AF65-F5344CB8AC3E}">
        <p14:creationId xmlns:p14="http://schemas.microsoft.com/office/powerpoint/2010/main" val="3751719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5" name="Date Placeholder 4"/>
          <p:cNvSpPr>
            <a:spLocks noGrp="1"/>
          </p:cNvSpPr>
          <p:nvPr>
            <p:ph type="dt" sz="half" idx="10"/>
          </p:nvPr>
        </p:nvSpPr>
        <p:spPr/>
        <p:txBody>
          <a:bodyPr/>
          <a:lstStyle/>
          <a:p>
            <a:fld id="{71DBA90E-DD96-458D-ACE7-89A0584897CD}" type="datetimeFigureOut">
              <a:rPr lang="en-IN" smtClean="0"/>
              <a:t>09-05-2026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2676182D-1858-435D-A8BA-618F8D4916E9}" type="slidenum">
              <a:rPr lang="en-IN" smtClean="0"/>
              <a:t>‹#›</a:t>
            </a:fld>
            <a:endParaRPr lang="en-IN"/>
          </a:p>
        </p:txBody>
      </p:sp>
    </p:spTree>
    <p:extLst>
      <p:ext uri="{BB962C8B-B14F-4D97-AF65-F5344CB8AC3E}">
        <p14:creationId xmlns:p14="http://schemas.microsoft.com/office/powerpoint/2010/main" val="7261100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7" name="Date Placeholder 6"/>
          <p:cNvSpPr>
            <a:spLocks noGrp="1"/>
          </p:cNvSpPr>
          <p:nvPr>
            <p:ph type="dt" sz="half" idx="10"/>
          </p:nvPr>
        </p:nvSpPr>
        <p:spPr/>
        <p:txBody>
          <a:bodyPr/>
          <a:lstStyle/>
          <a:p>
            <a:fld id="{71DBA90E-DD96-458D-ACE7-89A0584897CD}" type="datetimeFigureOut">
              <a:rPr lang="en-IN" smtClean="0"/>
              <a:t>09-05-2026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2676182D-1858-435D-A8BA-618F8D4916E9}" type="slidenum">
              <a:rPr lang="en-IN" smtClean="0"/>
              <a:t>‹#›</a:t>
            </a:fld>
            <a:endParaRPr lang="en-IN"/>
          </a:p>
        </p:txBody>
      </p:sp>
    </p:spTree>
    <p:extLst>
      <p:ext uri="{BB962C8B-B14F-4D97-AF65-F5344CB8AC3E}">
        <p14:creationId xmlns:p14="http://schemas.microsoft.com/office/powerpoint/2010/main" val="5072514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Date Placeholder 2"/>
          <p:cNvSpPr>
            <a:spLocks noGrp="1"/>
          </p:cNvSpPr>
          <p:nvPr>
            <p:ph type="dt" sz="half" idx="10"/>
          </p:nvPr>
        </p:nvSpPr>
        <p:spPr/>
        <p:txBody>
          <a:bodyPr/>
          <a:lstStyle/>
          <a:p>
            <a:fld id="{71DBA90E-DD96-458D-ACE7-89A0584897CD}" type="datetimeFigureOut">
              <a:rPr lang="en-IN" smtClean="0"/>
              <a:t>09-05-2026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2676182D-1858-435D-A8BA-618F8D4916E9}" type="slidenum">
              <a:rPr lang="en-IN" smtClean="0"/>
              <a:t>‹#›</a:t>
            </a:fld>
            <a:endParaRPr lang="en-IN"/>
          </a:p>
        </p:txBody>
      </p:sp>
    </p:spTree>
    <p:extLst>
      <p:ext uri="{BB962C8B-B14F-4D97-AF65-F5344CB8AC3E}">
        <p14:creationId xmlns:p14="http://schemas.microsoft.com/office/powerpoint/2010/main" val="139227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DBA90E-DD96-458D-ACE7-89A0584897CD}" type="datetimeFigureOut">
              <a:rPr lang="en-IN" smtClean="0"/>
              <a:t>09-05-2026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2676182D-1858-435D-A8BA-618F8D4916E9}" type="slidenum">
              <a:rPr lang="en-IN" smtClean="0"/>
              <a:t>‹#›</a:t>
            </a:fld>
            <a:endParaRPr lang="en-IN"/>
          </a:p>
        </p:txBody>
      </p:sp>
    </p:spTree>
    <p:extLst>
      <p:ext uri="{BB962C8B-B14F-4D97-AF65-F5344CB8AC3E}">
        <p14:creationId xmlns:p14="http://schemas.microsoft.com/office/powerpoint/2010/main" val="25864567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71DBA90E-DD96-458D-ACE7-89A0584897CD}" type="datetimeFigureOut">
              <a:rPr lang="en-IN" smtClean="0"/>
              <a:t>09-05-2026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2676182D-1858-435D-A8BA-618F8D4916E9}" type="slidenum">
              <a:rPr lang="en-IN" smtClean="0"/>
              <a:t>‹#›</a:t>
            </a:fld>
            <a:endParaRPr lang="en-IN"/>
          </a:p>
        </p:txBody>
      </p:sp>
    </p:spTree>
    <p:extLst>
      <p:ext uri="{BB962C8B-B14F-4D97-AF65-F5344CB8AC3E}">
        <p14:creationId xmlns:p14="http://schemas.microsoft.com/office/powerpoint/2010/main" val="3931497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71DBA90E-DD96-458D-ACE7-89A0584897CD}" type="datetimeFigureOut">
              <a:rPr lang="en-IN" smtClean="0"/>
              <a:t>09-05-2026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2676182D-1858-435D-A8BA-618F8D4916E9}" type="slidenum">
              <a:rPr lang="en-IN" smtClean="0"/>
              <a:t>‹#›</a:t>
            </a:fld>
            <a:endParaRPr lang="en-IN"/>
          </a:p>
        </p:txBody>
      </p:sp>
    </p:spTree>
    <p:extLst>
      <p:ext uri="{BB962C8B-B14F-4D97-AF65-F5344CB8AC3E}">
        <p14:creationId xmlns:p14="http://schemas.microsoft.com/office/powerpoint/2010/main" val="41827624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71DBA90E-DD96-458D-ACE7-89A0584897CD}" type="datetimeFigureOut">
              <a:rPr lang="en-IN" smtClean="0"/>
              <a:t>09-05-2026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676182D-1858-435D-A8BA-618F8D4916E9}" type="slidenum">
              <a:rPr lang="en-IN" smtClean="0"/>
              <a:t>‹#›</a:t>
            </a:fld>
            <a:endParaRPr lang="en-IN"/>
          </a:p>
        </p:txBody>
      </p:sp>
    </p:spTree>
    <p:extLst>
      <p:ext uri="{BB962C8B-B14F-4D97-AF65-F5344CB8AC3E}">
        <p14:creationId xmlns:p14="http://schemas.microsoft.com/office/powerpoint/2010/main" val="10098507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71DBA90E-DD96-458D-ACE7-89A0584897CD}" type="datetimeFigureOut">
              <a:rPr lang="en-IN" smtClean="0"/>
              <a:t>09-05-2026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676182D-1858-435D-A8BA-618F8D4916E9}" type="slidenum">
              <a:rPr lang="en-IN" smtClean="0"/>
              <a:t>‹#›</a:t>
            </a:fld>
            <a:endParaRPr lang="en-IN"/>
          </a:p>
        </p:txBody>
      </p:sp>
    </p:spTree>
    <p:extLst>
      <p:ext uri="{BB962C8B-B14F-4D97-AF65-F5344CB8AC3E}">
        <p14:creationId xmlns:p14="http://schemas.microsoft.com/office/powerpoint/2010/main" val="24175829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1DBA90E-DD96-458D-ACE7-89A0584897CD}" type="datetimeFigureOut">
              <a:rPr lang="en-IN" smtClean="0"/>
              <a:t>09-05-2026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676182D-1858-435D-A8BA-618F8D4916E9}" type="slidenum">
              <a:rPr lang="en-IN" smtClean="0"/>
              <a:t>‹#›</a:t>
            </a:fld>
            <a:endParaRPr lang="en-IN"/>
          </a:p>
        </p:txBody>
      </p:sp>
    </p:spTree>
    <p:extLst>
      <p:ext uri="{BB962C8B-B14F-4D97-AF65-F5344CB8AC3E}">
        <p14:creationId xmlns:p14="http://schemas.microsoft.com/office/powerpoint/2010/main" val="31879937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38.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46.png"/></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5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5632311"/>
          </a:xfrm>
          <a:prstGeom prst="rect">
            <a:avLst/>
          </a:prstGeom>
        </p:spPr>
        <p:txBody>
          <a:bodyPr wrap="square">
            <a:spAutoFit/>
          </a:bodyPr>
          <a:lstStyle/>
          <a:p>
            <a:r>
              <a:rPr lang="en-US" b="1" dirty="0">
                <a:solidFill>
                  <a:srgbClr val="FF0000"/>
                </a:solidFill>
              </a:rPr>
              <a:t>B-Tree </a:t>
            </a:r>
            <a:r>
              <a:rPr lang="en-US" b="1" dirty="0" smtClean="0">
                <a:solidFill>
                  <a:srgbClr val="FF0000"/>
                </a:solidFill>
              </a:rPr>
              <a:t>Family</a:t>
            </a:r>
          </a:p>
          <a:p>
            <a:endParaRPr lang="en-US" b="1" dirty="0">
              <a:solidFill>
                <a:srgbClr val="FF0000"/>
              </a:solidFill>
            </a:endParaRPr>
          </a:p>
          <a:p>
            <a:r>
              <a:rPr lang="en-US" dirty="0"/>
              <a:t>The B‑Tree family refers to a group of self‑balancing, multi‑way search trees designed for efficient storage and retrieval of large datasets, especially on disk. They generalize binary search trees by allowing multiple keys per node and multiple children, ensuring balanced height and minimizing costly disk I/O</a:t>
            </a:r>
            <a:r>
              <a:rPr lang="en-US" dirty="0" smtClean="0"/>
              <a:t>.</a:t>
            </a:r>
          </a:p>
          <a:p>
            <a:endParaRPr lang="en-US" b="1" dirty="0"/>
          </a:p>
          <a:p>
            <a:r>
              <a:rPr lang="en-US" b="1" dirty="0"/>
              <a:t>Core Concept of B‑Trees</a:t>
            </a:r>
          </a:p>
          <a:p>
            <a:pPr marL="285750" indent="-285750">
              <a:buFont typeface="Arial" panose="020B0604020202020204" pitchFamily="34" charset="0"/>
              <a:buChar char="•"/>
            </a:pPr>
            <a:r>
              <a:rPr lang="en-US" b="1" dirty="0"/>
              <a:t>Order (m):</a:t>
            </a:r>
            <a:r>
              <a:rPr lang="en-US" dirty="0"/>
              <a:t> Maximum number of children a node can have.</a:t>
            </a:r>
          </a:p>
          <a:p>
            <a:pPr marL="285750" indent="-285750">
              <a:buFont typeface="Arial" panose="020B0604020202020204" pitchFamily="34" charset="0"/>
              <a:buChar char="•"/>
            </a:pPr>
            <a:r>
              <a:rPr lang="en-US" b="1" dirty="0"/>
              <a:t>Keys per node:</a:t>
            </a:r>
            <a:r>
              <a:rPr lang="en-US" dirty="0"/>
              <a:t> Up to m−1 keys stored in sorted order.</a:t>
            </a:r>
          </a:p>
          <a:p>
            <a:pPr marL="285750" indent="-285750">
              <a:buFont typeface="Arial" panose="020B0604020202020204" pitchFamily="34" charset="0"/>
              <a:buChar char="•"/>
            </a:pPr>
            <a:r>
              <a:rPr lang="en-US" b="1" dirty="0"/>
              <a:t>Balance:</a:t>
            </a:r>
            <a:r>
              <a:rPr lang="en-US" dirty="0"/>
              <a:t> All leaf nodes are at the same level.</a:t>
            </a:r>
          </a:p>
          <a:p>
            <a:pPr marL="285750" indent="-285750">
              <a:buFont typeface="Arial" panose="020B0604020202020204" pitchFamily="34" charset="0"/>
              <a:buChar char="•"/>
            </a:pPr>
            <a:r>
              <a:rPr lang="en-US" b="1" dirty="0"/>
              <a:t>Efficiency:</a:t>
            </a:r>
            <a:r>
              <a:rPr lang="en-US" dirty="0"/>
              <a:t> Search, insertion, and deletion operations run in </a:t>
            </a:r>
            <a:r>
              <a:rPr lang="en-US" b="1" dirty="0"/>
              <a:t>O(log n)</a:t>
            </a:r>
            <a:r>
              <a:rPr lang="en-US" dirty="0"/>
              <a:t> time.</a:t>
            </a:r>
          </a:p>
          <a:p>
            <a:pPr marL="285750" indent="-285750">
              <a:buFont typeface="Arial" panose="020B0604020202020204" pitchFamily="34" charset="0"/>
              <a:buChar char="•"/>
            </a:pPr>
            <a:r>
              <a:rPr lang="en-US" b="1" dirty="0"/>
              <a:t>Use case:</a:t>
            </a:r>
            <a:r>
              <a:rPr lang="en-US" dirty="0"/>
              <a:t> Optimized for databases and file systems where minimizing disk access is critical</a:t>
            </a:r>
            <a:r>
              <a:rPr lang="en-US" dirty="0" smtClean="0"/>
              <a:t>.</a:t>
            </a:r>
          </a:p>
          <a:p>
            <a:pPr marL="285750" indent="-285750">
              <a:buFont typeface="Arial" panose="020B0604020202020204" pitchFamily="34" charset="0"/>
              <a:buChar char="•"/>
            </a:pPr>
            <a:endParaRPr lang="en-US" dirty="0"/>
          </a:p>
          <a:p>
            <a:r>
              <a:rPr lang="en-US" b="1" dirty="0"/>
              <a:t>Operations</a:t>
            </a:r>
          </a:p>
          <a:p>
            <a:pPr marL="285750" indent="-285750">
              <a:buFont typeface="Arial" panose="020B0604020202020204" pitchFamily="34" charset="0"/>
              <a:buChar char="•"/>
            </a:pPr>
            <a:r>
              <a:rPr lang="en-US" b="1" dirty="0"/>
              <a:t>Search:</a:t>
            </a:r>
            <a:r>
              <a:rPr lang="en-US" dirty="0"/>
              <a:t> Similar to binary search, but across multiple keys per node.</a:t>
            </a:r>
          </a:p>
          <a:p>
            <a:pPr marL="285750" indent="-285750">
              <a:buFont typeface="Arial" panose="020B0604020202020204" pitchFamily="34" charset="0"/>
              <a:buChar char="•"/>
            </a:pPr>
            <a:r>
              <a:rPr lang="en-US" b="1" dirty="0"/>
              <a:t>Insertion:</a:t>
            </a:r>
            <a:r>
              <a:rPr lang="en-US" dirty="0"/>
              <a:t> Insert into node; if overflow occurs, split node and promote median key.</a:t>
            </a:r>
          </a:p>
          <a:p>
            <a:pPr marL="285750" indent="-285750">
              <a:buFont typeface="Arial" panose="020B0604020202020204" pitchFamily="34" charset="0"/>
              <a:buChar char="•"/>
            </a:pPr>
            <a:r>
              <a:rPr lang="en-US" b="1" dirty="0"/>
              <a:t>Deletion:</a:t>
            </a:r>
            <a:r>
              <a:rPr lang="en-US" dirty="0"/>
              <a:t> Remove key; if underflow occurs, borrow from sibling or merge nodes.</a:t>
            </a:r>
          </a:p>
          <a:p>
            <a:pPr marL="285750" indent="-285750">
              <a:buFont typeface="Arial" panose="020B0604020202020204" pitchFamily="34" charset="0"/>
              <a:buChar char="•"/>
            </a:pPr>
            <a:r>
              <a:rPr lang="en-US" b="1" dirty="0"/>
              <a:t>Traversal:</a:t>
            </a:r>
            <a:r>
              <a:rPr lang="en-US" dirty="0"/>
              <a:t> In‑order traversal yields sorted sequence of keys.</a:t>
            </a:r>
          </a:p>
          <a:p>
            <a:endParaRPr lang="en-US" dirty="0"/>
          </a:p>
          <a:p>
            <a:endParaRPr lang="en-US" b="1" dirty="0" smtClean="0"/>
          </a:p>
        </p:txBody>
      </p:sp>
    </p:spTree>
    <p:extLst>
      <p:ext uri="{BB962C8B-B14F-4D97-AF65-F5344CB8AC3E}">
        <p14:creationId xmlns:p14="http://schemas.microsoft.com/office/powerpoint/2010/main" val="1733108393"/>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5632311"/>
          </a:xfrm>
          <a:prstGeom prst="rect">
            <a:avLst/>
          </a:prstGeom>
        </p:spPr>
        <p:txBody>
          <a:bodyPr wrap="square">
            <a:spAutoFit/>
          </a:bodyPr>
          <a:lstStyle/>
          <a:p>
            <a:r>
              <a:rPr lang="en-US" b="1" dirty="0">
                <a:solidFill>
                  <a:srgbClr val="FF0000"/>
                </a:solidFill>
              </a:rPr>
              <a:t>B-Tree </a:t>
            </a:r>
            <a:r>
              <a:rPr lang="en-US" b="1" dirty="0" smtClean="0">
                <a:solidFill>
                  <a:srgbClr val="FF0000"/>
                </a:solidFill>
              </a:rPr>
              <a:t>Family</a:t>
            </a:r>
          </a:p>
          <a:p>
            <a:endParaRPr lang="en-US" b="1" dirty="0">
              <a:solidFill>
                <a:srgbClr val="FF0000"/>
              </a:solidFill>
            </a:endParaRPr>
          </a:p>
          <a:p>
            <a:r>
              <a:rPr lang="en-IN" b="1" dirty="0"/>
              <a:t>Real‑World Applications</a:t>
            </a:r>
          </a:p>
          <a:p>
            <a:pPr marL="285750" indent="-285750">
              <a:buFont typeface="Arial" panose="020B0604020202020204" pitchFamily="34" charset="0"/>
              <a:buChar char="•"/>
            </a:pPr>
            <a:r>
              <a:rPr lang="en-IN" b="1" dirty="0"/>
              <a:t>Databases:</a:t>
            </a:r>
            <a:r>
              <a:rPr lang="en-IN" dirty="0"/>
              <a:t> MySQL, Oracle, </a:t>
            </a:r>
            <a:r>
              <a:rPr lang="en-IN" dirty="0" err="1"/>
              <a:t>PostgreSQL</a:t>
            </a:r>
            <a:r>
              <a:rPr lang="en-IN" dirty="0"/>
              <a:t> use </a:t>
            </a:r>
            <a:r>
              <a:rPr lang="en-IN" b="1" dirty="0"/>
              <a:t>B+ Trees</a:t>
            </a:r>
            <a:r>
              <a:rPr lang="en-IN" dirty="0"/>
              <a:t> for indexing.</a:t>
            </a:r>
          </a:p>
          <a:p>
            <a:pPr marL="285750" indent="-285750">
              <a:buFont typeface="Arial" panose="020B0604020202020204" pitchFamily="34" charset="0"/>
              <a:buChar char="•"/>
            </a:pPr>
            <a:r>
              <a:rPr lang="en-IN" b="1" dirty="0"/>
              <a:t>File Systems:</a:t>
            </a:r>
            <a:r>
              <a:rPr lang="en-IN" dirty="0"/>
              <a:t> NTFS, HFS+, and ext4 rely on B‑Tree variants for directory and metadata management.</a:t>
            </a:r>
          </a:p>
          <a:p>
            <a:pPr marL="285750" indent="-285750">
              <a:buFont typeface="Arial" panose="020B0604020202020204" pitchFamily="34" charset="0"/>
              <a:buChar char="•"/>
            </a:pPr>
            <a:r>
              <a:rPr lang="en-IN" b="1" dirty="0"/>
              <a:t>Search Engines:</a:t>
            </a:r>
            <a:r>
              <a:rPr lang="en-IN" dirty="0"/>
              <a:t> Efficient indexing of large datasets.</a:t>
            </a:r>
          </a:p>
          <a:p>
            <a:pPr marL="285750" indent="-285750">
              <a:buFont typeface="Arial" panose="020B0604020202020204" pitchFamily="34" charset="0"/>
              <a:buChar char="•"/>
            </a:pPr>
            <a:r>
              <a:rPr lang="en-IN" b="1" dirty="0"/>
              <a:t>Operating Systems:</a:t>
            </a:r>
            <a:r>
              <a:rPr lang="en-IN" dirty="0"/>
              <a:t> Used in virtual memory and storage subsystems.</a:t>
            </a:r>
          </a:p>
          <a:p>
            <a:endParaRPr lang="en-US" dirty="0" smtClean="0"/>
          </a:p>
          <a:p>
            <a:r>
              <a:rPr lang="en-US" b="1" dirty="0"/>
              <a:t>Advantages</a:t>
            </a:r>
          </a:p>
          <a:p>
            <a:pPr marL="285750" indent="-285750">
              <a:buFont typeface="Arial" panose="020B0604020202020204" pitchFamily="34" charset="0"/>
              <a:buChar char="•"/>
            </a:pPr>
            <a:r>
              <a:rPr lang="en-US" b="1" dirty="0"/>
              <a:t>Balanced height:</a:t>
            </a:r>
            <a:r>
              <a:rPr lang="en-US" dirty="0"/>
              <a:t> Ensures predictable performance.</a:t>
            </a:r>
          </a:p>
          <a:p>
            <a:pPr marL="285750" indent="-285750">
              <a:buFont typeface="Arial" panose="020B0604020202020204" pitchFamily="34" charset="0"/>
              <a:buChar char="•"/>
            </a:pPr>
            <a:r>
              <a:rPr lang="en-US" b="1" dirty="0"/>
              <a:t>Disk optimization:</a:t>
            </a:r>
            <a:r>
              <a:rPr lang="en-US" dirty="0"/>
              <a:t> Reduces number of disk reads/writes.</a:t>
            </a:r>
          </a:p>
          <a:p>
            <a:pPr marL="285750" indent="-285750">
              <a:buFont typeface="Arial" panose="020B0604020202020204" pitchFamily="34" charset="0"/>
              <a:buChar char="•"/>
            </a:pPr>
            <a:r>
              <a:rPr lang="en-US" b="1" dirty="0"/>
              <a:t>Scalability:</a:t>
            </a:r>
            <a:r>
              <a:rPr lang="en-US" dirty="0"/>
              <a:t> Handles millions of records efficiently.</a:t>
            </a:r>
          </a:p>
          <a:p>
            <a:pPr marL="285750" indent="-285750">
              <a:buFont typeface="Arial" panose="020B0604020202020204" pitchFamily="34" charset="0"/>
              <a:buChar char="•"/>
            </a:pPr>
            <a:r>
              <a:rPr lang="en-US" b="1" dirty="0"/>
              <a:t>Sequential access:</a:t>
            </a:r>
            <a:r>
              <a:rPr lang="en-US" dirty="0"/>
              <a:t> B+ Trees allow fast range queries.</a:t>
            </a:r>
          </a:p>
          <a:p>
            <a:endParaRPr lang="en-US" dirty="0"/>
          </a:p>
          <a:p>
            <a:r>
              <a:rPr lang="en-US" b="1" dirty="0"/>
              <a:t>Limitations</a:t>
            </a:r>
          </a:p>
          <a:p>
            <a:pPr marL="285750" indent="-285750">
              <a:buFont typeface="Arial" panose="020B0604020202020204" pitchFamily="34" charset="0"/>
              <a:buChar char="•"/>
            </a:pPr>
            <a:r>
              <a:rPr lang="en-US" b="1" dirty="0"/>
              <a:t>Complex implementation:</a:t>
            </a:r>
            <a:r>
              <a:rPr lang="en-US" dirty="0"/>
              <a:t> More difficult than binary or AVL trees.</a:t>
            </a:r>
          </a:p>
          <a:p>
            <a:pPr marL="285750" indent="-285750">
              <a:buFont typeface="Arial" panose="020B0604020202020204" pitchFamily="34" charset="0"/>
              <a:buChar char="•"/>
            </a:pPr>
            <a:r>
              <a:rPr lang="en-US" b="1" dirty="0"/>
              <a:t>Memory overhead:</a:t>
            </a:r>
            <a:r>
              <a:rPr lang="en-US" dirty="0"/>
              <a:t> Internal nodes may store many pointers.</a:t>
            </a:r>
          </a:p>
          <a:p>
            <a:pPr marL="285750" indent="-285750">
              <a:buFont typeface="Arial" panose="020B0604020202020204" pitchFamily="34" charset="0"/>
              <a:buChar char="•"/>
            </a:pPr>
            <a:r>
              <a:rPr lang="en-US" b="1" dirty="0"/>
              <a:t>Not ideal for small datasets:</a:t>
            </a:r>
            <a:r>
              <a:rPr lang="en-US" dirty="0"/>
              <a:t> Overhead outweighs benefits when data fits in memory.</a:t>
            </a:r>
          </a:p>
          <a:p>
            <a:endParaRPr lang="en-US" dirty="0"/>
          </a:p>
          <a:p>
            <a:endParaRPr lang="en-US" b="1" dirty="0" smtClean="0"/>
          </a:p>
        </p:txBody>
      </p:sp>
    </p:spTree>
    <p:extLst>
      <p:ext uri="{BB962C8B-B14F-4D97-AF65-F5344CB8AC3E}">
        <p14:creationId xmlns:p14="http://schemas.microsoft.com/office/powerpoint/2010/main" val="401439779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5909310"/>
          </a:xfrm>
          <a:prstGeom prst="rect">
            <a:avLst/>
          </a:prstGeom>
        </p:spPr>
        <p:txBody>
          <a:bodyPr wrap="square">
            <a:spAutoFit/>
          </a:bodyPr>
          <a:lstStyle/>
          <a:p>
            <a:r>
              <a:rPr lang="en-US" b="1" dirty="0">
                <a:solidFill>
                  <a:srgbClr val="FF0000"/>
                </a:solidFill>
              </a:rPr>
              <a:t>B-Tree </a:t>
            </a:r>
            <a:r>
              <a:rPr lang="en-US" b="1" dirty="0" smtClean="0">
                <a:solidFill>
                  <a:srgbClr val="FF0000"/>
                </a:solidFill>
              </a:rPr>
              <a:t>Family</a:t>
            </a:r>
          </a:p>
          <a:p>
            <a:endParaRPr lang="en-US" b="1" dirty="0">
              <a:solidFill>
                <a:srgbClr val="FF0000"/>
              </a:solidFill>
            </a:endParaRPr>
          </a:p>
          <a:p>
            <a:r>
              <a:rPr lang="en-US" b="1" dirty="0"/>
              <a:t>B‑Tree</a:t>
            </a:r>
          </a:p>
          <a:p>
            <a:pPr marL="285750" indent="-285750">
              <a:buFont typeface="Arial" panose="020B0604020202020204" pitchFamily="34" charset="0"/>
              <a:buChar char="•"/>
            </a:pPr>
            <a:r>
              <a:rPr lang="en-US" b="1" dirty="0"/>
              <a:t>Structure:</a:t>
            </a:r>
            <a:r>
              <a:rPr lang="en-US" dirty="0"/>
              <a:t> Each node can hold multiple keys and have multiple children (up to order </a:t>
            </a:r>
            <a:r>
              <a:rPr lang="en-US" i="1" dirty="0"/>
              <a:t>m</a:t>
            </a:r>
            <a:r>
              <a:rPr lang="en-US" dirty="0"/>
              <a:t>).</a:t>
            </a:r>
          </a:p>
          <a:p>
            <a:pPr marL="285750" indent="-285750">
              <a:buFont typeface="Arial" panose="020B0604020202020204" pitchFamily="34" charset="0"/>
              <a:buChar char="•"/>
            </a:pPr>
            <a:r>
              <a:rPr lang="en-US" b="1" dirty="0"/>
              <a:t>Property:</a:t>
            </a:r>
            <a:r>
              <a:rPr lang="en-US" dirty="0"/>
              <a:t> Keys in each node are sorted; children pointers divide ranges of keys.</a:t>
            </a:r>
          </a:p>
          <a:p>
            <a:pPr marL="285750" indent="-285750">
              <a:buFont typeface="Arial" panose="020B0604020202020204" pitchFamily="34" charset="0"/>
              <a:buChar char="•"/>
            </a:pPr>
            <a:r>
              <a:rPr lang="en-US" b="1" dirty="0"/>
              <a:t>Balance:</a:t>
            </a:r>
            <a:r>
              <a:rPr lang="en-US" dirty="0"/>
              <a:t> All leaves are at the same level.</a:t>
            </a:r>
          </a:p>
          <a:p>
            <a:pPr marL="285750" indent="-285750">
              <a:buFont typeface="Arial" panose="020B0604020202020204" pitchFamily="34" charset="0"/>
              <a:buChar char="•"/>
            </a:pPr>
            <a:r>
              <a:rPr lang="en-US" b="1" dirty="0"/>
              <a:t>Use Case:</a:t>
            </a:r>
            <a:r>
              <a:rPr lang="en-US" dirty="0"/>
              <a:t> General indexing in databases and file systems.</a:t>
            </a:r>
          </a:p>
          <a:p>
            <a:pPr marL="285750" indent="-285750">
              <a:buFont typeface="Arial" panose="020B0604020202020204" pitchFamily="34" charset="0"/>
              <a:buChar char="•"/>
            </a:pPr>
            <a:r>
              <a:rPr lang="en-US" b="1" dirty="0"/>
              <a:t>Operations:</a:t>
            </a:r>
            <a:r>
              <a:rPr lang="en-US" dirty="0"/>
              <a:t> Search, insert, delete all run in </a:t>
            </a:r>
            <a:r>
              <a:rPr lang="en-US" b="1" dirty="0"/>
              <a:t>O(log n)</a:t>
            </a:r>
            <a:r>
              <a:rPr lang="en-US" dirty="0"/>
              <a:t>.</a:t>
            </a:r>
          </a:p>
          <a:p>
            <a:endParaRPr lang="en-US" dirty="0"/>
          </a:p>
          <a:p>
            <a:r>
              <a:rPr lang="en-US" b="1" dirty="0"/>
              <a:t>B+ Tree</a:t>
            </a:r>
          </a:p>
          <a:p>
            <a:pPr marL="285750" indent="-285750">
              <a:buFont typeface="Arial" panose="020B0604020202020204" pitchFamily="34" charset="0"/>
              <a:buChar char="•"/>
            </a:pPr>
            <a:r>
              <a:rPr lang="en-US" b="1" dirty="0"/>
              <a:t>Structure:</a:t>
            </a:r>
            <a:r>
              <a:rPr lang="en-US" dirty="0"/>
              <a:t> Internal nodes store only keys (for navigation), while </a:t>
            </a:r>
            <a:r>
              <a:rPr lang="en-US" b="1" dirty="0"/>
              <a:t>all actual data is stored in leaf nodes</a:t>
            </a:r>
            <a:r>
              <a:rPr lang="en-US" dirty="0"/>
              <a:t>.</a:t>
            </a:r>
          </a:p>
          <a:p>
            <a:pPr marL="285750" indent="-285750">
              <a:buFont typeface="Arial" panose="020B0604020202020204" pitchFamily="34" charset="0"/>
              <a:buChar char="•"/>
            </a:pPr>
            <a:r>
              <a:rPr lang="en-US" b="1" dirty="0"/>
              <a:t>Property:</a:t>
            </a:r>
            <a:r>
              <a:rPr lang="en-US" dirty="0"/>
              <a:t> Leaf nodes are linked together, enabling fast sequential access.</a:t>
            </a:r>
          </a:p>
          <a:p>
            <a:pPr marL="285750" indent="-285750">
              <a:buFont typeface="Arial" panose="020B0604020202020204" pitchFamily="34" charset="0"/>
              <a:buChar char="•"/>
            </a:pPr>
            <a:r>
              <a:rPr lang="en-US" b="1" dirty="0"/>
              <a:t>Advantage:</a:t>
            </a:r>
            <a:r>
              <a:rPr lang="en-US" dirty="0"/>
              <a:t> Excellent for range queries and ordered traversals.</a:t>
            </a:r>
          </a:p>
          <a:p>
            <a:pPr marL="285750" indent="-285750">
              <a:buFont typeface="Arial" panose="020B0604020202020204" pitchFamily="34" charset="0"/>
              <a:buChar char="•"/>
            </a:pPr>
            <a:r>
              <a:rPr lang="en-US" b="1" dirty="0"/>
              <a:t>Use Case:</a:t>
            </a:r>
            <a:r>
              <a:rPr lang="en-US" dirty="0"/>
              <a:t> Widely used in relational databases (MySQL, Oracle) and file systems (NTFS, ext4).</a:t>
            </a:r>
          </a:p>
          <a:p>
            <a:endParaRPr lang="en-US" b="1" dirty="0" smtClean="0"/>
          </a:p>
          <a:p>
            <a:r>
              <a:rPr lang="en-US" b="1" i="1" dirty="0"/>
              <a:t>B</a:t>
            </a:r>
            <a:r>
              <a:rPr lang="en-US" b="1" dirty="0"/>
              <a:t> Tree*</a:t>
            </a:r>
          </a:p>
          <a:p>
            <a:pPr marL="285750" indent="-285750">
              <a:buFont typeface="Arial" panose="020B0604020202020204" pitchFamily="34" charset="0"/>
              <a:buChar char="•"/>
            </a:pPr>
            <a:r>
              <a:rPr lang="en-US" b="1" dirty="0"/>
              <a:t>Structure:</a:t>
            </a:r>
            <a:r>
              <a:rPr lang="en-US" dirty="0"/>
              <a:t> A variant of B+ Tree.</a:t>
            </a:r>
          </a:p>
          <a:p>
            <a:pPr marL="285750" indent="-285750">
              <a:buFont typeface="Arial" panose="020B0604020202020204" pitchFamily="34" charset="0"/>
              <a:buChar char="•"/>
            </a:pPr>
            <a:r>
              <a:rPr lang="en-US" b="1" dirty="0"/>
              <a:t>Property:</a:t>
            </a:r>
            <a:r>
              <a:rPr lang="en-US" dirty="0"/>
              <a:t> Instead of splitting immediately when a node overflows, it redistributes keys with siblings first.</a:t>
            </a:r>
          </a:p>
          <a:p>
            <a:pPr marL="285750" indent="-285750">
              <a:buFont typeface="Arial" panose="020B0604020202020204" pitchFamily="34" charset="0"/>
              <a:buChar char="•"/>
            </a:pPr>
            <a:r>
              <a:rPr lang="en-US" b="1" dirty="0"/>
              <a:t>Advantage:</a:t>
            </a:r>
            <a:r>
              <a:rPr lang="en-US" dirty="0"/>
              <a:t> Better space utilization (about 2/3 full vs 1/2 full in B+ Trees).</a:t>
            </a:r>
          </a:p>
          <a:p>
            <a:pPr marL="285750" indent="-285750">
              <a:buFont typeface="Arial" panose="020B0604020202020204" pitchFamily="34" charset="0"/>
              <a:buChar char="•"/>
            </a:pPr>
            <a:r>
              <a:rPr lang="en-US" b="1" dirty="0"/>
              <a:t>Use Case:</a:t>
            </a:r>
            <a:r>
              <a:rPr lang="en-US" dirty="0"/>
              <a:t> Advanced database indexing where minimizing splits is critical.</a:t>
            </a:r>
          </a:p>
          <a:p>
            <a:endParaRPr lang="en-US" b="1" dirty="0" smtClean="0"/>
          </a:p>
        </p:txBody>
      </p:sp>
    </p:spTree>
    <p:extLst>
      <p:ext uri="{BB962C8B-B14F-4D97-AF65-F5344CB8AC3E}">
        <p14:creationId xmlns:p14="http://schemas.microsoft.com/office/powerpoint/2010/main" val="141329528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2031325"/>
          </a:xfrm>
          <a:prstGeom prst="rect">
            <a:avLst/>
          </a:prstGeom>
        </p:spPr>
        <p:txBody>
          <a:bodyPr wrap="square">
            <a:spAutoFit/>
          </a:bodyPr>
          <a:lstStyle/>
          <a:p>
            <a:r>
              <a:rPr lang="en-US" b="1" dirty="0">
                <a:solidFill>
                  <a:srgbClr val="FF0000"/>
                </a:solidFill>
              </a:rPr>
              <a:t>B-Tree </a:t>
            </a:r>
            <a:r>
              <a:rPr lang="en-US" b="1" dirty="0" smtClean="0">
                <a:solidFill>
                  <a:srgbClr val="FF0000"/>
                </a:solidFill>
              </a:rPr>
              <a:t>Family</a:t>
            </a:r>
          </a:p>
          <a:p>
            <a:endParaRPr lang="en-US" b="1" dirty="0">
              <a:solidFill>
                <a:srgbClr val="FF0000"/>
              </a:solidFill>
            </a:endParaRPr>
          </a:p>
          <a:p>
            <a:r>
              <a:rPr lang="en-US" b="1" dirty="0"/>
              <a:t>B‑Link Tree</a:t>
            </a:r>
          </a:p>
          <a:p>
            <a:pPr marL="285750" indent="-285750">
              <a:buFont typeface="Arial" panose="020B0604020202020204" pitchFamily="34" charset="0"/>
              <a:buChar char="•"/>
            </a:pPr>
            <a:r>
              <a:rPr lang="en-US" b="1" dirty="0"/>
              <a:t>Structure:</a:t>
            </a:r>
            <a:r>
              <a:rPr lang="en-US" dirty="0"/>
              <a:t> Extension of B+ Tree with </a:t>
            </a:r>
            <a:r>
              <a:rPr lang="en-US" b="1" dirty="0"/>
              <a:t>extra sibling pointers</a:t>
            </a:r>
            <a:r>
              <a:rPr lang="en-US" dirty="0"/>
              <a:t> at each level.</a:t>
            </a:r>
          </a:p>
          <a:p>
            <a:pPr marL="285750" indent="-285750">
              <a:buFont typeface="Arial" panose="020B0604020202020204" pitchFamily="34" charset="0"/>
              <a:buChar char="•"/>
            </a:pPr>
            <a:r>
              <a:rPr lang="en-US" b="1" dirty="0"/>
              <a:t>Property:</a:t>
            </a:r>
            <a:r>
              <a:rPr lang="en-US" dirty="0"/>
              <a:t> Allows concurrent operations (insert, delete, search) without locking the entire tree.</a:t>
            </a:r>
          </a:p>
          <a:p>
            <a:pPr marL="285750" indent="-285750">
              <a:buFont typeface="Arial" panose="020B0604020202020204" pitchFamily="34" charset="0"/>
              <a:buChar char="•"/>
            </a:pPr>
            <a:r>
              <a:rPr lang="en-US" b="1" dirty="0"/>
              <a:t>Advantage:</a:t>
            </a:r>
            <a:r>
              <a:rPr lang="en-US" dirty="0"/>
              <a:t> High concurrency and parallelism — multiple threads can safely access/update.</a:t>
            </a:r>
          </a:p>
          <a:p>
            <a:pPr marL="285750" indent="-285750">
              <a:buFont typeface="Arial" panose="020B0604020202020204" pitchFamily="34" charset="0"/>
              <a:buChar char="•"/>
            </a:pPr>
            <a:r>
              <a:rPr lang="en-US" b="1" dirty="0"/>
              <a:t>Use Case:</a:t>
            </a:r>
            <a:r>
              <a:rPr lang="en-US" dirty="0"/>
              <a:t> High‑performance transactional systems, modern databases needing parallel access.</a:t>
            </a:r>
          </a:p>
        </p:txBody>
      </p:sp>
      <p:graphicFrame>
        <p:nvGraphicFramePr>
          <p:cNvPr id="2" name="Table 1"/>
          <p:cNvGraphicFramePr>
            <a:graphicFrameLocks noGrp="1"/>
          </p:cNvGraphicFramePr>
          <p:nvPr>
            <p:extLst>
              <p:ext uri="{D42A27DB-BD31-4B8C-83A1-F6EECF244321}">
                <p14:modId xmlns:p14="http://schemas.microsoft.com/office/powerpoint/2010/main" val="1111754142"/>
              </p:ext>
            </p:extLst>
          </p:nvPr>
        </p:nvGraphicFramePr>
        <p:xfrm>
          <a:off x="181495" y="2895702"/>
          <a:ext cx="10515600" cy="2926080"/>
        </p:xfrm>
        <a:graphic>
          <a:graphicData uri="http://schemas.openxmlformats.org/drawingml/2006/table">
            <a:tbl>
              <a:tblPr/>
              <a:tblGrid>
                <a:gridCol w="2628900"/>
                <a:gridCol w="2628900"/>
                <a:gridCol w="2628900"/>
                <a:gridCol w="2628900"/>
              </a:tblGrid>
              <a:tr h="0">
                <a:tc>
                  <a:txBody>
                    <a:bodyPr/>
                    <a:lstStyle/>
                    <a:p>
                      <a:pPr algn="ctr"/>
                      <a:r>
                        <a:rPr lang="en-IN" b="1" dirty="0"/>
                        <a:t>Tree Type</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IN" b="1" dirty="0"/>
                        <a:t>Data Storage</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IN" b="1" dirty="0"/>
                        <a:t>Special Feature</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IN" b="1" dirty="0"/>
                        <a:t>Best Use Case</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r>
              <a:tr h="0">
                <a:tc>
                  <a:txBody>
                    <a:bodyPr/>
                    <a:lstStyle/>
                    <a:p>
                      <a:r>
                        <a:rPr lang="en-IN" b="1" dirty="0"/>
                        <a:t>B‑Tree</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Keys + data in all nodes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Balanced, multi‑way search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General indexing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0">
                <a:tc>
                  <a:txBody>
                    <a:bodyPr/>
                    <a:lstStyle/>
                    <a:p>
                      <a:r>
                        <a:rPr lang="en-IN" b="1"/>
                        <a:t>B+ Tree</a:t>
                      </a:r>
                      <a:endParaRPr lang="en-I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Data only in leaves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Linked leaves for fast range queries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Databases, file systems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0">
                <a:tc>
                  <a:txBody>
                    <a:bodyPr/>
                    <a:lstStyle/>
                    <a:p>
                      <a:r>
                        <a:rPr lang="en-IN" b="1" i="1" dirty="0"/>
                        <a:t>B</a:t>
                      </a:r>
                      <a:r>
                        <a:rPr lang="en-IN" b="1" dirty="0"/>
                        <a:t> Tree*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Data in leaves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Redistributes before splitting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Efficient space utilization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0">
                <a:tc>
                  <a:txBody>
                    <a:bodyPr/>
                    <a:lstStyle/>
                    <a:p>
                      <a:r>
                        <a:rPr lang="en-IN" b="1"/>
                        <a:t>B‑Link Tree</a:t>
                      </a:r>
                      <a:endParaRPr lang="en-I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Data in leaves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Sibling pointers for concurrency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Parallel database systems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90298061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2123658"/>
          </a:xfrm>
          <a:prstGeom prst="rect">
            <a:avLst/>
          </a:prstGeom>
        </p:spPr>
        <p:txBody>
          <a:bodyPr wrap="square">
            <a:spAutoFit/>
          </a:bodyPr>
          <a:lstStyle/>
          <a:p>
            <a:r>
              <a:rPr lang="en-US" b="1" dirty="0" smtClean="0">
                <a:solidFill>
                  <a:srgbClr val="FF0000"/>
                </a:solidFill>
              </a:rPr>
              <a:t>B-Tree</a:t>
            </a:r>
          </a:p>
          <a:p>
            <a:endParaRPr lang="en-US" b="1" dirty="0" smtClean="0">
              <a:solidFill>
                <a:srgbClr val="FF0000"/>
              </a:solidFill>
            </a:endParaRPr>
          </a:p>
          <a:p>
            <a:pPr marL="285750" indent="-285750">
              <a:buFont typeface="Arial" panose="020B0604020202020204" pitchFamily="34" charset="0"/>
              <a:buChar char="•"/>
            </a:pPr>
            <a:r>
              <a:rPr lang="en-US" sz="1600" dirty="0"/>
              <a:t>A B‑Tree is a self‑balancing multi‑way search tree.</a:t>
            </a:r>
          </a:p>
          <a:p>
            <a:pPr marL="285750" indent="-285750">
              <a:buFont typeface="Arial" panose="020B0604020202020204" pitchFamily="34" charset="0"/>
              <a:buChar char="•"/>
            </a:pPr>
            <a:r>
              <a:rPr lang="en-US" sz="1600" dirty="0" smtClean="0"/>
              <a:t>Unlike </a:t>
            </a:r>
            <a:r>
              <a:rPr lang="en-US" sz="1600" dirty="0"/>
              <a:t>a binary search tree (only 2 children per node), a B‑Tree node can have many keys and children.</a:t>
            </a:r>
          </a:p>
          <a:p>
            <a:pPr marL="285750" indent="-285750">
              <a:buFont typeface="Arial" panose="020B0604020202020204" pitchFamily="34" charset="0"/>
              <a:buChar char="•"/>
            </a:pPr>
            <a:r>
              <a:rPr lang="en-US" sz="1600" dirty="0" smtClean="0"/>
              <a:t>It’s </a:t>
            </a:r>
            <a:r>
              <a:rPr lang="en-US" sz="1600" dirty="0"/>
              <a:t>designed for disk storage and databases, where minimizing disk reads is critical.</a:t>
            </a:r>
          </a:p>
          <a:p>
            <a:pPr marL="285750" indent="-285750">
              <a:buFont typeface="Arial" panose="020B0604020202020204" pitchFamily="34" charset="0"/>
              <a:buChar char="•"/>
            </a:pPr>
            <a:r>
              <a:rPr lang="en-US" sz="1600" dirty="0" smtClean="0"/>
              <a:t>All </a:t>
            </a:r>
            <a:r>
              <a:rPr lang="en-US" sz="1600" dirty="0"/>
              <a:t>leaf nodes are at the same level, keeping the tree balanced</a:t>
            </a:r>
            <a:r>
              <a:rPr lang="en-US" sz="1600" dirty="0" smtClean="0"/>
              <a:t>.</a:t>
            </a:r>
          </a:p>
          <a:p>
            <a:endParaRPr lang="en-US" sz="1600" dirty="0"/>
          </a:p>
          <a:p>
            <a:endParaRPr lang="en-US" sz="1600" dirty="0" smtClean="0"/>
          </a:p>
        </p:txBody>
      </p:sp>
    </p:spTree>
    <p:extLst>
      <p:ext uri="{BB962C8B-B14F-4D97-AF65-F5344CB8AC3E}">
        <p14:creationId xmlns:p14="http://schemas.microsoft.com/office/powerpoint/2010/main" val="192012806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4585871"/>
          </a:xfrm>
          <a:prstGeom prst="rect">
            <a:avLst/>
          </a:prstGeom>
        </p:spPr>
        <p:txBody>
          <a:bodyPr wrap="square">
            <a:spAutoFit/>
          </a:bodyPr>
          <a:lstStyle/>
          <a:p>
            <a:r>
              <a:rPr lang="en-US" b="1" dirty="0" smtClean="0">
                <a:solidFill>
                  <a:srgbClr val="FF0000"/>
                </a:solidFill>
              </a:rPr>
              <a:t>B-Tree</a:t>
            </a:r>
          </a:p>
          <a:p>
            <a:endParaRPr lang="en-US" b="1" dirty="0" smtClean="0">
              <a:solidFill>
                <a:srgbClr val="FF0000"/>
              </a:solidFill>
            </a:endParaRPr>
          </a:p>
          <a:p>
            <a:r>
              <a:rPr lang="en-US" sz="1600" b="1" dirty="0"/>
              <a:t>Keys and </a:t>
            </a:r>
            <a:r>
              <a:rPr lang="en-US" sz="1600" b="1" dirty="0" smtClean="0"/>
              <a:t>Data</a:t>
            </a:r>
          </a:p>
          <a:p>
            <a:endParaRPr lang="en-US" sz="1600" dirty="0"/>
          </a:p>
          <a:p>
            <a:r>
              <a:rPr lang="en-US" sz="1600" b="1" dirty="0"/>
              <a:t>Keys:</a:t>
            </a:r>
          </a:p>
          <a:p>
            <a:endParaRPr lang="en-US" sz="1600" dirty="0"/>
          </a:p>
          <a:p>
            <a:pPr marL="285750" indent="-285750">
              <a:buFont typeface="Arial" panose="020B0604020202020204" pitchFamily="34" charset="0"/>
              <a:buChar char="•"/>
            </a:pPr>
            <a:r>
              <a:rPr lang="en-US" sz="1600" dirty="0"/>
              <a:t>Act as separators inside nodes.</a:t>
            </a:r>
          </a:p>
          <a:p>
            <a:pPr marL="285750" indent="-285750">
              <a:buFont typeface="Arial" panose="020B0604020202020204" pitchFamily="34" charset="0"/>
              <a:buChar char="•"/>
            </a:pPr>
            <a:r>
              <a:rPr lang="en-US" sz="1600" dirty="0" smtClean="0"/>
              <a:t>Guide </a:t>
            </a:r>
            <a:r>
              <a:rPr lang="en-US" sz="1600" dirty="0"/>
              <a:t>the search process by dividing ranges.</a:t>
            </a:r>
          </a:p>
          <a:p>
            <a:pPr marL="285750" indent="-285750">
              <a:buFont typeface="Arial" panose="020B0604020202020204" pitchFamily="34" charset="0"/>
              <a:buChar char="•"/>
            </a:pPr>
            <a:r>
              <a:rPr lang="en-US" sz="1600" dirty="0" smtClean="0"/>
              <a:t>Example</a:t>
            </a:r>
            <a:r>
              <a:rPr lang="en-US" sz="1600" dirty="0"/>
              <a:t>: Node [10 | 20] means:</a:t>
            </a:r>
          </a:p>
          <a:p>
            <a:pPr marL="742950" lvl="1" indent="-285750">
              <a:buFont typeface="Arial" panose="020B0604020202020204" pitchFamily="34" charset="0"/>
              <a:buChar char="•"/>
            </a:pPr>
            <a:r>
              <a:rPr lang="en-US" sz="1600" dirty="0" smtClean="0"/>
              <a:t>Values </a:t>
            </a:r>
            <a:r>
              <a:rPr lang="en-US" sz="1600" dirty="0"/>
              <a:t>&lt;10 go left.</a:t>
            </a:r>
          </a:p>
          <a:p>
            <a:pPr marL="742950" lvl="1" indent="-285750">
              <a:buFont typeface="Arial" panose="020B0604020202020204" pitchFamily="34" charset="0"/>
              <a:buChar char="•"/>
            </a:pPr>
            <a:r>
              <a:rPr lang="en-US" sz="1600" dirty="0" smtClean="0"/>
              <a:t>Values </a:t>
            </a:r>
            <a:r>
              <a:rPr lang="en-US" sz="1600" dirty="0"/>
              <a:t>between 10–20 go middle.</a:t>
            </a:r>
          </a:p>
          <a:p>
            <a:pPr marL="742950" lvl="1" indent="-285750">
              <a:buFont typeface="Arial" panose="020B0604020202020204" pitchFamily="34" charset="0"/>
              <a:buChar char="•"/>
            </a:pPr>
            <a:r>
              <a:rPr lang="en-US" sz="1600" dirty="0" smtClean="0"/>
              <a:t>Values </a:t>
            </a:r>
            <a:r>
              <a:rPr lang="en-US" sz="1600" dirty="0"/>
              <a:t>&gt;20 go right.</a:t>
            </a:r>
          </a:p>
          <a:p>
            <a:endParaRPr lang="en-US" sz="1600" dirty="0"/>
          </a:p>
          <a:p>
            <a:r>
              <a:rPr lang="en-US" sz="1600" b="1" dirty="0"/>
              <a:t>Data (Records):</a:t>
            </a:r>
          </a:p>
          <a:p>
            <a:endParaRPr lang="en-US" sz="1600" dirty="0"/>
          </a:p>
          <a:p>
            <a:pPr marL="285750" indent="-285750">
              <a:buFont typeface="Arial" panose="020B0604020202020204" pitchFamily="34" charset="0"/>
              <a:buChar char="•"/>
            </a:pPr>
            <a:r>
              <a:rPr lang="en-US" sz="1600" dirty="0"/>
              <a:t>The actual information stored (like a file pointer, student record, or database row).</a:t>
            </a:r>
          </a:p>
          <a:p>
            <a:pPr marL="285750" indent="-285750">
              <a:buFont typeface="Arial" panose="020B0604020202020204" pitchFamily="34" charset="0"/>
              <a:buChar char="•"/>
            </a:pPr>
            <a:r>
              <a:rPr lang="en-US" sz="1600" dirty="0" smtClean="0"/>
              <a:t>In </a:t>
            </a:r>
            <a:r>
              <a:rPr lang="en-US" sz="1600" dirty="0"/>
              <a:t>a B‑Tree, both internal nodes and leaf nodes can store keys + data.</a:t>
            </a:r>
          </a:p>
          <a:p>
            <a:pPr marL="285750" indent="-285750">
              <a:buFont typeface="Arial" panose="020B0604020202020204" pitchFamily="34" charset="0"/>
              <a:buChar char="•"/>
            </a:pPr>
            <a:r>
              <a:rPr lang="en-US" sz="1600" dirty="0" smtClean="0"/>
              <a:t>This </a:t>
            </a:r>
            <a:r>
              <a:rPr lang="en-US" sz="1600" dirty="0"/>
              <a:t>is different from a B+ Tree, where only leaf nodes store data.</a:t>
            </a:r>
            <a:endParaRPr lang="en-US" sz="1600" dirty="0" smtClean="0"/>
          </a:p>
        </p:txBody>
      </p:sp>
    </p:spTree>
    <p:extLst>
      <p:ext uri="{BB962C8B-B14F-4D97-AF65-F5344CB8AC3E}">
        <p14:creationId xmlns:p14="http://schemas.microsoft.com/office/powerpoint/2010/main" val="25192256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2123658"/>
          </a:xfrm>
          <a:prstGeom prst="rect">
            <a:avLst/>
          </a:prstGeom>
        </p:spPr>
        <p:txBody>
          <a:bodyPr wrap="square">
            <a:spAutoFit/>
          </a:bodyPr>
          <a:lstStyle/>
          <a:p>
            <a:r>
              <a:rPr lang="en-US" b="1" dirty="0" smtClean="0">
                <a:solidFill>
                  <a:srgbClr val="FF0000"/>
                </a:solidFill>
              </a:rPr>
              <a:t>B-Tree</a:t>
            </a:r>
          </a:p>
          <a:p>
            <a:endParaRPr lang="en-US" b="1" dirty="0" smtClean="0">
              <a:solidFill>
                <a:srgbClr val="FF0000"/>
              </a:solidFill>
            </a:endParaRPr>
          </a:p>
          <a:p>
            <a:r>
              <a:rPr lang="en-US" sz="1600" b="1" dirty="0"/>
              <a:t>Keys and </a:t>
            </a:r>
            <a:r>
              <a:rPr lang="en-US" sz="1600" b="1" dirty="0" smtClean="0"/>
              <a:t>Data</a:t>
            </a:r>
          </a:p>
          <a:p>
            <a:endParaRPr lang="en-US" sz="1600" dirty="0"/>
          </a:p>
          <a:p>
            <a:r>
              <a:rPr lang="en-US" sz="1600" b="1" dirty="0"/>
              <a:t>Keys vs. Data</a:t>
            </a:r>
          </a:p>
          <a:p>
            <a:r>
              <a:rPr lang="en-US" sz="1600" b="1" dirty="0"/>
              <a:t>Keys</a:t>
            </a:r>
            <a:r>
              <a:rPr lang="en-US" sz="1600" dirty="0"/>
              <a:t> → identifiers used for searching and navigation (like student IDs, file names, or numbers).</a:t>
            </a:r>
          </a:p>
          <a:p>
            <a:r>
              <a:rPr lang="en-US" sz="1600" b="1" dirty="0"/>
              <a:t>Data</a:t>
            </a:r>
            <a:r>
              <a:rPr lang="en-US" sz="1600" dirty="0"/>
              <a:t> → the actual record or payload linked to each key (like student details, file pointers, or database rows).</a:t>
            </a:r>
          </a:p>
          <a:p>
            <a:r>
              <a:rPr lang="en-US" sz="1600" dirty="0"/>
              <a:t>In a </a:t>
            </a:r>
            <a:r>
              <a:rPr lang="en-US" sz="1600" b="1" dirty="0"/>
              <a:t>B‑Tree</a:t>
            </a:r>
            <a:r>
              <a:rPr lang="en-US" sz="1600" dirty="0"/>
              <a:t>, both </a:t>
            </a:r>
            <a:r>
              <a:rPr lang="en-US" sz="1600" b="1" dirty="0"/>
              <a:t>internal nodes and leaf nodes</a:t>
            </a:r>
            <a:r>
              <a:rPr lang="en-US" sz="1600" dirty="0"/>
              <a:t> store </a:t>
            </a:r>
            <a:r>
              <a:rPr lang="en-US" sz="1600" b="1" dirty="0"/>
              <a:t>keys + data</a:t>
            </a:r>
            <a:r>
              <a:rPr lang="en-US" sz="1600" dirty="0"/>
              <a:t>.</a:t>
            </a:r>
          </a:p>
        </p:txBody>
      </p:sp>
    </p:spTree>
    <p:extLst>
      <p:ext uri="{BB962C8B-B14F-4D97-AF65-F5344CB8AC3E}">
        <p14:creationId xmlns:p14="http://schemas.microsoft.com/office/powerpoint/2010/main" val="32127135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5324535"/>
          </a:xfrm>
          <a:prstGeom prst="rect">
            <a:avLst/>
          </a:prstGeom>
        </p:spPr>
        <p:txBody>
          <a:bodyPr wrap="square">
            <a:spAutoFit/>
          </a:bodyPr>
          <a:lstStyle/>
          <a:p>
            <a:r>
              <a:rPr lang="en-US" b="1" dirty="0" smtClean="0">
                <a:solidFill>
                  <a:srgbClr val="FF0000"/>
                </a:solidFill>
              </a:rPr>
              <a:t>B-Tree</a:t>
            </a:r>
          </a:p>
          <a:p>
            <a:endParaRPr lang="en-US" b="1" dirty="0" smtClean="0">
              <a:solidFill>
                <a:srgbClr val="FF0000"/>
              </a:solidFill>
            </a:endParaRPr>
          </a:p>
          <a:p>
            <a:r>
              <a:rPr lang="en-US" sz="1600" b="1" dirty="0"/>
              <a:t>Example: Student Records in a B‑Tree (Order 3</a:t>
            </a:r>
            <a:r>
              <a:rPr lang="en-US" sz="1600" b="1" dirty="0" smtClean="0"/>
              <a:t>)</a:t>
            </a:r>
          </a:p>
          <a:p>
            <a:endParaRPr lang="en-US" sz="1600" b="1" dirty="0"/>
          </a:p>
          <a:p>
            <a:r>
              <a:rPr lang="en-US" sz="1600" b="1" dirty="0"/>
              <a:t>Let’s say we want to store student records by their ID.</a:t>
            </a:r>
          </a:p>
          <a:p>
            <a:endParaRPr lang="en-US" sz="1600" b="1" dirty="0"/>
          </a:p>
          <a:p>
            <a:r>
              <a:rPr lang="en-US" sz="1600" b="1" dirty="0"/>
              <a:t>Insert IDs: 10, 20, 5, 6, </a:t>
            </a:r>
            <a:r>
              <a:rPr lang="en-US" sz="1600" b="1" dirty="0" smtClean="0"/>
              <a:t>12</a:t>
            </a:r>
          </a:p>
          <a:p>
            <a:endParaRPr lang="en-US" sz="1600" b="1" dirty="0"/>
          </a:p>
          <a:p>
            <a:r>
              <a:rPr lang="en-US" sz="1600" b="1" dirty="0"/>
              <a:t>Step‑by‑Step </a:t>
            </a:r>
            <a:r>
              <a:rPr lang="en-US" sz="1600" b="1" dirty="0" smtClean="0"/>
              <a:t>Tree</a:t>
            </a:r>
          </a:p>
          <a:p>
            <a:endParaRPr lang="en-US" sz="1600" b="1" dirty="0"/>
          </a:p>
          <a:p>
            <a:r>
              <a:rPr lang="en-US" sz="1600" b="1" dirty="0"/>
              <a:t>Insert </a:t>
            </a:r>
            <a:r>
              <a:rPr lang="en-US" sz="1600" b="1" dirty="0" smtClean="0"/>
              <a:t>10</a:t>
            </a:r>
          </a:p>
          <a:p>
            <a:endParaRPr lang="en-US" sz="1600" b="1" dirty="0"/>
          </a:p>
          <a:p>
            <a:endParaRPr lang="en-US" sz="1600" b="1" dirty="0" smtClean="0"/>
          </a:p>
          <a:p>
            <a:endParaRPr lang="en-US" sz="1600" b="1" dirty="0"/>
          </a:p>
          <a:p>
            <a:endParaRPr lang="en-US" sz="1600" b="1" dirty="0" smtClean="0"/>
          </a:p>
          <a:p>
            <a:r>
              <a:rPr lang="en-IN" sz="1600" b="1" dirty="0"/>
              <a:t>Insert </a:t>
            </a:r>
            <a:r>
              <a:rPr lang="en-IN" sz="1600" b="1" dirty="0" smtClean="0"/>
              <a:t>20</a:t>
            </a:r>
          </a:p>
          <a:p>
            <a:endParaRPr lang="en-IN" sz="1600" dirty="0"/>
          </a:p>
          <a:p>
            <a:endParaRPr lang="en-IN" sz="1600" dirty="0" smtClean="0"/>
          </a:p>
          <a:p>
            <a:endParaRPr lang="en-IN" sz="1600" dirty="0"/>
          </a:p>
          <a:p>
            <a:endParaRPr lang="en-IN" sz="1600" dirty="0" smtClean="0"/>
          </a:p>
          <a:p>
            <a:r>
              <a:rPr lang="en-IN" sz="1600" b="1" dirty="0"/>
              <a:t>Insert 5 → overflow → split</a:t>
            </a:r>
            <a:endParaRPr lang="en-US" sz="1600" b="1" dirty="0"/>
          </a:p>
        </p:txBody>
      </p:sp>
      <p:pic>
        <p:nvPicPr>
          <p:cNvPr id="2" name="Picture 1"/>
          <p:cNvPicPr>
            <a:picLocks noChangeAspect="1"/>
          </p:cNvPicPr>
          <p:nvPr/>
        </p:nvPicPr>
        <p:blipFill>
          <a:blip r:embed="rId3"/>
          <a:stretch>
            <a:fillRect/>
          </a:stretch>
        </p:blipFill>
        <p:spPr>
          <a:xfrm>
            <a:off x="59921" y="3457266"/>
            <a:ext cx="2495898" cy="371527"/>
          </a:xfrm>
          <a:prstGeom prst="rect">
            <a:avLst/>
          </a:prstGeom>
        </p:spPr>
      </p:pic>
      <p:pic>
        <p:nvPicPr>
          <p:cNvPr id="3" name="Picture 2"/>
          <p:cNvPicPr>
            <a:picLocks noChangeAspect="1"/>
          </p:cNvPicPr>
          <p:nvPr/>
        </p:nvPicPr>
        <p:blipFill>
          <a:blip r:embed="rId4"/>
          <a:stretch>
            <a:fillRect/>
          </a:stretch>
        </p:blipFill>
        <p:spPr>
          <a:xfrm>
            <a:off x="59921" y="4615530"/>
            <a:ext cx="4553585" cy="333422"/>
          </a:xfrm>
          <a:prstGeom prst="rect">
            <a:avLst/>
          </a:prstGeom>
        </p:spPr>
      </p:pic>
      <p:pic>
        <p:nvPicPr>
          <p:cNvPr id="7" name="Picture 6"/>
          <p:cNvPicPr>
            <a:picLocks noChangeAspect="1"/>
          </p:cNvPicPr>
          <p:nvPr/>
        </p:nvPicPr>
        <p:blipFill>
          <a:blip r:embed="rId5"/>
          <a:stretch>
            <a:fillRect/>
          </a:stretch>
        </p:blipFill>
        <p:spPr>
          <a:xfrm>
            <a:off x="59921" y="5806673"/>
            <a:ext cx="4744112" cy="762106"/>
          </a:xfrm>
          <a:prstGeom prst="rect">
            <a:avLst/>
          </a:prstGeom>
        </p:spPr>
      </p:pic>
      <p:sp>
        <p:nvSpPr>
          <p:cNvPr id="9" name="Rectangle 8"/>
          <p:cNvSpPr/>
          <p:nvPr/>
        </p:nvSpPr>
        <p:spPr>
          <a:xfrm>
            <a:off x="5179852" y="1226900"/>
            <a:ext cx="1832296" cy="338554"/>
          </a:xfrm>
          <a:prstGeom prst="rect">
            <a:avLst/>
          </a:prstGeom>
        </p:spPr>
        <p:txBody>
          <a:bodyPr wrap="none">
            <a:spAutoFit/>
          </a:bodyPr>
          <a:lstStyle/>
          <a:p>
            <a:r>
              <a:rPr lang="en-IN" sz="1600" b="1" dirty="0" smtClean="0"/>
              <a:t>Insert 6 → goes left</a:t>
            </a:r>
            <a:endParaRPr lang="en-IN" sz="1600" b="1" dirty="0"/>
          </a:p>
        </p:txBody>
      </p:sp>
      <p:pic>
        <p:nvPicPr>
          <p:cNvPr id="10" name="Picture 9"/>
          <p:cNvPicPr>
            <a:picLocks noChangeAspect="1"/>
          </p:cNvPicPr>
          <p:nvPr/>
        </p:nvPicPr>
        <p:blipFill>
          <a:blip r:embed="rId6"/>
          <a:stretch>
            <a:fillRect/>
          </a:stretch>
        </p:blipFill>
        <p:spPr>
          <a:xfrm>
            <a:off x="5245295" y="1714442"/>
            <a:ext cx="6716062" cy="676369"/>
          </a:xfrm>
          <a:prstGeom prst="rect">
            <a:avLst/>
          </a:prstGeom>
        </p:spPr>
      </p:pic>
      <p:sp>
        <p:nvSpPr>
          <p:cNvPr id="11" name="Rectangle 10"/>
          <p:cNvSpPr/>
          <p:nvPr/>
        </p:nvSpPr>
        <p:spPr>
          <a:xfrm>
            <a:off x="5179852" y="2601770"/>
            <a:ext cx="2277034" cy="369332"/>
          </a:xfrm>
          <a:prstGeom prst="rect">
            <a:avLst/>
          </a:prstGeom>
        </p:spPr>
        <p:txBody>
          <a:bodyPr wrap="none">
            <a:spAutoFit/>
          </a:bodyPr>
          <a:lstStyle/>
          <a:p>
            <a:r>
              <a:rPr lang="en-IN" b="1" dirty="0"/>
              <a:t>Insert 12 → goes right</a:t>
            </a:r>
          </a:p>
        </p:txBody>
      </p:sp>
      <p:pic>
        <p:nvPicPr>
          <p:cNvPr id="12" name="Picture 11"/>
          <p:cNvPicPr>
            <a:picLocks noChangeAspect="1"/>
          </p:cNvPicPr>
          <p:nvPr/>
        </p:nvPicPr>
        <p:blipFill>
          <a:blip r:embed="rId7"/>
          <a:stretch>
            <a:fillRect/>
          </a:stretch>
        </p:blipFill>
        <p:spPr>
          <a:xfrm>
            <a:off x="5245295" y="3083908"/>
            <a:ext cx="6840759" cy="973413"/>
          </a:xfrm>
          <a:prstGeom prst="rect">
            <a:avLst/>
          </a:prstGeom>
        </p:spPr>
      </p:pic>
    </p:spTree>
    <p:extLst>
      <p:ext uri="{BB962C8B-B14F-4D97-AF65-F5344CB8AC3E}">
        <p14:creationId xmlns:p14="http://schemas.microsoft.com/office/powerpoint/2010/main" val="161223599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2862322"/>
          </a:xfrm>
          <a:prstGeom prst="rect">
            <a:avLst/>
          </a:prstGeom>
        </p:spPr>
        <p:txBody>
          <a:bodyPr wrap="square">
            <a:spAutoFit/>
          </a:bodyPr>
          <a:lstStyle/>
          <a:p>
            <a:r>
              <a:rPr lang="en-US" b="1" dirty="0" smtClean="0">
                <a:solidFill>
                  <a:srgbClr val="FF0000"/>
                </a:solidFill>
              </a:rPr>
              <a:t>B-Tree</a:t>
            </a:r>
          </a:p>
          <a:p>
            <a:endParaRPr lang="en-US" b="1" dirty="0" smtClean="0">
              <a:solidFill>
                <a:srgbClr val="FF0000"/>
              </a:solidFill>
            </a:endParaRPr>
          </a:p>
          <a:p>
            <a:r>
              <a:rPr lang="en-US" b="1" dirty="0"/>
              <a:t>How Keys and Data Work </a:t>
            </a:r>
            <a:r>
              <a:rPr lang="en-US" b="1" dirty="0" smtClean="0"/>
              <a:t>Together</a:t>
            </a:r>
          </a:p>
          <a:p>
            <a:endParaRPr lang="en-US" b="1" dirty="0"/>
          </a:p>
          <a:p>
            <a:pPr marL="285750" indent="-285750">
              <a:buFont typeface="Arial" panose="020B0604020202020204" pitchFamily="34" charset="0"/>
              <a:buChar char="•"/>
            </a:pPr>
            <a:r>
              <a:rPr lang="en-US" b="1" dirty="0"/>
              <a:t>Keys</a:t>
            </a:r>
            <a:r>
              <a:rPr lang="en-US" dirty="0"/>
              <a:t> (5,6,10,12,20) are the </a:t>
            </a:r>
            <a:r>
              <a:rPr lang="en-US" b="1" dirty="0"/>
              <a:t>search labels</a:t>
            </a:r>
            <a:r>
              <a:rPr lang="en-US" dirty="0"/>
              <a:t>.</a:t>
            </a:r>
          </a:p>
          <a:p>
            <a:pPr marL="285750" indent="-285750">
              <a:buFont typeface="Arial" panose="020B0604020202020204" pitchFamily="34" charset="0"/>
              <a:buChar char="•"/>
            </a:pPr>
            <a:r>
              <a:rPr lang="en-US" b="1" dirty="0"/>
              <a:t>Data</a:t>
            </a:r>
            <a:r>
              <a:rPr lang="en-US" dirty="0"/>
              <a:t> (Student5, Student6, Student10, Student12, Student20) are the </a:t>
            </a:r>
            <a:r>
              <a:rPr lang="en-US" b="1" dirty="0"/>
              <a:t>actual records</a:t>
            </a:r>
            <a:r>
              <a:rPr lang="en-US" dirty="0"/>
              <a:t>.</a:t>
            </a:r>
          </a:p>
          <a:p>
            <a:pPr marL="285750" indent="-285750">
              <a:buFont typeface="Arial" panose="020B0604020202020204" pitchFamily="34" charset="0"/>
              <a:buChar char="•"/>
            </a:pPr>
            <a:r>
              <a:rPr lang="en-US" dirty="0"/>
              <a:t>Searching for ID=12:</a:t>
            </a:r>
          </a:p>
          <a:p>
            <a:pPr marL="742950" lvl="1" indent="-285750">
              <a:buFont typeface="Arial" panose="020B0604020202020204" pitchFamily="34" charset="0"/>
              <a:buChar char="•"/>
            </a:pPr>
            <a:r>
              <a:rPr lang="en-US" dirty="0"/>
              <a:t>Compare with root key 10 → go right.</a:t>
            </a:r>
          </a:p>
          <a:p>
            <a:pPr marL="742950" lvl="1" indent="-285750">
              <a:buFont typeface="Arial" panose="020B0604020202020204" pitchFamily="34" charset="0"/>
              <a:buChar char="•"/>
            </a:pPr>
            <a:r>
              <a:rPr lang="en-US" dirty="0"/>
              <a:t>Find key 12 in right child → return Data:"Student12".</a:t>
            </a:r>
          </a:p>
          <a:p>
            <a:endParaRPr lang="en-US" b="1" dirty="0" smtClean="0">
              <a:solidFill>
                <a:srgbClr val="FF0000"/>
              </a:solidFill>
            </a:endParaRPr>
          </a:p>
        </p:txBody>
      </p:sp>
    </p:spTree>
    <p:extLst>
      <p:ext uri="{BB962C8B-B14F-4D97-AF65-F5344CB8AC3E}">
        <p14:creationId xmlns:p14="http://schemas.microsoft.com/office/powerpoint/2010/main" val="103125136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5078313"/>
          </a:xfrm>
          <a:prstGeom prst="rect">
            <a:avLst/>
          </a:prstGeom>
        </p:spPr>
        <p:txBody>
          <a:bodyPr wrap="square">
            <a:spAutoFit/>
          </a:bodyPr>
          <a:lstStyle/>
          <a:p>
            <a:r>
              <a:rPr lang="en-US" b="1" dirty="0" smtClean="0">
                <a:solidFill>
                  <a:srgbClr val="FF0000"/>
                </a:solidFill>
              </a:rPr>
              <a:t>B-Tree</a:t>
            </a: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p:txBody>
      </p:sp>
      <p:pic>
        <p:nvPicPr>
          <p:cNvPr id="7" name="Picture 6"/>
          <p:cNvPicPr>
            <a:picLocks noChangeAspect="1"/>
          </p:cNvPicPr>
          <p:nvPr/>
        </p:nvPicPr>
        <p:blipFill>
          <a:blip r:embed="rId3"/>
          <a:stretch>
            <a:fillRect/>
          </a:stretch>
        </p:blipFill>
        <p:spPr>
          <a:xfrm>
            <a:off x="151807" y="945621"/>
            <a:ext cx="4772691" cy="5715798"/>
          </a:xfrm>
          <a:prstGeom prst="rect">
            <a:avLst/>
          </a:prstGeom>
        </p:spPr>
      </p:pic>
      <p:pic>
        <p:nvPicPr>
          <p:cNvPr id="8" name="Picture 7"/>
          <p:cNvPicPr>
            <a:picLocks noChangeAspect="1"/>
          </p:cNvPicPr>
          <p:nvPr/>
        </p:nvPicPr>
        <p:blipFill>
          <a:blip r:embed="rId4"/>
          <a:stretch>
            <a:fillRect/>
          </a:stretch>
        </p:blipFill>
        <p:spPr>
          <a:xfrm>
            <a:off x="5231795" y="945621"/>
            <a:ext cx="4743477" cy="5638059"/>
          </a:xfrm>
          <a:prstGeom prst="rect">
            <a:avLst/>
          </a:prstGeom>
        </p:spPr>
      </p:pic>
    </p:spTree>
    <p:extLst>
      <p:ext uri="{BB962C8B-B14F-4D97-AF65-F5344CB8AC3E}">
        <p14:creationId xmlns:p14="http://schemas.microsoft.com/office/powerpoint/2010/main" val="18376945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5078313"/>
          </a:xfrm>
          <a:prstGeom prst="rect">
            <a:avLst/>
          </a:prstGeom>
        </p:spPr>
        <p:txBody>
          <a:bodyPr wrap="square">
            <a:spAutoFit/>
          </a:bodyPr>
          <a:lstStyle/>
          <a:p>
            <a:r>
              <a:rPr lang="en-US" b="1" dirty="0" smtClean="0">
                <a:solidFill>
                  <a:srgbClr val="FF0000"/>
                </a:solidFill>
              </a:rPr>
              <a:t>B-Tree</a:t>
            </a: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p:txBody>
      </p:sp>
      <p:pic>
        <p:nvPicPr>
          <p:cNvPr id="9" name="Picture 8"/>
          <p:cNvPicPr>
            <a:picLocks noChangeAspect="1"/>
          </p:cNvPicPr>
          <p:nvPr/>
        </p:nvPicPr>
        <p:blipFill>
          <a:blip r:embed="rId3"/>
          <a:stretch>
            <a:fillRect/>
          </a:stretch>
        </p:blipFill>
        <p:spPr>
          <a:xfrm>
            <a:off x="157942" y="1003811"/>
            <a:ext cx="4477375" cy="5613120"/>
          </a:xfrm>
          <a:prstGeom prst="rect">
            <a:avLst/>
          </a:prstGeom>
        </p:spPr>
      </p:pic>
      <p:pic>
        <p:nvPicPr>
          <p:cNvPr id="10" name="Picture 9"/>
          <p:cNvPicPr>
            <a:picLocks noChangeAspect="1"/>
          </p:cNvPicPr>
          <p:nvPr/>
        </p:nvPicPr>
        <p:blipFill>
          <a:blip r:embed="rId4"/>
          <a:stretch>
            <a:fillRect/>
          </a:stretch>
        </p:blipFill>
        <p:spPr>
          <a:xfrm>
            <a:off x="4793259" y="1003811"/>
            <a:ext cx="5077534" cy="5613120"/>
          </a:xfrm>
          <a:prstGeom prst="rect">
            <a:avLst/>
          </a:prstGeom>
        </p:spPr>
      </p:pic>
    </p:spTree>
    <p:extLst>
      <p:ext uri="{BB962C8B-B14F-4D97-AF65-F5344CB8AC3E}">
        <p14:creationId xmlns:p14="http://schemas.microsoft.com/office/powerpoint/2010/main" val="314248369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5078313"/>
          </a:xfrm>
          <a:prstGeom prst="rect">
            <a:avLst/>
          </a:prstGeom>
        </p:spPr>
        <p:txBody>
          <a:bodyPr wrap="square">
            <a:spAutoFit/>
          </a:bodyPr>
          <a:lstStyle/>
          <a:p>
            <a:r>
              <a:rPr lang="en-US" b="1" dirty="0" smtClean="0">
                <a:solidFill>
                  <a:srgbClr val="FF0000"/>
                </a:solidFill>
              </a:rPr>
              <a:t>B-Tree</a:t>
            </a: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p:txBody>
      </p:sp>
      <p:pic>
        <p:nvPicPr>
          <p:cNvPr id="7" name="Picture 6"/>
          <p:cNvPicPr>
            <a:picLocks noChangeAspect="1"/>
          </p:cNvPicPr>
          <p:nvPr/>
        </p:nvPicPr>
        <p:blipFill>
          <a:blip r:embed="rId3"/>
          <a:stretch>
            <a:fillRect/>
          </a:stretch>
        </p:blipFill>
        <p:spPr>
          <a:xfrm>
            <a:off x="146405" y="908382"/>
            <a:ext cx="5249008" cy="3096057"/>
          </a:xfrm>
          <a:prstGeom prst="rect">
            <a:avLst/>
          </a:prstGeom>
        </p:spPr>
      </p:pic>
      <p:pic>
        <p:nvPicPr>
          <p:cNvPr id="8" name="Picture 7"/>
          <p:cNvPicPr>
            <a:picLocks noChangeAspect="1"/>
          </p:cNvPicPr>
          <p:nvPr/>
        </p:nvPicPr>
        <p:blipFill>
          <a:blip r:embed="rId4"/>
          <a:stretch>
            <a:fillRect/>
          </a:stretch>
        </p:blipFill>
        <p:spPr>
          <a:xfrm>
            <a:off x="146405" y="4426357"/>
            <a:ext cx="6134956" cy="1105054"/>
          </a:xfrm>
          <a:prstGeom prst="rect">
            <a:avLst/>
          </a:prstGeom>
        </p:spPr>
      </p:pic>
      <p:pic>
        <p:nvPicPr>
          <p:cNvPr id="2" name="Picture 1"/>
          <p:cNvPicPr>
            <a:picLocks noChangeAspect="1"/>
          </p:cNvPicPr>
          <p:nvPr/>
        </p:nvPicPr>
        <p:blipFill>
          <a:blip r:embed="rId5"/>
          <a:stretch>
            <a:fillRect/>
          </a:stretch>
        </p:blipFill>
        <p:spPr>
          <a:xfrm>
            <a:off x="6709984" y="4559725"/>
            <a:ext cx="4715533" cy="838317"/>
          </a:xfrm>
          <a:prstGeom prst="rect">
            <a:avLst/>
          </a:prstGeom>
        </p:spPr>
      </p:pic>
    </p:spTree>
    <p:extLst>
      <p:ext uri="{BB962C8B-B14F-4D97-AF65-F5344CB8AC3E}">
        <p14:creationId xmlns:p14="http://schemas.microsoft.com/office/powerpoint/2010/main" val="64884677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8679299"/>
          </a:xfrm>
          <a:prstGeom prst="rect">
            <a:avLst/>
          </a:prstGeom>
        </p:spPr>
        <p:txBody>
          <a:bodyPr wrap="square">
            <a:spAutoFit/>
          </a:bodyPr>
          <a:lstStyle/>
          <a:p>
            <a:r>
              <a:rPr lang="en-US" b="1" dirty="0" smtClean="0">
                <a:solidFill>
                  <a:srgbClr val="FF0000"/>
                </a:solidFill>
              </a:rPr>
              <a:t>B-Tree</a:t>
            </a:r>
          </a:p>
          <a:p>
            <a:endParaRPr lang="en-US" b="1" dirty="0" smtClean="0">
              <a:solidFill>
                <a:srgbClr val="FF0000"/>
              </a:solidFill>
            </a:endParaRPr>
          </a:p>
          <a:p>
            <a:r>
              <a:rPr lang="en-IN" b="1" dirty="0" smtClean="0"/>
              <a:t>1. </a:t>
            </a:r>
            <a:r>
              <a:rPr lang="en-IN" b="1" dirty="0" err="1" smtClean="0"/>
              <a:t>BTreeNode</a:t>
            </a:r>
            <a:r>
              <a:rPr lang="en-IN" b="1" dirty="0" smtClean="0"/>
              <a:t> </a:t>
            </a:r>
            <a:r>
              <a:rPr lang="en-IN" b="1" dirty="0"/>
              <a:t>Class</a:t>
            </a:r>
          </a:p>
          <a:p>
            <a:endParaRPr lang="en-IN" dirty="0" smtClean="0"/>
          </a:p>
          <a:p>
            <a:r>
              <a:rPr lang="en-IN" dirty="0" smtClean="0"/>
              <a:t>Fields</a:t>
            </a:r>
            <a:r>
              <a:rPr lang="en-IN" dirty="0"/>
              <a:t>:</a:t>
            </a:r>
          </a:p>
          <a:p>
            <a:pPr marL="285750" indent="-285750">
              <a:buFont typeface="Arial" panose="020B0604020202020204" pitchFamily="34" charset="0"/>
              <a:buChar char="•"/>
            </a:pPr>
            <a:r>
              <a:rPr lang="en-US" dirty="0" smtClean="0"/>
              <a:t>keys</a:t>
            </a:r>
            <a:r>
              <a:rPr lang="en-US" dirty="0"/>
              <a:t>[] → stores the keys in sorted order.</a:t>
            </a:r>
          </a:p>
          <a:p>
            <a:pPr marL="285750" indent="-285750">
              <a:buFont typeface="Arial" panose="020B0604020202020204" pitchFamily="34" charset="0"/>
              <a:buChar char="•"/>
            </a:pPr>
            <a:r>
              <a:rPr lang="en-US" dirty="0" smtClean="0"/>
              <a:t>t </a:t>
            </a:r>
            <a:r>
              <a:rPr lang="en-US" dirty="0"/>
              <a:t>→ minimum degree (defines the range of children).</a:t>
            </a:r>
          </a:p>
          <a:p>
            <a:pPr marL="285750" indent="-285750">
              <a:buFont typeface="Arial" panose="020B0604020202020204" pitchFamily="34" charset="0"/>
              <a:buChar char="•"/>
            </a:pPr>
            <a:r>
              <a:rPr lang="en-US" dirty="0" smtClean="0"/>
              <a:t>C</a:t>
            </a:r>
            <a:r>
              <a:rPr lang="en-US" dirty="0"/>
              <a:t>[] → array of child pointers.</a:t>
            </a:r>
          </a:p>
          <a:p>
            <a:pPr marL="285750" indent="-285750">
              <a:buFont typeface="Arial" panose="020B0604020202020204" pitchFamily="34" charset="0"/>
              <a:buChar char="•"/>
            </a:pPr>
            <a:r>
              <a:rPr lang="en-US" dirty="0" smtClean="0"/>
              <a:t>n </a:t>
            </a:r>
            <a:r>
              <a:rPr lang="en-US" dirty="0"/>
              <a:t>→ current number of keys in the node.</a:t>
            </a:r>
          </a:p>
          <a:p>
            <a:pPr marL="285750" indent="-285750">
              <a:buFont typeface="Arial" panose="020B0604020202020204" pitchFamily="34" charset="0"/>
              <a:buChar char="•"/>
            </a:pPr>
            <a:r>
              <a:rPr lang="en-US" dirty="0" smtClean="0"/>
              <a:t>leaf </a:t>
            </a:r>
            <a:r>
              <a:rPr lang="en-US" dirty="0"/>
              <a:t>→ flag to check if the node is a leaf.</a:t>
            </a:r>
          </a:p>
          <a:p>
            <a:r>
              <a:rPr lang="en-US" dirty="0" smtClean="0"/>
              <a:t>Constructor</a:t>
            </a:r>
            <a:r>
              <a:rPr lang="en-US" dirty="0"/>
              <a:t>: </a:t>
            </a:r>
            <a:endParaRPr lang="en-US" dirty="0" smtClean="0"/>
          </a:p>
          <a:p>
            <a:pPr marL="285750" indent="-285750">
              <a:buFont typeface="Arial" panose="020B0604020202020204" pitchFamily="34" charset="0"/>
              <a:buChar char="•"/>
            </a:pPr>
            <a:r>
              <a:rPr lang="en-US" dirty="0" smtClean="0"/>
              <a:t>Initializes </a:t>
            </a:r>
            <a:r>
              <a:rPr lang="en-US" dirty="0"/>
              <a:t>a node with capacity 2t - 1 keys and 2t children.</a:t>
            </a:r>
          </a:p>
          <a:p>
            <a:endParaRPr lang="en-US" b="1" dirty="0" smtClean="0">
              <a:solidFill>
                <a:srgbClr val="FF0000"/>
              </a:solidFill>
            </a:endParaRPr>
          </a:p>
          <a:p>
            <a:r>
              <a:rPr lang="en-IN" dirty="0"/>
              <a:t>2. </a:t>
            </a:r>
            <a:r>
              <a:rPr lang="en-IN" b="1" dirty="0"/>
              <a:t>Traverse Method</a:t>
            </a:r>
            <a:endParaRPr lang="en-US" b="1" dirty="0">
              <a:solidFill>
                <a:srgbClr val="FF0000"/>
              </a:solidFill>
            </a:endParaRPr>
          </a:p>
          <a:p>
            <a:pPr marL="285750" indent="-285750">
              <a:buFont typeface="Arial" panose="020B0604020202020204" pitchFamily="34" charset="0"/>
              <a:buChar char="•"/>
            </a:pPr>
            <a:r>
              <a:rPr lang="en-US" dirty="0"/>
              <a:t>Performs an </a:t>
            </a:r>
            <a:r>
              <a:rPr lang="en-US" b="1" dirty="0"/>
              <a:t>in‑order traversal</a:t>
            </a:r>
            <a:r>
              <a:rPr lang="en-US" dirty="0"/>
              <a:t> of the B‑Tree.</a:t>
            </a:r>
          </a:p>
          <a:p>
            <a:pPr marL="285750" indent="-285750">
              <a:buFont typeface="Arial" panose="020B0604020202020204" pitchFamily="34" charset="0"/>
              <a:buChar char="•"/>
            </a:pPr>
            <a:r>
              <a:rPr lang="en-US" dirty="0"/>
              <a:t>Prints all keys in </a:t>
            </a:r>
            <a:r>
              <a:rPr lang="en-US" b="1" dirty="0"/>
              <a:t>sorted order</a:t>
            </a:r>
            <a:r>
              <a:rPr lang="en-US" dirty="0"/>
              <a:t>.</a:t>
            </a: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p:txBody>
      </p:sp>
    </p:spTree>
    <p:extLst>
      <p:ext uri="{BB962C8B-B14F-4D97-AF65-F5344CB8AC3E}">
        <p14:creationId xmlns:p14="http://schemas.microsoft.com/office/powerpoint/2010/main" val="191765960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6740307"/>
          </a:xfrm>
          <a:prstGeom prst="rect">
            <a:avLst/>
          </a:prstGeom>
        </p:spPr>
        <p:txBody>
          <a:bodyPr wrap="square">
            <a:spAutoFit/>
          </a:bodyPr>
          <a:lstStyle/>
          <a:p>
            <a:r>
              <a:rPr lang="en-US" b="1" dirty="0" smtClean="0">
                <a:solidFill>
                  <a:srgbClr val="FF0000"/>
                </a:solidFill>
              </a:rPr>
              <a:t>B-Tree</a:t>
            </a:r>
          </a:p>
          <a:p>
            <a:endParaRPr lang="en-US" b="1" dirty="0" smtClean="0">
              <a:solidFill>
                <a:srgbClr val="FF0000"/>
              </a:solidFill>
            </a:endParaRPr>
          </a:p>
          <a:p>
            <a:r>
              <a:rPr lang="en-IN" dirty="0"/>
              <a:t>3. </a:t>
            </a:r>
            <a:r>
              <a:rPr lang="en-IN" b="1" dirty="0" err="1"/>
              <a:t>InsertNonFull</a:t>
            </a:r>
            <a:r>
              <a:rPr lang="en-IN" b="1" dirty="0"/>
              <a:t> </a:t>
            </a:r>
            <a:r>
              <a:rPr lang="en-IN" b="1" dirty="0" smtClean="0"/>
              <a:t>Method</a:t>
            </a:r>
          </a:p>
          <a:p>
            <a:pPr marL="285750" indent="-285750">
              <a:buFont typeface="Arial" panose="020B0604020202020204" pitchFamily="34" charset="0"/>
              <a:buChar char="•"/>
            </a:pPr>
            <a:r>
              <a:rPr lang="en-US" dirty="0"/>
              <a:t>Inserts a key into a node that is not full.</a:t>
            </a:r>
          </a:p>
          <a:p>
            <a:pPr marL="285750" indent="-285750">
              <a:buFont typeface="Arial" panose="020B0604020202020204" pitchFamily="34" charset="0"/>
              <a:buChar char="•"/>
            </a:pPr>
            <a:r>
              <a:rPr lang="en-US" dirty="0" smtClean="0"/>
              <a:t>If </a:t>
            </a:r>
            <a:r>
              <a:rPr lang="en-US" dirty="0"/>
              <a:t>it’s a leaf → inserts in sorted order.</a:t>
            </a:r>
          </a:p>
          <a:p>
            <a:pPr marL="285750" indent="-285750">
              <a:buFont typeface="Arial" panose="020B0604020202020204" pitchFamily="34" charset="0"/>
              <a:buChar char="•"/>
            </a:pPr>
            <a:r>
              <a:rPr lang="en-US" dirty="0" smtClean="0"/>
              <a:t>If </a:t>
            </a:r>
            <a:r>
              <a:rPr lang="en-US" dirty="0"/>
              <a:t>it’s internal → finds the correct child and inserts recursively.</a:t>
            </a:r>
          </a:p>
          <a:p>
            <a:pPr marL="285750" indent="-285750">
              <a:buFont typeface="Arial" panose="020B0604020202020204" pitchFamily="34" charset="0"/>
              <a:buChar char="•"/>
            </a:pPr>
            <a:r>
              <a:rPr lang="en-US" dirty="0" smtClean="0"/>
              <a:t>If </a:t>
            </a:r>
            <a:r>
              <a:rPr lang="en-US" dirty="0"/>
              <a:t>the child is full → calls </a:t>
            </a:r>
            <a:r>
              <a:rPr lang="en-US" dirty="0" err="1"/>
              <a:t>splitChild</a:t>
            </a:r>
            <a:r>
              <a:rPr lang="en-US" dirty="0"/>
              <a:t>() before inserting.</a:t>
            </a:r>
          </a:p>
          <a:p>
            <a:endParaRPr lang="en-US" b="1" dirty="0">
              <a:solidFill>
                <a:srgbClr val="FF0000"/>
              </a:solidFill>
            </a:endParaRPr>
          </a:p>
          <a:p>
            <a:endParaRPr lang="en-US" b="1" dirty="0" smtClean="0">
              <a:solidFill>
                <a:srgbClr val="FF0000"/>
              </a:solidFill>
            </a:endParaRPr>
          </a:p>
          <a:p>
            <a:r>
              <a:rPr lang="en-IN" dirty="0"/>
              <a:t>4. </a:t>
            </a:r>
            <a:r>
              <a:rPr lang="en-IN" b="1" dirty="0" err="1"/>
              <a:t>SplitChild</a:t>
            </a:r>
            <a:r>
              <a:rPr lang="en-IN" b="1" dirty="0"/>
              <a:t> Method</a:t>
            </a:r>
            <a:endParaRPr lang="en-US" b="1" dirty="0">
              <a:solidFill>
                <a:srgbClr val="FF0000"/>
              </a:solidFill>
            </a:endParaRPr>
          </a:p>
          <a:p>
            <a:pPr marL="285750" indent="-285750">
              <a:buFont typeface="Arial" panose="020B0604020202020204" pitchFamily="34" charset="0"/>
              <a:buChar char="•"/>
            </a:pPr>
            <a:r>
              <a:rPr lang="en-US" dirty="0"/>
              <a:t>Splits a full child node into two nodes.</a:t>
            </a:r>
          </a:p>
          <a:p>
            <a:pPr marL="285750" indent="-285750">
              <a:buFont typeface="Arial" panose="020B0604020202020204" pitchFamily="34" charset="0"/>
              <a:buChar char="•"/>
            </a:pPr>
            <a:r>
              <a:rPr lang="en-US" dirty="0" smtClean="0"/>
              <a:t>Promotes </a:t>
            </a:r>
            <a:r>
              <a:rPr lang="en-US" dirty="0"/>
              <a:t>the middle key to the parent.</a:t>
            </a:r>
          </a:p>
          <a:p>
            <a:pPr marL="285750" indent="-285750">
              <a:buFont typeface="Arial" panose="020B0604020202020204" pitchFamily="34" charset="0"/>
              <a:buChar char="•"/>
            </a:pPr>
            <a:r>
              <a:rPr lang="en-US" dirty="0" smtClean="0"/>
              <a:t>Ensures </a:t>
            </a:r>
            <a:r>
              <a:rPr lang="en-US" dirty="0"/>
              <a:t>the B‑Tree properties are maintained (balanced, sorted, within degree limits).</a:t>
            </a: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p:txBody>
      </p:sp>
    </p:spTree>
    <p:extLst>
      <p:ext uri="{BB962C8B-B14F-4D97-AF65-F5344CB8AC3E}">
        <p14:creationId xmlns:p14="http://schemas.microsoft.com/office/powerpoint/2010/main" val="343722179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4678204"/>
          </a:xfrm>
          <a:prstGeom prst="rect">
            <a:avLst/>
          </a:prstGeom>
        </p:spPr>
        <p:txBody>
          <a:bodyPr wrap="square">
            <a:spAutoFit/>
          </a:bodyPr>
          <a:lstStyle/>
          <a:p>
            <a:r>
              <a:rPr lang="en-US" b="1" dirty="0" smtClean="0">
                <a:solidFill>
                  <a:srgbClr val="FF0000"/>
                </a:solidFill>
              </a:rPr>
              <a:t>B-Tree</a:t>
            </a:r>
          </a:p>
          <a:p>
            <a:endParaRPr lang="en-US" sz="1600" dirty="0" smtClean="0"/>
          </a:p>
          <a:p>
            <a:r>
              <a:rPr lang="en-US" sz="1600" dirty="0"/>
              <a:t>In main, you create a B‑Tree of minimum degree 3</a:t>
            </a:r>
            <a:r>
              <a:rPr lang="en-US" sz="1600" dirty="0" smtClean="0"/>
              <a:t>:</a:t>
            </a:r>
          </a:p>
          <a:p>
            <a:endParaRPr lang="en-US" sz="1600" dirty="0"/>
          </a:p>
          <a:p>
            <a:endParaRPr lang="en-US" sz="1600" dirty="0" smtClean="0"/>
          </a:p>
          <a:p>
            <a:endParaRPr lang="en-US" sz="1600" dirty="0"/>
          </a:p>
          <a:p>
            <a:r>
              <a:rPr lang="en-IN" sz="1600" dirty="0"/>
              <a:t>Then you insert values</a:t>
            </a:r>
            <a:r>
              <a:rPr lang="en-IN" sz="1600" dirty="0" smtClean="0"/>
              <a:t>:</a:t>
            </a:r>
          </a:p>
          <a:p>
            <a:endParaRPr lang="en-IN" sz="1600" dirty="0"/>
          </a:p>
          <a:p>
            <a:endParaRPr lang="en-IN" sz="1600" dirty="0" smtClean="0"/>
          </a:p>
          <a:p>
            <a:endParaRPr lang="en-IN" sz="1600" dirty="0"/>
          </a:p>
          <a:p>
            <a:endParaRPr lang="en-IN" sz="1600" dirty="0" smtClean="0"/>
          </a:p>
          <a:p>
            <a:r>
              <a:rPr lang="en-US" b="1" dirty="0"/>
              <a:t>How Insert Works</a:t>
            </a:r>
          </a:p>
          <a:p>
            <a:pPr marL="285750" indent="-285750">
              <a:buFont typeface="Arial" panose="020B0604020202020204" pitchFamily="34" charset="0"/>
              <a:buChar char="•"/>
            </a:pPr>
            <a:r>
              <a:rPr lang="en-US" b="1" dirty="0"/>
              <a:t>Minimum degree t = 3</a:t>
            </a:r>
            <a:r>
              <a:rPr lang="en-US" dirty="0"/>
              <a:t> →</a:t>
            </a:r>
          </a:p>
          <a:p>
            <a:pPr marL="742950" lvl="1" indent="-285750">
              <a:buFont typeface="Arial" panose="020B0604020202020204" pitchFamily="34" charset="0"/>
              <a:buChar char="•"/>
            </a:pPr>
            <a:r>
              <a:rPr lang="en-US" dirty="0"/>
              <a:t>Each node can hold </a:t>
            </a:r>
            <a:r>
              <a:rPr lang="en-US" b="1" dirty="0"/>
              <a:t>up to 2t–1 = 5 keys</a:t>
            </a:r>
            <a:r>
              <a:rPr lang="en-US" dirty="0"/>
              <a:t>.</a:t>
            </a:r>
          </a:p>
          <a:p>
            <a:pPr marL="742950" lvl="1" indent="-285750">
              <a:buFont typeface="Arial" panose="020B0604020202020204" pitchFamily="34" charset="0"/>
              <a:buChar char="•"/>
            </a:pPr>
            <a:r>
              <a:rPr lang="en-US" dirty="0"/>
              <a:t>Each node must have at least </a:t>
            </a:r>
            <a:r>
              <a:rPr lang="en-US" b="1" dirty="0"/>
              <a:t>t–1 = 2 keys</a:t>
            </a:r>
            <a:r>
              <a:rPr lang="en-US" dirty="0"/>
              <a:t> (except root).</a:t>
            </a:r>
          </a:p>
          <a:p>
            <a:pPr marL="285750" indent="-285750">
              <a:buFont typeface="Arial" panose="020B0604020202020204" pitchFamily="34" charset="0"/>
              <a:buChar char="•"/>
            </a:pPr>
            <a:endParaRPr lang="en-US" sz="1600" dirty="0" smtClean="0"/>
          </a:p>
          <a:p>
            <a:endParaRPr lang="en-US" sz="1600" dirty="0"/>
          </a:p>
          <a:p>
            <a:endParaRPr lang="en-US" sz="1600" dirty="0" smtClean="0"/>
          </a:p>
        </p:txBody>
      </p:sp>
      <p:pic>
        <p:nvPicPr>
          <p:cNvPr id="3" name="Picture 2"/>
          <p:cNvPicPr>
            <a:picLocks noChangeAspect="1"/>
          </p:cNvPicPr>
          <p:nvPr/>
        </p:nvPicPr>
        <p:blipFill>
          <a:blip r:embed="rId3"/>
          <a:stretch>
            <a:fillRect/>
          </a:stretch>
        </p:blipFill>
        <p:spPr>
          <a:xfrm>
            <a:off x="331840" y="1356247"/>
            <a:ext cx="3381847" cy="371527"/>
          </a:xfrm>
          <a:prstGeom prst="rect">
            <a:avLst/>
          </a:prstGeom>
        </p:spPr>
      </p:pic>
      <p:pic>
        <p:nvPicPr>
          <p:cNvPr id="7" name="Picture 6"/>
          <p:cNvPicPr>
            <a:picLocks noChangeAspect="1"/>
          </p:cNvPicPr>
          <p:nvPr/>
        </p:nvPicPr>
        <p:blipFill>
          <a:blip r:embed="rId4"/>
          <a:stretch>
            <a:fillRect/>
          </a:stretch>
        </p:blipFill>
        <p:spPr>
          <a:xfrm>
            <a:off x="331840" y="2420882"/>
            <a:ext cx="2514951" cy="362001"/>
          </a:xfrm>
          <a:prstGeom prst="rect">
            <a:avLst/>
          </a:prstGeom>
        </p:spPr>
      </p:pic>
    </p:spTree>
    <p:extLst>
      <p:ext uri="{BB962C8B-B14F-4D97-AF65-F5344CB8AC3E}">
        <p14:creationId xmlns:p14="http://schemas.microsoft.com/office/powerpoint/2010/main" val="355499596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5539978"/>
          </a:xfrm>
          <a:prstGeom prst="rect">
            <a:avLst/>
          </a:prstGeom>
        </p:spPr>
        <p:txBody>
          <a:bodyPr wrap="square">
            <a:spAutoFit/>
          </a:bodyPr>
          <a:lstStyle/>
          <a:p>
            <a:r>
              <a:rPr lang="en-US" b="1" dirty="0" smtClean="0">
                <a:solidFill>
                  <a:srgbClr val="FF0000"/>
                </a:solidFill>
              </a:rPr>
              <a:t>B-Tree</a:t>
            </a:r>
          </a:p>
          <a:p>
            <a:endParaRPr lang="en-US" sz="1600" dirty="0" smtClean="0"/>
          </a:p>
          <a:p>
            <a:r>
              <a:rPr lang="en-US" sz="1600" dirty="0"/>
              <a:t>Step‑by‑Step </a:t>
            </a:r>
            <a:r>
              <a:rPr lang="en-US" sz="1600" dirty="0" smtClean="0"/>
              <a:t>Insertions</a:t>
            </a:r>
          </a:p>
          <a:p>
            <a:endParaRPr lang="en-US" sz="1600" dirty="0"/>
          </a:p>
          <a:p>
            <a:r>
              <a:rPr lang="en-US" sz="1600" dirty="0"/>
              <a:t>Insert 10 → root created: [10]</a:t>
            </a:r>
          </a:p>
          <a:p>
            <a:r>
              <a:rPr lang="en-US" sz="1600" dirty="0" smtClean="0"/>
              <a:t>Insert </a:t>
            </a:r>
            <a:r>
              <a:rPr lang="en-US" sz="1600" dirty="0"/>
              <a:t>20 → [10,20]</a:t>
            </a:r>
          </a:p>
          <a:p>
            <a:r>
              <a:rPr lang="en-US" sz="1600" dirty="0" smtClean="0"/>
              <a:t>Insert </a:t>
            </a:r>
            <a:r>
              <a:rPr lang="en-US" sz="1600" dirty="0"/>
              <a:t>5 → [5,10,20]</a:t>
            </a:r>
          </a:p>
          <a:p>
            <a:r>
              <a:rPr lang="en-US" sz="1600" dirty="0" smtClean="0"/>
              <a:t>Insert </a:t>
            </a:r>
            <a:r>
              <a:rPr lang="en-US" sz="1600" dirty="0"/>
              <a:t>6 → [5,6,10,20]</a:t>
            </a:r>
          </a:p>
          <a:p>
            <a:r>
              <a:rPr lang="en-US" sz="1600" dirty="0" smtClean="0"/>
              <a:t>Insert </a:t>
            </a:r>
            <a:r>
              <a:rPr lang="en-US" sz="1600" dirty="0"/>
              <a:t>12 → [5,6,10,12,20] (root full now)</a:t>
            </a:r>
          </a:p>
          <a:p>
            <a:r>
              <a:rPr lang="en-US" sz="1600" dirty="0" smtClean="0"/>
              <a:t>Insert </a:t>
            </a:r>
            <a:r>
              <a:rPr lang="en-US" sz="1600" dirty="0"/>
              <a:t>30 → root splits</a:t>
            </a:r>
            <a:r>
              <a:rPr lang="en-US" sz="1600" dirty="0" smtClean="0"/>
              <a:t>:</a:t>
            </a:r>
          </a:p>
          <a:p>
            <a:endParaRPr lang="en-US" sz="1600" dirty="0"/>
          </a:p>
          <a:p>
            <a:endParaRPr lang="en-US" sz="1600" dirty="0" smtClean="0"/>
          </a:p>
          <a:p>
            <a:endParaRPr lang="en-US" sz="1600" dirty="0"/>
          </a:p>
          <a:p>
            <a:endParaRPr lang="en-US" sz="1600" dirty="0" smtClean="0"/>
          </a:p>
          <a:p>
            <a:endParaRPr lang="en-US" sz="1600" dirty="0"/>
          </a:p>
          <a:p>
            <a:r>
              <a:rPr lang="en-US" sz="1600" dirty="0"/>
              <a:t>Insert 7 → goes left child</a:t>
            </a:r>
            <a:r>
              <a:rPr lang="en-US" sz="1600" dirty="0" smtClean="0"/>
              <a:t>:</a:t>
            </a:r>
          </a:p>
          <a:p>
            <a:endParaRPr lang="en-US" sz="1600" dirty="0"/>
          </a:p>
          <a:p>
            <a:endParaRPr lang="en-US" sz="1600" dirty="0" smtClean="0"/>
          </a:p>
          <a:p>
            <a:endParaRPr lang="en-US" sz="1600" dirty="0"/>
          </a:p>
          <a:p>
            <a:endParaRPr lang="en-US" sz="1600" dirty="0" smtClean="0"/>
          </a:p>
          <a:p>
            <a:endParaRPr lang="en-US" sz="1600" dirty="0"/>
          </a:p>
          <a:p>
            <a:r>
              <a:rPr lang="en-US" sz="1600" dirty="0"/>
              <a:t>Insert 17 → goes right child:</a:t>
            </a:r>
            <a:endParaRPr lang="en-US" sz="1600" dirty="0" smtClean="0"/>
          </a:p>
        </p:txBody>
      </p:sp>
      <p:pic>
        <p:nvPicPr>
          <p:cNvPr id="8" name="Picture 7"/>
          <p:cNvPicPr>
            <a:picLocks noChangeAspect="1"/>
          </p:cNvPicPr>
          <p:nvPr/>
        </p:nvPicPr>
        <p:blipFill>
          <a:blip r:embed="rId3"/>
          <a:stretch>
            <a:fillRect/>
          </a:stretch>
        </p:blipFill>
        <p:spPr>
          <a:xfrm>
            <a:off x="147509" y="3090433"/>
            <a:ext cx="1838582" cy="819264"/>
          </a:xfrm>
          <a:prstGeom prst="rect">
            <a:avLst/>
          </a:prstGeom>
        </p:spPr>
      </p:pic>
      <p:pic>
        <p:nvPicPr>
          <p:cNvPr id="9" name="Picture 8"/>
          <p:cNvPicPr>
            <a:picLocks noChangeAspect="1"/>
          </p:cNvPicPr>
          <p:nvPr/>
        </p:nvPicPr>
        <p:blipFill>
          <a:blip r:embed="rId4"/>
          <a:stretch>
            <a:fillRect/>
          </a:stretch>
        </p:blipFill>
        <p:spPr>
          <a:xfrm>
            <a:off x="214194" y="4590417"/>
            <a:ext cx="1771897" cy="752580"/>
          </a:xfrm>
          <a:prstGeom prst="rect">
            <a:avLst/>
          </a:prstGeom>
        </p:spPr>
      </p:pic>
      <p:pic>
        <p:nvPicPr>
          <p:cNvPr id="10" name="Picture 9"/>
          <p:cNvPicPr>
            <a:picLocks noChangeAspect="1"/>
          </p:cNvPicPr>
          <p:nvPr/>
        </p:nvPicPr>
        <p:blipFill>
          <a:blip r:embed="rId5"/>
          <a:stretch>
            <a:fillRect/>
          </a:stretch>
        </p:blipFill>
        <p:spPr>
          <a:xfrm>
            <a:off x="2591085" y="5481149"/>
            <a:ext cx="2105319" cy="800212"/>
          </a:xfrm>
          <a:prstGeom prst="rect">
            <a:avLst/>
          </a:prstGeom>
        </p:spPr>
      </p:pic>
      <p:pic>
        <p:nvPicPr>
          <p:cNvPr id="11" name="Picture 10"/>
          <p:cNvPicPr>
            <a:picLocks noChangeAspect="1"/>
          </p:cNvPicPr>
          <p:nvPr/>
        </p:nvPicPr>
        <p:blipFill>
          <a:blip r:embed="rId6"/>
          <a:stretch>
            <a:fillRect/>
          </a:stretch>
        </p:blipFill>
        <p:spPr>
          <a:xfrm>
            <a:off x="6564990" y="3252127"/>
            <a:ext cx="3534268" cy="352474"/>
          </a:xfrm>
          <a:prstGeom prst="rect">
            <a:avLst/>
          </a:prstGeom>
        </p:spPr>
      </p:pic>
      <p:pic>
        <p:nvPicPr>
          <p:cNvPr id="2" name="Picture 1"/>
          <p:cNvPicPr>
            <a:picLocks noChangeAspect="1"/>
          </p:cNvPicPr>
          <p:nvPr/>
        </p:nvPicPr>
        <p:blipFill>
          <a:blip r:embed="rId7"/>
          <a:stretch>
            <a:fillRect/>
          </a:stretch>
        </p:blipFill>
        <p:spPr>
          <a:xfrm>
            <a:off x="3442835" y="1237442"/>
            <a:ext cx="2762636" cy="409632"/>
          </a:xfrm>
          <a:prstGeom prst="rect">
            <a:avLst/>
          </a:prstGeom>
        </p:spPr>
      </p:pic>
    </p:spTree>
    <p:extLst>
      <p:ext uri="{BB962C8B-B14F-4D97-AF65-F5344CB8AC3E}">
        <p14:creationId xmlns:p14="http://schemas.microsoft.com/office/powerpoint/2010/main" val="4802120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3970318"/>
          </a:xfrm>
          <a:prstGeom prst="rect">
            <a:avLst/>
          </a:prstGeom>
        </p:spPr>
        <p:txBody>
          <a:bodyPr wrap="square">
            <a:spAutoFit/>
          </a:bodyPr>
          <a:lstStyle/>
          <a:p>
            <a:r>
              <a:rPr lang="en-US" b="1" dirty="0" err="1" smtClean="0">
                <a:solidFill>
                  <a:srgbClr val="FF0000"/>
                </a:solidFill>
              </a:rPr>
              <a:t>B+Tree</a:t>
            </a:r>
            <a:endParaRPr lang="en-US" b="1" dirty="0" smtClean="0">
              <a:solidFill>
                <a:srgbClr val="FF0000"/>
              </a:solidFill>
            </a:endParaRPr>
          </a:p>
          <a:p>
            <a:endParaRPr lang="en-US" b="1" dirty="0" smtClean="0">
              <a:solidFill>
                <a:srgbClr val="FF0000"/>
              </a:solidFill>
            </a:endParaRPr>
          </a:p>
          <a:p>
            <a:pPr marL="285750" indent="-285750">
              <a:buFont typeface="Arial" panose="020B0604020202020204" pitchFamily="34" charset="0"/>
              <a:buChar char="•"/>
            </a:pPr>
            <a:r>
              <a:rPr lang="en-US" dirty="0"/>
              <a:t>A </a:t>
            </a:r>
            <a:r>
              <a:rPr lang="en-US" b="1" dirty="0"/>
              <a:t>B+ Tree</a:t>
            </a:r>
            <a:r>
              <a:rPr lang="en-US" dirty="0"/>
              <a:t> is a variant of the B‑Tree.</a:t>
            </a:r>
          </a:p>
          <a:p>
            <a:pPr marL="285750" indent="-285750">
              <a:buFont typeface="Arial" panose="020B0604020202020204" pitchFamily="34" charset="0"/>
              <a:buChar char="•"/>
            </a:pPr>
            <a:r>
              <a:rPr lang="en-US" dirty="0"/>
              <a:t>It is also a </a:t>
            </a:r>
            <a:r>
              <a:rPr lang="en-US" b="1" dirty="0"/>
              <a:t>balanced multi‑way search tree</a:t>
            </a:r>
            <a:r>
              <a:rPr lang="en-US" dirty="0"/>
              <a:t>, but with one key difference:</a:t>
            </a:r>
          </a:p>
          <a:p>
            <a:pPr marL="742950" lvl="1" indent="-285750">
              <a:buFont typeface="Arial" panose="020B0604020202020204" pitchFamily="34" charset="0"/>
              <a:buChar char="•"/>
            </a:pPr>
            <a:r>
              <a:rPr lang="en-US" b="1" dirty="0"/>
              <a:t>Internal nodes store only keys (no data).</a:t>
            </a:r>
            <a:endParaRPr lang="en-US" dirty="0"/>
          </a:p>
          <a:p>
            <a:pPr marL="742950" lvl="1" indent="-285750">
              <a:buFont typeface="Arial" panose="020B0604020202020204" pitchFamily="34" charset="0"/>
              <a:buChar char="•"/>
            </a:pPr>
            <a:r>
              <a:rPr lang="en-US" b="1" dirty="0"/>
              <a:t>Leaf nodes store both keys and data.</a:t>
            </a:r>
            <a:endParaRPr lang="en-US" dirty="0"/>
          </a:p>
          <a:p>
            <a:pPr marL="285750" indent="-285750">
              <a:buFont typeface="Arial" panose="020B0604020202020204" pitchFamily="34" charset="0"/>
              <a:buChar char="•"/>
            </a:pPr>
            <a:r>
              <a:rPr lang="en-US" dirty="0"/>
              <a:t>Leaf nodes are </a:t>
            </a:r>
            <a:r>
              <a:rPr lang="en-US" b="1" dirty="0"/>
              <a:t>linked together like a chain</a:t>
            </a:r>
            <a:r>
              <a:rPr lang="en-US" dirty="0"/>
              <a:t>, making range queries very efficient</a:t>
            </a:r>
            <a:r>
              <a:rPr lang="en-US" dirty="0" smtClean="0"/>
              <a:t>.</a:t>
            </a:r>
          </a:p>
          <a:p>
            <a:pPr marL="285750" indent="-285750">
              <a:buFont typeface="Arial" panose="020B0604020202020204" pitchFamily="34" charset="0"/>
              <a:buChar char="•"/>
            </a:pPr>
            <a:endParaRPr lang="en-US" dirty="0"/>
          </a:p>
          <a:p>
            <a:r>
              <a:rPr lang="en-US" b="1" dirty="0"/>
              <a:t>Keys vs. Data in a B+ Tree</a:t>
            </a:r>
          </a:p>
          <a:p>
            <a:pPr marL="285750" indent="-285750">
              <a:buFont typeface="Arial" panose="020B0604020202020204" pitchFamily="34" charset="0"/>
              <a:buChar char="•"/>
            </a:pPr>
            <a:r>
              <a:rPr lang="en-US" b="1" dirty="0"/>
              <a:t>Keys in Internal Nodes</a:t>
            </a:r>
            <a:r>
              <a:rPr lang="en-US" dirty="0"/>
              <a:t> → act like a </a:t>
            </a:r>
            <a:r>
              <a:rPr lang="en-US" b="1" dirty="0"/>
              <a:t>catalog or index</a:t>
            </a:r>
            <a:r>
              <a:rPr lang="en-US" dirty="0"/>
              <a:t>. They guide you to the right leaf.</a:t>
            </a:r>
          </a:p>
          <a:p>
            <a:pPr marL="285750" indent="-285750">
              <a:buFont typeface="Arial" panose="020B0604020202020204" pitchFamily="34" charset="0"/>
              <a:buChar char="•"/>
            </a:pPr>
            <a:r>
              <a:rPr lang="en-US" b="1" dirty="0"/>
              <a:t>Keys + Data in Leaf Nodes</a:t>
            </a:r>
            <a:r>
              <a:rPr lang="en-US" dirty="0"/>
              <a:t> → leaf nodes hold the </a:t>
            </a:r>
            <a:r>
              <a:rPr lang="en-US" b="1" dirty="0"/>
              <a:t>actual records</a:t>
            </a:r>
            <a:r>
              <a:rPr lang="en-US" dirty="0"/>
              <a:t> (like student details, file pointers, etc.).</a:t>
            </a:r>
          </a:p>
          <a:p>
            <a:pPr marL="285750" indent="-285750">
              <a:buFont typeface="Arial" panose="020B0604020202020204" pitchFamily="34" charset="0"/>
              <a:buChar char="•"/>
            </a:pPr>
            <a:r>
              <a:rPr lang="en-US" b="1" dirty="0"/>
              <a:t>Linked Leaves</a:t>
            </a:r>
            <a:r>
              <a:rPr lang="en-US" dirty="0"/>
              <a:t> → leaf nodes are connected, so you can scan sequentially across them.</a:t>
            </a:r>
          </a:p>
          <a:p>
            <a:endParaRPr lang="en-US" dirty="0"/>
          </a:p>
          <a:p>
            <a:pPr marL="285750" indent="-285750">
              <a:buFont typeface="Arial" panose="020B0604020202020204" pitchFamily="34" charset="0"/>
              <a:buChar char="•"/>
            </a:pPr>
            <a:endParaRPr lang="en-US" b="1" dirty="0"/>
          </a:p>
        </p:txBody>
      </p:sp>
    </p:spTree>
    <p:extLst>
      <p:ext uri="{BB962C8B-B14F-4D97-AF65-F5344CB8AC3E}">
        <p14:creationId xmlns:p14="http://schemas.microsoft.com/office/powerpoint/2010/main" val="253950305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4801314"/>
          </a:xfrm>
          <a:prstGeom prst="rect">
            <a:avLst/>
          </a:prstGeom>
        </p:spPr>
        <p:txBody>
          <a:bodyPr wrap="square">
            <a:spAutoFit/>
          </a:bodyPr>
          <a:lstStyle/>
          <a:p>
            <a:r>
              <a:rPr lang="en-US" b="1" dirty="0" err="1" smtClean="0">
                <a:solidFill>
                  <a:srgbClr val="FF0000"/>
                </a:solidFill>
              </a:rPr>
              <a:t>B+Tree</a:t>
            </a:r>
            <a:endParaRPr lang="en-US" b="1" dirty="0" smtClean="0">
              <a:solidFill>
                <a:srgbClr val="FF0000"/>
              </a:solidFill>
            </a:endParaRPr>
          </a:p>
          <a:p>
            <a:endParaRPr lang="en-US" b="1" dirty="0">
              <a:solidFill>
                <a:srgbClr val="FF0000"/>
              </a:solidFill>
            </a:endParaRPr>
          </a:p>
          <a:p>
            <a:r>
              <a:rPr lang="en-US" b="1" dirty="0"/>
              <a:t>Example (Order 3 B+ Tree)</a:t>
            </a:r>
          </a:p>
          <a:p>
            <a:r>
              <a:rPr lang="en-US" dirty="0"/>
              <a:t>Let’s insert IDs: 10, 20, 5, 6, </a:t>
            </a:r>
            <a:r>
              <a:rPr lang="en-US" dirty="0" smtClean="0"/>
              <a:t>12</a:t>
            </a:r>
          </a:p>
          <a:p>
            <a:endParaRPr lang="en-US" dirty="0"/>
          </a:p>
          <a:p>
            <a:r>
              <a:rPr lang="en-US" b="1" dirty="0"/>
              <a:t>Step‑by‑Step</a:t>
            </a:r>
          </a:p>
          <a:p>
            <a:r>
              <a:rPr lang="en-US" dirty="0"/>
              <a:t>Insert </a:t>
            </a:r>
            <a:r>
              <a:rPr lang="en-US" dirty="0" smtClean="0"/>
              <a:t>10</a:t>
            </a:r>
          </a:p>
          <a:p>
            <a:endParaRPr lang="en-US" dirty="0"/>
          </a:p>
          <a:p>
            <a:endParaRPr lang="en-US" dirty="0" smtClean="0"/>
          </a:p>
          <a:p>
            <a:endParaRPr lang="en-US" dirty="0"/>
          </a:p>
          <a:p>
            <a:r>
              <a:rPr lang="en-IN" dirty="0"/>
              <a:t>Insert </a:t>
            </a:r>
            <a:r>
              <a:rPr lang="en-IN" dirty="0" smtClean="0"/>
              <a:t>20</a:t>
            </a:r>
          </a:p>
          <a:p>
            <a:endParaRPr lang="en-IN" dirty="0"/>
          </a:p>
          <a:p>
            <a:endParaRPr lang="en-IN" dirty="0" smtClean="0"/>
          </a:p>
          <a:p>
            <a:endParaRPr lang="en-IN" dirty="0"/>
          </a:p>
          <a:p>
            <a:r>
              <a:rPr lang="en-IN" dirty="0"/>
              <a:t>Insert 5 → overflow → split</a:t>
            </a:r>
            <a:endParaRPr lang="en-US" dirty="0"/>
          </a:p>
          <a:p>
            <a:endParaRPr lang="en-US" dirty="0"/>
          </a:p>
          <a:p>
            <a:pPr marL="285750" indent="-285750">
              <a:buFont typeface="Arial" panose="020B0604020202020204" pitchFamily="34" charset="0"/>
              <a:buChar char="•"/>
            </a:pPr>
            <a:endParaRPr lang="en-US" b="1" dirty="0"/>
          </a:p>
        </p:txBody>
      </p:sp>
      <p:pic>
        <p:nvPicPr>
          <p:cNvPr id="2" name="Picture 1"/>
          <p:cNvPicPr>
            <a:picLocks noChangeAspect="1"/>
          </p:cNvPicPr>
          <p:nvPr/>
        </p:nvPicPr>
        <p:blipFill>
          <a:blip r:embed="rId3"/>
          <a:stretch>
            <a:fillRect/>
          </a:stretch>
        </p:blipFill>
        <p:spPr>
          <a:xfrm>
            <a:off x="109249" y="2549511"/>
            <a:ext cx="2896004" cy="390580"/>
          </a:xfrm>
          <a:prstGeom prst="rect">
            <a:avLst/>
          </a:prstGeom>
        </p:spPr>
      </p:pic>
      <p:pic>
        <p:nvPicPr>
          <p:cNvPr id="3" name="Picture 2"/>
          <p:cNvPicPr>
            <a:picLocks noChangeAspect="1"/>
          </p:cNvPicPr>
          <p:nvPr/>
        </p:nvPicPr>
        <p:blipFill>
          <a:blip r:embed="rId4"/>
          <a:stretch>
            <a:fillRect/>
          </a:stretch>
        </p:blipFill>
        <p:spPr>
          <a:xfrm>
            <a:off x="109249" y="3649346"/>
            <a:ext cx="5068007" cy="390580"/>
          </a:xfrm>
          <a:prstGeom prst="rect">
            <a:avLst/>
          </a:prstGeom>
        </p:spPr>
      </p:pic>
      <p:pic>
        <p:nvPicPr>
          <p:cNvPr id="7" name="Picture 6"/>
          <p:cNvPicPr>
            <a:picLocks noChangeAspect="1"/>
          </p:cNvPicPr>
          <p:nvPr/>
        </p:nvPicPr>
        <p:blipFill>
          <a:blip r:embed="rId5"/>
          <a:stretch>
            <a:fillRect/>
          </a:stretch>
        </p:blipFill>
        <p:spPr>
          <a:xfrm>
            <a:off x="124489" y="4847394"/>
            <a:ext cx="2172003" cy="790685"/>
          </a:xfrm>
          <a:prstGeom prst="rect">
            <a:avLst/>
          </a:prstGeom>
        </p:spPr>
      </p:pic>
      <p:sp>
        <p:nvSpPr>
          <p:cNvPr id="8" name="Rectangle 7"/>
          <p:cNvSpPr/>
          <p:nvPr/>
        </p:nvSpPr>
        <p:spPr>
          <a:xfrm>
            <a:off x="6577160" y="974959"/>
            <a:ext cx="2412648" cy="369332"/>
          </a:xfrm>
          <a:prstGeom prst="rect">
            <a:avLst/>
          </a:prstGeom>
        </p:spPr>
        <p:txBody>
          <a:bodyPr wrap="none">
            <a:spAutoFit/>
          </a:bodyPr>
          <a:lstStyle/>
          <a:p>
            <a:r>
              <a:rPr lang="en-US" dirty="0"/>
              <a:t>Insert 6 → goes left leaf</a:t>
            </a:r>
            <a:endParaRPr lang="en-IN" dirty="0"/>
          </a:p>
        </p:txBody>
      </p:sp>
      <p:pic>
        <p:nvPicPr>
          <p:cNvPr id="9" name="Picture 8"/>
          <p:cNvPicPr>
            <a:picLocks noChangeAspect="1"/>
          </p:cNvPicPr>
          <p:nvPr/>
        </p:nvPicPr>
        <p:blipFill>
          <a:blip r:embed="rId6"/>
          <a:stretch>
            <a:fillRect/>
          </a:stretch>
        </p:blipFill>
        <p:spPr>
          <a:xfrm>
            <a:off x="6654614" y="1479874"/>
            <a:ext cx="2257740" cy="714475"/>
          </a:xfrm>
          <a:prstGeom prst="rect">
            <a:avLst/>
          </a:prstGeom>
        </p:spPr>
      </p:pic>
      <p:sp>
        <p:nvSpPr>
          <p:cNvPr id="10" name="Rectangle 9"/>
          <p:cNvSpPr/>
          <p:nvPr/>
        </p:nvSpPr>
        <p:spPr>
          <a:xfrm>
            <a:off x="6577160" y="2513463"/>
            <a:ext cx="2654637" cy="369332"/>
          </a:xfrm>
          <a:prstGeom prst="rect">
            <a:avLst/>
          </a:prstGeom>
        </p:spPr>
        <p:txBody>
          <a:bodyPr wrap="none">
            <a:spAutoFit/>
          </a:bodyPr>
          <a:lstStyle/>
          <a:p>
            <a:r>
              <a:rPr lang="en-US" dirty="0"/>
              <a:t>Insert 12 → goes right leaf</a:t>
            </a:r>
            <a:endParaRPr lang="en-IN" dirty="0"/>
          </a:p>
        </p:txBody>
      </p:sp>
      <p:pic>
        <p:nvPicPr>
          <p:cNvPr id="11" name="Picture 10"/>
          <p:cNvPicPr>
            <a:picLocks noChangeAspect="1"/>
          </p:cNvPicPr>
          <p:nvPr/>
        </p:nvPicPr>
        <p:blipFill>
          <a:blip r:embed="rId7"/>
          <a:stretch>
            <a:fillRect/>
          </a:stretch>
        </p:blipFill>
        <p:spPr>
          <a:xfrm>
            <a:off x="6595578" y="2982468"/>
            <a:ext cx="2772162" cy="762106"/>
          </a:xfrm>
          <a:prstGeom prst="rect">
            <a:avLst/>
          </a:prstGeom>
        </p:spPr>
      </p:pic>
    </p:spTree>
    <p:extLst>
      <p:ext uri="{BB962C8B-B14F-4D97-AF65-F5344CB8AC3E}">
        <p14:creationId xmlns:p14="http://schemas.microsoft.com/office/powerpoint/2010/main" val="98428426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5909310"/>
          </a:xfrm>
          <a:prstGeom prst="rect">
            <a:avLst/>
          </a:prstGeom>
        </p:spPr>
        <p:txBody>
          <a:bodyPr wrap="square">
            <a:spAutoFit/>
          </a:bodyPr>
          <a:lstStyle/>
          <a:p>
            <a:r>
              <a:rPr lang="en-US" b="1" dirty="0" err="1" smtClean="0">
                <a:solidFill>
                  <a:srgbClr val="FF0000"/>
                </a:solidFill>
              </a:rPr>
              <a:t>B+Tree</a:t>
            </a:r>
            <a:endParaRPr lang="en-US" b="1" dirty="0" smtClean="0">
              <a:solidFill>
                <a:srgbClr val="FF0000"/>
              </a:solidFill>
            </a:endParaRPr>
          </a:p>
          <a:p>
            <a:endParaRPr lang="en-US" b="1" dirty="0" smtClean="0">
              <a:solidFill>
                <a:srgbClr val="FF0000"/>
              </a:solidFill>
            </a:endParaRPr>
          </a:p>
          <a:p>
            <a:r>
              <a:rPr lang="en-US" b="1" dirty="0"/>
              <a:t>H</a:t>
            </a:r>
            <a:r>
              <a:rPr lang="en-US" b="1" dirty="0" smtClean="0"/>
              <a:t>ow </a:t>
            </a:r>
            <a:r>
              <a:rPr lang="en-US" b="1" dirty="0"/>
              <a:t>It Differs from </a:t>
            </a:r>
            <a:r>
              <a:rPr lang="en-US" b="1" dirty="0" smtClean="0"/>
              <a:t>B‑Tree?</a:t>
            </a:r>
          </a:p>
          <a:p>
            <a:endParaRPr lang="en-US" b="1" dirty="0"/>
          </a:p>
          <a:p>
            <a:pPr marL="285750" indent="-285750">
              <a:buFont typeface="Arial" panose="020B0604020202020204" pitchFamily="34" charset="0"/>
              <a:buChar char="•"/>
            </a:pPr>
            <a:r>
              <a:rPr lang="en-US" dirty="0"/>
              <a:t>In </a:t>
            </a:r>
            <a:r>
              <a:rPr lang="en-US" b="1" dirty="0"/>
              <a:t>B‑Tree</a:t>
            </a:r>
            <a:r>
              <a:rPr lang="en-US" dirty="0"/>
              <a:t>: keys + data can be in both internal and leaf nodes.</a:t>
            </a:r>
          </a:p>
          <a:p>
            <a:pPr marL="285750" indent="-285750">
              <a:buFont typeface="Arial" panose="020B0604020202020204" pitchFamily="34" charset="0"/>
              <a:buChar char="•"/>
            </a:pPr>
            <a:r>
              <a:rPr lang="en-US" dirty="0"/>
              <a:t>In </a:t>
            </a:r>
            <a:r>
              <a:rPr lang="en-US" b="1" dirty="0"/>
              <a:t>B+ Tree</a:t>
            </a:r>
            <a:r>
              <a:rPr lang="en-US" dirty="0"/>
              <a:t>:</a:t>
            </a:r>
          </a:p>
          <a:p>
            <a:pPr marL="742950" lvl="1" indent="-285750">
              <a:buFont typeface="Arial" panose="020B0604020202020204" pitchFamily="34" charset="0"/>
              <a:buChar char="•"/>
            </a:pPr>
            <a:r>
              <a:rPr lang="en-US" dirty="0"/>
              <a:t>Internal nodes = </a:t>
            </a:r>
            <a:r>
              <a:rPr lang="en-US" b="1" dirty="0"/>
              <a:t>keys only</a:t>
            </a:r>
            <a:r>
              <a:rPr lang="en-US" dirty="0"/>
              <a:t> (like a catalog).</a:t>
            </a:r>
          </a:p>
          <a:p>
            <a:pPr marL="742950" lvl="1" indent="-285750">
              <a:buFont typeface="Arial" panose="020B0604020202020204" pitchFamily="34" charset="0"/>
              <a:buChar char="•"/>
            </a:pPr>
            <a:r>
              <a:rPr lang="en-US" dirty="0"/>
              <a:t>Leaf nodes = </a:t>
            </a:r>
            <a:r>
              <a:rPr lang="en-US" b="1" dirty="0"/>
              <a:t>keys + data</a:t>
            </a:r>
            <a:r>
              <a:rPr lang="en-US" dirty="0"/>
              <a:t> (actual records).</a:t>
            </a:r>
          </a:p>
          <a:p>
            <a:pPr marL="742950" lvl="1" indent="-285750">
              <a:buFont typeface="Arial" panose="020B0604020202020204" pitchFamily="34" charset="0"/>
              <a:buChar char="•"/>
            </a:pPr>
            <a:r>
              <a:rPr lang="en-US" dirty="0"/>
              <a:t>Leaves are linked for fast sequential access.</a:t>
            </a:r>
          </a:p>
          <a:p>
            <a:endParaRPr lang="en-US" b="1" dirty="0" smtClean="0">
              <a:solidFill>
                <a:srgbClr val="FF0000"/>
              </a:solidFill>
            </a:endParaRPr>
          </a:p>
          <a:p>
            <a:r>
              <a:rPr lang="en-US" b="1" dirty="0" smtClean="0"/>
              <a:t>Properties</a:t>
            </a:r>
            <a:endParaRPr lang="en-US" b="1" dirty="0"/>
          </a:p>
          <a:p>
            <a:pPr marL="285750" indent="-285750">
              <a:buFont typeface="Arial" panose="020B0604020202020204" pitchFamily="34" charset="0"/>
              <a:buChar char="•"/>
            </a:pPr>
            <a:r>
              <a:rPr lang="en-US" b="1" dirty="0"/>
              <a:t>Balanced height</a:t>
            </a:r>
            <a:r>
              <a:rPr lang="en-US" dirty="0"/>
              <a:t> → O(log n) search, insert, delete.</a:t>
            </a:r>
          </a:p>
          <a:p>
            <a:pPr marL="285750" indent="-285750">
              <a:buFont typeface="Arial" panose="020B0604020202020204" pitchFamily="34" charset="0"/>
              <a:buChar char="•"/>
            </a:pPr>
            <a:r>
              <a:rPr lang="en-US" b="1" dirty="0"/>
              <a:t>Range queries are very fast</a:t>
            </a:r>
            <a:r>
              <a:rPr lang="en-US" dirty="0"/>
              <a:t> because leaf nodes are linked.</a:t>
            </a:r>
          </a:p>
          <a:p>
            <a:pPr marL="285750" indent="-285750">
              <a:buFont typeface="Arial" panose="020B0604020202020204" pitchFamily="34" charset="0"/>
              <a:buChar char="•"/>
            </a:pPr>
            <a:r>
              <a:rPr lang="en-US" b="1" dirty="0"/>
              <a:t>Better for databases</a:t>
            </a:r>
            <a:r>
              <a:rPr lang="en-US" dirty="0"/>
              <a:t> where scanning ranges (like “find all IDs between 100 and 200”) is common.</a:t>
            </a:r>
          </a:p>
          <a:p>
            <a:endParaRPr lang="en-US" b="1" dirty="0" smtClean="0">
              <a:solidFill>
                <a:srgbClr val="FF0000"/>
              </a:solidFill>
            </a:endParaRPr>
          </a:p>
          <a:p>
            <a:endParaRPr lang="en-US" b="1" dirty="0">
              <a:solidFill>
                <a:srgbClr val="FF0000"/>
              </a:solidFill>
            </a:endParaRPr>
          </a:p>
          <a:p>
            <a:r>
              <a:rPr lang="en-US" dirty="0"/>
              <a:t>A </a:t>
            </a:r>
            <a:r>
              <a:rPr lang="en-US" b="1" dirty="0"/>
              <a:t>B+ Tree</a:t>
            </a:r>
            <a:r>
              <a:rPr lang="en-US" dirty="0"/>
              <a:t> is like a </a:t>
            </a:r>
            <a:r>
              <a:rPr lang="en-US" b="1" dirty="0"/>
              <a:t>library catalog system</a:t>
            </a:r>
            <a:r>
              <a:rPr lang="en-US" dirty="0"/>
              <a:t>:</a:t>
            </a:r>
          </a:p>
          <a:p>
            <a:pPr marL="285750" indent="-285750">
              <a:buFont typeface="Arial" panose="020B0604020202020204" pitchFamily="34" charset="0"/>
              <a:buChar char="•"/>
            </a:pPr>
            <a:r>
              <a:rPr lang="en-US" dirty="0"/>
              <a:t>Internal nodes = catalog cards (just titles).</a:t>
            </a:r>
          </a:p>
          <a:p>
            <a:pPr marL="285750" indent="-285750">
              <a:buFont typeface="Arial" panose="020B0604020202020204" pitchFamily="34" charset="0"/>
              <a:buChar char="•"/>
            </a:pPr>
            <a:r>
              <a:rPr lang="en-US" dirty="0"/>
              <a:t>Leaf nodes = actual books (full records).</a:t>
            </a:r>
          </a:p>
          <a:p>
            <a:pPr marL="285750" indent="-285750">
              <a:buFont typeface="Arial" panose="020B0604020202020204" pitchFamily="34" charset="0"/>
              <a:buChar char="•"/>
            </a:pPr>
            <a:r>
              <a:rPr lang="en-US" dirty="0"/>
              <a:t>Linked leaves = shelves connected in order, so you can walk through them easily.</a:t>
            </a:r>
          </a:p>
          <a:p>
            <a:endParaRPr lang="en-US" b="1" dirty="0" smtClean="0">
              <a:solidFill>
                <a:srgbClr val="FF0000"/>
              </a:solidFill>
            </a:endParaRPr>
          </a:p>
        </p:txBody>
      </p:sp>
    </p:spTree>
    <p:extLst>
      <p:ext uri="{BB962C8B-B14F-4D97-AF65-F5344CB8AC3E}">
        <p14:creationId xmlns:p14="http://schemas.microsoft.com/office/powerpoint/2010/main" val="67237955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646331"/>
          </a:xfrm>
          <a:prstGeom prst="rect">
            <a:avLst/>
          </a:prstGeom>
        </p:spPr>
        <p:txBody>
          <a:bodyPr wrap="square">
            <a:spAutoFit/>
          </a:bodyPr>
          <a:lstStyle/>
          <a:p>
            <a:r>
              <a:rPr lang="en-US" b="1" dirty="0" err="1" smtClean="0">
                <a:solidFill>
                  <a:srgbClr val="FF0000"/>
                </a:solidFill>
              </a:rPr>
              <a:t>B+Tree</a:t>
            </a:r>
            <a:endParaRPr lang="en-US" b="1" dirty="0" smtClean="0">
              <a:solidFill>
                <a:srgbClr val="FF0000"/>
              </a:solidFill>
            </a:endParaRPr>
          </a:p>
          <a:p>
            <a:endParaRPr lang="en-US" b="1" dirty="0" smtClean="0">
              <a:solidFill>
                <a:srgbClr val="FF0000"/>
              </a:solidFill>
            </a:endParaRPr>
          </a:p>
        </p:txBody>
      </p:sp>
      <p:pic>
        <p:nvPicPr>
          <p:cNvPr id="7" name="Picture 6"/>
          <p:cNvPicPr>
            <a:picLocks noChangeAspect="1"/>
          </p:cNvPicPr>
          <p:nvPr/>
        </p:nvPicPr>
        <p:blipFill>
          <a:blip r:embed="rId3"/>
          <a:stretch>
            <a:fillRect/>
          </a:stretch>
        </p:blipFill>
        <p:spPr>
          <a:xfrm>
            <a:off x="97715" y="946660"/>
            <a:ext cx="4382112" cy="5803273"/>
          </a:xfrm>
          <a:prstGeom prst="rect">
            <a:avLst/>
          </a:prstGeom>
        </p:spPr>
      </p:pic>
      <p:pic>
        <p:nvPicPr>
          <p:cNvPr id="8" name="Picture 7"/>
          <p:cNvPicPr>
            <a:picLocks noChangeAspect="1"/>
          </p:cNvPicPr>
          <p:nvPr/>
        </p:nvPicPr>
        <p:blipFill>
          <a:blip r:embed="rId4"/>
          <a:stretch>
            <a:fillRect/>
          </a:stretch>
        </p:blipFill>
        <p:spPr>
          <a:xfrm>
            <a:off x="4653456" y="946661"/>
            <a:ext cx="5477639" cy="5803272"/>
          </a:xfrm>
          <a:prstGeom prst="rect">
            <a:avLst/>
          </a:prstGeom>
        </p:spPr>
      </p:pic>
    </p:spTree>
    <p:extLst>
      <p:ext uri="{BB962C8B-B14F-4D97-AF65-F5344CB8AC3E}">
        <p14:creationId xmlns:p14="http://schemas.microsoft.com/office/powerpoint/2010/main" val="226935021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646331"/>
          </a:xfrm>
          <a:prstGeom prst="rect">
            <a:avLst/>
          </a:prstGeom>
        </p:spPr>
        <p:txBody>
          <a:bodyPr wrap="square">
            <a:spAutoFit/>
          </a:bodyPr>
          <a:lstStyle/>
          <a:p>
            <a:r>
              <a:rPr lang="en-US" b="1" dirty="0" err="1" smtClean="0">
                <a:solidFill>
                  <a:srgbClr val="FF0000"/>
                </a:solidFill>
              </a:rPr>
              <a:t>B+Tree</a:t>
            </a:r>
            <a:endParaRPr lang="en-US" b="1" dirty="0" smtClean="0">
              <a:solidFill>
                <a:srgbClr val="FF0000"/>
              </a:solidFill>
            </a:endParaRPr>
          </a:p>
          <a:p>
            <a:endParaRPr lang="en-US" b="1" dirty="0" smtClean="0">
              <a:solidFill>
                <a:srgbClr val="FF0000"/>
              </a:solidFill>
            </a:endParaRPr>
          </a:p>
        </p:txBody>
      </p:sp>
      <p:pic>
        <p:nvPicPr>
          <p:cNvPr id="9" name="Picture 8"/>
          <p:cNvPicPr>
            <a:picLocks noChangeAspect="1"/>
          </p:cNvPicPr>
          <p:nvPr/>
        </p:nvPicPr>
        <p:blipFill>
          <a:blip r:embed="rId3"/>
          <a:stretch>
            <a:fillRect/>
          </a:stretch>
        </p:blipFill>
        <p:spPr>
          <a:xfrm>
            <a:off x="114451" y="939338"/>
            <a:ext cx="7773485" cy="5785506"/>
          </a:xfrm>
          <a:prstGeom prst="rect">
            <a:avLst/>
          </a:prstGeom>
        </p:spPr>
      </p:pic>
    </p:spTree>
    <p:extLst>
      <p:ext uri="{BB962C8B-B14F-4D97-AF65-F5344CB8AC3E}">
        <p14:creationId xmlns:p14="http://schemas.microsoft.com/office/powerpoint/2010/main" val="265065717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646331"/>
          </a:xfrm>
          <a:prstGeom prst="rect">
            <a:avLst/>
          </a:prstGeom>
        </p:spPr>
        <p:txBody>
          <a:bodyPr wrap="square">
            <a:spAutoFit/>
          </a:bodyPr>
          <a:lstStyle/>
          <a:p>
            <a:r>
              <a:rPr lang="en-US" b="1" dirty="0" err="1" smtClean="0">
                <a:solidFill>
                  <a:srgbClr val="FF0000"/>
                </a:solidFill>
              </a:rPr>
              <a:t>B+Tree</a:t>
            </a:r>
            <a:endParaRPr lang="en-US" b="1" dirty="0" smtClean="0">
              <a:solidFill>
                <a:srgbClr val="FF0000"/>
              </a:solidFill>
            </a:endParaRPr>
          </a:p>
          <a:p>
            <a:endParaRPr lang="en-US" b="1" dirty="0" smtClean="0">
              <a:solidFill>
                <a:srgbClr val="FF0000"/>
              </a:solidFill>
            </a:endParaRPr>
          </a:p>
        </p:txBody>
      </p:sp>
      <p:pic>
        <p:nvPicPr>
          <p:cNvPr id="7" name="Picture 6"/>
          <p:cNvPicPr>
            <a:picLocks noChangeAspect="1"/>
          </p:cNvPicPr>
          <p:nvPr/>
        </p:nvPicPr>
        <p:blipFill>
          <a:blip r:embed="rId3"/>
          <a:stretch>
            <a:fillRect/>
          </a:stretch>
        </p:blipFill>
        <p:spPr>
          <a:xfrm>
            <a:off x="164911" y="1005841"/>
            <a:ext cx="5611008" cy="5659136"/>
          </a:xfrm>
          <a:prstGeom prst="rect">
            <a:avLst/>
          </a:prstGeom>
        </p:spPr>
      </p:pic>
      <p:pic>
        <p:nvPicPr>
          <p:cNvPr id="8" name="Picture 7"/>
          <p:cNvPicPr>
            <a:picLocks noChangeAspect="1"/>
          </p:cNvPicPr>
          <p:nvPr/>
        </p:nvPicPr>
        <p:blipFill>
          <a:blip r:embed="rId4"/>
          <a:stretch>
            <a:fillRect/>
          </a:stretch>
        </p:blipFill>
        <p:spPr>
          <a:xfrm>
            <a:off x="6096000" y="2424974"/>
            <a:ext cx="5325218" cy="1038370"/>
          </a:xfrm>
          <a:prstGeom prst="rect">
            <a:avLst/>
          </a:prstGeom>
        </p:spPr>
      </p:pic>
    </p:spTree>
    <p:extLst>
      <p:ext uri="{BB962C8B-B14F-4D97-AF65-F5344CB8AC3E}">
        <p14:creationId xmlns:p14="http://schemas.microsoft.com/office/powerpoint/2010/main" val="427445118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4647426"/>
          </a:xfrm>
          <a:prstGeom prst="rect">
            <a:avLst/>
          </a:prstGeom>
        </p:spPr>
        <p:txBody>
          <a:bodyPr wrap="square">
            <a:spAutoFit/>
          </a:bodyPr>
          <a:lstStyle/>
          <a:p>
            <a:r>
              <a:rPr lang="en-US" b="1" dirty="0" err="1" smtClean="0">
                <a:solidFill>
                  <a:srgbClr val="FF0000"/>
                </a:solidFill>
              </a:rPr>
              <a:t>B+Tree</a:t>
            </a:r>
            <a:endParaRPr lang="en-US" b="1" dirty="0" smtClean="0">
              <a:solidFill>
                <a:srgbClr val="FF0000"/>
              </a:solidFill>
            </a:endParaRPr>
          </a:p>
          <a:p>
            <a:endParaRPr lang="en-US" b="1" dirty="0" smtClean="0">
              <a:solidFill>
                <a:srgbClr val="FF0000"/>
              </a:solidFill>
            </a:endParaRPr>
          </a:p>
          <a:p>
            <a:r>
              <a:rPr lang="en-US" b="1" dirty="0">
                <a:solidFill>
                  <a:srgbClr val="FF0000"/>
                </a:solidFill>
              </a:rPr>
              <a:t>Program </a:t>
            </a:r>
            <a:r>
              <a:rPr lang="en-US" b="1" dirty="0" smtClean="0">
                <a:solidFill>
                  <a:srgbClr val="FF0000"/>
                </a:solidFill>
              </a:rPr>
              <a:t>Structure</a:t>
            </a:r>
          </a:p>
          <a:p>
            <a:endParaRPr lang="en-US" b="1" dirty="0">
              <a:solidFill>
                <a:srgbClr val="FF0000"/>
              </a:solidFill>
            </a:endParaRPr>
          </a:p>
          <a:p>
            <a:r>
              <a:rPr lang="en-US" sz="1600" b="1" dirty="0"/>
              <a:t>Class </a:t>
            </a:r>
            <a:r>
              <a:rPr lang="en-US" sz="1600" b="1" dirty="0" err="1"/>
              <a:t>BPlusNode</a:t>
            </a:r>
            <a:endParaRPr lang="en-US" sz="1600" b="1" dirty="0"/>
          </a:p>
          <a:p>
            <a:endParaRPr lang="en-US" sz="1600" dirty="0"/>
          </a:p>
          <a:p>
            <a:pPr marL="285750" indent="-285750">
              <a:buFont typeface="Arial" panose="020B0604020202020204" pitchFamily="34" charset="0"/>
              <a:buChar char="•"/>
            </a:pPr>
            <a:r>
              <a:rPr lang="en-US" sz="1600" dirty="0"/>
              <a:t>keys → list of keys stored in the node.</a:t>
            </a:r>
          </a:p>
          <a:p>
            <a:pPr marL="285750" indent="-285750">
              <a:buFont typeface="Arial" panose="020B0604020202020204" pitchFamily="34" charset="0"/>
              <a:buChar char="•"/>
            </a:pPr>
            <a:r>
              <a:rPr lang="en-US" sz="1600" dirty="0" smtClean="0"/>
              <a:t>children </a:t>
            </a:r>
            <a:r>
              <a:rPr lang="en-US" sz="1600" dirty="0"/>
              <a:t>→ child pointers (used in internal nodes).</a:t>
            </a:r>
          </a:p>
          <a:p>
            <a:pPr marL="285750" indent="-285750">
              <a:buFont typeface="Arial" panose="020B0604020202020204" pitchFamily="34" charset="0"/>
              <a:buChar char="•"/>
            </a:pPr>
            <a:r>
              <a:rPr lang="en-US" sz="1600" dirty="0" err="1" smtClean="0"/>
              <a:t>isLeaf</a:t>
            </a:r>
            <a:r>
              <a:rPr lang="en-US" sz="1600" dirty="0" smtClean="0"/>
              <a:t> </a:t>
            </a:r>
            <a:r>
              <a:rPr lang="en-US" sz="1600" dirty="0"/>
              <a:t>→ whether the node is a leaf.</a:t>
            </a:r>
          </a:p>
          <a:p>
            <a:pPr marL="285750" indent="-285750">
              <a:buFont typeface="Arial" panose="020B0604020202020204" pitchFamily="34" charset="0"/>
              <a:buChar char="•"/>
            </a:pPr>
            <a:r>
              <a:rPr lang="en-US" sz="1600" dirty="0" smtClean="0"/>
              <a:t>next </a:t>
            </a:r>
            <a:r>
              <a:rPr lang="en-US" sz="1600" dirty="0"/>
              <a:t>→ pointer to the next leaf (for linked leaf traversal).</a:t>
            </a:r>
          </a:p>
          <a:p>
            <a:endParaRPr lang="en-US" sz="1600" dirty="0"/>
          </a:p>
          <a:p>
            <a:r>
              <a:rPr lang="en-US" sz="1600" b="1" dirty="0"/>
              <a:t>Class BPlusTreeExample14</a:t>
            </a:r>
          </a:p>
          <a:p>
            <a:endParaRPr lang="en-US" sz="1600" dirty="0"/>
          </a:p>
          <a:p>
            <a:pPr marL="285750" indent="-285750">
              <a:buFont typeface="Arial" panose="020B0604020202020204" pitchFamily="34" charset="0"/>
              <a:buChar char="•"/>
            </a:pPr>
            <a:r>
              <a:rPr lang="en-US" sz="1600" dirty="0"/>
              <a:t>root → root node of the tree.</a:t>
            </a:r>
          </a:p>
          <a:p>
            <a:pPr marL="285750" indent="-285750">
              <a:buFont typeface="Arial" panose="020B0604020202020204" pitchFamily="34" charset="0"/>
              <a:buChar char="•"/>
            </a:pPr>
            <a:r>
              <a:rPr lang="en-US" sz="1600" dirty="0" err="1" smtClean="0"/>
              <a:t>maxKeys</a:t>
            </a:r>
            <a:r>
              <a:rPr lang="en-US" sz="1600" dirty="0" smtClean="0"/>
              <a:t> </a:t>
            </a:r>
            <a:r>
              <a:rPr lang="en-US" sz="1600" dirty="0"/>
              <a:t>→ maximum number of keys allowed in a node before splitting.</a:t>
            </a:r>
          </a:p>
          <a:p>
            <a:pPr marL="285750" indent="-285750">
              <a:buFont typeface="Arial" panose="020B0604020202020204" pitchFamily="34" charset="0"/>
              <a:buChar char="•"/>
            </a:pPr>
            <a:r>
              <a:rPr lang="en-US" sz="1600" dirty="0" smtClean="0"/>
              <a:t>insert(key</a:t>
            </a:r>
            <a:r>
              <a:rPr lang="en-US" sz="1600" dirty="0"/>
              <a:t>) → inserts a new key into the tree.</a:t>
            </a:r>
          </a:p>
          <a:p>
            <a:pPr marL="285750" indent="-285750">
              <a:buFont typeface="Arial" panose="020B0604020202020204" pitchFamily="34" charset="0"/>
              <a:buChar char="•"/>
            </a:pPr>
            <a:r>
              <a:rPr lang="en-US" sz="1600" dirty="0" err="1" smtClean="0"/>
              <a:t>splitLeaf</a:t>
            </a:r>
            <a:r>
              <a:rPr lang="en-US" sz="1600" dirty="0" smtClean="0"/>
              <a:t>(leaf</a:t>
            </a:r>
            <a:r>
              <a:rPr lang="en-US" sz="1600" dirty="0"/>
              <a:t>) → splits a leaf when it overflows.</a:t>
            </a:r>
          </a:p>
          <a:p>
            <a:pPr marL="285750" indent="-285750">
              <a:buFont typeface="Arial" panose="020B0604020202020204" pitchFamily="34" charset="0"/>
              <a:buChar char="•"/>
            </a:pPr>
            <a:r>
              <a:rPr lang="en-US" sz="1600" dirty="0" err="1" smtClean="0"/>
              <a:t>printLeaves</a:t>
            </a:r>
            <a:r>
              <a:rPr lang="en-US" sz="1600" dirty="0"/>
              <a:t>() → prints all leaf nodes in order using the linked list of leaves.</a:t>
            </a:r>
            <a:endParaRPr lang="en-US" sz="1600" dirty="0" smtClean="0"/>
          </a:p>
        </p:txBody>
      </p:sp>
    </p:spTree>
    <p:extLst>
      <p:ext uri="{BB962C8B-B14F-4D97-AF65-F5344CB8AC3E}">
        <p14:creationId xmlns:p14="http://schemas.microsoft.com/office/powerpoint/2010/main" val="1530460499"/>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4893647"/>
          </a:xfrm>
          <a:prstGeom prst="rect">
            <a:avLst/>
          </a:prstGeom>
        </p:spPr>
        <p:txBody>
          <a:bodyPr wrap="square">
            <a:spAutoFit/>
          </a:bodyPr>
          <a:lstStyle/>
          <a:p>
            <a:r>
              <a:rPr lang="en-US" b="1" dirty="0" err="1" smtClean="0">
                <a:solidFill>
                  <a:srgbClr val="FF0000"/>
                </a:solidFill>
              </a:rPr>
              <a:t>B+Tree</a:t>
            </a:r>
            <a:endParaRPr lang="en-US" b="1" dirty="0" smtClean="0">
              <a:solidFill>
                <a:srgbClr val="FF0000"/>
              </a:solidFill>
            </a:endParaRPr>
          </a:p>
          <a:p>
            <a:endParaRPr lang="en-US" b="1" dirty="0" smtClean="0">
              <a:solidFill>
                <a:srgbClr val="FF0000"/>
              </a:solidFill>
            </a:endParaRPr>
          </a:p>
          <a:p>
            <a:r>
              <a:rPr lang="en-US" b="1" dirty="0">
                <a:solidFill>
                  <a:srgbClr val="FF0000"/>
                </a:solidFill>
              </a:rPr>
              <a:t>Program </a:t>
            </a:r>
            <a:r>
              <a:rPr lang="en-US" b="1" dirty="0" smtClean="0">
                <a:solidFill>
                  <a:srgbClr val="FF0000"/>
                </a:solidFill>
              </a:rPr>
              <a:t>Structure</a:t>
            </a:r>
          </a:p>
          <a:p>
            <a:endParaRPr lang="en-US" b="1" dirty="0">
              <a:solidFill>
                <a:srgbClr val="FF0000"/>
              </a:solidFill>
            </a:endParaRPr>
          </a:p>
          <a:p>
            <a:r>
              <a:rPr lang="en-US" sz="1600" b="1" dirty="0"/>
              <a:t>Inputs</a:t>
            </a:r>
          </a:p>
          <a:p>
            <a:r>
              <a:rPr lang="en-US" sz="1600" b="1" dirty="0"/>
              <a:t>In main, you create a B+ Tree with </a:t>
            </a:r>
            <a:r>
              <a:rPr lang="en-US" sz="1600" b="1" dirty="0" err="1"/>
              <a:t>maxKeys</a:t>
            </a:r>
            <a:r>
              <a:rPr lang="en-US" sz="1600" b="1" dirty="0"/>
              <a:t> = 3</a:t>
            </a:r>
            <a:r>
              <a:rPr lang="en-US" sz="1600" b="1" dirty="0" smtClean="0"/>
              <a:t>:</a:t>
            </a:r>
          </a:p>
          <a:p>
            <a:endParaRPr lang="en-US" sz="1600" b="1" dirty="0"/>
          </a:p>
          <a:p>
            <a:r>
              <a:rPr lang="en-IN" sz="1600" dirty="0"/>
              <a:t>Then you insert values</a:t>
            </a:r>
            <a:r>
              <a:rPr lang="en-IN" sz="1600" dirty="0" smtClean="0"/>
              <a:t>:</a:t>
            </a:r>
          </a:p>
          <a:p>
            <a:endParaRPr lang="en-IN" sz="1600" dirty="0"/>
          </a:p>
          <a:p>
            <a:endParaRPr lang="en-IN" sz="1600" dirty="0" smtClean="0"/>
          </a:p>
          <a:p>
            <a:endParaRPr lang="en-IN" sz="1600" dirty="0"/>
          </a:p>
          <a:p>
            <a:r>
              <a:rPr lang="en-US" sz="1600" b="1" dirty="0" smtClean="0"/>
              <a:t>How </a:t>
            </a:r>
            <a:r>
              <a:rPr lang="en-US" sz="1600" b="1" dirty="0"/>
              <a:t>Insert Works</a:t>
            </a:r>
          </a:p>
          <a:p>
            <a:r>
              <a:rPr lang="en-US" sz="1600" dirty="0"/>
              <a:t>Insert 10, 20, 5 → all fit in one leaf: [5,10,20].</a:t>
            </a:r>
          </a:p>
          <a:p>
            <a:endParaRPr lang="en-US" sz="1600" dirty="0"/>
          </a:p>
          <a:p>
            <a:r>
              <a:rPr lang="en-US" sz="1600" dirty="0"/>
              <a:t>Insert 6 → leaf overflows (&gt;3 keys), so split</a:t>
            </a:r>
            <a:r>
              <a:rPr lang="en-US" sz="1600" dirty="0" smtClean="0"/>
              <a:t>:</a:t>
            </a:r>
          </a:p>
          <a:p>
            <a:endParaRPr lang="en-US" sz="1600" dirty="0"/>
          </a:p>
          <a:p>
            <a:r>
              <a:rPr lang="en-US" sz="1600" b="1" dirty="0" smtClean="0"/>
              <a:t>      Root</a:t>
            </a:r>
            <a:r>
              <a:rPr lang="en-US" sz="1600" b="1" dirty="0"/>
              <a:t>: [10]</a:t>
            </a:r>
          </a:p>
          <a:p>
            <a:r>
              <a:rPr lang="en-US" sz="1600" b="1" dirty="0" smtClean="0"/>
              <a:t>    /                   \</a:t>
            </a:r>
            <a:endParaRPr lang="en-US" sz="1600" b="1" dirty="0"/>
          </a:p>
          <a:p>
            <a:r>
              <a:rPr lang="en-US" sz="1600" b="1" dirty="0"/>
              <a:t>Leaf:[5,6]  Leaf:[10,20]</a:t>
            </a:r>
            <a:endParaRPr lang="en-US" sz="1600" b="1" dirty="0" smtClean="0"/>
          </a:p>
        </p:txBody>
      </p:sp>
      <p:pic>
        <p:nvPicPr>
          <p:cNvPr id="3" name="Picture 2"/>
          <p:cNvPicPr>
            <a:picLocks noChangeAspect="1"/>
          </p:cNvPicPr>
          <p:nvPr/>
        </p:nvPicPr>
        <p:blipFill>
          <a:blip r:embed="rId3"/>
          <a:stretch>
            <a:fillRect/>
          </a:stretch>
        </p:blipFill>
        <p:spPr>
          <a:xfrm>
            <a:off x="198991" y="2698129"/>
            <a:ext cx="2400635" cy="285790"/>
          </a:xfrm>
          <a:prstGeom prst="rect">
            <a:avLst/>
          </a:prstGeom>
        </p:spPr>
      </p:pic>
      <p:sp>
        <p:nvSpPr>
          <p:cNvPr id="7" name="Rectangle 6"/>
          <p:cNvSpPr/>
          <p:nvPr/>
        </p:nvSpPr>
        <p:spPr>
          <a:xfrm>
            <a:off x="4984866" y="791250"/>
            <a:ext cx="6096000" cy="1200329"/>
          </a:xfrm>
          <a:prstGeom prst="rect">
            <a:avLst/>
          </a:prstGeom>
        </p:spPr>
        <p:txBody>
          <a:bodyPr>
            <a:spAutoFit/>
          </a:bodyPr>
          <a:lstStyle/>
          <a:p>
            <a:r>
              <a:rPr lang="en-IN" b="1" dirty="0"/>
              <a:t>(Leaves linked: [5,6] → [10,20])  </a:t>
            </a:r>
          </a:p>
          <a:p>
            <a:endParaRPr lang="en-IN" dirty="0"/>
          </a:p>
          <a:p>
            <a:r>
              <a:rPr lang="en-IN" dirty="0"/>
              <a:t>**Insert 12** → goes into right leaf: `[10,12,20]`.  </a:t>
            </a:r>
          </a:p>
          <a:p>
            <a:r>
              <a:rPr lang="en-IN" dirty="0"/>
              <a:t>**Insert 30** → right leaf overflows, split: </a:t>
            </a:r>
          </a:p>
        </p:txBody>
      </p:sp>
      <p:sp>
        <p:nvSpPr>
          <p:cNvPr id="8" name="Rectangle 7"/>
          <p:cNvSpPr/>
          <p:nvPr/>
        </p:nvSpPr>
        <p:spPr>
          <a:xfrm>
            <a:off x="5217621" y="2023543"/>
            <a:ext cx="6096000" cy="923330"/>
          </a:xfrm>
          <a:prstGeom prst="rect">
            <a:avLst/>
          </a:prstGeom>
        </p:spPr>
        <p:txBody>
          <a:bodyPr>
            <a:spAutoFit/>
          </a:bodyPr>
          <a:lstStyle/>
          <a:p>
            <a:r>
              <a:rPr lang="en-IN" b="1" dirty="0"/>
              <a:t> </a:t>
            </a:r>
            <a:r>
              <a:rPr lang="en-IN" b="1" dirty="0" smtClean="0"/>
              <a:t>                Root</a:t>
            </a:r>
            <a:r>
              <a:rPr lang="en-IN" b="1" dirty="0"/>
              <a:t>: [10,20]</a:t>
            </a:r>
          </a:p>
          <a:p>
            <a:r>
              <a:rPr lang="en-IN" b="1" dirty="0"/>
              <a:t>    </a:t>
            </a:r>
            <a:r>
              <a:rPr lang="en-IN" b="1" dirty="0" smtClean="0"/>
              <a:t>          </a:t>
            </a:r>
            <a:r>
              <a:rPr lang="en-IN" b="1" dirty="0"/>
              <a:t>/     </a:t>
            </a:r>
            <a:r>
              <a:rPr lang="en-IN" b="1" dirty="0" smtClean="0"/>
              <a:t>      |            </a:t>
            </a:r>
            <a:r>
              <a:rPr lang="en-IN" b="1" dirty="0"/>
              <a:t>\</a:t>
            </a:r>
          </a:p>
          <a:p>
            <a:r>
              <a:rPr lang="en-IN" b="1" dirty="0"/>
              <a:t>Leaf:[5,6] Leaf:[10,12] Leaf:[20,30]</a:t>
            </a:r>
          </a:p>
        </p:txBody>
      </p:sp>
      <p:sp>
        <p:nvSpPr>
          <p:cNvPr id="9" name="Rectangle 8"/>
          <p:cNvSpPr/>
          <p:nvPr/>
        </p:nvSpPr>
        <p:spPr>
          <a:xfrm>
            <a:off x="4910051" y="3480301"/>
            <a:ext cx="6096000" cy="1754326"/>
          </a:xfrm>
          <a:prstGeom prst="rect">
            <a:avLst/>
          </a:prstGeom>
        </p:spPr>
        <p:txBody>
          <a:bodyPr>
            <a:spAutoFit/>
          </a:bodyPr>
          <a:lstStyle/>
          <a:p>
            <a:r>
              <a:rPr lang="en-IN" dirty="0"/>
              <a:t> </a:t>
            </a:r>
            <a:r>
              <a:rPr lang="en-IN" b="1" dirty="0"/>
              <a:t>(Leaves linked: [5,6] → [10,12] → [20,30])  </a:t>
            </a:r>
          </a:p>
          <a:p>
            <a:endParaRPr lang="en-IN" dirty="0"/>
          </a:p>
          <a:p>
            <a:r>
              <a:rPr lang="en-IN" dirty="0" smtClean="0"/>
              <a:t>**</a:t>
            </a:r>
            <a:r>
              <a:rPr lang="en-IN" dirty="0"/>
              <a:t>Insert 7** → goes into left leaf: `[5,6,7]`.  </a:t>
            </a:r>
          </a:p>
          <a:p>
            <a:r>
              <a:rPr lang="en-IN" dirty="0" smtClean="0"/>
              <a:t>**</a:t>
            </a:r>
            <a:r>
              <a:rPr lang="en-IN" dirty="0"/>
              <a:t>Insert 17** → goes into middle leaf: `[10,12,17]`.  </a:t>
            </a:r>
          </a:p>
          <a:p>
            <a:endParaRPr lang="en-IN" dirty="0"/>
          </a:p>
          <a:p>
            <a:r>
              <a:rPr lang="en-IN" b="1" dirty="0"/>
              <a:t>Final structure:</a:t>
            </a:r>
          </a:p>
        </p:txBody>
      </p:sp>
      <p:sp>
        <p:nvSpPr>
          <p:cNvPr id="10" name="Rectangle 9"/>
          <p:cNvSpPr/>
          <p:nvPr/>
        </p:nvSpPr>
        <p:spPr>
          <a:xfrm>
            <a:off x="4910051" y="5237529"/>
            <a:ext cx="6096000" cy="923330"/>
          </a:xfrm>
          <a:prstGeom prst="rect">
            <a:avLst/>
          </a:prstGeom>
        </p:spPr>
        <p:txBody>
          <a:bodyPr>
            <a:spAutoFit/>
          </a:bodyPr>
          <a:lstStyle/>
          <a:p>
            <a:r>
              <a:rPr lang="en-IN" dirty="0"/>
              <a:t> </a:t>
            </a:r>
            <a:r>
              <a:rPr lang="en-IN" dirty="0" smtClean="0"/>
              <a:t>                      </a:t>
            </a:r>
            <a:r>
              <a:rPr lang="en-IN" b="1" dirty="0" smtClean="0"/>
              <a:t>Root</a:t>
            </a:r>
            <a:r>
              <a:rPr lang="en-IN" b="1" dirty="0"/>
              <a:t>: [10,20]</a:t>
            </a:r>
          </a:p>
          <a:p>
            <a:r>
              <a:rPr lang="en-IN" b="1" dirty="0"/>
              <a:t>   </a:t>
            </a:r>
            <a:r>
              <a:rPr lang="en-IN" b="1" dirty="0" smtClean="0"/>
              <a:t>                 </a:t>
            </a:r>
            <a:r>
              <a:rPr lang="en-IN" b="1" dirty="0"/>
              <a:t>/     </a:t>
            </a:r>
            <a:r>
              <a:rPr lang="en-IN" b="1" dirty="0" smtClean="0"/>
              <a:t>    </a:t>
            </a:r>
            <a:r>
              <a:rPr lang="en-IN" b="1" dirty="0"/>
              <a:t>|           </a:t>
            </a:r>
            <a:r>
              <a:rPr lang="en-IN" b="1" dirty="0" smtClean="0"/>
              <a:t>      </a:t>
            </a:r>
            <a:r>
              <a:rPr lang="en-IN" b="1" dirty="0"/>
              <a:t>\</a:t>
            </a:r>
          </a:p>
          <a:p>
            <a:r>
              <a:rPr lang="en-IN" b="1" dirty="0"/>
              <a:t>Leaf:[5,6,7] </a:t>
            </a:r>
            <a:r>
              <a:rPr lang="en-IN" b="1" dirty="0" smtClean="0"/>
              <a:t> Leaf</a:t>
            </a:r>
            <a:r>
              <a:rPr lang="en-IN" b="1" dirty="0"/>
              <a:t>:[10,12,17] </a:t>
            </a:r>
            <a:r>
              <a:rPr lang="en-IN" b="1" dirty="0" smtClean="0"/>
              <a:t> Leaf</a:t>
            </a:r>
            <a:r>
              <a:rPr lang="en-IN" b="1" dirty="0"/>
              <a:t>:[20,30]</a:t>
            </a:r>
          </a:p>
        </p:txBody>
      </p:sp>
    </p:spTree>
    <p:extLst>
      <p:ext uri="{BB962C8B-B14F-4D97-AF65-F5344CB8AC3E}">
        <p14:creationId xmlns:p14="http://schemas.microsoft.com/office/powerpoint/2010/main" val="187010959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2585323"/>
          </a:xfrm>
          <a:prstGeom prst="rect">
            <a:avLst/>
          </a:prstGeom>
        </p:spPr>
        <p:txBody>
          <a:bodyPr wrap="square">
            <a:spAutoFit/>
          </a:bodyPr>
          <a:lstStyle/>
          <a:p>
            <a:r>
              <a:rPr lang="en-US" b="1" dirty="0" err="1" smtClean="0">
                <a:solidFill>
                  <a:srgbClr val="FF0000"/>
                </a:solidFill>
              </a:rPr>
              <a:t>B+Tree</a:t>
            </a:r>
            <a:endParaRPr lang="en-US" b="1" dirty="0" smtClean="0">
              <a:solidFill>
                <a:srgbClr val="FF0000"/>
              </a:solidFill>
            </a:endParaRPr>
          </a:p>
          <a:p>
            <a:endParaRPr lang="en-US" b="1" dirty="0" smtClean="0">
              <a:solidFill>
                <a:srgbClr val="FF0000"/>
              </a:solidFill>
            </a:endParaRPr>
          </a:p>
          <a:p>
            <a:r>
              <a:rPr lang="en-US" b="1" dirty="0" smtClean="0"/>
              <a:t>Inputs</a:t>
            </a:r>
            <a:r>
              <a:rPr lang="en-US" b="1" dirty="0"/>
              <a:t>: </a:t>
            </a:r>
            <a:r>
              <a:rPr lang="en-US" dirty="0"/>
              <a:t>numbers {10,20,5,6,12,30,7,17}.</a:t>
            </a:r>
          </a:p>
          <a:p>
            <a:r>
              <a:rPr lang="en-US" b="1" dirty="0" smtClean="0"/>
              <a:t>Process</a:t>
            </a:r>
            <a:r>
              <a:rPr lang="en-US" b="1" dirty="0"/>
              <a:t>: </a:t>
            </a:r>
            <a:r>
              <a:rPr lang="en-US" dirty="0"/>
              <a:t>each number is inserted, leaves split when full, root updated with separator keys.</a:t>
            </a:r>
          </a:p>
          <a:p>
            <a:r>
              <a:rPr lang="en-US" b="1" dirty="0" smtClean="0"/>
              <a:t>Output</a:t>
            </a:r>
            <a:r>
              <a:rPr lang="en-US" b="1" dirty="0"/>
              <a:t>: </a:t>
            </a:r>
            <a:r>
              <a:rPr lang="en-US" dirty="0"/>
              <a:t>linked leaf traversal prints all leaf nodes in sorted order →</a:t>
            </a:r>
          </a:p>
          <a:p>
            <a:r>
              <a:rPr lang="en-US" dirty="0" smtClean="0"/>
              <a:t>                   [</a:t>
            </a:r>
            <a:r>
              <a:rPr lang="en-US" dirty="0"/>
              <a:t>5,6,7] → [10,12,17] → [20,30] → null.</a:t>
            </a:r>
          </a:p>
          <a:p>
            <a:endParaRPr lang="en-US" dirty="0"/>
          </a:p>
          <a:p>
            <a:r>
              <a:rPr lang="en-US" dirty="0"/>
              <a:t>This shows how the B+ Tree keeps data only in leaf nodes, links them for fast range queries, and uses internal nodes as navigation indexes.</a:t>
            </a:r>
            <a:endParaRPr lang="en-US" dirty="0" smtClean="0"/>
          </a:p>
        </p:txBody>
      </p:sp>
    </p:spTree>
    <p:extLst>
      <p:ext uri="{BB962C8B-B14F-4D97-AF65-F5344CB8AC3E}">
        <p14:creationId xmlns:p14="http://schemas.microsoft.com/office/powerpoint/2010/main" val="2508354426"/>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3970318"/>
          </a:xfrm>
          <a:prstGeom prst="rect">
            <a:avLst/>
          </a:prstGeom>
        </p:spPr>
        <p:txBody>
          <a:bodyPr wrap="square">
            <a:spAutoFit/>
          </a:bodyPr>
          <a:lstStyle/>
          <a:p>
            <a:r>
              <a:rPr lang="en-US" b="1" dirty="0" smtClean="0">
                <a:solidFill>
                  <a:srgbClr val="FF0000"/>
                </a:solidFill>
              </a:rPr>
              <a:t>B* Tree</a:t>
            </a:r>
          </a:p>
          <a:p>
            <a:endParaRPr lang="en-US" b="1" dirty="0" smtClean="0">
              <a:solidFill>
                <a:srgbClr val="FF0000"/>
              </a:solidFill>
            </a:endParaRPr>
          </a:p>
          <a:p>
            <a:r>
              <a:rPr lang="en-US" dirty="0" smtClean="0"/>
              <a:t>A  </a:t>
            </a:r>
            <a:r>
              <a:rPr lang="en-US" b="1" dirty="0"/>
              <a:t>B* Tree</a:t>
            </a:r>
            <a:r>
              <a:rPr lang="en-US" dirty="0"/>
              <a:t> is a balanced search tree like B and B+ Trees.</a:t>
            </a:r>
          </a:p>
          <a:p>
            <a:pPr marL="285750" indent="-285750">
              <a:buFont typeface="Arial" panose="020B0604020202020204" pitchFamily="34" charset="0"/>
              <a:buChar char="•"/>
            </a:pPr>
            <a:r>
              <a:rPr lang="en-US" dirty="0"/>
              <a:t>It differs by using a </a:t>
            </a:r>
            <a:r>
              <a:rPr lang="en-US" b="1" dirty="0"/>
              <a:t>redistribution strategy</a:t>
            </a:r>
            <a:r>
              <a:rPr lang="en-US" dirty="0"/>
              <a:t>:</a:t>
            </a:r>
          </a:p>
          <a:p>
            <a:pPr marL="742950" lvl="1" indent="-285750">
              <a:buFont typeface="Arial" panose="020B0604020202020204" pitchFamily="34" charset="0"/>
              <a:buChar char="•"/>
            </a:pPr>
            <a:r>
              <a:rPr lang="en-US" dirty="0"/>
              <a:t>When a node is full, instead of splitting immediately, it </a:t>
            </a:r>
            <a:r>
              <a:rPr lang="en-US" b="1" dirty="0"/>
              <a:t>borrows keys from its sibling</a:t>
            </a:r>
            <a:r>
              <a:rPr lang="en-US" dirty="0"/>
              <a:t>.</a:t>
            </a:r>
          </a:p>
          <a:p>
            <a:pPr marL="742950" lvl="1" indent="-285750">
              <a:buFont typeface="Arial" panose="020B0604020202020204" pitchFamily="34" charset="0"/>
              <a:buChar char="•"/>
            </a:pPr>
            <a:r>
              <a:rPr lang="en-US" dirty="0"/>
              <a:t>Only if redistribution is not possible, the node splits.</a:t>
            </a:r>
          </a:p>
          <a:p>
            <a:pPr marL="285750" indent="-285750">
              <a:buFont typeface="Arial" panose="020B0604020202020204" pitchFamily="34" charset="0"/>
              <a:buChar char="•"/>
            </a:pPr>
            <a:r>
              <a:rPr lang="en-US" dirty="0"/>
              <a:t>This results in </a:t>
            </a:r>
            <a:r>
              <a:rPr lang="en-US" b="1" dirty="0"/>
              <a:t>higher occupancy (~66%)</a:t>
            </a:r>
            <a:r>
              <a:rPr lang="en-US" dirty="0"/>
              <a:t> compared to B+ Trees (~50%).</a:t>
            </a:r>
          </a:p>
          <a:p>
            <a:endParaRPr lang="en-US" b="1" dirty="0" smtClean="0">
              <a:solidFill>
                <a:srgbClr val="FF0000"/>
              </a:solidFill>
            </a:endParaRPr>
          </a:p>
          <a:p>
            <a:endParaRPr lang="en-US" b="1" dirty="0">
              <a:solidFill>
                <a:srgbClr val="FF0000"/>
              </a:solidFill>
            </a:endParaRPr>
          </a:p>
          <a:p>
            <a:r>
              <a:rPr lang="en-US" b="1" dirty="0" smtClean="0"/>
              <a:t>Keys </a:t>
            </a:r>
            <a:r>
              <a:rPr lang="en-US" b="1" dirty="0"/>
              <a:t>and Data</a:t>
            </a:r>
          </a:p>
          <a:p>
            <a:pPr marL="285750" indent="-285750">
              <a:buFont typeface="Arial" panose="020B0604020202020204" pitchFamily="34" charset="0"/>
              <a:buChar char="•"/>
            </a:pPr>
            <a:r>
              <a:rPr lang="en-US" b="1" dirty="0"/>
              <a:t>Internal nodes</a:t>
            </a:r>
            <a:r>
              <a:rPr lang="en-US" dirty="0"/>
              <a:t>: store only keys for navigation.</a:t>
            </a:r>
          </a:p>
          <a:p>
            <a:pPr marL="285750" indent="-285750">
              <a:buFont typeface="Arial" panose="020B0604020202020204" pitchFamily="34" charset="0"/>
              <a:buChar char="•"/>
            </a:pPr>
            <a:r>
              <a:rPr lang="en-US" b="1" dirty="0"/>
              <a:t>Leaf nodes</a:t>
            </a:r>
            <a:r>
              <a:rPr lang="en-US" dirty="0"/>
              <a:t>: store both keys and data (like B+ Tree).</a:t>
            </a:r>
          </a:p>
          <a:p>
            <a:pPr marL="285750" indent="-285750">
              <a:buFont typeface="Arial" panose="020B0604020202020204" pitchFamily="34" charset="0"/>
              <a:buChar char="•"/>
            </a:pPr>
            <a:r>
              <a:rPr lang="en-US" b="1" dirty="0"/>
              <a:t>Linked leaves</a:t>
            </a:r>
            <a:r>
              <a:rPr lang="en-US" dirty="0"/>
              <a:t>: leaf nodes are connected for fast sequential access.</a:t>
            </a:r>
          </a:p>
          <a:p>
            <a:endParaRPr lang="en-US" b="1" dirty="0" smtClean="0">
              <a:solidFill>
                <a:srgbClr val="FF0000"/>
              </a:solidFill>
            </a:endParaRPr>
          </a:p>
        </p:txBody>
      </p:sp>
    </p:spTree>
    <p:extLst>
      <p:ext uri="{BB962C8B-B14F-4D97-AF65-F5344CB8AC3E}">
        <p14:creationId xmlns:p14="http://schemas.microsoft.com/office/powerpoint/2010/main" val="904671837"/>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4801314"/>
          </a:xfrm>
          <a:prstGeom prst="rect">
            <a:avLst/>
          </a:prstGeom>
        </p:spPr>
        <p:txBody>
          <a:bodyPr wrap="square">
            <a:spAutoFit/>
          </a:bodyPr>
          <a:lstStyle/>
          <a:p>
            <a:r>
              <a:rPr lang="en-US" b="1" dirty="0" smtClean="0">
                <a:solidFill>
                  <a:srgbClr val="FF0000"/>
                </a:solidFill>
              </a:rPr>
              <a:t>B* Tree</a:t>
            </a:r>
          </a:p>
          <a:p>
            <a:endParaRPr lang="en-US" b="1" dirty="0" smtClean="0">
              <a:solidFill>
                <a:srgbClr val="FF0000"/>
              </a:solidFill>
            </a:endParaRPr>
          </a:p>
          <a:p>
            <a:r>
              <a:rPr lang="en-US" b="1" dirty="0"/>
              <a:t>How It </a:t>
            </a:r>
            <a:r>
              <a:rPr lang="en-US" b="1" dirty="0" smtClean="0"/>
              <a:t>Works</a:t>
            </a:r>
          </a:p>
          <a:p>
            <a:endParaRPr lang="en-US" b="1" dirty="0"/>
          </a:p>
          <a:p>
            <a:pPr marL="285750" indent="-285750">
              <a:buFont typeface="Arial" panose="020B0604020202020204" pitchFamily="34" charset="0"/>
              <a:buChar char="•"/>
            </a:pPr>
            <a:r>
              <a:rPr lang="en-US" b="1" dirty="0"/>
              <a:t>Insertion</a:t>
            </a:r>
            <a:endParaRPr lang="en-US" dirty="0"/>
          </a:p>
          <a:p>
            <a:pPr marL="742950" lvl="1" indent="-285750">
              <a:buFont typeface="Arial" panose="020B0604020202020204" pitchFamily="34" charset="0"/>
              <a:buChar char="•"/>
            </a:pPr>
            <a:r>
              <a:rPr lang="en-US" dirty="0"/>
              <a:t>Insert key into the correct leaf.</a:t>
            </a:r>
          </a:p>
          <a:p>
            <a:pPr marL="742950" lvl="1" indent="-285750">
              <a:buFont typeface="Arial" panose="020B0604020202020204" pitchFamily="34" charset="0"/>
              <a:buChar char="•"/>
            </a:pPr>
            <a:r>
              <a:rPr lang="en-US" dirty="0"/>
              <a:t>If the leaf is full:</a:t>
            </a:r>
          </a:p>
          <a:p>
            <a:pPr marL="1200150" lvl="2" indent="-285750">
              <a:buFont typeface="Arial" panose="020B0604020202020204" pitchFamily="34" charset="0"/>
              <a:buChar char="•"/>
            </a:pPr>
            <a:r>
              <a:rPr lang="en-US" dirty="0"/>
              <a:t>First try to redistribute keys with its sibling.</a:t>
            </a:r>
          </a:p>
          <a:p>
            <a:pPr marL="1200150" lvl="2" indent="-285750">
              <a:buFont typeface="Arial" panose="020B0604020202020204" pitchFamily="34" charset="0"/>
              <a:buChar char="•"/>
            </a:pPr>
            <a:r>
              <a:rPr lang="en-US" dirty="0"/>
              <a:t>If redistribution fails, split the node.</a:t>
            </a:r>
          </a:p>
          <a:p>
            <a:pPr marL="742950" lvl="1" indent="-285750">
              <a:buFont typeface="Arial" panose="020B0604020202020204" pitchFamily="34" charset="0"/>
              <a:buChar char="•"/>
            </a:pPr>
            <a:r>
              <a:rPr lang="en-US" dirty="0"/>
              <a:t>Promote the middle key to the parent if splitting occurs.</a:t>
            </a:r>
          </a:p>
          <a:p>
            <a:pPr marL="285750" indent="-285750">
              <a:buFont typeface="Arial" panose="020B0604020202020204" pitchFamily="34" charset="0"/>
              <a:buChar char="•"/>
            </a:pPr>
            <a:r>
              <a:rPr lang="en-US" b="1" dirty="0"/>
              <a:t>Search</a:t>
            </a:r>
            <a:endParaRPr lang="en-US" dirty="0"/>
          </a:p>
          <a:p>
            <a:pPr marL="742950" lvl="1" indent="-285750">
              <a:buFont typeface="Arial" panose="020B0604020202020204" pitchFamily="34" charset="0"/>
              <a:buChar char="•"/>
            </a:pPr>
            <a:r>
              <a:rPr lang="en-US" dirty="0"/>
              <a:t>Works like B+ Tree: navigate using internal keys, then find data in leaf.</a:t>
            </a:r>
          </a:p>
          <a:p>
            <a:pPr marL="742950" lvl="1" indent="-285750">
              <a:buFont typeface="Arial" panose="020B0604020202020204" pitchFamily="34" charset="0"/>
              <a:buChar char="•"/>
            </a:pPr>
            <a:r>
              <a:rPr lang="en-US" dirty="0"/>
              <a:t>Complexity: O(log n).</a:t>
            </a:r>
          </a:p>
          <a:p>
            <a:pPr marL="285750" indent="-285750">
              <a:buFont typeface="Arial" panose="020B0604020202020204" pitchFamily="34" charset="0"/>
              <a:buChar char="•"/>
            </a:pPr>
            <a:r>
              <a:rPr lang="en-US" b="1" dirty="0"/>
              <a:t>Deletion</a:t>
            </a:r>
            <a:endParaRPr lang="en-US" dirty="0"/>
          </a:p>
          <a:p>
            <a:pPr marL="742950" lvl="1" indent="-285750">
              <a:buFont typeface="Arial" panose="020B0604020202020204" pitchFamily="34" charset="0"/>
              <a:buChar char="•"/>
            </a:pPr>
            <a:r>
              <a:rPr lang="en-US" dirty="0"/>
              <a:t>If a node has too few keys, borrow from sibling or merge.</a:t>
            </a:r>
          </a:p>
          <a:p>
            <a:pPr marL="742950" lvl="1" indent="-285750">
              <a:buFont typeface="Arial" panose="020B0604020202020204" pitchFamily="34" charset="0"/>
              <a:buChar char="•"/>
            </a:pPr>
            <a:r>
              <a:rPr lang="en-US" dirty="0"/>
              <a:t>Balance is maintained.</a:t>
            </a:r>
          </a:p>
          <a:p>
            <a:endParaRPr lang="en-US" b="1" dirty="0" smtClean="0">
              <a:solidFill>
                <a:srgbClr val="FF0000"/>
              </a:solidFill>
            </a:endParaRPr>
          </a:p>
        </p:txBody>
      </p:sp>
    </p:spTree>
    <p:extLst>
      <p:ext uri="{BB962C8B-B14F-4D97-AF65-F5344CB8AC3E}">
        <p14:creationId xmlns:p14="http://schemas.microsoft.com/office/powerpoint/2010/main" val="71822676"/>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923330"/>
          </a:xfrm>
          <a:prstGeom prst="rect">
            <a:avLst/>
          </a:prstGeom>
        </p:spPr>
        <p:txBody>
          <a:bodyPr wrap="square">
            <a:spAutoFit/>
          </a:bodyPr>
          <a:lstStyle/>
          <a:p>
            <a:r>
              <a:rPr lang="en-US" b="1" dirty="0" smtClean="0">
                <a:solidFill>
                  <a:srgbClr val="FF0000"/>
                </a:solidFill>
              </a:rPr>
              <a:t>B* Tree</a:t>
            </a:r>
          </a:p>
          <a:p>
            <a:endParaRPr lang="en-US" b="1" dirty="0" smtClean="0">
              <a:solidFill>
                <a:srgbClr val="FF0000"/>
              </a:solidFill>
            </a:endParaRPr>
          </a:p>
          <a:p>
            <a:endParaRPr lang="en-US" b="1" dirty="0" smtClean="0">
              <a:solidFill>
                <a:srgbClr val="FF0000"/>
              </a:solidFill>
            </a:endParaRPr>
          </a:p>
        </p:txBody>
      </p:sp>
      <p:pic>
        <p:nvPicPr>
          <p:cNvPr id="7" name="Picture 6"/>
          <p:cNvPicPr>
            <a:picLocks noChangeAspect="1"/>
          </p:cNvPicPr>
          <p:nvPr/>
        </p:nvPicPr>
        <p:blipFill>
          <a:blip r:embed="rId3"/>
          <a:stretch>
            <a:fillRect/>
          </a:stretch>
        </p:blipFill>
        <p:spPr>
          <a:xfrm>
            <a:off x="118829" y="864524"/>
            <a:ext cx="4572638" cy="5918662"/>
          </a:xfrm>
          <a:prstGeom prst="rect">
            <a:avLst/>
          </a:prstGeom>
        </p:spPr>
      </p:pic>
      <p:pic>
        <p:nvPicPr>
          <p:cNvPr id="8" name="Picture 7"/>
          <p:cNvPicPr>
            <a:picLocks noChangeAspect="1"/>
          </p:cNvPicPr>
          <p:nvPr/>
        </p:nvPicPr>
        <p:blipFill>
          <a:blip r:embed="rId4"/>
          <a:stretch>
            <a:fillRect/>
          </a:stretch>
        </p:blipFill>
        <p:spPr>
          <a:xfrm>
            <a:off x="4810296" y="864524"/>
            <a:ext cx="5506218" cy="5106113"/>
          </a:xfrm>
          <a:prstGeom prst="rect">
            <a:avLst/>
          </a:prstGeom>
        </p:spPr>
      </p:pic>
    </p:spTree>
    <p:extLst>
      <p:ext uri="{BB962C8B-B14F-4D97-AF65-F5344CB8AC3E}">
        <p14:creationId xmlns:p14="http://schemas.microsoft.com/office/powerpoint/2010/main" val="285748143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923330"/>
          </a:xfrm>
          <a:prstGeom prst="rect">
            <a:avLst/>
          </a:prstGeom>
        </p:spPr>
        <p:txBody>
          <a:bodyPr wrap="square">
            <a:spAutoFit/>
          </a:bodyPr>
          <a:lstStyle/>
          <a:p>
            <a:r>
              <a:rPr lang="en-US" b="1" dirty="0" smtClean="0">
                <a:solidFill>
                  <a:srgbClr val="FF0000"/>
                </a:solidFill>
              </a:rPr>
              <a:t>B* Tree</a:t>
            </a:r>
          </a:p>
          <a:p>
            <a:endParaRPr lang="en-US" b="1" dirty="0" smtClean="0">
              <a:solidFill>
                <a:srgbClr val="FF0000"/>
              </a:solidFill>
            </a:endParaRPr>
          </a:p>
          <a:p>
            <a:endParaRPr lang="en-US" b="1" dirty="0" smtClean="0">
              <a:solidFill>
                <a:srgbClr val="FF0000"/>
              </a:solidFill>
            </a:endParaRPr>
          </a:p>
        </p:txBody>
      </p:sp>
      <p:pic>
        <p:nvPicPr>
          <p:cNvPr id="9" name="Picture 8"/>
          <p:cNvPicPr>
            <a:picLocks noChangeAspect="1"/>
          </p:cNvPicPr>
          <p:nvPr/>
        </p:nvPicPr>
        <p:blipFill>
          <a:blip r:embed="rId3"/>
          <a:stretch>
            <a:fillRect/>
          </a:stretch>
        </p:blipFill>
        <p:spPr>
          <a:xfrm>
            <a:off x="99193" y="997527"/>
            <a:ext cx="6773220" cy="5763190"/>
          </a:xfrm>
          <a:prstGeom prst="rect">
            <a:avLst/>
          </a:prstGeom>
        </p:spPr>
      </p:pic>
    </p:spTree>
    <p:extLst>
      <p:ext uri="{BB962C8B-B14F-4D97-AF65-F5344CB8AC3E}">
        <p14:creationId xmlns:p14="http://schemas.microsoft.com/office/powerpoint/2010/main" val="313301062"/>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923330"/>
          </a:xfrm>
          <a:prstGeom prst="rect">
            <a:avLst/>
          </a:prstGeom>
        </p:spPr>
        <p:txBody>
          <a:bodyPr wrap="square">
            <a:spAutoFit/>
          </a:bodyPr>
          <a:lstStyle/>
          <a:p>
            <a:r>
              <a:rPr lang="en-US" b="1" dirty="0" smtClean="0">
                <a:solidFill>
                  <a:srgbClr val="FF0000"/>
                </a:solidFill>
              </a:rPr>
              <a:t>B* Tree</a:t>
            </a:r>
          </a:p>
          <a:p>
            <a:endParaRPr lang="en-US" b="1" dirty="0" smtClean="0">
              <a:solidFill>
                <a:srgbClr val="FF0000"/>
              </a:solidFill>
            </a:endParaRPr>
          </a:p>
          <a:p>
            <a:endParaRPr lang="en-US" b="1" dirty="0" smtClean="0">
              <a:solidFill>
                <a:srgbClr val="FF0000"/>
              </a:solidFill>
            </a:endParaRPr>
          </a:p>
        </p:txBody>
      </p:sp>
      <p:pic>
        <p:nvPicPr>
          <p:cNvPr id="7" name="Picture 6"/>
          <p:cNvPicPr>
            <a:picLocks noChangeAspect="1"/>
          </p:cNvPicPr>
          <p:nvPr/>
        </p:nvPicPr>
        <p:blipFill>
          <a:blip r:embed="rId3"/>
          <a:stretch>
            <a:fillRect/>
          </a:stretch>
        </p:blipFill>
        <p:spPr>
          <a:xfrm>
            <a:off x="148195" y="906087"/>
            <a:ext cx="5677692" cy="5791693"/>
          </a:xfrm>
          <a:prstGeom prst="rect">
            <a:avLst/>
          </a:prstGeom>
        </p:spPr>
      </p:pic>
      <p:pic>
        <p:nvPicPr>
          <p:cNvPr id="8" name="Picture 7"/>
          <p:cNvPicPr>
            <a:picLocks noChangeAspect="1"/>
          </p:cNvPicPr>
          <p:nvPr/>
        </p:nvPicPr>
        <p:blipFill>
          <a:blip r:embed="rId4"/>
          <a:stretch>
            <a:fillRect/>
          </a:stretch>
        </p:blipFill>
        <p:spPr>
          <a:xfrm>
            <a:off x="6188454" y="2217468"/>
            <a:ext cx="5334744" cy="1143160"/>
          </a:xfrm>
          <a:prstGeom prst="rect">
            <a:avLst/>
          </a:prstGeom>
        </p:spPr>
      </p:pic>
    </p:spTree>
    <p:extLst>
      <p:ext uri="{BB962C8B-B14F-4D97-AF65-F5344CB8AC3E}">
        <p14:creationId xmlns:p14="http://schemas.microsoft.com/office/powerpoint/2010/main" val="3640561046"/>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4093428"/>
          </a:xfrm>
          <a:prstGeom prst="rect">
            <a:avLst/>
          </a:prstGeom>
        </p:spPr>
        <p:txBody>
          <a:bodyPr wrap="square">
            <a:spAutoFit/>
          </a:bodyPr>
          <a:lstStyle/>
          <a:p>
            <a:r>
              <a:rPr lang="en-US" b="1" dirty="0" smtClean="0">
                <a:solidFill>
                  <a:srgbClr val="FF0000"/>
                </a:solidFill>
              </a:rPr>
              <a:t>B* Tree</a:t>
            </a:r>
          </a:p>
          <a:p>
            <a:endParaRPr lang="en-US" b="1" dirty="0" smtClean="0">
              <a:solidFill>
                <a:srgbClr val="FF0000"/>
              </a:solidFill>
            </a:endParaRPr>
          </a:p>
          <a:p>
            <a:r>
              <a:rPr lang="en-US" sz="1400" b="1" dirty="0"/>
              <a:t>Class </a:t>
            </a:r>
            <a:r>
              <a:rPr lang="en-US" sz="1400" b="1" dirty="0" err="1"/>
              <a:t>BStarNode</a:t>
            </a:r>
            <a:endParaRPr lang="en-US" sz="1400" b="1" dirty="0"/>
          </a:p>
          <a:p>
            <a:endParaRPr lang="en-US" sz="1400" dirty="0"/>
          </a:p>
          <a:p>
            <a:r>
              <a:rPr lang="en-US" sz="1400" dirty="0"/>
              <a:t>keys → list of keys stored in the node.</a:t>
            </a:r>
          </a:p>
          <a:p>
            <a:r>
              <a:rPr lang="en-US" sz="1400" dirty="0" smtClean="0"/>
              <a:t>children </a:t>
            </a:r>
            <a:r>
              <a:rPr lang="en-US" sz="1400" dirty="0"/>
              <a:t>→ child pointers (used in internal nodes).</a:t>
            </a:r>
          </a:p>
          <a:p>
            <a:r>
              <a:rPr lang="en-US" sz="1400" dirty="0" err="1" smtClean="0"/>
              <a:t>isLeaf</a:t>
            </a:r>
            <a:r>
              <a:rPr lang="en-US" sz="1400" dirty="0" smtClean="0"/>
              <a:t> </a:t>
            </a:r>
            <a:r>
              <a:rPr lang="en-US" sz="1400" dirty="0"/>
              <a:t>→ whether the node is a leaf</a:t>
            </a:r>
            <a:r>
              <a:rPr lang="en-US" sz="1400" dirty="0" smtClean="0"/>
              <a:t>.</a:t>
            </a:r>
          </a:p>
          <a:p>
            <a:endParaRPr lang="en-US" sz="1400" dirty="0"/>
          </a:p>
          <a:p>
            <a:endParaRPr lang="en-US" sz="1400" b="1" dirty="0"/>
          </a:p>
          <a:p>
            <a:r>
              <a:rPr lang="en-US" sz="1400" b="1" dirty="0"/>
              <a:t>Class BStarTreeExample15</a:t>
            </a:r>
          </a:p>
          <a:p>
            <a:endParaRPr lang="en-US" sz="1400" dirty="0"/>
          </a:p>
          <a:p>
            <a:r>
              <a:rPr lang="en-US" sz="1400" dirty="0"/>
              <a:t>root → root node of the tree.</a:t>
            </a:r>
          </a:p>
          <a:p>
            <a:r>
              <a:rPr lang="en-US" sz="1400" dirty="0" err="1" smtClean="0"/>
              <a:t>maxKeys</a:t>
            </a:r>
            <a:r>
              <a:rPr lang="en-US" sz="1400" dirty="0" smtClean="0"/>
              <a:t> </a:t>
            </a:r>
            <a:r>
              <a:rPr lang="en-US" sz="1400" dirty="0"/>
              <a:t>→ maximum number of keys allowed in a node before overflow.</a:t>
            </a:r>
          </a:p>
          <a:p>
            <a:r>
              <a:rPr lang="en-US" sz="1400" dirty="0" smtClean="0"/>
              <a:t>insert(key</a:t>
            </a:r>
            <a:r>
              <a:rPr lang="en-US" sz="1400" dirty="0"/>
              <a:t>) → inserts a new key into the tree.</a:t>
            </a:r>
          </a:p>
          <a:p>
            <a:r>
              <a:rPr lang="en-US" sz="1400" dirty="0" err="1" smtClean="0"/>
              <a:t>handleOverflow</a:t>
            </a:r>
            <a:r>
              <a:rPr lang="en-US" sz="1400" dirty="0"/>
              <a:t>() → tries to redistribute keys with a sibling before splitting (this is the B* Tree’s special feature).</a:t>
            </a:r>
          </a:p>
          <a:p>
            <a:r>
              <a:rPr lang="en-US" sz="1400" dirty="0" err="1" smtClean="0"/>
              <a:t>splitChild</a:t>
            </a:r>
            <a:r>
              <a:rPr lang="en-US" sz="1400" dirty="0"/>
              <a:t>() → splits a child node if redistribution isn’t possible.</a:t>
            </a:r>
          </a:p>
          <a:p>
            <a:r>
              <a:rPr lang="en-US" sz="1400" dirty="0" smtClean="0"/>
              <a:t>traverse</a:t>
            </a:r>
            <a:r>
              <a:rPr lang="en-US" sz="1400" dirty="0"/>
              <a:t>() → prints all keys in sorted order.</a:t>
            </a:r>
            <a:endParaRPr lang="en-US" sz="1400" dirty="0" smtClean="0"/>
          </a:p>
          <a:p>
            <a:endParaRPr lang="en-US" sz="1400" dirty="0" smtClean="0"/>
          </a:p>
        </p:txBody>
      </p:sp>
    </p:spTree>
    <p:extLst>
      <p:ext uri="{BB962C8B-B14F-4D97-AF65-F5344CB8AC3E}">
        <p14:creationId xmlns:p14="http://schemas.microsoft.com/office/powerpoint/2010/main" val="367065242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5601533"/>
          </a:xfrm>
          <a:prstGeom prst="rect">
            <a:avLst/>
          </a:prstGeom>
        </p:spPr>
        <p:txBody>
          <a:bodyPr wrap="square">
            <a:spAutoFit/>
          </a:bodyPr>
          <a:lstStyle/>
          <a:p>
            <a:r>
              <a:rPr lang="en-US" b="1" dirty="0" smtClean="0">
                <a:solidFill>
                  <a:srgbClr val="FF0000"/>
                </a:solidFill>
              </a:rPr>
              <a:t>B* Tree</a:t>
            </a:r>
          </a:p>
          <a:p>
            <a:endParaRPr lang="en-US" b="1" dirty="0" smtClean="0">
              <a:solidFill>
                <a:srgbClr val="FF0000"/>
              </a:solidFill>
            </a:endParaRPr>
          </a:p>
          <a:p>
            <a:r>
              <a:rPr lang="en-US" sz="1400" b="1" dirty="0"/>
              <a:t>Inputs</a:t>
            </a:r>
          </a:p>
          <a:p>
            <a:endParaRPr lang="en-US" sz="1400" dirty="0" smtClean="0"/>
          </a:p>
          <a:p>
            <a:r>
              <a:rPr lang="en-US" sz="1400" dirty="0" smtClean="0"/>
              <a:t>In </a:t>
            </a:r>
            <a:r>
              <a:rPr lang="en-US" sz="1400" dirty="0"/>
              <a:t>main, you create a B* Tree with </a:t>
            </a:r>
            <a:r>
              <a:rPr lang="en-US" sz="1400" dirty="0" err="1"/>
              <a:t>maxKeys</a:t>
            </a:r>
            <a:r>
              <a:rPr lang="en-US" sz="1400" dirty="0"/>
              <a:t> = 3</a:t>
            </a:r>
            <a:r>
              <a:rPr lang="en-US" sz="1400" dirty="0" smtClean="0"/>
              <a:t>:</a:t>
            </a:r>
          </a:p>
          <a:p>
            <a:endParaRPr lang="en-US" sz="1400" b="1" dirty="0"/>
          </a:p>
          <a:p>
            <a:endParaRPr lang="en-US" sz="1400" b="1" dirty="0" smtClean="0"/>
          </a:p>
          <a:p>
            <a:endParaRPr lang="en-US" sz="1400" b="1" dirty="0"/>
          </a:p>
          <a:p>
            <a:endParaRPr lang="en-US" sz="1400" b="1" dirty="0" smtClean="0"/>
          </a:p>
          <a:p>
            <a:r>
              <a:rPr lang="en-IN" sz="1400" dirty="0"/>
              <a:t>Then you insert values</a:t>
            </a:r>
            <a:r>
              <a:rPr lang="en-IN" sz="1400" dirty="0" smtClean="0"/>
              <a:t>:</a:t>
            </a:r>
          </a:p>
          <a:p>
            <a:endParaRPr lang="en-IN" sz="1400" dirty="0"/>
          </a:p>
          <a:p>
            <a:endParaRPr lang="en-IN" sz="1400" dirty="0" smtClean="0"/>
          </a:p>
          <a:p>
            <a:endParaRPr lang="en-IN" sz="1400" dirty="0"/>
          </a:p>
          <a:p>
            <a:endParaRPr lang="en-IN" sz="1400" dirty="0" smtClean="0"/>
          </a:p>
          <a:p>
            <a:r>
              <a:rPr lang="en-US" sz="1400" b="1" dirty="0"/>
              <a:t>How It Works </a:t>
            </a:r>
            <a:r>
              <a:rPr lang="en-US" sz="1400" b="1" dirty="0" smtClean="0"/>
              <a:t>Internally</a:t>
            </a:r>
          </a:p>
          <a:p>
            <a:endParaRPr lang="en-US" sz="1400" dirty="0"/>
          </a:p>
          <a:p>
            <a:r>
              <a:rPr lang="en-US" sz="1400" dirty="0"/>
              <a:t>Insert </a:t>
            </a:r>
            <a:r>
              <a:rPr lang="en-US" sz="1400" b="1" dirty="0"/>
              <a:t>10, 20, 5 </a:t>
            </a:r>
            <a:r>
              <a:rPr lang="en-US" sz="1400" dirty="0"/>
              <a:t>→ all fit in root leaf: [5,10,20].</a:t>
            </a:r>
          </a:p>
          <a:p>
            <a:endParaRPr lang="en-US" sz="1400" dirty="0"/>
          </a:p>
          <a:p>
            <a:r>
              <a:rPr lang="en-US" sz="1400" dirty="0"/>
              <a:t>Insert </a:t>
            </a:r>
            <a:r>
              <a:rPr lang="en-US" sz="1400" b="1" dirty="0"/>
              <a:t>6</a:t>
            </a:r>
            <a:r>
              <a:rPr lang="en-US" sz="1400" dirty="0"/>
              <a:t> → root leaf overflows (&gt;3 keys).</a:t>
            </a:r>
          </a:p>
          <a:p>
            <a:endParaRPr lang="en-US" sz="1400" dirty="0"/>
          </a:p>
          <a:p>
            <a:r>
              <a:rPr lang="en-US" sz="1400" dirty="0"/>
              <a:t>Since root is leaf, it splits into two leaves:</a:t>
            </a:r>
            <a:endParaRPr lang="en-IN" sz="1400" dirty="0" smtClean="0"/>
          </a:p>
          <a:p>
            <a:endParaRPr lang="en-IN" sz="1400" b="1" dirty="0"/>
          </a:p>
          <a:p>
            <a:r>
              <a:rPr lang="en-US" sz="1400" b="1" dirty="0" smtClean="0"/>
              <a:t>                        </a:t>
            </a:r>
          </a:p>
          <a:p>
            <a:endParaRPr lang="en-US" sz="1400" b="1" dirty="0"/>
          </a:p>
          <a:p>
            <a:endParaRPr lang="en-US" sz="1400" dirty="0" smtClean="0"/>
          </a:p>
        </p:txBody>
      </p:sp>
      <p:pic>
        <p:nvPicPr>
          <p:cNvPr id="3" name="Picture 2"/>
          <p:cNvPicPr>
            <a:picLocks noChangeAspect="1"/>
          </p:cNvPicPr>
          <p:nvPr/>
        </p:nvPicPr>
        <p:blipFill>
          <a:blip r:embed="rId3"/>
          <a:stretch>
            <a:fillRect/>
          </a:stretch>
        </p:blipFill>
        <p:spPr>
          <a:xfrm>
            <a:off x="121531" y="1861255"/>
            <a:ext cx="4334480" cy="304843"/>
          </a:xfrm>
          <a:prstGeom prst="rect">
            <a:avLst/>
          </a:prstGeom>
        </p:spPr>
      </p:pic>
      <p:pic>
        <p:nvPicPr>
          <p:cNvPr id="7" name="Picture 6"/>
          <p:cNvPicPr>
            <a:picLocks noChangeAspect="1"/>
          </p:cNvPicPr>
          <p:nvPr/>
        </p:nvPicPr>
        <p:blipFill>
          <a:blip r:embed="rId4"/>
          <a:stretch>
            <a:fillRect/>
          </a:stretch>
        </p:blipFill>
        <p:spPr>
          <a:xfrm>
            <a:off x="121531" y="2944069"/>
            <a:ext cx="2429214" cy="304843"/>
          </a:xfrm>
          <a:prstGeom prst="rect">
            <a:avLst/>
          </a:prstGeom>
        </p:spPr>
      </p:pic>
      <p:sp>
        <p:nvSpPr>
          <p:cNvPr id="8" name="Rectangle 7"/>
          <p:cNvSpPr/>
          <p:nvPr/>
        </p:nvSpPr>
        <p:spPr>
          <a:xfrm>
            <a:off x="495993" y="5273147"/>
            <a:ext cx="6096000" cy="923330"/>
          </a:xfrm>
          <a:prstGeom prst="rect">
            <a:avLst/>
          </a:prstGeom>
        </p:spPr>
        <p:txBody>
          <a:bodyPr>
            <a:spAutoFit/>
          </a:bodyPr>
          <a:lstStyle/>
          <a:p>
            <a:r>
              <a:rPr lang="en-IN" dirty="0" smtClean="0"/>
              <a:t>      [</a:t>
            </a:r>
            <a:r>
              <a:rPr lang="en-IN" dirty="0"/>
              <a:t>10]</a:t>
            </a:r>
          </a:p>
          <a:p>
            <a:r>
              <a:rPr lang="en-IN" dirty="0" smtClean="0"/>
              <a:t>     </a:t>
            </a:r>
            <a:r>
              <a:rPr lang="en-IN" dirty="0"/>
              <a:t>/    \</a:t>
            </a:r>
          </a:p>
          <a:p>
            <a:r>
              <a:rPr lang="en-IN" dirty="0"/>
              <a:t>[5,6]     [20]</a:t>
            </a:r>
          </a:p>
        </p:txBody>
      </p:sp>
      <p:sp>
        <p:nvSpPr>
          <p:cNvPr id="9" name="Rectangle 8"/>
          <p:cNvSpPr/>
          <p:nvPr/>
        </p:nvSpPr>
        <p:spPr>
          <a:xfrm>
            <a:off x="5425440" y="734847"/>
            <a:ext cx="6096000" cy="923330"/>
          </a:xfrm>
          <a:prstGeom prst="rect">
            <a:avLst/>
          </a:prstGeom>
        </p:spPr>
        <p:txBody>
          <a:bodyPr>
            <a:spAutoFit/>
          </a:bodyPr>
          <a:lstStyle/>
          <a:p>
            <a:r>
              <a:rPr lang="en-IN" dirty="0"/>
              <a:t>Insert 12 → goes right leaf: [12,20].</a:t>
            </a:r>
          </a:p>
          <a:p>
            <a:r>
              <a:rPr lang="en-IN" dirty="0" smtClean="0"/>
              <a:t>Insert </a:t>
            </a:r>
            <a:r>
              <a:rPr lang="en-IN" dirty="0"/>
              <a:t>30 → right leaf overflows.</a:t>
            </a:r>
          </a:p>
          <a:p>
            <a:r>
              <a:rPr lang="en-IN" dirty="0" smtClean="0"/>
              <a:t>Redistribute </a:t>
            </a:r>
            <a:r>
              <a:rPr lang="en-IN" dirty="0"/>
              <a:t>or split → new structure:</a:t>
            </a:r>
          </a:p>
        </p:txBody>
      </p:sp>
      <p:sp>
        <p:nvSpPr>
          <p:cNvPr id="10" name="Rectangle 9"/>
          <p:cNvSpPr/>
          <p:nvPr/>
        </p:nvSpPr>
        <p:spPr>
          <a:xfrm>
            <a:off x="6217531" y="1742441"/>
            <a:ext cx="6096000" cy="923330"/>
          </a:xfrm>
          <a:prstGeom prst="rect">
            <a:avLst/>
          </a:prstGeom>
        </p:spPr>
        <p:txBody>
          <a:bodyPr>
            <a:spAutoFit/>
          </a:bodyPr>
          <a:lstStyle/>
          <a:p>
            <a:r>
              <a:rPr lang="en-IN" dirty="0" smtClean="0"/>
              <a:t>    [</a:t>
            </a:r>
            <a:r>
              <a:rPr lang="en-IN" dirty="0"/>
              <a:t>10,20]</a:t>
            </a:r>
          </a:p>
          <a:p>
            <a:r>
              <a:rPr lang="en-IN" dirty="0"/>
              <a:t>   /   </a:t>
            </a:r>
            <a:r>
              <a:rPr lang="en-IN" dirty="0" smtClean="0"/>
              <a:t>  |     </a:t>
            </a:r>
            <a:r>
              <a:rPr lang="en-IN" dirty="0"/>
              <a:t>\</a:t>
            </a:r>
          </a:p>
          <a:p>
            <a:r>
              <a:rPr lang="en-IN" dirty="0"/>
              <a:t>[5,6] </a:t>
            </a:r>
            <a:r>
              <a:rPr lang="en-IN" dirty="0" smtClean="0"/>
              <a:t> [</a:t>
            </a:r>
            <a:r>
              <a:rPr lang="en-IN" dirty="0"/>
              <a:t>12]   [30]</a:t>
            </a:r>
          </a:p>
        </p:txBody>
      </p:sp>
      <p:sp>
        <p:nvSpPr>
          <p:cNvPr id="11" name="Rectangle 10"/>
          <p:cNvSpPr/>
          <p:nvPr/>
        </p:nvSpPr>
        <p:spPr>
          <a:xfrm>
            <a:off x="5425440" y="2980959"/>
            <a:ext cx="6096000" cy="1200329"/>
          </a:xfrm>
          <a:prstGeom prst="rect">
            <a:avLst/>
          </a:prstGeom>
        </p:spPr>
        <p:txBody>
          <a:bodyPr>
            <a:spAutoFit/>
          </a:bodyPr>
          <a:lstStyle/>
          <a:p>
            <a:r>
              <a:rPr lang="en-IN" dirty="0" smtClean="0"/>
              <a:t>Insert </a:t>
            </a:r>
            <a:r>
              <a:rPr lang="en-IN" dirty="0"/>
              <a:t>7 → goes left leaf: [5,6,7].</a:t>
            </a:r>
          </a:p>
          <a:p>
            <a:r>
              <a:rPr lang="en-IN" dirty="0" smtClean="0"/>
              <a:t>Insert </a:t>
            </a:r>
            <a:r>
              <a:rPr lang="en-IN" dirty="0"/>
              <a:t>17 → goes middle leaf: [12,17].</a:t>
            </a:r>
          </a:p>
          <a:p>
            <a:endParaRPr lang="en-IN" dirty="0"/>
          </a:p>
          <a:p>
            <a:r>
              <a:rPr lang="en-IN" dirty="0"/>
              <a:t>Final structure:</a:t>
            </a:r>
          </a:p>
        </p:txBody>
      </p:sp>
      <p:pic>
        <p:nvPicPr>
          <p:cNvPr id="12" name="Picture 11"/>
          <p:cNvPicPr>
            <a:picLocks noChangeAspect="1"/>
          </p:cNvPicPr>
          <p:nvPr/>
        </p:nvPicPr>
        <p:blipFill>
          <a:blip r:embed="rId5"/>
          <a:stretch>
            <a:fillRect/>
          </a:stretch>
        </p:blipFill>
        <p:spPr>
          <a:xfrm>
            <a:off x="5859566" y="4462602"/>
            <a:ext cx="1819529" cy="695422"/>
          </a:xfrm>
          <a:prstGeom prst="rect">
            <a:avLst/>
          </a:prstGeom>
        </p:spPr>
      </p:pic>
    </p:spTree>
    <p:extLst>
      <p:ext uri="{BB962C8B-B14F-4D97-AF65-F5344CB8AC3E}">
        <p14:creationId xmlns:p14="http://schemas.microsoft.com/office/powerpoint/2010/main" val="414934855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3447098"/>
          </a:xfrm>
          <a:prstGeom prst="rect">
            <a:avLst/>
          </a:prstGeom>
        </p:spPr>
        <p:txBody>
          <a:bodyPr wrap="square">
            <a:spAutoFit/>
          </a:bodyPr>
          <a:lstStyle/>
          <a:p>
            <a:r>
              <a:rPr lang="en-US" b="1" dirty="0" smtClean="0">
                <a:solidFill>
                  <a:srgbClr val="FF0000"/>
                </a:solidFill>
              </a:rPr>
              <a:t>B* Tree</a:t>
            </a:r>
          </a:p>
          <a:p>
            <a:endParaRPr lang="en-US" b="1" dirty="0" smtClean="0">
              <a:solidFill>
                <a:srgbClr val="FF0000"/>
              </a:solidFill>
            </a:endParaRPr>
          </a:p>
          <a:p>
            <a:r>
              <a:rPr lang="en-US" sz="1400" b="1" dirty="0" err="1"/>
              <a:t>tree.traverse</a:t>
            </a:r>
            <a:r>
              <a:rPr lang="en-US" sz="1400" b="1" dirty="0"/>
              <a:t>();</a:t>
            </a:r>
          </a:p>
          <a:p>
            <a:endParaRPr lang="en-US" sz="1400" b="1" dirty="0"/>
          </a:p>
          <a:p>
            <a:r>
              <a:rPr lang="en-US" sz="1400" dirty="0"/>
              <a:t>This prints all keys in sorted order</a:t>
            </a:r>
            <a:r>
              <a:rPr lang="en-US" sz="1400" dirty="0" smtClean="0"/>
              <a:t>:</a:t>
            </a:r>
          </a:p>
          <a:p>
            <a:endParaRPr lang="en-US" sz="1400" dirty="0"/>
          </a:p>
          <a:p>
            <a:endParaRPr lang="en-US" sz="1400" dirty="0" smtClean="0"/>
          </a:p>
          <a:p>
            <a:endParaRPr lang="en-US" sz="1400" dirty="0"/>
          </a:p>
          <a:p>
            <a:endParaRPr lang="en-US" sz="1400" dirty="0" smtClean="0"/>
          </a:p>
          <a:p>
            <a:r>
              <a:rPr lang="en-US" sz="1400" dirty="0"/>
              <a:t>Inputs: numbers {10,20,5,6,12,30,7,17}.</a:t>
            </a:r>
          </a:p>
          <a:p>
            <a:r>
              <a:rPr lang="en-US" sz="1400" dirty="0" smtClean="0"/>
              <a:t>Process</a:t>
            </a:r>
            <a:r>
              <a:rPr lang="en-US" sz="1400" dirty="0"/>
              <a:t>: each number is inserted, nodes redistribute keys with siblings before splitting (B* Tree’s unique feature).</a:t>
            </a:r>
          </a:p>
          <a:p>
            <a:r>
              <a:rPr lang="en-US" sz="1400" dirty="0" smtClean="0"/>
              <a:t>Output</a:t>
            </a:r>
            <a:r>
              <a:rPr lang="en-US" sz="1400" dirty="0"/>
              <a:t>: traversal prints all keys in ascending order </a:t>
            </a:r>
            <a:r>
              <a:rPr lang="en-US" sz="1400" dirty="0" smtClean="0"/>
              <a:t>→ 5 </a:t>
            </a:r>
            <a:r>
              <a:rPr lang="en-US" sz="1400" dirty="0"/>
              <a:t>6 7 10 12 17 20 30.</a:t>
            </a:r>
          </a:p>
          <a:p>
            <a:endParaRPr lang="en-US" sz="1400" dirty="0"/>
          </a:p>
          <a:p>
            <a:r>
              <a:rPr lang="en-US" sz="1400" dirty="0"/>
              <a:t>This shows how the B Tree improves space utilization* by redistributing keys before splitting, keeping nodes ~2/3 full instead of ~1/2 like B+ Trees.</a:t>
            </a:r>
          </a:p>
          <a:p>
            <a:endParaRPr lang="en-US" sz="1400" dirty="0" smtClean="0"/>
          </a:p>
        </p:txBody>
      </p:sp>
      <p:pic>
        <p:nvPicPr>
          <p:cNvPr id="7" name="Picture 6"/>
          <p:cNvPicPr>
            <a:picLocks noChangeAspect="1"/>
          </p:cNvPicPr>
          <p:nvPr/>
        </p:nvPicPr>
        <p:blipFill>
          <a:blip r:embed="rId3"/>
          <a:stretch>
            <a:fillRect/>
          </a:stretch>
        </p:blipFill>
        <p:spPr>
          <a:xfrm>
            <a:off x="173989" y="1887606"/>
            <a:ext cx="3315163" cy="314369"/>
          </a:xfrm>
          <a:prstGeom prst="rect">
            <a:avLst/>
          </a:prstGeom>
        </p:spPr>
      </p:pic>
    </p:spTree>
    <p:extLst>
      <p:ext uri="{BB962C8B-B14F-4D97-AF65-F5344CB8AC3E}">
        <p14:creationId xmlns:p14="http://schemas.microsoft.com/office/powerpoint/2010/main" val="1923441639"/>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3170099"/>
          </a:xfrm>
          <a:prstGeom prst="rect">
            <a:avLst/>
          </a:prstGeom>
        </p:spPr>
        <p:txBody>
          <a:bodyPr wrap="square">
            <a:spAutoFit/>
          </a:bodyPr>
          <a:lstStyle/>
          <a:p>
            <a:r>
              <a:rPr lang="en-US" b="1" dirty="0" smtClean="0">
                <a:solidFill>
                  <a:srgbClr val="FF0000"/>
                </a:solidFill>
              </a:rPr>
              <a:t>B Link Tree</a:t>
            </a:r>
          </a:p>
          <a:p>
            <a:endParaRPr lang="en-US" b="1" dirty="0">
              <a:solidFill>
                <a:srgbClr val="FF0000"/>
              </a:solidFill>
            </a:endParaRPr>
          </a:p>
          <a:p>
            <a:pPr marL="285750" indent="-285750">
              <a:buFont typeface="Arial" panose="020B0604020202020204" pitchFamily="34" charset="0"/>
              <a:buChar char="•"/>
            </a:pPr>
            <a:r>
              <a:rPr lang="en-US" sz="1600" dirty="0"/>
              <a:t>A B‑Link Tree is a concurrent, balanced search tree.</a:t>
            </a:r>
          </a:p>
          <a:p>
            <a:pPr marL="285750" indent="-285750">
              <a:buFont typeface="Arial" panose="020B0604020202020204" pitchFamily="34" charset="0"/>
              <a:buChar char="•"/>
            </a:pPr>
            <a:r>
              <a:rPr lang="en-US" sz="1600" dirty="0" smtClean="0"/>
              <a:t>It </a:t>
            </a:r>
            <a:r>
              <a:rPr lang="en-US" sz="1600" dirty="0"/>
              <a:t>extends the B+ Tree by adding sibling (horizontal) links between nodes.</a:t>
            </a:r>
          </a:p>
          <a:p>
            <a:pPr marL="285750" indent="-285750">
              <a:buFont typeface="Arial" panose="020B0604020202020204" pitchFamily="34" charset="0"/>
              <a:buChar char="•"/>
            </a:pPr>
            <a:r>
              <a:rPr lang="en-US" sz="1600" dirty="0" smtClean="0"/>
              <a:t>These </a:t>
            </a:r>
            <a:r>
              <a:rPr lang="en-US" sz="1600" dirty="0"/>
              <a:t>links allow searches and updates to continue even if splits are happening, making it ideal for multi‑threaded database systems</a:t>
            </a:r>
            <a:r>
              <a:rPr lang="en-US" sz="1600" dirty="0" smtClean="0"/>
              <a:t>.</a:t>
            </a:r>
          </a:p>
          <a:p>
            <a:endParaRPr lang="en-US" sz="1600" dirty="0"/>
          </a:p>
          <a:p>
            <a:r>
              <a:rPr lang="en-US" sz="1600" b="1" dirty="0" smtClean="0"/>
              <a:t>Key </a:t>
            </a:r>
            <a:r>
              <a:rPr lang="en-US" sz="1600" b="1" dirty="0"/>
              <a:t>Features</a:t>
            </a:r>
          </a:p>
          <a:p>
            <a:pPr marL="285750" indent="-285750">
              <a:buFont typeface="Arial" panose="020B0604020202020204" pitchFamily="34" charset="0"/>
              <a:buChar char="•"/>
            </a:pPr>
            <a:r>
              <a:rPr lang="en-US" sz="1600" b="1" dirty="0"/>
              <a:t>Sibling Links</a:t>
            </a:r>
            <a:r>
              <a:rPr lang="en-US" sz="1600" dirty="0"/>
              <a:t>: Each node has a pointer to its immediate right sibling.</a:t>
            </a:r>
          </a:p>
          <a:p>
            <a:pPr marL="285750" indent="-285750">
              <a:buFont typeface="Arial" panose="020B0604020202020204" pitchFamily="34" charset="0"/>
              <a:buChar char="•"/>
            </a:pPr>
            <a:r>
              <a:rPr lang="en-US" sz="1600" b="1" dirty="0"/>
              <a:t>Safe Concurrent Access</a:t>
            </a:r>
            <a:r>
              <a:rPr lang="en-US" sz="1600" dirty="0"/>
              <a:t>: If a node splits while another thread is searching, the sibling link ensures the search can continue correctly.</a:t>
            </a:r>
          </a:p>
          <a:p>
            <a:pPr marL="285750" indent="-285750">
              <a:buFont typeface="Arial" panose="020B0604020202020204" pitchFamily="34" charset="0"/>
              <a:buChar char="•"/>
            </a:pPr>
            <a:r>
              <a:rPr lang="en-US" sz="1600" b="1" dirty="0"/>
              <a:t>Balanced Structure</a:t>
            </a:r>
            <a:r>
              <a:rPr lang="en-US" sz="1600" dirty="0"/>
              <a:t>: Like B+ Trees, all data is stored in leaf nodes, and internal nodes store only keys for navigation.</a:t>
            </a:r>
          </a:p>
          <a:p>
            <a:pPr marL="285750" indent="-285750">
              <a:buFont typeface="Arial" panose="020B0604020202020204" pitchFamily="34" charset="0"/>
              <a:buChar char="•"/>
            </a:pPr>
            <a:r>
              <a:rPr lang="en-US" sz="1600" b="1" dirty="0"/>
              <a:t>Range Queries</a:t>
            </a:r>
            <a:r>
              <a:rPr lang="en-US" sz="1600" dirty="0"/>
              <a:t>: Still efficient because leaf nodes are linked sequentially.</a:t>
            </a:r>
          </a:p>
          <a:p>
            <a:endParaRPr lang="en-US" sz="1600" dirty="0" smtClean="0"/>
          </a:p>
        </p:txBody>
      </p:sp>
    </p:spTree>
    <p:extLst>
      <p:ext uri="{BB962C8B-B14F-4D97-AF65-F5344CB8AC3E}">
        <p14:creationId xmlns:p14="http://schemas.microsoft.com/office/powerpoint/2010/main" val="236081198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4801314"/>
          </a:xfrm>
          <a:prstGeom prst="rect">
            <a:avLst/>
          </a:prstGeom>
        </p:spPr>
        <p:txBody>
          <a:bodyPr wrap="square">
            <a:spAutoFit/>
          </a:bodyPr>
          <a:lstStyle/>
          <a:p>
            <a:r>
              <a:rPr lang="en-US" b="1" dirty="0" smtClean="0">
                <a:solidFill>
                  <a:srgbClr val="FF0000"/>
                </a:solidFill>
              </a:rPr>
              <a:t>B Link Tree</a:t>
            </a:r>
          </a:p>
          <a:p>
            <a:endParaRPr lang="en-US" b="1" dirty="0" smtClean="0">
              <a:solidFill>
                <a:srgbClr val="FF0000"/>
              </a:solidFill>
            </a:endParaRPr>
          </a:p>
          <a:p>
            <a:r>
              <a:rPr lang="en-US" b="1" dirty="0"/>
              <a:t>How It </a:t>
            </a:r>
            <a:r>
              <a:rPr lang="en-US" b="1" dirty="0" smtClean="0"/>
              <a:t>Works</a:t>
            </a:r>
          </a:p>
          <a:p>
            <a:endParaRPr lang="en-US" b="1" dirty="0"/>
          </a:p>
          <a:p>
            <a:pPr marL="285750" indent="-285750">
              <a:buFont typeface="Arial" panose="020B0604020202020204" pitchFamily="34" charset="0"/>
              <a:buChar char="•"/>
            </a:pPr>
            <a:r>
              <a:rPr lang="en-US" b="1" dirty="0"/>
              <a:t>Search</a:t>
            </a:r>
            <a:endParaRPr lang="en-US" dirty="0"/>
          </a:p>
          <a:p>
            <a:pPr marL="742950" lvl="1" indent="-285750">
              <a:buFont typeface="Arial" panose="020B0604020202020204" pitchFamily="34" charset="0"/>
              <a:buChar char="•"/>
            </a:pPr>
            <a:r>
              <a:rPr lang="en-US" dirty="0"/>
              <a:t>Navigate using internal keys.</a:t>
            </a:r>
          </a:p>
          <a:p>
            <a:pPr marL="742950" lvl="1" indent="-285750">
              <a:buFont typeface="Arial" panose="020B0604020202020204" pitchFamily="34" charset="0"/>
              <a:buChar char="•"/>
            </a:pPr>
            <a:r>
              <a:rPr lang="en-US" dirty="0"/>
              <a:t>If the search key is greater than the largest key in the current node, follow the </a:t>
            </a:r>
            <a:r>
              <a:rPr lang="en-US" b="1" dirty="0"/>
              <a:t>sibling link</a:t>
            </a:r>
            <a:r>
              <a:rPr lang="en-US" dirty="0"/>
              <a:t> to the right.</a:t>
            </a:r>
          </a:p>
          <a:p>
            <a:pPr marL="742950" lvl="1" indent="-285750">
              <a:buFont typeface="Arial" panose="020B0604020202020204" pitchFamily="34" charset="0"/>
              <a:buChar char="•"/>
            </a:pPr>
            <a:r>
              <a:rPr lang="en-US" dirty="0"/>
              <a:t>This ensures correctness even during concurrent splits.</a:t>
            </a:r>
          </a:p>
          <a:p>
            <a:pPr marL="285750" indent="-285750">
              <a:buFont typeface="Arial" panose="020B0604020202020204" pitchFamily="34" charset="0"/>
              <a:buChar char="•"/>
            </a:pPr>
            <a:r>
              <a:rPr lang="en-US" b="1" dirty="0"/>
              <a:t>Insertion</a:t>
            </a:r>
            <a:endParaRPr lang="en-US" dirty="0"/>
          </a:p>
          <a:p>
            <a:pPr marL="742950" lvl="1" indent="-285750">
              <a:buFont typeface="Arial" panose="020B0604020202020204" pitchFamily="34" charset="0"/>
              <a:buChar char="•"/>
            </a:pPr>
            <a:r>
              <a:rPr lang="en-US" dirty="0"/>
              <a:t>Insert into the correct leaf.</a:t>
            </a:r>
          </a:p>
          <a:p>
            <a:pPr marL="742950" lvl="1" indent="-285750">
              <a:buFont typeface="Arial" panose="020B0604020202020204" pitchFamily="34" charset="0"/>
              <a:buChar char="•"/>
            </a:pPr>
            <a:r>
              <a:rPr lang="en-US" dirty="0"/>
              <a:t>If the leaf overflows, split it.</a:t>
            </a:r>
          </a:p>
          <a:p>
            <a:pPr marL="742950" lvl="1" indent="-285750">
              <a:buFont typeface="Arial" panose="020B0604020202020204" pitchFamily="34" charset="0"/>
              <a:buChar char="•"/>
            </a:pPr>
            <a:r>
              <a:rPr lang="en-US" dirty="0"/>
              <a:t>The sibling link ensures that ongoing searches can still find the new key without waiting for parent updates.</a:t>
            </a:r>
          </a:p>
          <a:p>
            <a:pPr marL="285750" indent="-285750">
              <a:buFont typeface="Arial" panose="020B0604020202020204" pitchFamily="34" charset="0"/>
              <a:buChar char="•"/>
            </a:pPr>
            <a:r>
              <a:rPr lang="en-US" b="1" dirty="0"/>
              <a:t>Deletion</a:t>
            </a:r>
            <a:endParaRPr lang="en-US" dirty="0"/>
          </a:p>
          <a:p>
            <a:pPr marL="742950" lvl="1" indent="-285750">
              <a:buFont typeface="Arial" panose="020B0604020202020204" pitchFamily="34" charset="0"/>
              <a:buChar char="•"/>
            </a:pPr>
            <a:r>
              <a:rPr lang="en-US" dirty="0"/>
              <a:t>Remove the key from the leaf.</a:t>
            </a:r>
          </a:p>
          <a:p>
            <a:pPr marL="742950" lvl="1" indent="-285750">
              <a:buFont typeface="Arial" panose="020B0604020202020204" pitchFamily="34" charset="0"/>
              <a:buChar char="•"/>
            </a:pPr>
            <a:r>
              <a:rPr lang="en-US" dirty="0"/>
              <a:t>If underflow occurs, borrow or merge.</a:t>
            </a:r>
          </a:p>
          <a:p>
            <a:pPr marL="742950" lvl="1" indent="-285750">
              <a:buFont typeface="Arial" panose="020B0604020202020204" pitchFamily="34" charset="0"/>
              <a:buChar char="•"/>
            </a:pPr>
            <a:r>
              <a:rPr lang="en-US" dirty="0"/>
              <a:t>Sibling links help maintain consistency during restructuring.</a:t>
            </a:r>
          </a:p>
          <a:p>
            <a:endParaRPr lang="en-US" b="1" dirty="0">
              <a:solidFill>
                <a:srgbClr val="FF0000"/>
              </a:solidFill>
            </a:endParaRPr>
          </a:p>
        </p:txBody>
      </p:sp>
    </p:spTree>
    <p:extLst>
      <p:ext uri="{BB962C8B-B14F-4D97-AF65-F5344CB8AC3E}">
        <p14:creationId xmlns:p14="http://schemas.microsoft.com/office/powerpoint/2010/main" val="1233211457"/>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2215991"/>
          </a:xfrm>
          <a:prstGeom prst="rect">
            <a:avLst/>
          </a:prstGeom>
        </p:spPr>
        <p:txBody>
          <a:bodyPr wrap="square">
            <a:spAutoFit/>
          </a:bodyPr>
          <a:lstStyle/>
          <a:p>
            <a:r>
              <a:rPr lang="en-US" b="1" dirty="0" smtClean="0">
                <a:solidFill>
                  <a:srgbClr val="FF0000"/>
                </a:solidFill>
              </a:rPr>
              <a:t>B Link Tree</a:t>
            </a:r>
          </a:p>
          <a:p>
            <a:endParaRPr lang="en-US" b="1" dirty="0" smtClean="0">
              <a:solidFill>
                <a:srgbClr val="FF0000"/>
              </a:solidFill>
            </a:endParaRPr>
          </a:p>
          <a:p>
            <a:r>
              <a:rPr lang="en-US" b="1" dirty="0" smtClean="0"/>
              <a:t>Properties</a:t>
            </a:r>
          </a:p>
          <a:p>
            <a:endParaRPr lang="en-US" dirty="0"/>
          </a:p>
          <a:p>
            <a:pPr marL="285750" indent="-285750">
              <a:buFont typeface="Arial" panose="020B0604020202020204" pitchFamily="34" charset="0"/>
              <a:buChar char="•"/>
            </a:pPr>
            <a:r>
              <a:rPr lang="en-US" sz="1600" dirty="0"/>
              <a:t>Balanced height → O(log n) operations.</a:t>
            </a:r>
          </a:p>
          <a:p>
            <a:pPr marL="285750" indent="-285750">
              <a:buFont typeface="Arial" panose="020B0604020202020204" pitchFamily="34" charset="0"/>
              <a:buChar char="•"/>
            </a:pPr>
            <a:r>
              <a:rPr lang="en-US" sz="1600" dirty="0" smtClean="0"/>
              <a:t>Concurrent </a:t>
            </a:r>
            <a:r>
              <a:rPr lang="en-US" sz="1600" dirty="0"/>
              <a:t>safety → multiple threads can search/insert/delete without blocking.</a:t>
            </a:r>
          </a:p>
          <a:p>
            <a:pPr marL="285750" indent="-285750">
              <a:buFont typeface="Arial" panose="020B0604020202020204" pitchFamily="34" charset="0"/>
              <a:buChar char="•"/>
            </a:pPr>
            <a:r>
              <a:rPr lang="en-US" sz="1600" dirty="0" smtClean="0"/>
              <a:t>Sibling </a:t>
            </a:r>
            <a:r>
              <a:rPr lang="en-US" sz="1600" dirty="0"/>
              <a:t>links → guarantee correctness during splits and merges.</a:t>
            </a:r>
          </a:p>
          <a:p>
            <a:pPr marL="285750" indent="-285750">
              <a:buFont typeface="Arial" panose="020B0604020202020204" pitchFamily="34" charset="0"/>
              <a:buChar char="•"/>
            </a:pPr>
            <a:r>
              <a:rPr lang="en-US" sz="1600" dirty="0" smtClean="0"/>
              <a:t>Efficient </a:t>
            </a:r>
            <a:r>
              <a:rPr lang="en-US" sz="1600" dirty="0"/>
              <a:t>for databases with high concurrency.</a:t>
            </a:r>
            <a:endParaRPr lang="en-US" sz="1600" dirty="0" smtClean="0"/>
          </a:p>
        </p:txBody>
      </p:sp>
      <p:graphicFrame>
        <p:nvGraphicFramePr>
          <p:cNvPr id="2" name="Table 1"/>
          <p:cNvGraphicFramePr>
            <a:graphicFrameLocks noGrp="1"/>
          </p:cNvGraphicFramePr>
          <p:nvPr>
            <p:extLst>
              <p:ext uri="{D42A27DB-BD31-4B8C-83A1-F6EECF244321}">
                <p14:modId xmlns:p14="http://schemas.microsoft.com/office/powerpoint/2010/main" val="1448571328"/>
              </p:ext>
            </p:extLst>
          </p:nvPr>
        </p:nvGraphicFramePr>
        <p:xfrm>
          <a:off x="249381" y="3174178"/>
          <a:ext cx="10515600" cy="1828800"/>
        </p:xfrm>
        <a:graphic>
          <a:graphicData uri="http://schemas.openxmlformats.org/drawingml/2006/table">
            <a:tbl>
              <a:tblPr/>
              <a:tblGrid>
                <a:gridCol w="2103120"/>
                <a:gridCol w="2103120"/>
                <a:gridCol w="1379914"/>
                <a:gridCol w="1803861"/>
                <a:gridCol w="3125585"/>
              </a:tblGrid>
              <a:tr h="0">
                <a:tc>
                  <a:txBody>
                    <a:bodyPr/>
                    <a:lstStyle/>
                    <a:p>
                      <a:pPr algn="ctr"/>
                      <a:r>
                        <a:rPr lang="en-IN" b="1" dirty="0"/>
                        <a:t>Tree Type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IN" b="1" dirty="0"/>
                        <a:t>Data Storage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IN" b="1" dirty="0"/>
                        <a:t>Leaf Links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IN" b="1" dirty="0"/>
                        <a:t>Sibling Links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IN" b="1" dirty="0"/>
                        <a:t>Best Use Case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r>
              <a:tr h="0">
                <a:tc>
                  <a:txBody>
                    <a:bodyPr/>
                    <a:lstStyle/>
                    <a:p>
                      <a:r>
                        <a:rPr lang="en-IN" b="1" dirty="0"/>
                        <a:t>B‑Tree</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Internal + Leaf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General indexing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0">
                <a:tc>
                  <a:txBody>
                    <a:bodyPr/>
                    <a:lstStyle/>
                    <a:p>
                      <a:r>
                        <a:rPr lang="en-IN" b="1"/>
                        <a:t>B+ Tree</a:t>
                      </a:r>
                      <a:endParaRPr lang="en-I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Leaf only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Range queries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0">
                <a:tc>
                  <a:txBody>
                    <a:bodyPr/>
                    <a:lstStyle/>
                    <a:p>
                      <a:r>
                        <a:rPr lang="en-IN" b="1"/>
                        <a:t>B* Tree</a:t>
                      </a:r>
                      <a:endParaRPr lang="en-I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Leaf only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Disk efficiency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0">
                <a:tc>
                  <a:txBody>
                    <a:bodyPr/>
                    <a:lstStyle/>
                    <a:p>
                      <a:r>
                        <a:rPr lang="en-IN" b="1"/>
                        <a:t>B‑Link Tree</a:t>
                      </a:r>
                      <a:endParaRPr lang="en-I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a:t>Leaf only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Concurrent DB operations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1468607500"/>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646331"/>
          </a:xfrm>
          <a:prstGeom prst="rect">
            <a:avLst/>
          </a:prstGeom>
        </p:spPr>
        <p:txBody>
          <a:bodyPr wrap="square">
            <a:spAutoFit/>
          </a:bodyPr>
          <a:lstStyle/>
          <a:p>
            <a:r>
              <a:rPr lang="en-US" b="1" dirty="0" smtClean="0">
                <a:solidFill>
                  <a:srgbClr val="FF0000"/>
                </a:solidFill>
              </a:rPr>
              <a:t>B Link Tree</a:t>
            </a:r>
          </a:p>
          <a:p>
            <a:endParaRPr lang="en-US" b="1" dirty="0" smtClean="0">
              <a:solidFill>
                <a:srgbClr val="FF0000"/>
              </a:solidFill>
            </a:endParaRPr>
          </a:p>
        </p:txBody>
      </p:sp>
      <p:pic>
        <p:nvPicPr>
          <p:cNvPr id="7" name="Picture 6"/>
          <p:cNvPicPr>
            <a:picLocks noChangeAspect="1"/>
          </p:cNvPicPr>
          <p:nvPr/>
        </p:nvPicPr>
        <p:blipFill>
          <a:blip r:embed="rId3"/>
          <a:stretch>
            <a:fillRect/>
          </a:stretch>
        </p:blipFill>
        <p:spPr>
          <a:xfrm>
            <a:off x="144258" y="922713"/>
            <a:ext cx="4829849" cy="5688144"/>
          </a:xfrm>
          <a:prstGeom prst="rect">
            <a:avLst/>
          </a:prstGeom>
        </p:spPr>
      </p:pic>
      <p:pic>
        <p:nvPicPr>
          <p:cNvPr id="8" name="Picture 7"/>
          <p:cNvPicPr>
            <a:picLocks noChangeAspect="1"/>
          </p:cNvPicPr>
          <p:nvPr/>
        </p:nvPicPr>
        <p:blipFill>
          <a:blip r:embed="rId4"/>
          <a:stretch>
            <a:fillRect/>
          </a:stretch>
        </p:blipFill>
        <p:spPr>
          <a:xfrm>
            <a:off x="5118365" y="594944"/>
            <a:ext cx="6106377" cy="6072364"/>
          </a:xfrm>
          <a:prstGeom prst="rect">
            <a:avLst/>
          </a:prstGeom>
        </p:spPr>
      </p:pic>
    </p:spTree>
    <p:extLst>
      <p:ext uri="{BB962C8B-B14F-4D97-AF65-F5344CB8AC3E}">
        <p14:creationId xmlns:p14="http://schemas.microsoft.com/office/powerpoint/2010/main" val="9862629"/>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646331"/>
          </a:xfrm>
          <a:prstGeom prst="rect">
            <a:avLst/>
          </a:prstGeom>
        </p:spPr>
        <p:txBody>
          <a:bodyPr wrap="square">
            <a:spAutoFit/>
          </a:bodyPr>
          <a:lstStyle/>
          <a:p>
            <a:r>
              <a:rPr lang="en-US" b="1" dirty="0" smtClean="0">
                <a:solidFill>
                  <a:srgbClr val="FF0000"/>
                </a:solidFill>
              </a:rPr>
              <a:t>B Link Tree</a:t>
            </a:r>
          </a:p>
          <a:p>
            <a:endParaRPr lang="en-US" b="1" dirty="0" smtClean="0">
              <a:solidFill>
                <a:srgbClr val="FF0000"/>
              </a:solidFill>
            </a:endParaRPr>
          </a:p>
        </p:txBody>
      </p:sp>
      <p:pic>
        <p:nvPicPr>
          <p:cNvPr id="9" name="Picture 8"/>
          <p:cNvPicPr>
            <a:picLocks noChangeAspect="1"/>
          </p:cNvPicPr>
          <p:nvPr/>
        </p:nvPicPr>
        <p:blipFill>
          <a:blip r:embed="rId3"/>
          <a:stretch>
            <a:fillRect/>
          </a:stretch>
        </p:blipFill>
        <p:spPr>
          <a:xfrm>
            <a:off x="129141" y="865505"/>
            <a:ext cx="5715798" cy="5792008"/>
          </a:xfrm>
          <a:prstGeom prst="rect">
            <a:avLst/>
          </a:prstGeom>
        </p:spPr>
      </p:pic>
      <p:pic>
        <p:nvPicPr>
          <p:cNvPr id="10" name="Picture 9"/>
          <p:cNvPicPr>
            <a:picLocks noChangeAspect="1"/>
          </p:cNvPicPr>
          <p:nvPr/>
        </p:nvPicPr>
        <p:blipFill>
          <a:blip r:embed="rId4"/>
          <a:stretch>
            <a:fillRect/>
          </a:stretch>
        </p:blipFill>
        <p:spPr>
          <a:xfrm>
            <a:off x="6046254" y="2198764"/>
            <a:ext cx="5944430" cy="1047896"/>
          </a:xfrm>
          <a:prstGeom prst="rect">
            <a:avLst/>
          </a:prstGeom>
        </p:spPr>
      </p:pic>
    </p:spTree>
    <p:extLst>
      <p:ext uri="{BB962C8B-B14F-4D97-AF65-F5344CB8AC3E}">
        <p14:creationId xmlns:p14="http://schemas.microsoft.com/office/powerpoint/2010/main" val="321836418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4093428"/>
          </a:xfrm>
          <a:prstGeom prst="rect">
            <a:avLst/>
          </a:prstGeom>
        </p:spPr>
        <p:txBody>
          <a:bodyPr wrap="square">
            <a:spAutoFit/>
          </a:bodyPr>
          <a:lstStyle/>
          <a:p>
            <a:r>
              <a:rPr lang="en-US" b="1" dirty="0" smtClean="0">
                <a:solidFill>
                  <a:srgbClr val="FF0000"/>
                </a:solidFill>
              </a:rPr>
              <a:t>B Link Tree</a:t>
            </a:r>
          </a:p>
          <a:p>
            <a:endParaRPr lang="en-US" b="1" dirty="0" smtClean="0">
              <a:solidFill>
                <a:srgbClr val="FF0000"/>
              </a:solidFill>
            </a:endParaRPr>
          </a:p>
          <a:p>
            <a:r>
              <a:rPr lang="en-US" sz="1600" b="1" dirty="0"/>
              <a:t>Class </a:t>
            </a:r>
            <a:r>
              <a:rPr lang="en-US" sz="1600" b="1" dirty="0" err="1"/>
              <a:t>BLinkNode</a:t>
            </a:r>
            <a:endParaRPr lang="en-US" sz="1600" b="1" dirty="0"/>
          </a:p>
          <a:p>
            <a:endParaRPr lang="en-US" sz="1600" dirty="0"/>
          </a:p>
          <a:p>
            <a:r>
              <a:rPr lang="en-US" sz="1600" dirty="0"/>
              <a:t>keys → list of keys stored in the node.</a:t>
            </a:r>
          </a:p>
          <a:p>
            <a:r>
              <a:rPr lang="en-US" sz="1600" dirty="0" smtClean="0"/>
              <a:t>children </a:t>
            </a:r>
            <a:r>
              <a:rPr lang="en-US" sz="1600" dirty="0"/>
              <a:t>→ child pointers (used in internal nodes).</a:t>
            </a:r>
          </a:p>
          <a:p>
            <a:r>
              <a:rPr lang="en-US" sz="1600" dirty="0" err="1" smtClean="0"/>
              <a:t>isLeaf</a:t>
            </a:r>
            <a:r>
              <a:rPr lang="en-US" sz="1600" dirty="0" smtClean="0"/>
              <a:t> </a:t>
            </a:r>
            <a:r>
              <a:rPr lang="en-US" sz="1600" dirty="0"/>
              <a:t>→ whether the node is a leaf.</a:t>
            </a:r>
          </a:p>
          <a:p>
            <a:r>
              <a:rPr lang="en-US" sz="1600" dirty="0" smtClean="0"/>
              <a:t>right </a:t>
            </a:r>
            <a:r>
              <a:rPr lang="en-US" sz="1600" dirty="0"/>
              <a:t>→ sibling link pointing to the next node (this is the special feature of B‑Link Trees).</a:t>
            </a:r>
          </a:p>
          <a:p>
            <a:endParaRPr lang="en-US" sz="1600" dirty="0"/>
          </a:p>
          <a:p>
            <a:r>
              <a:rPr lang="en-US" sz="1600" b="1" dirty="0"/>
              <a:t>Class BLinkTreeExample16</a:t>
            </a:r>
          </a:p>
          <a:p>
            <a:endParaRPr lang="en-US" sz="1600" dirty="0"/>
          </a:p>
          <a:p>
            <a:r>
              <a:rPr lang="en-US" sz="1600" dirty="0"/>
              <a:t>root → root node of the tree.</a:t>
            </a:r>
          </a:p>
          <a:p>
            <a:r>
              <a:rPr lang="en-US" sz="1600" dirty="0" err="1" smtClean="0"/>
              <a:t>maxKeys</a:t>
            </a:r>
            <a:r>
              <a:rPr lang="en-US" sz="1600" dirty="0" smtClean="0"/>
              <a:t> </a:t>
            </a:r>
            <a:r>
              <a:rPr lang="en-US" sz="1600" dirty="0"/>
              <a:t>→ maximum number of keys allowed in a node before splitting.</a:t>
            </a:r>
          </a:p>
          <a:p>
            <a:r>
              <a:rPr lang="en-US" sz="1600" dirty="0" smtClean="0"/>
              <a:t>insert(key</a:t>
            </a:r>
            <a:r>
              <a:rPr lang="en-US" sz="1600" dirty="0"/>
              <a:t>) → inserts a new key into the tree.</a:t>
            </a:r>
          </a:p>
          <a:p>
            <a:r>
              <a:rPr lang="en-US" sz="1600" dirty="0" err="1" smtClean="0"/>
              <a:t>splitNode</a:t>
            </a:r>
            <a:r>
              <a:rPr lang="en-US" sz="1600" dirty="0" smtClean="0"/>
              <a:t>(node</a:t>
            </a:r>
            <a:r>
              <a:rPr lang="en-US" sz="1600" dirty="0"/>
              <a:t>) → splits a node when it overflows and maintains the right sibling link.</a:t>
            </a:r>
          </a:p>
          <a:p>
            <a:r>
              <a:rPr lang="en-US" sz="1600" dirty="0" err="1" smtClean="0"/>
              <a:t>printLeaves</a:t>
            </a:r>
            <a:r>
              <a:rPr lang="en-US" sz="1600" dirty="0"/>
              <a:t>() → prints all leaf nodes in order using the sibling links.</a:t>
            </a:r>
            <a:endParaRPr lang="en-US" sz="1600" dirty="0" smtClean="0"/>
          </a:p>
        </p:txBody>
      </p:sp>
    </p:spTree>
    <p:extLst>
      <p:ext uri="{BB962C8B-B14F-4D97-AF65-F5344CB8AC3E}">
        <p14:creationId xmlns:p14="http://schemas.microsoft.com/office/powerpoint/2010/main" val="50445314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4339650"/>
          </a:xfrm>
          <a:prstGeom prst="rect">
            <a:avLst/>
          </a:prstGeom>
        </p:spPr>
        <p:txBody>
          <a:bodyPr wrap="square">
            <a:spAutoFit/>
          </a:bodyPr>
          <a:lstStyle/>
          <a:p>
            <a:r>
              <a:rPr lang="en-US" b="1" dirty="0" smtClean="0">
                <a:solidFill>
                  <a:srgbClr val="FF0000"/>
                </a:solidFill>
              </a:rPr>
              <a:t>B Link Tree</a:t>
            </a:r>
          </a:p>
          <a:p>
            <a:endParaRPr lang="en-US" b="1" dirty="0" smtClean="0">
              <a:solidFill>
                <a:srgbClr val="FF0000"/>
              </a:solidFill>
            </a:endParaRPr>
          </a:p>
          <a:p>
            <a:r>
              <a:rPr lang="en-US" sz="1600" b="1" dirty="0"/>
              <a:t>Inputs</a:t>
            </a:r>
          </a:p>
          <a:p>
            <a:r>
              <a:rPr lang="en-US" sz="1600" dirty="0"/>
              <a:t>In main, you create a B‑Link Tree with </a:t>
            </a:r>
            <a:r>
              <a:rPr lang="en-US" sz="1600" dirty="0" err="1"/>
              <a:t>maxKeys</a:t>
            </a:r>
            <a:r>
              <a:rPr lang="en-US" sz="1600" dirty="0"/>
              <a:t> = 3</a:t>
            </a:r>
            <a:r>
              <a:rPr lang="en-US" sz="1600" dirty="0" smtClean="0"/>
              <a:t>:</a:t>
            </a:r>
          </a:p>
          <a:p>
            <a:endParaRPr lang="en-US" sz="1600" dirty="0"/>
          </a:p>
          <a:p>
            <a:endParaRPr lang="en-US" sz="1600" dirty="0" smtClean="0"/>
          </a:p>
          <a:p>
            <a:endParaRPr lang="en-US" sz="1600" dirty="0"/>
          </a:p>
          <a:p>
            <a:r>
              <a:rPr lang="en-IN" sz="1600" dirty="0"/>
              <a:t>Then you insert values</a:t>
            </a:r>
            <a:r>
              <a:rPr lang="en-IN" sz="1600" dirty="0" smtClean="0"/>
              <a:t>:</a:t>
            </a:r>
          </a:p>
          <a:p>
            <a:endParaRPr lang="en-IN" sz="1600" dirty="0"/>
          </a:p>
          <a:p>
            <a:endParaRPr lang="en-IN" sz="1600" dirty="0" smtClean="0"/>
          </a:p>
          <a:p>
            <a:endParaRPr lang="en-IN" sz="1600" dirty="0"/>
          </a:p>
          <a:p>
            <a:r>
              <a:rPr lang="en-US" sz="1600" dirty="0"/>
              <a:t>How It Works </a:t>
            </a:r>
            <a:r>
              <a:rPr lang="en-US" sz="1600" dirty="0" smtClean="0"/>
              <a:t>Internally</a:t>
            </a:r>
          </a:p>
          <a:p>
            <a:endParaRPr lang="en-US" sz="1600" dirty="0"/>
          </a:p>
          <a:p>
            <a:r>
              <a:rPr lang="en-US" sz="1600" dirty="0"/>
              <a:t>Insert 10, 20, 5 → all fit in root leaf: [5,10,20].</a:t>
            </a:r>
          </a:p>
          <a:p>
            <a:r>
              <a:rPr lang="en-US" sz="1600" dirty="0" smtClean="0"/>
              <a:t>Insert </a:t>
            </a:r>
            <a:r>
              <a:rPr lang="en-US" sz="1600" dirty="0"/>
              <a:t>6 → root leaf overflows (&gt;3 keys).</a:t>
            </a:r>
          </a:p>
          <a:p>
            <a:endParaRPr lang="en-US" sz="1600" dirty="0"/>
          </a:p>
          <a:p>
            <a:r>
              <a:rPr lang="en-US" sz="1600" dirty="0"/>
              <a:t>Root splits into two leaves:</a:t>
            </a:r>
            <a:endParaRPr lang="en-US" sz="1600" dirty="0" smtClean="0"/>
          </a:p>
        </p:txBody>
      </p:sp>
      <p:pic>
        <p:nvPicPr>
          <p:cNvPr id="2" name="Picture 1"/>
          <p:cNvPicPr>
            <a:picLocks noChangeAspect="1"/>
          </p:cNvPicPr>
          <p:nvPr/>
        </p:nvPicPr>
        <p:blipFill>
          <a:blip r:embed="rId3"/>
          <a:stretch>
            <a:fillRect/>
          </a:stretch>
        </p:blipFill>
        <p:spPr>
          <a:xfrm>
            <a:off x="438628" y="1733717"/>
            <a:ext cx="4315427" cy="381053"/>
          </a:xfrm>
          <a:prstGeom prst="rect">
            <a:avLst/>
          </a:prstGeom>
        </p:spPr>
      </p:pic>
      <p:pic>
        <p:nvPicPr>
          <p:cNvPr id="3" name="Picture 2"/>
          <p:cNvPicPr>
            <a:picLocks noChangeAspect="1"/>
          </p:cNvPicPr>
          <p:nvPr/>
        </p:nvPicPr>
        <p:blipFill>
          <a:blip r:embed="rId4"/>
          <a:stretch>
            <a:fillRect/>
          </a:stretch>
        </p:blipFill>
        <p:spPr>
          <a:xfrm>
            <a:off x="157601" y="2715544"/>
            <a:ext cx="2438740" cy="342948"/>
          </a:xfrm>
          <a:prstGeom prst="rect">
            <a:avLst/>
          </a:prstGeom>
        </p:spPr>
      </p:pic>
      <p:sp>
        <p:nvSpPr>
          <p:cNvPr id="7" name="Rectangle 6"/>
          <p:cNvSpPr/>
          <p:nvPr/>
        </p:nvSpPr>
        <p:spPr>
          <a:xfrm>
            <a:off x="786938" y="4830233"/>
            <a:ext cx="6096000" cy="923330"/>
          </a:xfrm>
          <a:prstGeom prst="rect">
            <a:avLst/>
          </a:prstGeom>
        </p:spPr>
        <p:txBody>
          <a:bodyPr>
            <a:spAutoFit/>
          </a:bodyPr>
          <a:lstStyle/>
          <a:p>
            <a:r>
              <a:rPr lang="en-IN" dirty="0" smtClean="0"/>
              <a:t>       </a:t>
            </a:r>
            <a:r>
              <a:rPr lang="en-IN" dirty="0"/>
              <a:t>[10]</a:t>
            </a:r>
          </a:p>
          <a:p>
            <a:r>
              <a:rPr lang="en-IN" dirty="0"/>
              <a:t>   </a:t>
            </a:r>
            <a:r>
              <a:rPr lang="en-IN" dirty="0" smtClean="0"/>
              <a:t>  /       </a:t>
            </a:r>
            <a:r>
              <a:rPr lang="en-IN" dirty="0"/>
              <a:t>\</a:t>
            </a:r>
          </a:p>
          <a:p>
            <a:r>
              <a:rPr lang="en-IN" dirty="0"/>
              <a:t>[5,6]     [10,20]</a:t>
            </a:r>
          </a:p>
        </p:txBody>
      </p:sp>
      <p:sp>
        <p:nvSpPr>
          <p:cNvPr id="8" name="Rectangle 7"/>
          <p:cNvSpPr/>
          <p:nvPr/>
        </p:nvSpPr>
        <p:spPr>
          <a:xfrm>
            <a:off x="5726949" y="874378"/>
            <a:ext cx="4208396" cy="646331"/>
          </a:xfrm>
          <a:prstGeom prst="rect">
            <a:avLst/>
          </a:prstGeom>
        </p:spPr>
        <p:txBody>
          <a:bodyPr wrap="none">
            <a:spAutoFit/>
          </a:bodyPr>
          <a:lstStyle/>
          <a:p>
            <a:r>
              <a:rPr lang="en-US" b="1" dirty="0"/>
              <a:t>Insert 12 </a:t>
            </a:r>
            <a:r>
              <a:rPr lang="en-US" dirty="0"/>
              <a:t>→ goes into right leaf: [10,12,20].</a:t>
            </a:r>
          </a:p>
          <a:p>
            <a:r>
              <a:rPr lang="en-US" b="1" dirty="0" smtClean="0"/>
              <a:t>Insert </a:t>
            </a:r>
            <a:r>
              <a:rPr lang="en-US" b="1" dirty="0"/>
              <a:t>30 </a:t>
            </a:r>
            <a:r>
              <a:rPr lang="en-US" dirty="0"/>
              <a:t>→ right leaf overflows, split:</a:t>
            </a:r>
            <a:endParaRPr lang="en-IN" dirty="0"/>
          </a:p>
        </p:txBody>
      </p:sp>
      <p:sp>
        <p:nvSpPr>
          <p:cNvPr id="10" name="Rectangle 9"/>
          <p:cNvSpPr/>
          <p:nvPr/>
        </p:nvSpPr>
        <p:spPr>
          <a:xfrm>
            <a:off x="6096000" y="1584750"/>
            <a:ext cx="6096000" cy="923330"/>
          </a:xfrm>
          <a:prstGeom prst="rect">
            <a:avLst/>
          </a:prstGeom>
        </p:spPr>
        <p:txBody>
          <a:bodyPr>
            <a:spAutoFit/>
          </a:bodyPr>
          <a:lstStyle/>
          <a:p>
            <a:r>
              <a:rPr lang="en-IN" dirty="0" smtClean="0"/>
              <a:t>            [</a:t>
            </a:r>
            <a:r>
              <a:rPr lang="en-IN" dirty="0"/>
              <a:t>10,20]</a:t>
            </a:r>
          </a:p>
          <a:p>
            <a:r>
              <a:rPr lang="en-IN" dirty="0"/>
              <a:t> </a:t>
            </a:r>
            <a:r>
              <a:rPr lang="en-IN" dirty="0" smtClean="0"/>
              <a:t>        </a:t>
            </a:r>
            <a:r>
              <a:rPr lang="en-IN" dirty="0"/>
              <a:t>/     |     </a:t>
            </a:r>
            <a:r>
              <a:rPr lang="en-IN" dirty="0" smtClean="0"/>
              <a:t>   \</a:t>
            </a:r>
            <a:endParaRPr lang="en-IN" dirty="0"/>
          </a:p>
          <a:p>
            <a:r>
              <a:rPr lang="en-IN" dirty="0"/>
              <a:t>[5,6]   [10,12]   [20,30]</a:t>
            </a:r>
          </a:p>
        </p:txBody>
      </p:sp>
      <p:sp>
        <p:nvSpPr>
          <p:cNvPr id="11" name="Rectangle 10"/>
          <p:cNvSpPr/>
          <p:nvPr/>
        </p:nvSpPr>
        <p:spPr>
          <a:xfrm>
            <a:off x="5726949" y="2651963"/>
            <a:ext cx="6096000" cy="1754326"/>
          </a:xfrm>
          <a:prstGeom prst="rect">
            <a:avLst/>
          </a:prstGeom>
        </p:spPr>
        <p:txBody>
          <a:bodyPr>
            <a:spAutoFit/>
          </a:bodyPr>
          <a:lstStyle/>
          <a:p>
            <a:r>
              <a:rPr lang="en-IN" dirty="0"/>
              <a:t>- Right links: [5,6] → [10,12] → [20,30].  </a:t>
            </a:r>
          </a:p>
          <a:p>
            <a:endParaRPr lang="en-IN" dirty="0"/>
          </a:p>
          <a:p>
            <a:r>
              <a:rPr lang="en-IN" dirty="0" smtClean="0"/>
              <a:t>**</a:t>
            </a:r>
            <a:r>
              <a:rPr lang="en-IN" b="1" dirty="0"/>
              <a:t>Insert 7** </a:t>
            </a:r>
            <a:r>
              <a:rPr lang="en-IN" dirty="0"/>
              <a:t>→ goes into left leaf: `[5,6,7]`.  </a:t>
            </a:r>
          </a:p>
          <a:p>
            <a:r>
              <a:rPr lang="en-IN" dirty="0" smtClean="0"/>
              <a:t>**</a:t>
            </a:r>
            <a:r>
              <a:rPr lang="en-IN" b="1" dirty="0"/>
              <a:t>Insert 17</a:t>
            </a:r>
            <a:r>
              <a:rPr lang="en-IN" dirty="0"/>
              <a:t>** → goes into middle leaf: `[10,12,17]`.  </a:t>
            </a:r>
          </a:p>
          <a:p>
            <a:endParaRPr lang="en-IN" dirty="0"/>
          </a:p>
          <a:p>
            <a:r>
              <a:rPr lang="en-IN" b="1" dirty="0"/>
              <a:t>Final structure:</a:t>
            </a:r>
          </a:p>
        </p:txBody>
      </p:sp>
      <p:sp>
        <p:nvSpPr>
          <p:cNvPr id="12" name="Rectangle 11"/>
          <p:cNvSpPr/>
          <p:nvPr/>
        </p:nvSpPr>
        <p:spPr>
          <a:xfrm>
            <a:off x="6513887" y="4406289"/>
            <a:ext cx="6096000" cy="923330"/>
          </a:xfrm>
          <a:prstGeom prst="rect">
            <a:avLst/>
          </a:prstGeom>
        </p:spPr>
        <p:txBody>
          <a:bodyPr>
            <a:spAutoFit/>
          </a:bodyPr>
          <a:lstStyle/>
          <a:p>
            <a:r>
              <a:rPr lang="en-IN" dirty="0" smtClean="0"/>
              <a:t>                    [</a:t>
            </a:r>
            <a:r>
              <a:rPr lang="en-IN" dirty="0"/>
              <a:t>10,20]</a:t>
            </a:r>
          </a:p>
          <a:p>
            <a:r>
              <a:rPr lang="en-IN" dirty="0" smtClean="0"/>
              <a:t>              /        </a:t>
            </a:r>
            <a:r>
              <a:rPr lang="en-IN" dirty="0"/>
              <a:t>|  </a:t>
            </a:r>
            <a:r>
              <a:rPr lang="en-IN" dirty="0" smtClean="0"/>
              <a:t>         </a:t>
            </a:r>
            <a:r>
              <a:rPr lang="en-IN" dirty="0"/>
              <a:t>\</a:t>
            </a:r>
          </a:p>
          <a:p>
            <a:r>
              <a:rPr lang="en-IN" dirty="0"/>
              <a:t>[5,6,7] → [10,12,17] → [20,30]</a:t>
            </a:r>
          </a:p>
        </p:txBody>
      </p:sp>
      <p:sp>
        <p:nvSpPr>
          <p:cNvPr id="15" name="Rectangle 14"/>
          <p:cNvSpPr/>
          <p:nvPr/>
        </p:nvSpPr>
        <p:spPr>
          <a:xfrm>
            <a:off x="5726949" y="5439856"/>
            <a:ext cx="1944315" cy="369332"/>
          </a:xfrm>
          <a:prstGeom prst="rect">
            <a:avLst/>
          </a:prstGeom>
        </p:spPr>
        <p:txBody>
          <a:bodyPr wrap="none">
            <a:spAutoFit/>
          </a:bodyPr>
          <a:lstStyle/>
          <a:p>
            <a:r>
              <a:rPr lang="en-IN" b="1" dirty="0" err="1" smtClean="0"/>
              <a:t>tree.printLeaves</a:t>
            </a:r>
            <a:r>
              <a:rPr lang="en-IN" b="1" dirty="0" smtClean="0"/>
              <a:t>();</a:t>
            </a:r>
            <a:endParaRPr lang="en-IN" b="1" dirty="0"/>
          </a:p>
        </p:txBody>
      </p:sp>
      <p:pic>
        <p:nvPicPr>
          <p:cNvPr id="16" name="Picture 15"/>
          <p:cNvPicPr>
            <a:picLocks noChangeAspect="1"/>
          </p:cNvPicPr>
          <p:nvPr/>
        </p:nvPicPr>
        <p:blipFill>
          <a:blip r:embed="rId5"/>
          <a:stretch>
            <a:fillRect/>
          </a:stretch>
        </p:blipFill>
        <p:spPr>
          <a:xfrm>
            <a:off x="5817023" y="5930125"/>
            <a:ext cx="5915851" cy="457264"/>
          </a:xfrm>
          <a:prstGeom prst="rect">
            <a:avLst/>
          </a:prstGeom>
        </p:spPr>
      </p:pic>
    </p:spTree>
    <p:extLst>
      <p:ext uri="{BB962C8B-B14F-4D97-AF65-F5344CB8AC3E}">
        <p14:creationId xmlns:p14="http://schemas.microsoft.com/office/powerpoint/2010/main" val="45978868"/>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2585323"/>
          </a:xfrm>
          <a:prstGeom prst="rect">
            <a:avLst/>
          </a:prstGeom>
        </p:spPr>
        <p:txBody>
          <a:bodyPr wrap="square">
            <a:spAutoFit/>
          </a:bodyPr>
          <a:lstStyle/>
          <a:p>
            <a:r>
              <a:rPr lang="en-US" b="1" dirty="0" smtClean="0">
                <a:solidFill>
                  <a:srgbClr val="FF0000"/>
                </a:solidFill>
              </a:rPr>
              <a:t>B Link Tree</a:t>
            </a:r>
          </a:p>
          <a:p>
            <a:endParaRPr lang="en-US" b="1" dirty="0" smtClean="0">
              <a:solidFill>
                <a:srgbClr val="FF0000"/>
              </a:solidFill>
            </a:endParaRPr>
          </a:p>
          <a:p>
            <a:r>
              <a:rPr lang="en-US" sz="1400" dirty="0"/>
              <a:t>Inputs: numbers {10,20,5,6,12,30,7,17}.</a:t>
            </a:r>
          </a:p>
          <a:p>
            <a:endParaRPr lang="en-US" sz="1400" dirty="0"/>
          </a:p>
          <a:p>
            <a:r>
              <a:rPr lang="en-US" sz="1400" dirty="0"/>
              <a:t>Process: each number is inserted, nodes split when full, and right sibling links are maintained.</a:t>
            </a:r>
          </a:p>
          <a:p>
            <a:endParaRPr lang="en-US" sz="1400" dirty="0"/>
          </a:p>
          <a:p>
            <a:r>
              <a:rPr lang="en-US" sz="1400" dirty="0"/>
              <a:t>Output: traversal prints leaf nodes in sorted order using links →</a:t>
            </a:r>
          </a:p>
          <a:p>
            <a:r>
              <a:rPr lang="en-US" sz="1400" dirty="0"/>
              <a:t>[5,6,7] → [10,12,17] → [20,30] → null.</a:t>
            </a:r>
          </a:p>
          <a:p>
            <a:endParaRPr lang="en-US" sz="1400" dirty="0"/>
          </a:p>
          <a:p>
            <a:r>
              <a:rPr lang="en-US" sz="1400" dirty="0"/>
              <a:t>This demonstrates the B‑Link Tree’s special feature: sibling links that make searches and updates safe even during concurrent splits.</a:t>
            </a:r>
          </a:p>
          <a:p>
            <a:endParaRPr lang="en-US" sz="1400" dirty="0"/>
          </a:p>
        </p:txBody>
      </p:sp>
    </p:spTree>
    <p:extLst>
      <p:ext uri="{BB962C8B-B14F-4D97-AF65-F5344CB8AC3E}">
        <p14:creationId xmlns:p14="http://schemas.microsoft.com/office/powerpoint/2010/main" val="2936043481"/>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5078313"/>
          </a:xfrm>
          <a:prstGeom prst="rect">
            <a:avLst/>
          </a:prstGeom>
        </p:spPr>
        <p:txBody>
          <a:bodyPr wrap="square">
            <a:spAutoFit/>
          </a:bodyPr>
          <a:lstStyle/>
          <a:p>
            <a:r>
              <a:rPr lang="en-US" b="1" dirty="0" err="1" smtClean="0">
                <a:solidFill>
                  <a:srgbClr val="FF0000"/>
                </a:solidFill>
              </a:rPr>
              <a:t>Trie</a:t>
            </a:r>
            <a:r>
              <a:rPr lang="en-US" b="1" dirty="0" smtClean="0">
                <a:solidFill>
                  <a:srgbClr val="FF0000"/>
                </a:solidFill>
              </a:rPr>
              <a:t> Tree</a:t>
            </a:r>
          </a:p>
          <a:p>
            <a:endParaRPr lang="en-US" b="1" dirty="0" smtClean="0">
              <a:solidFill>
                <a:srgbClr val="FF0000"/>
              </a:solidFill>
            </a:endParaRPr>
          </a:p>
          <a:p>
            <a:r>
              <a:rPr lang="en-US" dirty="0"/>
              <a:t>A </a:t>
            </a:r>
            <a:r>
              <a:rPr lang="en-US" dirty="0" err="1"/>
              <a:t>Trie</a:t>
            </a:r>
            <a:r>
              <a:rPr lang="en-US" dirty="0"/>
              <a:t> (or Prefix Tree) is a tree‑based data structure used to store strings efficiently by sharing common prefixes. It is widely used in applications like autocomplete, spell checking, and IP routing because it allows fast prefix searches in O(L) time, where L is the length of the string</a:t>
            </a:r>
            <a:r>
              <a:rPr lang="en-US" dirty="0" smtClean="0"/>
              <a:t>.</a:t>
            </a:r>
          </a:p>
          <a:p>
            <a:endParaRPr lang="en-US" b="1" dirty="0">
              <a:solidFill>
                <a:srgbClr val="FF0000"/>
              </a:solidFill>
            </a:endParaRPr>
          </a:p>
          <a:p>
            <a:pPr marL="285750" indent="-285750">
              <a:buFont typeface="Arial" panose="020B0604020202020204" pitchFamily="34" charset="0"/>
              <a:buChar char="•"/>
            </a:pPr>
            <a:r>
              <a:rPr lang="en-US" dirty="0"/>
              <a:t>A </a:t>
            </a:r>
            <a:r>
              <a:rPr lang="en-US" b="1" dirty="0" err="1"/>
              <a:t>Trie</a:t>
            </a:r>
            <a:r>
              <a:rPr lang="en-US" b="1" dirty="0"/>
              <a:t> Tree</a:t>
            </a:r>
            <a:r>
              <a:rPr lang="en-US" dirty="0"/>
              <a:t> (pronounced “try” or “tree”) is a </a:t>
            </a:r>
            <a:r>
              <a:rPr lang="en-US" b="1" dirty="0"/>
              <a:t>prefix tree</a:t>
            </a:r>
            <a:r>
              <a:rPr lang="en-US" dirty="0"/>
              <a:t>.</a:t>
            </a:r>
          </a:p>
          <a:p>
            <a:pPr marL="285750" indent="-285750">
              <a:buFont typeface="Arial" panose="020B0604020202020204" pitchFamily="34" charset="0"/>
              <a:buChar char="•"/>
            </a:pPr>
            <a:r>
              <a:rPr lang="en-US" dirty="0"/>
              <a:t>Each node represents a </a:t>
            </a:r>
            <a:r>
              <a:rPr lang="en-US" b="1" dirty="0"/>
              <a:t>character</a:t>
            </a:r>
            <a:r>
              <a:rPr lang="en-US" dirty="0"/>
              <a:t>.</a:t>
            </a:r>
          </a:p>
          <a:p>
            <a:pPr marL="285750" indent="-285750">
              <a:buFont typeface="Arial" panose="020B0604020202020204" pitchFamily="34" charset="0"/>
              <a:buChar char="•"/>
            </a:pPr>
            <a:r>
              <a:rPr lang="en-US" dirty="0"/>
              <a:t>The path from the root to a node represents a </a:t>
            </a:r>
            <a:r>
              <a:rPr lang="en-US" b="1" dirty="0"/>
              <a:t>prefix</a:t>
            </a:r>
            <a:r>
              <a:rPr lang="en-US" dirty="0"/>
              <a:t> of one or more strings.</a:t>
            </a:r>
          </a:p>
          <a:p>
            <a:pPr marL="285750" indent="-285750">
              <a:buFont typeface="Arial" panose="020B0604020202020204" pitchFamily="34" charset="0"/>
              <a:buChar char="•"/>
            </a:pPr>
            <a:r>
              <a:rPr lang="en-US" dirty="0"/>
              <a:t>A special flag marks the </a:t>
            </a:r>
            <a:r>
              <a:rPr lang="en-US" b="1" dirty="0"/>
              <a:t>end of a word</a:t>
            </a:r>
            <a:r>
              <a:rPr lang="en-US" dirty="0"/>
              <a:t>.</a:t>
            </a:r>
          </a:p>
          <a:p>
            <a:endParaRPr lang="en-US" b="1" dirty="0" smtClean="0">
              <a:solidFill>
                <a:srgbClr val="FF0000"/>
              </a:solidFill>
            </a:endParaRPr>
          </a:p>
          <a:p>
            <a:r>
              <a:rPr lang="en-US" b="1" dirty="0"/>
              <a:t>Key Properties</a:t>
            </a:r>
          </a:p>
          <a:p>
            <a:pPr marL="285750" indent="-285750">
              <a:buFont typeface="Arial" panose="020B0604020202020204" pitchFamily="34" charset="0"/>
              <a:buChar char="•"/>
            </a:pPr>
            <a:r>
              <a:rPr lang="en-US" b="1" dirty="0"/>
              <a:t>Root node</a:t>
            </a:r>
            <a:r>
              <a:rPr lang="en-US" dirty="0"/>
              <a:t> → empty, no character.</a:t>
            </a:r>
          </a:p>
          <a:p>
            <a:pPr marL="285750" indent="-285750">
              <a:buFont typeface="Arial" panose="020B0604020202020204" pitchFamily="34" charset="0"/>
              <a:buChar char="•"/>
            </a:pPr>
            <a:r>
              <a:rPr lang="en-US" b="1" dirty="0"/>
              <a:t>Edges</a:t>
            </a:r>
            <a:r>
              <a:rPr lang="en-US" dirty="0"/>
              <a:t> → represent characters.</a:t>
            </a:r>
          </a:p>
          <a:p>
            <a:pPr marL="285750" indent="-285750">
              <a:buFont typeface="Arial" panose="020B0604020202020204" pitchFamily="34" charset="0"/>
              <a:buChar char="•"/>
            </a:pPr>
            <a:r>
              <a:rPr lang="en-US" b="1" dirty="0"/>
              <a:t>Nodes</a:t>
            </a:r>
            <a:r>
              <a:rPr lang="en-US" dirty="0"/>
              <a:t> → store children references (often 26 for lowercase English letters).</a:t>
            </a:r>
          </a:p>
          <a:p>
            <a:pPr marL="285750" indent="-285750">
              <a:buFont typeface="Arial" panose="020B0604020202020204" pitchFamily="34" charset="0"/>
              <a:buChar char="•"/>
            </a:pPr>
            <a:r>
              <a:rPr lang="en-US" b="1" dirty="0"/>
              <a:t>End marker</a:t>
            </a:r>
            <a:r>
              <a:rPr lang="en-US" dirty="0"/>
              <a:t> → indicates a complete word.</a:t>
            </a:r>
          </a:p>
          <a:p>
            <a:pPr marL="285750" indent="-285750">
              <a:buFont typeface="Arial" panose="020B0604020202020204" pitchFamily="34" charset="0"/>
              <a:buChar char="•"/>
            </a:pPr>
            <a:r>
              <a:rPr lang="en-US" b="1" dirty="0"/>
              <a:t>Shared prefixes</a:t>
            </a:r>
            <a:r>
              <a:rPr lang="en-US" dirty="0"/>
              <a:t> → reduce duplication and save memory.</a:t>
            </a:r>
          </a:p>
          <a:p>
            <a:endParaRPr lang="en-US" b="1" dirty="0" smtClean="0">
              <a:solidFill>
                <a:srgbClr val="FF0000"/>
              </a:solidFill>
            </a:endParaRPr>
          </a:p>
        </p:txBody>
      </p:sp>
    </p:spTree>
    <p:extLst>
      <p:ext uri="{BB962C8B-B14F-4D97-AF65-F5344CB8AC3E}">
        <p14:creationId xmlns:p14="http://schemas.microsoft.com/office/powerpoint/2010/main" val="3346481846"/>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5078313"/>
          </a:xfrm>
          <a:prstGeom prst="rect">
            <a:avLst/>
          </a:prstGeom>
        </p:spPr>
        <p:txBody>
          <a:bodyPr wrap="square">
            <a:spAutoFit/>
          </a:bodyPr>
          <a:lstStyle/>
          <a:p>
            <a:r>
              <a:rPr lang="en-US" b="1" dirty="0" err="1" smtClean="0">
                <a:solidFill>
                  <a:srgbClr val="FF0000"/>
                </a:solidFill>
              </a:rPr>
              <a:t>Trie</a:t>
            </a:r>
            <a:r>
              <a:rPr lang="en-US" b="1" dirty="0" smtClean="0">
                <a:solidFill>
                  <a:srgbClr val="FF0000"/>
                </a:solidFill>
              </a:rPr>
              <a:t> Tree</a:t>
            </a:r>
          </a:p>
          <a:p>
            <a:endParaRPr lang="en-US" b="1" dirty="0" smtClean="0">
              <a:solidFill>
                <a:srgbClr val="FF0000"/>
              </a:solidFill>
            </a:endParaRPr>
          </a:p>
          <a:p>
            <a:r>
              <a:rPr lang="en-US" dirty="0"/>
              <a:t>Example</a:t>
            </a:r>
          </a:p>
          <a:p>
            <a:r>
              <a:rPr lang="en-US" dirty="0"/>
              <a:t>Suppose we insert words: "and", "ant", "an", "bat"</a:t>
            </a:r>
          </a:p>
          <a:p>
            <a:endParaRPr lang="en-US" dirty="0"/>
          </a:p>
          <a:p>
            <a:r>
              <a:rPr lang="en-US" dirty="0" err="1"/>
              <a:t>Trie</a:t>
            </a:r>
            <a:r>
              <a:rPr lang="en-US" dirty="0"/>
              <a:t> structure</a:t>
            </a:r>
            <a:r>
              <a:rPr lang="en-US" dirty="0" smtClean="0"/>
              <a:t>:</a:t>
            </a: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endParaRPr lang="en-US" b="1" dirty="0">
              <a:solidFill>
                <a:srgbClr val="FF0000"/>
              </a:solidFill>
            </a:endParaRPr>
          </a:p>
          <a:p>
            <a:endParaRPr lang="en-US" b="1" dirty="0" smtClean="0">
              <a:solidFill>
                <a:srgbClr val="FF0000"/>
              </a:solidFill>
            </a:endParaRPr>
          </a:p>
          <a:p>
            <a:r>
              <a:rPr lang="en-US" sz="1600" dirty="0"/>
              <a:t>"an" ends at node n.</a:t>
            </a:r>
          </a:p>
          <a:p>
            <a:r>
              <a:rPr lang="en-US" sz="1600" dirty="0" smtClean="0"/>
              <a:t>"</a:t>
            </a:r>
            <a:r>
              <a:rPr lang="en-US" sz="1600" dirty="0"/>
              <a:t>and" extends to d.</a:t>
            </a:r>
          </a:p>
          <a:p>
            <a:r>
              <a:rPr lang="en-US" sz="1600" dirty="0" smtClean="0"/>
              <a:t>"</a:t>
            </a:r>
            <a:r>
              <a:rPr lang="en-US" sz="1600" dirty="0"/>
              <a:t>ant" extends to t.</a:t>
            </a:r>
          </a:p>
          <a:p>
            <a:r>
              <a:rPr lang="en-US" sz="1600" dirty="0" smtClean="0"/>
              <a:t>"</a:t>
            </a:r>
            <a:r>
              <a:rPr lang="en-US" sz="1600" dirty="0"/>
              <a:t>bat" is stored separately under b.</a:t>
            </a:r>
            <a:endParaRPr lang="en-US" sz="1600" dirty="0" smtClean="0"/>
          </a:p>
        </p:txBody>
      </p:sp>
      <p:pic>
        <p:nvPicPr>
          <p:cNvPr id="2" name="Picture 1"/>
          <p:cNvPicPr>
            <a:picLocks noChangeAspect="1"/>
          </p:cNvPicPr>
          <p:nvPr/>
        </p:nvPicPr>
        <p:blipFill>
          <a:blip r:embed="rId3"/>
          <a:stretch>
            <a:fillRect/>
          </a:stretch>
        </p:blipFill>
        <p:spPr>
          <a:xfrm>
            <a:off x="241495" y="2410138"/>
            <a:ext cx="2581635" cy="1705213"/>
          </a:xfrm>
          <a:prstGeom prst="rect">
            <a:avLst/>
          </a:prstGeom>
        </p:spPr>
      </p:pic>
    </p:spTree>
    <p:extLst>
      <p:ext uri="{BB962C8B-B14F-4D97-AF65-F5344CB8AC3E}">
        <p14:creationId xmlns:p14="http://schemas.microsoft.com/office/powerpoint/2010/main" val="52400429"/>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5355312"/>
          </a:xfrm>
          <a:prstGeom prst="rect">
            <a:avLst/>
          </a:prstGeom>
        </p:spPr>
        <p:txBody>
          <a:bodyPr wrap="square">
            <a:spAutoFit/>
          </a:bodyPr>
          <a:lstStyle/>
          <a:p>
            <a:r>
              <a:rPr lang="en-US" b="1" dirty="0" err="1" smtClean="0">
                <a:solidFill>
                  <a:srgbClr val="FF0000"/>
                </a:solidFill>
              </a:rPr>
              <a:t>Trie</a:t>
            </a:r>
            <a:r>
              <a:rPr lang="en-US" b="1" dirty="0" smtClean="0">
                <a:solidFill>
                  <a:srgbClr val="FF0000"/>
                </a:solidFill>
              </a:rPr>
              <a:t> Tree</a:t>
            </a:r>
          </a:p>
          <a:p>
            <a:endParaRPr lang="en-US" b="1" dirty="0" smtClean="0">
              <a:solidFill>
                <a:srgbClr val="FF0000"/>
              </a:solidFill>
            </a:endParaRPr>
          </a:p>
          <a:p>
            <a:r>
              <a:rPr lang="en-US" b="1" dirty="0" smtClean="0"/>
              <a:t>Operations</a:t>
            </a:r>
          </a:p>
          <a:p>
            <a:endParaRPr lang="en-US" dirty="0"/>
          </a:p>
          <a:p>
            <a:r>
              <a:rPr lang="en-US" b="1" dirty="0"/>
              <a:t>Insertion</a:t>
            </a:r>
          </a:p>
          <a:p>
            <a:pPr marL="285750" indent="-285750">
              <a:buFont typeface="Arial" panose="020B0604020202020204" pitchFamily="34" charset="0"/>
              <a:buChar char="•"/>
            </a:pPr>
            <a:r>
              <a:rPr lang="en-US" dirty="0" smtClean="0"/>
              <a:t>Traverse </a:t>
            </a:r>
            <a:r>
              <a:rPr lang="en-US" dirty="0"/>
              <a:t>character by character.</a:t>
            </a:r>
          </a:p>
          <a:p>
            <a:pPr marL="285750" indent="-285750">
              <a:buFont typeface="Arial" panose="020B0604020202020204" pitchFamily="34" charset="0"/>
              <a:buChar char="•"/>
            </a:pPr>
            <a:r>
              <a:rPr lang="en-US" dirty="0" smtClean="0"/>
              <a:t>Create </a:t>
            </a:r>
            <a:r>
              <a:rPr lang="en-US" dirty="0"/>
              <a:t>new nodes if path doesn’t exist.</a:t>
            </a:r>
          </a:p>
          <a:p>
            <a:pPr marL="285750" indent="-285750">
              <a:buFont typeface="Arial" panose="020B0604020202020204" pitchFamily="34" charset="0"/>
              <a:buChar char="•"/>
            </a:pPr>
            <a:r>
              <a:rPr lang="en-US" dirty="0" smtClean="0"/>
              <a:t>Mark </a:t>
            </a:r>
            <a:r>
              <a:rPr lang="en-US" dirty="0"/>
              <a:t>end of word.</a:t>
            </a:r>
          </a:p>
          <a:p>
            <a:endParaRPr lang="en-US" dirty="0"/>
          </a:p>
          <a:p>
            <a:r>
              <a:rPr lang="en-US" b="1" dirty="0"/>
              <a:t>Search</a:t>
            </a:r>
          </a:p>
          <a:p>
            <a:pPr marL="285750" indent="-285750">
              <a:buFont typeface="Arial" panose="020B0604020202020204" pitchFamily="34" charset="0"/>
              <a:buChar char="•"/>
            </a:pPr>
            <a:r>
              <a:rPr lang="en-US" dirty="0" smtClean="0"/>
              <a:t>Follow </a:t>
            </a:r>
            <a:r>
              <a:rPr lang="en-US" dirty="0"/>
              <a:t>path for each character.</a:t>
            </a:r>
          </a:p>
          <a:p>
            <a:pPr marL="285750" indent="-285750">
              <a:buFont typeface="Arial" panose="020B0604020202020204" pitchFamily="34" charset="0"/>
              <a:buChar char="•"/>
            </a:pPr>
            <a:r>
              <a:rPr lang="en-US" dirty="0" smtClean="0"/>
              <a:t>If </a:t>
            </a:r>
            <a:r>
              <a:rPr lang="en-US" dirty="0"/>
              <a:t>path exists and end marker is set → word found.</a:t>
            </a:r>
          </a:p>
          <a:p>
            <a:pPr marL="285750" indent="-285750">
              <a:buFont typeface="Arial" panose="020B0604020202020204" pitchFamily="34" charset="0"/>
              <a:buChar char="•"/>
            </a:pPr>
            <a:r>
              <a:rPr lang="en-US" dirty="0" smtClean="0"/>
              <a:t>Prefix </a:t>
            </a:r>
            <a:r>
              <a:rPr lang="en-US" dirty="0"/>
              <a:t>Search (Autocomplete)</a:t>
            </a:r>
          </a:p>
          <a:p>
            <a:pPr marL="285750" indent="-285750">
              <a:buFont typeface="Arial" panose="020B0604020202020204" pitchFamily="34" charset="0"/>
              <a:buChar char="•"/>
            </a:pPr>
            <a:r>
              <a:rPr lang="en-US" dirty="0" smtClean="0"/>
              <a:t>Traverse </a:t>
            </a:r>
            <a:r>
              <a:rPr lang="en-US" dirty="0"/>
              <a:t>prefix characters.</a:t>
            </a:r>
          </a:p>
          <a:p>
            <a:pPr marL="285750" indent="-285750">
              <a:buFont typeface="Arial" panose="020B0604020202020204" pitchFamily="34" charset="0"/>
              <a:buChar char="•"/>
            </a:pPr>
            <a:r>
              <a:rPr lang="en-US" dirty="0" smtClean="0"/>
              <a:t>Collect </a:t>
            </a:r>
            <a:r>
              <a:rPr lang="en-US" dirty="0"/>
              <a:t>all words under that node.</a:t>
            </a:r>
          </a:p>
          <a:p>
            <a:endParaRPr lang="en-US" dirty="0"/>
          </a:p>
          <a:p>
            <a:r>
              <a:rPr lang="en-US" b="1" dirty="0"/>
              <a:t>Deletion</a:t>
            </a:r>
          </a:p>
          <a:p>
            <a:pPr marL="285750" indent="-285750">
              <a:buFont typeface="Arial" panose="020B0604020202020204" pitchFamily="34" charset="0"/>
              <a:buChar char="•"/>
            </a:pPr>
            <a:r>
              <a:rPr lang="en-US" dirty="0" smtClean="0"/>
              <a:t>Remove </a:t>
            </a:r>
            <a:r>
              <a:rPr lang="en-US" dirty="0"/>
              <a:t>end marker.</a:t>
            </a:r>
          </a:p>
          <a:p>
            <a:pPr marL="285750" indent="-285750">
              <a:buFont typeface="Arial" panose="020B0604020202020204" pitchFamily="34" charset="0"/>
              <a:buChar char="•"/>
            </a:pPr>
            <a:r>
              <a:rPr lang="en-US" dirty="0" smtClean="0"/>
              <a:t>If </a:t>
            </a:r>
            <a:r>
              <a:rPr lang="en-US" dirty="0"/>
              <a:t>node has no children, prune it.</a:t>
            </a:r>
            <a:endParaRPr lang="en-US" b="1" dirty="0" smtClean="0">
              <a:solidFill>
                <a:srgbClr val="FF0000"/>
              </a:solidFill>
            </a:endParaRPr>
          </a:p>
        </p:txBody>
      </p:sp>
    </p:spTree>
    <p:extLst>
      <p:ext uri="{BB962C8B-B14F-4D97-AF65-F5344CB8AC3E}">
        <p14:creationId xmlns:p14="http://schemas.microsoft.com/office/powerpoint/2010/main" val="2345418181"/>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1754326"/>
          </a:xfrm>
          <a:prstGeom prst="rect">
            <a:avLst/>
          </a:prstGeom>
        </p:spPr>
        <p:txBody>
          <a:bodyPr wrap="square">
            <a:spAutoFit/>
          </a:bodyPr>
          <a:lstStyle/>
          <a:p>
            <a:r>
              <a:rPr lang="en-US" b="1" dirty="0" err="1" smtClean="0">
                <a:solidFill>
                  <a:srgbClr val="FF0000"/>
                </a:solidFill>
              </a:rPr>
              <a:t>Trie</a:t>
            </a:r>
            <a:r>
              <a:rPr lang="en-US" b="1" dirty="0" smtClean="0">
                <a:solidFill>
                  <a:srgbClr val="FF0000"/>
                </a:solidFill>
              </a:rPr>
              <a:t> Tree</a:t>
            </a:r>
          </a:p>
          <a:p>
            <a:endParaRPr lang="en-US" b="1" dirty="0" smtClean="0">
              <a:solidFill>
                <a:srgbClr val="FF0000"/>
              </a:solidFill>
            </a:endParaRPr>
          </a:p>
          <a:p>
            <a:pPr marL="285750" indent="-285750">
              <a:buFont typeface="Arial" panose="020B0604020202020204" pitchFamily="34" charset="0"/>
              <a:buChar char="•"/>
            </a:pPr>
            <a:r>
              <a:rPr lang="en-US" dirty="0"/>
              <a:t>A </a:t>
            </a:r>
            <a:r>
              <a:rPr lang="en-US" dirty="0" err="1"/>
              <a:t>Trie</a:t>
            </a:r>
            <a:r>
              <a:rPr lang="en-US" dirty="0"/>
              <a:t> Tree is best when you need prefix‑based searching (like autocomplete).</a:t>
            </a:r>
          </a:p>
          <a:p>
            <a:pPr marL="285750" indent="-285750">
              <a:buFont typeface="Arial" panose="020B0604020202020204" pitchFamily="34" charset="0"/>
              <a:buChar char="•"/>
            </a:pPr>
            <a:r>
              <a:rPr lang="en-US" dirty="0" smtClean="0"/>
              <a:t>It </a:t>
            </a:r>
            <a:r>
              <a:rPr lang="en-US" dirty="0"/>
              <a:t>stores words by characters along paths, sharing common prefixes.</a:t>
            </a:r>
          </a:p>
          <a:p>
            <a:pPr marL="285750" indent="-285750">
              <a:buFont typeface="Arial" panose="020B0604020202020204" pitchFamily="34" charset="0"/>
              <a:buChar char="•"/>
            </a:pPr>
            <a:r>
              <a:rPr lang="en-US" dirty="0" smtClean="0"/>
              <a:t>Operations </a:t>
            </a:r>
            <a:r>
              <a:rPr lang="en-US" dirty="0"/>
              <a:t>run in O(L) where L = length of the word, independent of the number of words stored.</a:t>
            </a:r>
          </a:p>
          <a:p>
            <a:pPr marL="285750" indent="-285750">
              <a:buFont typeface="Arial" panose="020B0604020202020204" pitchFamily="34" charset="0"/>
              <a:buChar char="•"/>
            </a:pPr>
            <a:r>
              <a:rPr lang="en-US" dirty="0" smtClean="0"/>
              <a:t>Trade‑off</a:t>
            </a:r>
            <a:r>
              <a:rPr lang="en-US" dirty="0"/>
              <a:t>: fast search but higher memory usage compared to hash tables.</a:t>
            </a:r>
            <a:endParaRPr lang="en-US" dirty="0" smtClean="0">
              <a:solidFill>
                <a:srgbClr val="FF0000"/>
              </a:solidFill>
            </a:endParaRPr>
          </a:p>
        </p:txBody>
      </p:sp>
    </p:spTree>
    <p:extLst>
      <p:ext uri="{BB962C8B-B14F-4D97-AF65-F5344CB8AC3E}">
        <p14:creationId xmlns:p14="http://schemas.microsoft.com/office/powerpoint/2010/main" val="1251824316"/>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646331"/>
          </a:xfrm>
          <a:prstGeom prst="rect">
            <a:avLst/>
          </a:prstGeom>
        </p:spPr>
        <p:txBody>
          <a:bodyPr wrap="square">
            <a:spAutoFit/>
          </a:bodyPr>
          <a:lstStyle/>
          <a:p>
            <a:r>
              <a:rPr lang="en-US" b="1" dirty="0" err="1" smtClean="0">
                <a:solidFill>
                  <a:srgbClr val="FF0000"/>
                </a:solidFill>
              </a:rPr>
              <a:t>Trie</a:t>
            </a:r>
            <a:r>
              <a:rPr lang="en-US" b="1" dirty="0" smtClean="0">
                <a:solidFill>
                  <a:srgbClr val="FF0000"/>
                </a:solidFill>
              </a:rPr>
              <a:t> Tree</a:t>
            </a:r>
          </a:p>
          <a:p>
            <a:endParaRPr lang="en-US" b="1" dirty="0" smtClean="0">
              <a:solidFill>
                <a:srgbClr val="FF0000"/>
              </a:solidFill>
            </a:endParaRPr>
          </a:p>
        </p:txBody>
      </p:sp>
      <p:pic>
        <p:nvPicPr>
          <p:cNvPr id="7" name="Picture 6"/>
          <p:cNvPicPr>
            <a:picLocks noChangeAspect="1"/>
          </p:cNvPicPr>
          <p:nvPr/>
        </p:nvPicPr>
        <p:blipFill>
          <a:blip r:embed="rId3"/>
          <a:stretch>
            <a:fillRect/>
          </a:stretch>
        </p:blipFill>
        <p:spPr>
          <a:xfrm>
            <a:off x="164519" y="922713"/>
            <a:ext cx="5029902" cy="5773180"/>
          </a:xfrm>
          <a:prstGeom prst="rect">
            <a:avLst/>
          </a:prstGeom>
        </p:spPr>
      </p:pic>
      <p:pic>
        <p:nvPicPr>
          <p:cNvPr id="8" name="Picture 7"/>
          <p:cNvPicPr>
            <a:picLocks noChangeAspect="1"/>
          </p:cNvPicPr>
          <p:nvPr/>
        </p:nvPicPr>
        <p:blipFill>
          <a:blip r:embed="rId4"/>
          <a:stretch>
            <a:fillRect/>
          </a:stretch>
        </p:blipFill>
        <p:spPr>
          <a:xfrm>
            <a:off x="5395167" y="922713"/>
            <a:ext cx="4477375" cy="5773180"/>
          </a:xfrm>
          <a:prstGeom prst="rect">
            <a:avLst/>
          </a:prstGeom>
        </p:spPr>
      </p:pic>
    </p:spTree>
    <p:extLst>
      <p:ext uri="{BB962C8B-B14F-4D97-AF65-F5344CB8AC3E}">
        <p14:creationId xmlns:p14="http://schemas.microsoft.com/office/powerpoint/2010/main" val="4282655287"/>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646331"/>
          </a:xfrm>
          <a:prstGeom prst="rect">
            <a:avLst/>
          </a:prstGeom>
        </p:spPr>
        <p:txBody>
          <a:bodyPr wrap="square">
            <a:spAutoFit/>
          </a:bodyPr>
          <a:lstStyle/>
          <a:p>
            <a:r>
              <a:rPr lang="en-US" b="1" dirty="0" err="1" smtClean="0">
                <a:solidFill>
                  <a:srgbClr val="FF0000"/>
                </a:solidFill>
              </a:rPr>
              <a:t>Trie</a:t>
            </a:r>
            <a:r>
              <a:rPr lang="en-US" b="1" dirty="0" smtClean="0">
                <a:solidFill>
                  <a:srgbClr val="FF0000"/>
                </a:solidFill>
              </a:rPr>
              <a:t> Tree</a:t>
            </a:r>
          </a:p>
          <a:p>
            <a:endParaRPr lang="en-US" b="1" dirty="0" smtClean="0">
              <a:solidFill>
                <a:srgbClr val="FF0000"/>
              </a:solidFill>
            </a:endParaRPr>
          </a:p>
        </p:txBody>
      </p:sp>
      <p:pic>
        <p:nvPicPr>
          <p:cNvPr id="9" name="Picture 8"/>
          <p:cNvPicPr>
            <a:picLocks noChangeAspect="1"/>
          </p:cNvPicPr>
          <p:nvPr/>
        </p:nvPicPr>
        <p:blipFill>
          <a:blip r:embed="rId3"/>
          <a:stretch>
            <a:fillRect/>
          </a:stretch>
        </p:blipFill>
        <p:spPr>
          <a:xfrm>
            <a:off x="155776" y="962247"/>
            <a:ext cx="6211167" cy="2724530"/>
          </a:xfrm>
          <a:prstGeom prst="rect">
            <a:avLst/>
          </a:prstGeom>
        </p:spPr>
      </p:pic>
      <p:pic>
        <p:nvPicPr>
          <p:cNvPr id="10" name="Picture 9"/>
          <p:cNvPicPr>
            <a:picLocks noChangeAspect="1"/>
          </p:cNvPicPr>
          <p:nvPr/>
        </p:nvPicPr>
        <p:blipFill>
          <a:blip r:embed="rId4"/>
          <a:stretch>
            <a:fillRect/>
          </a:stretch>
        </p:blipFill>
        <p:spPr>
          <a:xfrm>
            <a:off x="155776" y="4071207"/>
            <a:ext cx="5306165" cy="1638529"/>
          </a:xfrm>
          <a:prstGeom prst="rect">
            <a:avLst/>
          </a:prstGeom>
        </p:spPr>
      </p:pic>
    </p:spTree>
    <p:extLst>
      <p:ext uri="{BB962C8B-B14F-4D97-AF65-F5344CB8AC3E}">
        <p14:creationId xmlns:p14="http://schemas.microsoft.com/office/powerpoint/2010/main" val="366414150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3354765"/>
          </a:xfrm>
          <a:prstGeom prst="rect">
            <a:avLst/>
          </a:prstGeom>
        </p:spPr>
        <p:txBody>
          <a:bodyPr wrap="square">
            <a:spAutoFit/>
          </a:bodyPr>
          <a:lstStyle/>
          <a:p>
            <a:r>
              <a:rPr lang="en-US" b="1" dirty="0" err="1" smtClean="0">
                <a:solidFill>
                  <a:srgbClr val="FF0000"/>
                </a:solidFill>
              </a:rPr>
              <a:t>Trie</a:t>
            </a:r>
            <a:r>
              <a:rPr lang="en-US" b="1" dirty="0" smtClean="0">
                <a:solidFill>
                  <a:srgbClr val="FF0000"/>
                </a:solidFill>
              </a:rPr>
              <a:t> Tree</a:t>
            </a:r>
          </a:p>
          <a:p>
            <a:endParaRPr lang="en-US" b="1" dirty="0" smtClean="0">
              <a:solidFill>
                <a:srgbClr val="FF0000"/>
              </a:solidFill>
            </a:endParaRPr>
          </a:p>
          <a:p>
            <a:r>
              <a:rPr lang="en-US" sz="1600" b="1" dirty="0"/>
              <a:t>Class </a:t>
            </a:r>
            <a:r>
              <a:rPr lang="en-US" sz="1600" b="1" dirty="0" err="1"/>
              <a:t>TrieNode</a:t>
            </a:r>
            <a:endParaRPr lang="en-US" sz="1600" b="1" dirty="0"/>
          </a:p>
          <a:p>
            <a:endParaRPr lang="en-US" sz="1600" dirty="0"/>
          </a:p>
          <a:p>
            <a:pPr marL="285750" indent="-285750">
              <a:buFont typeface="Arial" panose="020B0604020202020204" pitchFamily="34" charset="0"/>
              <a:buChar char="•"/>
            </a:pPr>
            <a:r>
              <a:rPr lang="en-US" sz="1600" dirty="0"/>
              <a:t>children → an array of 26 slots (for letters a–z). Each slot can point to another </a:t>
            </a:r>
            <a:r>
              <a:rPr lang="en-US" sz="1600" dirty="0" err="1"/>
              <a:t>TrieNode</a:t>
            </a:r>
            <a:r>
              <a:rPr lang="en-US" sz="1600" dirty="0"/>
              <a:t>.</a:t>
            </a:r>
          </a:p>
          <a:p>
            <a:pPr marL="285750" indent="-285750">
              <a:buFont typeface="Arial" panose="020B0604020202020204" pitchFamily="34" charset="0"/>
              <a:buChar char="•"/>
            </a:pPr>
            <a:r>
              <a:rPr lang="en-US" sz="1600" dirty="0" err="1" smtClean="0"/>
              <a:t>isEndOfWord</a:t>
            </a:r>
            <a:r>
              <a:rPr lang="en-US" sz="1600" dirty="0" smtClean="0"/>
              <a:t> </a:t>
            </a:r>
            <a:r>
              <a:rPr lang="en-US" sz="1600" dirty="0"/>
              <a:t>→ a </a:t>
            </a:r>
            <a:r>
              <a:rPr lang="en-US" sz="1600" dirty="0" err="1"/>
              <a:t>boolean</a:t>
            </a:r>
            <a:r>
              <a:rPr lang="en-US" sz="1600" dirty="0"/>
              <a:t> flag marking whether a word ends at this node.</a:t>
            </a:r>
          </a:p>
          <a:p>
            <a:endParaRPr lang="en-US" sz="1600" dirty="0"/>
          </a:p>
          <a:p>
            <a:r>
              <a:rPr lang="en-US" sz="1600" b="1" dirty="0"/>
              <a:t>Class TrieExample17</a:t>
            </a:r>
          </a:p>
          <a:p>
            <a:endParaRPr lang="en-US" sz="1600" dirty="0"/>
          </a:p>
          <a:p>
            <a:pPr marL="285750" indent="-285750">
              <a:buFont typeface="Arial" panose="020B0604020202020204" pitchFamily="34" charset="0"/>
              <a:buChar char="•"/>
            </a:pPr>
            <a:r>
              <a:rPr lang="en-US" sz="1600" dirty="0"/>
              <a:t>root → the root of the </a:t>
            </a:r>
            <a:r>
              <a:rPr lang="en-US" sz="1600" dirty="0" err="1"/>
              <a:t>Trie</a:t>
            </a:r>
            <a:r>
              <a:rPr lang="en-US" sz="1600" dirty="0"/>
              <a:t> (empty node).</a:t>
            </a:r>
          </a:p>
          <a:p>
            <a:pPr marL="285750" indent="-285750">
              <a:buFont typeface="Arial" panose="020B0604020202020204" pitchFamily="34" charset="0"/>
              <a:buChar char="•"/>
            </a:pPr>
            <a:r>
              <a:rPr lang="en-US" sz="1600" dirty="0" smtClean="0"/>
              <a:t>insert(word</a:t>
            </a:r>
            <a:r>
              <a:rPr lang="en-US" sz="1600" dirty="0"/>
              <a:t>) → adds a word into the </a:t>
            </a:r>
            <a:r>
              <a:rPr lang="en-US" sz="1600" dirty="0" err="1"/>
              <a:t>Trie</a:t>
            </a:r>
            <a:r>
              <a:rPr lang="en-US" sz="1600" dirty="0"/>
              <a:t> character by character.</a:t>
            </a:r>
          </a:p>
          <a:p>
            <a:pPr marL="285750" indent="-285750">
              <a:buFont typeface="Arial" panose="020B0604020202020204" pitchFamily="34" charset="0"/>
              <a:buChar char="•"/>
            </a:pPr>
            <a:r>
              <a:rPr lang="en-US" sz="1600" dirty="0" smtClean="0"/>
              <a:t>search(word</a:t>
            </a:r>
            <a:r>
              <a:rPr lang="en-US" sz="1600" dirty="0"/>
              <a:t>) → checks if a full word exists in the </a:t>
            </a:r>
            <a:r>
              <a:rPr lang="en-US" sz="1600" dirty="0" err="1"/>
              <a:t>Trie</a:t>
            </a:r>
            <a:r>
              <a:rPr lang="en-US" sz="1600" dirty="0"/>
              <a:t>.</a:t>
            </a:r>
          </a:p>
          <a:p>
            <a:pPr marL="285750" indent="-285750">
              <a:buFont typeface="Arial" panose="020B0604020202020204" pitchFamily="34" charset="0"/>
              <a:buChar char="•"/>
            </a:pPr>
            <a:r>
              <a:rPr lang="en-US" sz="1600" dirty="0" err="1" smtClean="0"/>
              <a:t>startsWith</a:t>
            </a:r>
            <a:r>
              <a:rPr lang="en-US" sz="1600" dirty="0" smtClean="0"/>
              <a:t>(prefix</a:t>
            </a:r>
            <a:r>
              <a:rPr lang="en-US" sz="1600" dirty="0"/>
              <a:t>) → checks if any word in the </a:t>
            </a:r>
            <a:r>
              <a:rPr lang="en-US" sz="1600" dirty="0" err="1"/>
              <a:t>Trie</a:t>
            </a:r>
            <a:r>
              <a:rPr lang="en-US" sz="1600" dirty="0"/>
              <a:t> starts with the given prefix.</a:t>
            </a:r>
            <a:endParaRPr lang="en-US" sz="1600" dirty="0" smtClean="0"/>
          </a:p>
        </p:txBody>
      </p:sp>
    </p:spTree>
    <p:extLst>
      <p:ext uri="{BB962C8B-B14F-4D97-AF65-F5344CB8AC3E}">
        <p14:creationId xmlns:p14="http://schemas.microsoft.com/office/powerpoint/2010/main" val="1500678064"/>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2123658"/>
          </a:xfrm>
          <a:prstGeom prst="rect">
            <a:avLst/>
          </a:prstGeom>
        </p:spPr>
        <p:txBody>
          <a:bodyPr wrap="square">
            <a:spAutoFit/>
          </a:bodyPr>
          <a:lstStyle/>
          <a:p>
            <a:r>
              <a:rPr lang="en-US" b="1" dirty="0" err="1" smtClean="0">
                <a:solidFill>
                  <a:srgbClr val="FF0000"/>
                </a:solidFill>
              </a:rPr>
              <a:t>Trie</a:t>
            </a:r>
            <a:r>
              <a:rPr lang="en-US" b="1" dirty="0" smtClean="0">
                <a:solidFill>
                  <a:srgbClr val="FF0000"/>
                </a:solidFill>
              </a:rPr>
              <a:t> Tree</a:t>
            </a:r>
          </a:p>
          <a:p>
            <a:endParaRPr lang="en-US" b="1" dirty="0" smtClean="0">
              <a:solidFill>
                <a:srgbClr val="FF0000"/>
              </a:solidFill>
            </a:endParaRPr>
          </a:p>
          <a:p>
            <a:r>
              <a:rPr lang="en-US" sz="1600" dirty="0"/>
              <a:t>In main, three words are inserted</a:t>
            </a:r>
            <a:r>
              <a:rPr lang="en-US" sz="1600" dirty="0" smtClean="0"/>
              <a:t>:</a:t>
            </a:r>
          </a:p>
          <a:p>
            <a:endParaRPr lang="en-US" sz="1600" dirty="0" smtClean="0"/>
          </a:p>
          <a:p>
            <a:endParaRPr lang="en-US" sz="1600" dirty="0"/>
          </a:p>
          <a:p>
            <a:endParaRPr lang="en-US" sz="1600" dirty="0" smtClean="0"/>
          </a:p>
          <a:p>
            <a:endParaRPr lang="en-US" sz="1600" dirty="0"/>
          </a:p>
          <a:p>
            <a:r>
              <a:rPr lang="en-US" sz="1600" dirty="0"/>
              <a:t>Then the program performs searches:</a:t>
            </a:r>
            <a:endParaRPr lang="en-US" sz="1600" dirty="0" smtClean="0"/>
          </a:p>
        </p:txBody>
      </p:sp>
      <p:pic>
        <p:nvPicPr>
          <p:cNvPr id="2" name="Picture 1"/>
          <p:cNvPicPr>
            <a:picLocks noChangeAspect="1"/>
          </p:cNvPicPr>
          <p:nvPr/>
        </p:nvPicPr>
        <p:blipFill>
          <a:blip r:embed="rId3"/>
          <a:stretch>
            <a:fillRect/>
          </a:stretch>
        </p:blipFill>
        <p:spPr>
          <a:xfrm>
            <a:off x="424256" y="1557480"/>
            <a:ext cx="1800476" cy="352474"/>
          </a:xfrm>
          <a:prstGeom prst="rect">
            <a:avLst/>
          </a:prstGeom>
        </p:spPr>
      </p:pic>
      <p:pic>
        <p:nvPicPr>
          <p:cNvPr id="3" name="Picture 2"/>
          <p:cNvPicPr>
            <a:picLocks noChangeAspect="1"/>
          </p:cNvPicPr>
          <p:nvPr/>
        </p:nvPicPr>
        <p:blipFill>
          <a:blip r:embed="rId4"/>
          <a:stretch>
            <a:fillRect/>
          </a:stretch>
        </p:blipFill>
        <p:spPr>
          <a:xfrm>
            <a:off x="690719" y="2747558"/>
            <a:ext cx="1467055" cy="933580"/>
          </a:xfrm>
          <a:prstGeom prst="rect">
            <a:avLst/>
          </a:prstGeom>
        </p:spPr>
      </p:pic>
    </p:spTree>
    <p:extLst>
      <p:ext uri="{BB962C8B-B14F-4D97-AF65-F5344CB8AC3E}">
        <p14:creationId xmlns:p14="http://schemas.microsoft.com/office/powerpoint/2010/main" val="1146010757"/>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0"/>
            <a:ext cx="12034058" cy="369332"/>
          </a:xfrm>
          <a:prstGeom prst="rect">
            <a:avLst/>
          </a:prstGeom>
          <a:noFill/>
        </p:spPr>
        <p:txBody>
          <a:bodyPr wrap="square" rtlCol="0">
            <a:spAutoFit/>
          </a:bodyPr>
          <a:lstStyle/>
          <a:p>
            <a:r>
              <a:rPr lang="en-US" b="1" dirty="0" smtClean="0"/>
              <a:t>2. Non-Primitive – Non Linear Data Structures</a:t>
            </a:r>
            <a:endParaRPr lang="en-IN" b="1" dirty="0"/>
          </a:p>
        </p:txBody>
      </p:sp>
      <p:pic>
        <p:nvPicPr>
          <p:cNvPr id="5" name="Picture 4"/>
          <p:cNvPicPr>
            <a:picLocks noChangeAspect="1"/>
          </p:cNvPicPr>
          <p:nvPr/>
        </p:nvPicPr>
        <p:blipFill>
          <a:blip r:embed="rId2"/>
          <a:stretch>
            <a:fillRect/>
          </a:stretch>
        </p:blipFill>
        <p:spPr>
          <a:xfrm>
            <a:off x="10764981" y="60220"/>
            <a:ext cx="1321073" cy="421918"/>
          </a:xfrm>
          <a:prstGeom prst="rect">
            <a:avLst/>
          </a:prstGeom>
        </p:spPr>
      </p:pic>
      <p:sp>
        <p:nvSpPr>
          <p:cNvPr id="6" name="Rectangle 5"/>
          <p:cNvSpPr/>
          <p:nvPr/>
        </p:nvSpPr>
        <p:spPr>
          <a:xfrm>
            <a:off x="0" y="482138"/>
            <a:ext cx="12192000" cy="5078313"/>
          </a:xfrm>
          <a:prstGeom prst="rect">
            <a:avLst/>
          </a:prstGeom>
        </p:spPr>
        <p:txBody>
          <a:bodyPr wrap="square">
            <a:spAutoFit/>
          </a:bodyPr>
          <a:lstStyle/>
          <a:p>
            <a:r>
              <a:rPr lang="en-US" b="1" dirty="0" err="1" smtClean="0">
                <a:solidFill>
                  <a:srgbClr val="FF0000"/>
                </a:solidFill>
              </a:rPr>
              <a:t>Trie</a:t>
            </a:r>
            <a:r>
              <a:rPr lang="en-US" b="1" dirty="0" smtClean="0">
                <a:solidFill>
                  <a:srgbClr val="FF0000"/>
                </a:solidFill>
              </a:rPr>
              <a:t> Tree</a:t>
            </a:r>
          </a:p>
          <a:p>
            <a:endParaRPr lang="en-US" b="1" dirty="0" smtClean="0">
              <a:solidFill>
                <a:srgbClr val="FF0000"/>
              </a:solidFill>
            </a:endParaRPr>
          </a:p>
          <a:p>
            <a:r>
              <a:rPr lang="en-US" sz="1600" dirty="0"/>
              <a:t>How Inputs Are </a:t>
            </a:r>
            <a:r>
              <a:rPr lang="en-US" sz="1600" dirty="0" smtClean="0"/>
              <a:t>Processed</a:t>
            </a:r>
          </a:p>
          <a:p>
            <a:endParaRPr lang="en-US" sz="1600" dirty="0"/>
          </a:p>
          <a:p>
            <a:r>
              <a:rPr lang="en-US" sz="1600" b="1" dirty="0"/>
              <a:t>Insert "cat"</a:t>
            </a:r>
          </a:p>
          <a:p>
            <a:endParaRPr lang="en-US" sz="1600" dirty="0"/>
          </a:p>
          <a:p>
            <a:pPr marL="285750" indent="-285750">
              <a:buFont typeface="Arial" panose="020B0604020202020204" pitchFamily="34" charset="0"/>
              <a:buChar char="•"/>
            </a:pPr>
            <a:r>
              <a:rPr lang="en-US" sz="1600" dirty="0"/>
              <a:t>Root → c → a → t.</a:t>
            </a:r>
          </a:p>
          <a:p>
            <a:pPr marL="285750" indent="-285750">
              <a:buFont typeface="Arial" panose="020B0604020202020204" pitchFamily="34" charset="0"/>
              <a:buChar char="•"/>
            </a:pPr>
            <a:r>
              <a:rPr lang="en-US" sz="1600" dirty="0" smtClean="0"/>
              <a:t>Mark </a:t>
            </a:r>
            <a:r>
              <a:rPr lang="en-US" sz="1600" dirty="0"/>
              <a:t>t as end of word.</a:t>
            </a:r>
          </a:p>
          <a:p>
            <a:endParaRPr lang="en-US" sz="1600" dirty="0"/>
          </a:p>
          <a:p>
            <a:r>
              <a:rPr lang="en-US" sz="1600" b="1" dirty="0"/>
              <a:t>Insert "car"</a:t>
            </a:r>
          </a:p>
          <a:p>
            <a:endParaRPr lang="en-US" sz="1600" dirty="0"/>
          </a:p>
          <a:p>
            <a:pPr marL="285750" indent="-285750">
              <a:buFont typeface="Arial" panose="020B0604020202020204" pitchFamily="34" charset="0"/>
              <a:buChar char="•"/>
            </a:pPr>
            <a:r>
              <a:rPr lang="en-US" sz="1600" dirty="0"/>
              <a:t>Root → c → a → r.</a:t>
            </a:r>
          </a:p>
          <a:p>
            <a:pPr marL="285750" indent="-285750">
              <a:buFont typeface="Arial" panose="020B0604020202020204" pitchFamily="34" charset="0"/>
              <a:buChar char="•"/>
            </a:pPr>
            <a:r>
              <a:rPr lang="en-US" sz="1600" dirty="0" smtClean="0"/>
              <a:t>Shares </a:t>
            </a:r>
            <a:r>
              <a:rPr lang="en-US" sz="1600" dirty="0"/>
              <a:t>prefix ca with "cat".</a:t>
            </a:r>
          </a:p>
          <a:p>
            <a:pPr marL="285750" indent="-285750">
              <a:buFont typeface="Arial" panose="020B0604020202020204" pitchFamily="34" charset="0"/>
              <a:buChar char="•"/>
            </a:pPr>
            <a:r>
              <a:rPr lang="en-US" sz="1600" dirty="0" smtClean="0"/>
              <a:t>Mark </a:t>
            </a:r>
            <a:r>
              <a:rPr lang="en-US" sz="1600" dirty="0"/>
              <a:t>r as end of word.</a:t>
            </a:r>
          </a:p>
          <a:p>
            <a:endParaRPr lang="en-US" sz="1600" dirty="0"/>
          </a:p>
          <a:p>
            <a:r>
              <a:rPr lang="en-US" sz="1600" b="1" dirty="0"/>
              <a:t>Insert "dog"</a:t>
            </a:r>
          </a:p>
          <a:p>
            <a:endParaRPr lang="en-US" sz="1600" dirty="0"/>
          </a:p>
          <a:p>
            <a:pPr marL="285750" indent="-285750">
              <a:buFont typeface="Arial" panose="020B0604020202020204" pitchFamily="34" charset="0"/>
              <a:buChar char="•"/>
            </a:pPr>
            <a:r>
              <a:rPr lang="en-US" sz="1600" dirty="0"/>
              <a:t>Root → d → o → g.</a:t>
            </a:r>
          </a:p>
          <a:p>
            <a:pPr marL="285750" indent="-285750">
              <a:buFont typeface="Arial" panose="020B0604020202020204" pitchFamily="34" charset="0"/>
              <a:buChar char="•"/>
            </a:pPr>
            <a:r>
              <a:rPr lang="en-US" sz="1600" dirty="0" smtClean="0"/>
              <a:t>Separate </a:t>
            </a:r>
            <a:r>
              <a:rPr lang="en-US" sz="1600" dirty="0"/>
              <a:t>branch from "cat"/"car".</a:t>
            </a:r>
          </a:p>
          <a:p>
            <a:pPr marL="285750" indent="-285750">
              <a:buFont typeface="Arial" panose="020B0604020202020204" pitchFamily="34" charset="0"/>
              <a:buChar char="•"/>
            </a:pPr>
            <a:r>
              <a:rPr lang="en-US" sz="1600" dirty="0" smtClean="0"/>
              <a:t>Mark </a:t>
            </a:r>
            <a:r>
              <a:rPr lang="en-US" sz="1600" dirty="0"/>
              <a:t>g as end of word.</a:t>
            </a:r>
            <a:endParaRPr lang="en-US" sz="1600" dirty="0" smtClean="0"/>
          </a:p>
        </p:txBody>
      </p:sp>
      <p:sp>
        <p:nvSpPr>
          <p:cNvPr id="7" name="Rectangle 6"/>
          <p:cNvSpPr/>
          <p:nvPr/>
        </p:nvSpPr>
        <p:spPr>
          <a:xfrm>
            <a:off x="5468860" y="883520"/>
            <a:ext cx="2133084" cy="307777"/>
          </a:xfrm>
          <a:prstGeom prst="rect">
            <a:avLst/>
          </a:prstGeom>
        </p:spPr>
        <p:txBody>
          <a:bodyPr wrap="none">
            <a:spAutoFit/>
          </a:bodyPr>
          <a:lstStyle/>
          <a:p>
            <a:r>
              <a:rPr lang="en-IN" sz="1400" dirty="0" err="1"/>
              <a:t>Trie</a:t>
            </a:r>
            <a:r>
              <a:rPr lang="en-IN" sz="1400" dirty="0"/>
              <a:t> structure after inserts:</a:t>
            </a:r>
          </a:p>
        </p:txBody>
      </p:sp>
      <p:pic>
        <p:nvPicPr>
          <p:cNvPr id="8" name="Picture 7"/>
          <p:cNvPicPr>
            <a:picLocks noChangeAspect="1"/>
          </p:cNvPicPr>
          <p:nvPr/>
        </p:nvPicPr>
        <p:blipFill>
          <a:blip r:embed="rId3"/>
          <a:stretch>
            <a:fillRect/>
          </a:stretch>
        </p:blipFill>
        <p:spPr>
          <a:xfrm>
            <a:off x="5533187" y="1321376"/>
            <a:ext cx="2619741" cy="1657581"/>
          </a:xfrm>
          <a:prstGeom prst="rect">
            <a:avLst/>
          </a:prstGeom>
        </p:spPr>
      </p:pic>
      <p:sp>
        <p:nvSpPr>
          <p:cNvPr id="9" name="Rectangle 8"/>
          <p:cNvSpPr/>
          <p:nvPr/>
        </p:nvSpPr>
        <p:spPr>
          <a:xfrm>
            <a:off x="5468860" y="3091763"/>
            <a:ext cx="6096000" cy="523220"/>
          </a:xfrm>
          <a:prstGeom prst="rect">
            <a:avLst/>
          </a:prstGeom>
        </p:spPr>
        <p:txBody>
          <a:bodyPr>
            <a:spAutoFit/>
          </a:bodyPr>
          <a:lstStyle/>
          <a:p>
            <a:r>
              <a:rPr lang="en-IN" sz="1400" dirty="0"/>
              <a:t>Outputs</a:t>
            </a:r>
          </a:p>
          <a:p>
            <a:r>
              <a:rPr lang="en-IN" sz="1400" dirty="0"/>
              <a:t>Now the searches:</a:t>
            </a:r>
          </a:p>
        </p:txBody>
      </p:sp>
      <p:sp>
        <p:nvSpPr>
          <p:cNvPr id="10" name="Rectangle 9"/>
          <p:cNvSpPr/>
          <p:nvPr/>
        </p:nvSpPr>
        <p:spPr>
          <a:xfrm>
            <a:off x="5468860" y="3614983"/>
            <a:ext cx="6565198" cy="1384995"/>
          </a:xfrm>
          <a:prstGeom prst="rect">
            <a:avLst/>
          </a:prstGeom>
        </p:spPr>
        <p:txBody>
          <a:bodyPr wrap="square">
            <a:spAutoFit/>
          </a:bodyPr>
          <a:lstStyle/>
          <a:p>
            <a:pPr marL="285750" indent="-285750">
              <a:buFont typeface="Arial" panose="020B0604020202020204" pitchFamily="34" charset="0"/>
              <a:buChar char="•"/>
            </a:pPr>
            <a:r>
              <a:rPr lang="en-IN" sz="1400" dirty="0"/>
              <a:t>search("cat") → </a:t>
            </a:r>
            <a:r>
              <a:rPr lang="en-IN" sz="1400" dirty="0" smtClean="0"/>
              <a:t>true </a:t>
            </a:r>
            <a:r>
              <a:rPr lang="en-IN" sz="1400" dirty="0"/>
              <a:t>(word exists).</a:t>
            </a:r>
          </a:p>
          <a:p>
            <a:pPr marL="285750" indent="-285750">
              <a:buFont typeface="Arial" panose="020B0604020202020204" pitchFamily="34" charset="0"/>
              <a:buChar char="•"/>
            </a:pPr>
            <a:r>
              <a:rPr lang="en-IN" sz="1400" dirty="0" smtClean="0"/>
              <a:t>search</a:t>
            </a:r>
            <a:r>
              <a:rPr lang="en-IN" sz="1400" dirty="0"/>
              <a:t>("cap") </a:t>
            </a:r>
            <a:r>
              <a:rPr lang="en-IN" sz="1400" dirty="0" smtClean="0"/>
              <a:t>→ </a:t>
            </a:r>
            <a:r>
              <a:rPr lang="en-IN" sz="1400" dirty="0"/>
              <a:t>false (prefix exists, but no word ends at "p").</a:t>
            </a:r>
          </a:p>
          <a:p>
            <a:pPr marL="285750" indent="-285750">
              <a:buFont typeface="Arial" panose="020B0604020202020204" pitchFamily="34" charset="0"/>
              <a:buChar char="•"/>
            </a:pPr>
            <a:r>
              <a:rPr lang="en-IN" sz="1400" dirty="0" err="1" smtClean="0"/>
              <a:t>startsWith</a:t>
            </a:r>
            <a:r>
              <a:rPr lang="en-IN" sz="1400" dirty="0"/>
              <a:t>("ca") → </a:t>
            </a:r>
            <a:r>
              <a:rPr lang="en-IN" sz="1400" dirty="0" smtClean="0"/>
              <a:t>true </a:t>
            </a:r>
            <a:r>
              <a:rPr lang="en-IN" sz="1400" dirty="0"/>
              <a:t>(both "cat" and "car" start with "ca").</a:t>
            </a:r>
          </a:p>
          <a:p>
            <a:pPr marL="285750" indent="-285750">
              <a:buFont typeface="Arial" panose="020B0604020202020204" pitchFamily="34" charset="0"/>
              <a:buChar char="•"/>
            </a:pPr>
            <a:r>
              <a:rPr lang="en-IN" sz="1400" dirty="0" err="1" smtClean="0"/>
              <a:t>startsWith</a:t>
            </a:r>
            <a:r>
              <a:rPr lang="en-IN" sz="1400" dirty="0"/>
              <a:t>("do") </a:t>
            </a:r>
            <a:r>
              <a:rPr lang="en-IN" sz="1400" dirty="0" smtClean="0"/>
              <a:t>→ </a:t>
            </a:r>
            <a:r>
              <a:rPr lang="en-IN" sz="1400" dirty="0"/>
              <a:t>true ("dog" starts with "do").</a:t>
            </a:r>
          </a:p>
          <a:p>
            <a:endParaRPr lang="en-IN" sz="1400" dirty="0"/>
          </a:p>
          <a:p>
            <a:r>
              <a:rPr lang="en-IN" sz="1400" dirty="0"/>
              <a:t>Program output:</a:t>
            </a:r>
          </a:p>
        </p:txBody>
      </p:sp>
      <p:pic>
        <p:nvPicPr>
          <p:cNvPr id="11" name="Picture 10"/>
          <p:cNvPicPr>
            <a:picLocks noChangeAspect="1"/>
          </p:cNvPicPr>
          <p:nvPr/>
        </p:nvPicPr>
        <p:blipFill>
          <a:blip r:embed="rId4"/>
          <a:stretch>
            <a:fillRect/>
          </a:stretch>
        </p:blipFill>
        <p:spPr>
          <a:xfrm>
            <a:off x="5533187" y="4999978"/>
            <a:ext cx="1876687" cy="876422"/>
          </a:xfrm>
          <a:prstGeom prst="rect">
            <a:avLst/>
          </a:prstGeom>
        </p:spPr>
      </p:pic>
      <p:sp>
        <p:nvSpPr>
          <p:cNvPr id="12" name="Rectangle 11"/>
          <p:cNvSpPr/>
          <p:nvPr/>
        </p:nvSpPr>
        <p:spPr>
          <a:xfrm>
            <a:off x="0" y="5903893"/>
            <a:ext cx="10036233" cy="954107"/>
          </a:xfrm>
          <a:prstGeom prst="rect">
            <a:avLst/>
          </a:prstGeom>
        </p:spPr>
        <p:txBody>
          <a:bodyPr wrap="square">
            <a:spAutoFit/>
          </a:bodyPr>
          <a:lstStyle/>
          <a:p>
            <a:r>
              <a:rPr lang="en-IN" sz="1400" b="1" dirty="0"/>
              <a:t>Inputs: </a:t>
            </a:r>
            <a:r>
              <a:rPr lang="en-IN" sz="1400" dirty="0"/>
              <a:t>words "cat", "car", "dog".</a:t>
            </a:r>
          </a:p>
          <a:p>
            <a:r>
              <a:rPr lang="en-IN" sz="1400" b="1" dirty="0" smtClean="0"/>
              <a:t>Processing</a:t>
            </a:r>
            <a:r>
              <a:rPr lang="en-IN" sz="1400" b="1" dirty="0"/>
              <a:t>:</a:t>
            </a:r>
            <a:r>
              <a:rPr lang="en-IN" sz="1400" dirty="0"/>
              <a:t> each word is inserted character by character, sharing prefixes where possible.</a:t>
            </a:r>
          </a:p>
          <a:p>
            <a:r>
              <a:rPr lang="en-IN" sz="1400" b="1" dirty="0" smtClean="0"/>
              <a:t>Outputs</a:t>
            </a:r>
            <a:r>
              <a:rPr lang="en-IN" sz="1400" b="1" dirty="0"/>
              <a:t>: </a:t>
            </a:r>
            <a:r>
              <a:rPr lang="en-IN" sz="1400" dirty="0"/>
              <a:t>search confirms if full words exist, while prefix search checks if any word starts with the given prefix.</a:t>
            </a:r>
          </a:p>
          <a:p>
            <a:r>
              <a:rPr lang="en-IN" sz="1400" dirty="0" smtClean="0"/>
              <a:t>This </a:t>
            </a:r>
            <a:r>
              <a:rPr lang="en-IN" sz="1400" dirty="0"/>
              <a:t>shows how a </a:t>
            </a:r>
            <a:r>
              <a:rPr lang="en-IN" sz="1400" dirty="0" err="1"/>
              <a:t>Trie</a:t>
            </a:r>
            <a:r>
              <a:rPr lang="en-IN" sz="1400" dirty="0"/>
              <a:t> efficiently stores and searches words by their prefixes.</a:t>
            </a:r>
          </a:p>
        </p:txBody>
      </p:sp>
    </p:spTree>
    <p:extLst>
      <p:ext uri="{BB962C8B-B14F-4D97-AF65-F5344CB8AC3E}">
        <p14:creationId xmlns:p14="http://schemas.microsoft.com/office/powerpoint/2010/main" val="363346203"/>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894</TotalTime>
  <Words>4288</Words>
  <Application>Microsoft Office PowerPoint</Application>
  <PresentationFormat>Widescreen</PresentationFormat>
  <Paragraphs>781</Paragraphs>
  <Slides>50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Microsoft account</cp:lastModifiedBy>
  <cp:revision>215</cp:revision>
  <dcterms:created xsi:type="dcterms:W3CDTF">2026-04-26T04:16:51Z</dcterms:created>
  <dcterms:modified xsi:type="dcterms:W3CDTF">2026-05-09T04:00:00Z</dcterms:modified>
</cp:coreProperties>
</file>