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31" r:id="rId2"/>
    <p:sldId id="332" r:id="rId3"/>
    <p:sldId id="333" r:id="rId4"/>
    <p:sldId id="334" r:id="rId5"/>
    <p:sldId id="335" r:id="rId6"/>
    <p:sldId id="336" r:id="rId7"/>
    <p:sldId id="341" r:id="rId8"/>
    <p:sldId id="342" r:id="rId9"/>
    <p:sldId id="343" r:id="rId10"/>
    <p:sldId id="344" r:id="rId11"/>
    <p:sldId id="345" r:id="rId12"/>
    <p:sldId id="337" r:id="rId13"/>
    <p:sldId id="338" r:id="rId14"/>
    <p:sldId id="339" r:id="rId15"/>
    <p:sldId id="340" r:id="rId16"/>
    <p:sldId id="346" r:id="rId17"/>
    <p:sldId id="347" r:id="rId18"/>
    <p:sldId id="348" r:id="rId19"/>
    <p:sldId id="349" r:id="rId20"/>
    <p:sldId id="350" r:id="rId21"/>
    <p:sldId id="351" r:id="rId22"/>
    <p:sldId id="352" r:id="rId23"/>
    <p:sldId id="356" r:id="rId24"/>
    <p:sldId id="357" r:id="rId25"/>
    <p:sldId id="353" r:id="rId26"/>
    <p:sldId id="354" r:id="rId27"/>
    <p:sldId id="355" r:id="rId28"/>
    <p:sldId id="358" r:id="rId29"/>
    <p:sldId id="359" r:id="rId30"/>
    <p:sldId id="360" r:id="rId31"/>
    <p:sldId id="361" r:id="rId32"/>
    <p:sldId id="362" r:id="rId33"/>
    <p:sldId id="363" r:id="rId34"/>
    <p:sldId id="364" r:id="rId35"/>
    <p:sldId id="365" r:id="rId36"/>
    <p:sldId id="366" r:id="rId37"/>
    <p:sldId id="367" r:id="rId38"/>
    <p:sldId id="368" r:id="rId39"/>
    <p:sldId id="369" r:id="rId40"/>
    <p:sldId id="370" r:id="rId41"/>
    <p:sldId id="372" r:id="rId42"/>
    <p:sldId id="373" r:id="rId43"/>
    <p:sldId id="374" r:id="rId44"/>
    <p:sldId id="375" r:id="rId45"/>
    <p:sldId id="371" r:id="rId46"/>
    <p:sldId id="376" r:id="rId47"/>
    <p:sldId id="379" r:id="rId48"/>
    <p:sldId id="380" r:id="rId49"/>
    <p:sldId id="381" r:id="rId50"/>
    <p:sldId id="382" r:id="rId51"/>
    <p:sldId id="383" r:id="rId52"/>
    <p:sldId id="384" r:id="rId53"/>
    <p:sldId id="385" r:id="rId54"/>
    <p:sldId id="386" r:id="rId55"/>
    <p:sldId id="387" r:id="rId56"/>
    <p:sldId id="388" r:id="rId57"/>
    <p:sldId id="389" r:id="rId58"/>
    <p:sldId id="377" r:id="rId59"/>
    <p:sldId id="378" r:id="rId60"/>
    <p:sldId id="390" r:id="rId61"/>
    <p:sldId id="391" r:id="rId62"/>
    <p:sldId id="392" r:id="rId63"/>
    <p:sldId id="394" r:id="rId64"/>
    <p:sldId id="395" r:id="rId65"/>
    <p:sldId id="396" r:id="rId66"/>
    <p:sldId id="397" r:id="rId67"/>
    <p:sldId id="398" r:id="rId68"/>
    <p:sldId id="393" r:id="rId6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5" d="100"/>
          <a:sy n="115" d="100"/>
        </p:scale>
        <p:origin x="37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71DBA90E-DD96-458D-ACE7-89A0584897CD}" type="datetimeFigureOut">
              <a:rPr lang="en-IN" smtClean="0"/>
              <a:t>26-04-2026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676182D-1858-435D-A8BA-618F8D4916E9}" type="slidenum">
              <a:rPr lang="en-IN" smtClean="0"/>
              <a:t>‹#›</a:t>
            </a:fld>
            <a:endParaRPr lang="en-IN"/>
          </a:p>
        </p:txBody>
      </p:sp>
    </p:spTree>
    <p:extLst>
      <p:ext uri="{BB962C8B-B14F-4D97-AF65-F5344CB8AC3E}">
        <p14:creationId xmlns:p14="http://schemas.microsoft.com/office/powerpoint/2010/main" val="7426459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71DBA90E-DD96-458D-ACE7-89A0584897CD}" type="datetimeFigureOut">
              <a:rPr lang="en-IN" smtClean="0"/>
              <a:t>26-04-2026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676182D-1858-435D-A8BA-618F8D4916E9}" type="slidenum">
              <a:rPr lang="en-IN" smtClean="0"/>
              <a:t>‹#›</a:t>
            </a:fld>
            <a:endParaRPr lang="en-IN"/>
          </a:p>
        </p:txBody>
      </p:sp>
    </p:spTree>
    <p:extLst>
      <p:ext uri="{BB962C8B-B14F-4D97-AF65-F5344CB8AC3E}">
        <p14:creationId xmlns:p14="http://schemas.microsoft.com/office/powerpoint/2010/main" val="30476023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1DBA90E-DD96-458D-ACE7-89A0584897CD}" type="datetimeFigureOut">
              <a:rPr lang="en-IN" smtClean="0"/>
              <a:t>26-04-2026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676182D-1858-435D-A8BA-618F8D4916E9}" type="slidenum">
              <a:rPr lang="en-IN" smtClean="0"/>
              <a:t>‹#›</a:t>
            </a:fld>
            <a:endParaRPr lang="en-IN"/>
          </a:p>
        </p:txBody>
      </p:sp>
    </p:spTree>
    <p:extLst>
      <p:ext uri="{BB962C8B-B14F-4D97-AF65-F5344CB8AC3E}">
        <p14:creationId xmlns:p14="http://schemas.microsoft.com/office/powerpoint/2010/main" val="3751719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71DBA90E-DD96-458D-ACE7-89A0584897CD}" type="datetimeFigureOut">
              <a:rPr lang="en-IN" smtClean="0"/>
              <a:t>26-04-2026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676182D-1858-435D-A8BA-618F8D4916E9}" type="slidenum">
              <a:rPr lang="en-IN" smtClean="0"/>
              <a:t>‹#›</a:t>
            </a:fld>
            <a:endParaRPr lang="en-IN"/>
          </a:p>
        </p:txBody>
      </p:sp>
    </p:spTree>
    <p:extLst>
      <p:ext uri="{BB962C8B-B14F-4D97-AF65-F5344CB8AC3E}">
        <p14:creationId xmlns:p14="http://schemas.microsoft.com/office/powerpoint/2010/main" val="7261100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71DBA90E-DD96-458D-ACE7-89A0584897CD}" type="datetimeFigureOut">
              <a:rPr lang="en-IN" smtClean="0"/>
              <a:t>26-04-2026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676182D-1858-435D-A8BA-618F8D4916E9}" type="slidenum">
              <a:rPr lang="en-IN" smtClean="0"/>
              <a:t>‹#›</a:t>
            </a:fld>
            <a:endParaRPr lang="en-IN"/>
          </a:p>
        </p:txBody>
      </p:sp>
    </p:spTree>
    <p:extLst>
      <p:ext uri="{BB962C8B-B14F-4D97-AF65-F5344CB8AC3E}">
        <p14:creationId xmlns:p14="http://schemas.microsoft.com/office/powerpoint/2010/main" val="5072514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71DBA90E-DD96-458D-ACE7-89A0584897CD}" type="datetimeFigureOut">
              <a:rPr lang="en-IN" smtClean="0"/>
              <a:t>26-04-2026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676182D-1858-435D-A8BA-618F8D4916E9}" type="slidenum">
              <a:rPr lang="en-IN" smtClean="0"/>
              <a:t>‹#›</a:t>
            </a:fld>
            <a:endParaRPr lang="en-IN"/>
          </a:p>
        </p:txBody>
      </p:sp>
    </p:spTree>
    <p:extLst>
      <p:ext uri="{BB962C8B-B14F-4D97-AF65-F5344CB8AC3E}">
        <p14:creationId xmlns:p14="http://schemas.microsoft.com/office/powerpoint/2010/main" val="1392278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1DBA90E-DD96-458D-ACE7-89A0584897CD}" type="datetimeFigureOut">
              <a:rPr lang="en-IN" smtClean="0"/>
              <a:t>26-04-2026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676182D-1858-435D-A8BA-618F8D4916E9}" type="slidenum">
              <a:rPr lang="en-IN" smtClean="0"/>
              <a:t>‹#›</a:t>
            </a:fld>
            <a:endParaRPr lang="en-IN"/>
          </a:p>
        </p:txBody>
      </p:sp>
    </p:spTree>
    <p:extLst>
      <p:ext uri="{BB962C8B-B14F-4D97-AF65-F5344CB8AC3E}">
        <p14:creationId xmlns:p14="http://schemas.microsoft.com/office/powerpoint/2010/main" val="25864567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1DBA90E-DD96-458D-ACE7-89A0584897CD}" type="datetimeFigureOut">
              <a:rPr lang="en-IN" smtClean="0"/>
              <a:t>26-04-2026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676182D-1858-435D-A8BA-618F8D4916E9}" type="slidenum">
              <a:rPr lang="en-IN" smtClean="0"/>
              <a:t>‹#›</a:t>
            </a:fld>
            <a:endParaRPr lang="en-IN"/>
          </a:p>
        </p:txBody>
      </p:sp>
    </p:spTree>
    <p:extLst>
      <p:ext uri="{BB962C8B-B14F-4D97-AF65-F5344CB8AC3E}">
        <p14:creationId xmlns:p14="http://schemas.microsoft.com/office/powerpoint/2010/main" val="3931497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1DBA90E-DD96-458D-ACE7-89A0584897CD}" type="datetimeFigureOut">
              <a:rPr lang="en-IN" smtClean="0"/>
              <a:t>26-04-2026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676182D-1858-435D-A8BA-618F8D4916E9}" type="slidenum">
              <a:rPr lang="en-IN" smtClean="0"/>
              <a:t>‹#›</a:t>
            </a:fld>
            <a:endParaRPr lang="en-IN"/>
          </a:p>
        </p:txBody>
      </p:sp>
    </p:spTree>
    <p:extLst>
      <p:ext uri="{BB962C8B-B14F-4D97-AF65-F5344CB8AC3E}">
        <p14:creationId xmlns:p14="http://schemas.microsoft.com/office/powerpoint/2010/main" val="41827624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71DBA90E-DD96-458D-ACE7-89A0584897CD}" type="datetimeFigureOut">
              <a:rPr lang="en-IN" smtClean="0"/>
              <a:t>26-04-2026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676182D-1858-435D-A8BA-618F8D4916E9}" type="slidenum">
              <a:rPr lang="en-IN" smtClean="0"/>
              <a:t>‹#›</a:t>
            </a:fld>
            <a:endParaRPr lang="en-IN"/>
          </a:p>
        </p:txBody>
      </p:sp>
    </p:spTree>
    <p:extLst>
      <p:ext uri="{BB962C8B-B14F-4D97-AF65-F5344CB8AC3E}">
        <p14:creationId xmlns:p14="http://schemas.microsoft.com/office/powerpoint/2010/main" val="10098507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71DBA90E-DD96-458D-ACE7-89A0584897CD}" type="datetimeFigureOut">
              <a:rPr lang="en-IN" smtClean="0"/>
              <a:t>26-04-2026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676182D-1858-435D-A8BA-618F8D4916E9}" type="slidenum">
              <a:rPr lang="en-IN" smtClean="0"/>
              <a:t>‹#›</a:t>
            </a:fld>
            <a:endParaRPr lang="en-IN"/>
          </a:p>
        </p:txBody>
      </p:sp>
    </p:spTree>
    <p:extLst>
      <p:ext uri="{BB962C8B-B14F-4D97-AF65-F5344CB8AC3E}">
        <p14:creationId xmlns:p14="http://schemas.microsoft.com/office/powerpoint/2010/main" val="24175829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1DBA90E-DD96-458D-ACE7-89A0584897CD}" type="datetimeFigureOut">
              <a:rPr lang="en-IN" smtClean="0"/>
              <a:t>26-04-2026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76182D-1858-435D-A8BA-618F8D4916E9}" type="slidenum">
              <a:rPr lang="en-IN" smtClean="0"/>
              <a:t>‹#›</a:t>
            </a:fld>
            <a:endParaRPr lang="en-IN"/>
          </a:p>
        </p:txBody>
      </p:sp>
    </p:spTree>
    <p:extLst>
      <p:ext uri="{BB962C8B-B14F-4D97-AF65-F5344CB8AC3E}">
        <p14:creationId xmlns:p14="http://schemas.microsoft.com/office/powerpoint/2010/main" val="31879937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3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3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3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0.png"/><Relationship Id="rId4" Type="http://schemas.openxmlformats.org/officeDocument/2006/relationships/image" Target="../media/image39.png"/></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50.png"/><Relationship Id="rId4" Type="http://schemas.openxmlformats.org/officeDocument/2006/relationships/image" Target="../media/image49.png"/></Relationships>
</file>

<file path=ppt/slides/_rels/slide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53.png"/></Relationships>
</file>

<file path=ppt/slides/_rels/slide6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55.png"/></Relationships>
</file>

<file path=ppt/slides/_rels/slide6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57.png"/></Relationships>
</file>

<file path=ppt/slides/_rels/slide6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60.png"/></Relationships>
</file>

<file path=ppt/slides/_rels/slide68.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5632311"/>
          </a:xfrm>
          <a:prstGeom prst="rect">
            <a:avLst/>
          </a:prstGeom>
        </p:spPr>
        <p:txBody>
          <a:bodyPr wrap="square">
            <a:spAutoFit/>
          </a:bodyPr>
          <a:lstStyle/>
          <a:p>
            <a:r>
              <a:rPr lang="en-US" b="1" dirty="0">
                <a:solidFill>
                  <a:srgbClr val="FF0000"/>
                </a:solidFill>
              </a:rPr>
              <a:t>B-Tree </a:t>
            </a:r>
            <a:r>
              <a:rPr lang="en-US" b="1" dirty="0" smtClean="0">
                <a:solidFill>
                  <a:srgbClr val="FF0000"/>
                </a:solidFill>
              </a:rPr>
              <a:t>Family</a:t>
            </a:r>
          </a:p>
          <a:p>
            <a:endParaRPr lang="en-US" b="1" dirty="0">
              <a:solidFill>
                <a:srgbClr val="FF0000"/>
              </a:solidFill>
            </a:endParaRPr>
          </a:p>
          <a:p>
            <a:r>
              <a:rPr lang="en-US" dirty="0"/>
              <a:t>The B‑Tree family refers to a group of self‑balancing, multi‑way search trees designed for efficient storage and retrieval of large datasets, especially on disk. They generalize binary search trees by allowing multiple keys per node and multiple children, ensuring balanced height and minimizing costly disk I/O</a:t>
            </a:r>
            <a:r>
              <a:rPr lang="en-US" dirty="0" smtClean="0"/>
              <a:t>.</a:t>
            </a:r>
          </a:p>
          <a:p>
            <a:endParaRPr lang="en-US" b="1" dirty="0"/>
          </a:p>
          <a:p>
            <a:r>
              <a:rPr lang="en-US" b="1" dirty="0"/>
              <a:t>Core Concept of B‑Trees</a:t>
            </a:r>
          </a:p>
          <a:p>
            <a:pPr marL="285750" indent="-285750">
              <a:buFont typeface="Arial" panose="020B0604020202020204" pitchFamily="34" charset="0"/>
              <a:buChar char="•"/>
            </a:pPr>
            <a:r>
              <a:rPr lang="en-US" b="1" dirty="0"/>
              <a:t>Order (m):</a:t>
            </a:r>
            <a:r>
              <a:rPr lang="en-US" dirty="0"/>
              <a:t> Maximum number of children a node can have.</a:t>
            </a:r>
          </a:p>
          <a:p>
            <a:pPr marL="285750" indent="-285750">
              <a:buFont typeface="Arial" panose="020B0604020202020204" pitchFamily="34" charset="0"/>
              <a:buChar char="•"/>
            </a:pPr>
            <a:r>
              <a:rPr lang="en-US" b="1" dirty="0"/>
              <a:t>Keys per node:</a:t>
            </a:r>
            <a:r>
              <a:rPr lang="en-US" dirty="0"/>
              <a:t> Up to m−1 keys stored in sorted order.</a:t>
            </a:r>
          </a:p>
          <a:p>
            <a:pPr marL="285750" indent="-285750">
              <a:buFont typeface="Arial" panose="020B0604020202020204" pitchFamily="34" charset="0"/>
              <a:buChar char="•"/>
            </a:pPr>
            <a:r>
              <a:rPr lang="en-US" b="1" dirty="0"/>
              <a:t>Balance:</a:t>
            </a:r>
            <a:r>
              <a:rPr lang="en-US" dirty="0"/>
              <a:t> All leaf nodes are at the same level.</a:t>
            </a:r>
          </a:p>
          <a:p>
            <a:pPr marL="285750" indent="-285750">
              <a:buFont typeface="Arial" panose="020B0604020202020204" pitchFamily="34" charset="0"/>
              <a:buChar char="•"/>
            </a:pPr>
            <a:r>
              <a:rPr lang="en-US" b="1" dirty="0"/>
              <a:t>Efficiency:</a:t>
            </a:r>
            <a:r>
              <a:rPr lang="en-US" dirty="0"/>
              <a:t> Search, insertion, and deletion operations run in </a:t>
            </a:r>
            <a:r>
              <a:rPr lang="en-US" b="1" dirty="0"/>
              <a:t>O(log n)</a:t>
            </a:r>
            <a:r>
              <a:rPr lang="en-US" dirty="0"/>
              <a:t> time.</a:t>
            </a:r>
          </a:p>
          <a:p>
            <a:pPr marL="285750" indent="-285750">
              <a:buFont typeface="Arial" panose="020B0604020202020204" pitchFamily="34" charset="0"/>
              <a:buChar char="•"/>
            </a:pPr>
            <a:r>
              <a:rPr lang="en-US" b="1" dirty="0"/>
              <a:t>Use case:</a:t>
            </a:r>
            <a:r>
              <a:rPr lang="en-US" dirty="0"/>
              <a:t> Optimized for databases and file systems where minimizing disk access is critical</a:t>
            </a:r>
            <a:r>
              <a:rPr lang="en-US" dirty="0" smtClean="0"/>
              <a:t>.</a:t>
            </a:r>
          </a:p>
          <a:p>
            <a:pPr marL="285750" indent="-285750">
              <a:buFont typeface="Arial" panose="020B0604020202020204" pitchFamily="34" charset="0"/>
              <a:buChar char="•"/>
            </a:pPr>
            <a:endParaRPr lang="en-US" dirty="0"/>
          </a:p>
          <a:p>
            <a:r>
              <a:rPr lang="en-US" b="1" dirty="0"/>
              <a:t>Operations</a:t>
            </a:r>
          </a:p>
          <a:p>
            <a:pPr marL="285750" indent="-285750">
              <a:buFont typeface="Arial" panose="020B0604020202020204" pitchFamily="34" charset="0"/>
              <a:buChar char="•"/>
            </a:pPr>
            <a:r>
              <a:rPr lang="en-US" b="1" dirty="0"/>
              <a:t>Search:</a:t>
            </a:r>
            <a:r>
              <a:rPr lang="en-US" dirty="0"/>
              <a:t> Similar to binary search, but across multiple keys per node.</a:t>
            </a:r>
          </a:p>
          <a:p>
            <a:pPr marL="285750" indent="-285750">
              <a:buFont typeface="Arial" panose="020B0604020202020204" pitchFamily="34" charset="0"/>
              <a:buChar char="•"/>
            </a:pPr>
            <a:r>
              <a:rPr lang="en-US" b="1" dirty="0"/>
              <a:t>Insertion:</a:t>
            </a:r>
            <a:r>
              <a:rPr lang="en-US" dirty="0"/>
              <a:t> Insert into node; if overflow occurs, split node and promote median key.</a:t>
            </a:r>
          </a:p>
          <a:p>
            <a:pPr marL="285750" indent="-285750">
              <a:buFont typeface="Arial" panose="020B0604020202020204" pitchFamily="34" charset="0"/>
              <a:buChar char="•"/>
            </a:pPr>
            <a:r>
              <a:rPr lang="en-US" b="1" dirty="0"/>
              <a:t>Deletion:</a:t>
            </a:r>
            <a:r>
              <a:rPr lang="en-US" dirty="0"/>
              <a:t> Remove key; if underflow occurs, borrow from sibling or merge nodes.</a:t>
            </a:r>
          </a:p>
          <a:p>
            <a:pPr marL="285750" indent="-285750">
              <a:buFont typeface="Arial" panose="020B0604020202020204" pitchFamily="34" charset="0"/>
              <a:buChar char="•"/>
            </a:pPr>
            <a:r>
              <a:rPr lang="en-US" b="1" dirty="0"/>
              <a:t>Traversal:</a:t>
            </a:r>
            <a:r>
              <a:rPr lang="en-US" dirty="0"/>
              <a:t> In‑order traversal yields sorted sequence of keys.</a:t>
            </a:r>
          </a:p>
          <a:p>
            <a:endParaRPr lang="en-US" dirty="0"/>
          </a:p>
          <a:p>
            <a:endParaRPr lang="en-US" b="1" dirty="0" smtClean="0"/>
          </a:p>
        </p:txBody>
      </p:sp>
    </p:spTree>
    <p:extLst>
      <p:ext uri="{BB962C8B-B14F-4D97-AF65-F5344CB8AC3E}">
        <p14:creationId xmlns:p14="http://schemas.microsoft.com/office/powerpoint/2010/main" val="173310839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5632311"/>
          </a:xfrm>
          <a:prstGeom prst="rect">
            <a:avLst/>
          </a:prstGeom>
        </p:spPr>
        <p:txBody>
          <a:bodyPr wrap="square">
            <a:spAutoFit/>
          </a:bodyPr>
          <a:lstStyle/>
          <a:p>
            <a:r>
              <a:rPr lang="en-US" b="1" dirty="0">
                <a:solidFill>
                  <a:srgbClr val="FF0000"/>
                </a:solidFill>
              </a:rPr>
              <a:t>B-Tree </a:t>
            </a:r>
            <a:r>
              <a:rPr lang="en-US" b="1" dirty="0" smtClean="0">
                <a:solidFill>
                  <a:srgbClr val="FF0000"/>
                </a:solidFill>
              </a:rPr>
              <a:t>Family</a:t>
            </a:r>
          </a:p>
          <a:p>
            <a:endParaRPr lang="en-US" b="1" dirty="0">
              <a:solidFill>
                <a:srgbClr val="FF0000"/>
              </a:solidFill>
            </a:endParaRPr>
          </a:p>
          <a:p>
            <a:r>
              <a:rPr lang="en-IN" b="1" dirty="0"/>
              <a:t>Real‑World Applications</a:t>
            </a:r>
          </a:p>
          <a:p>
            <a:pPr marL="285750" indent="-285750">
              <a:buFont typeface="Arial" panose="020B0604020202020204" pitchFamily="34" charset="0"/>
              <a:buChar char="•"/>
            </a:pPr>
            <a:r>
              <a:rPr lang="en-IN" b="1" dirty="0"/>
              <a:t>Databases:</a:t>
            </a:r>
            <a:r>
              <a:rPr lang="en-IN" dirty="0"/>
              <a:t> MySQL, Oracle, </a:t>
            </a:r>
            <a:r>
              <a:rPr lang="en-IN" dirty="0" err="1"/>
              <a:t>PostgreSQL</a:t>
            </a:r>
            <a:r>
              <a:rPr lang="en-IN" dirty="0"/>
              <a:t> use </a:t>
            </a:r>
            <a:r>
              <a:rPr lang="en-IN" b="1" dirty="0"/>
              <a:t>B+ Trees</a:t>
            </a:r>
            <a:r>
              <a:rPr lang="en-IN" dirty="0"/>
              <a:t> for indexing.</a:t>
            </a:r>
          </a:p>
          <a:p>
            <a:pPr marL="285750" indent="-285750">
              <a:buFont typeface="Arial" panose="020B0604020202020204" pitchFamily="34" charset="0"/>
              <a:buChar char="•"/>
            </a:pPr>
            <a:r>
              <a:rPr lang="en-IN" b="1" dirty="0"/>
              <a:t>File Systems:</a:t>
            </a:r>
            <a:r>
              <a:rPr lang="en-IN" dirty="0"/>
              <a:t> NTFS, HFS+, and ext4 rely on B‑Tree variants for directory and metadata management.</a:t>
            </a:r>
          </a:p>
          <a:p>
            <a:pPr marL="285750" indent="-285750">
              <a:buFont typeface="Arial" panose="020B0604020202020204" pitchFamily="34" charset="0"/>
              <a:buChar char="•"/>
            </a:pPr>
            <a:r>
              <a:rPr lang="en-IN" b="1" dirty="0"/>
              <a:t>Search Engines:</a:t>
            </a:r>
            <a:r>
              <a:rPr lang="en-IN" dirty="0"/>
              <a:t> Efficient indexing of large datasets.</a:t>
            </a:r>
          </a:p>
          <a:p>
            <a:pPr marL="285750" indent="-285750">
              <a:buFont typeface="Arial" panose="020B0604020202020204" pitchFamily="34" charset="0"/>
              <a:buChar char="•"/>
            </a:pPr>
            <a:r>
              <a:rPr lang="en-IN" b="1" dirty="0"/>
              <a:t>Operating Systems:</a:t>
            </a:r>
            <a:r>
              <a:rPr lang="en-IN" dirty="0"/>
              <a:t> Used in virtual memory and storage subsystems.</a:t>
            </a:r>
          </a:p>
          <a:p>
            <a:endParaRPr lang="en-US" dirty="0" smtClean="0"/>
          </a:p>
          <a:p>
            <a:r>
              <a:rPr lang="en-US" b="1" dirty="0"/>
              <a:t>Advantages</a:t>
            </a:r>
          </a:p>
          <a:p>
            <a:pPr marL="285750" indent="-285750">
              <a:buFont typeface="Arial" panose="020B0604020202020204" pitchFamily="34" charset="0"/>
              <a:buChar char="•"/>
            </a:pPr>
            <a:r>
              <a:rPr lang="en-US" b="1" dirty="0"/>
              <a:t>Balanced height:</a:t>
            </a:r>
            <a:r>
              <a:rPr lang="en-US" dirty="0"/>
              <a:t> Ensures predictable performance.</a:t>
            </a:r>
          </a:p>
          <a:p>
            <a:pPr marL="285750" indent="-285750">
              <a:buFont typeface="Arial" panose="020B0604020202020204" pitchFamily="34" charset="0"/>
              <a:buChar char="•"/>
            </a:pPr>
            <a:r>
              <a:rPr lang="en-US" b="1" dirty="0"/>
              <a:t>Disk optimization:</a:t>
            </a:r>
            <a:r>
              <a:rPr lang="en-US" dirty="0"/>
              <a:t> Reduces number of disk reads/writes.</a:t>
            </a:r>
          </a:p>
          <a:p>
            <a:pPr marL="285750" indent="-285750">
              <a:buFont typeface="Arial" panose="020B0604020202020204" pitchFamily="34" charset="0"/>
              <a:buChar char="•"/>
            </a:pPr>
            <a:r>
              <a:rPr lang="en-US" b="1" dirty="0"/>
              <a:t>Scalability:</a:t>
            </a:r>
            <a:r>
              <a:rPr lang="en-US" dirty="0"/>
              <a:t> Handles millions of records efficiently.</a:t>
            </a:r>
          </a:p>
          <a:p>
            <a:pPr marL="285750" indent="-285750">
              <a:buFont typeface="Arial" panose="020B0604020202020204" pitchFamily="34" charset="0"/>
              <a:buChar char="•"/>
            </a:pPr>
            <a:r>
              <a:rPr lang="en-US" b="1" dirty="0"/>
              <a:t>Sequential access:</a:t>
            </a:r>
            <a:r>
              <a:rPr lang="en-US" dirty="0"/>
              <a:t> B+ Trees allow fast range queries.</a:t>
            </a:r>
          </a:p>
          <a:p>
            <a:endParaRPr lang="en-US" dirty="0"/>
          </a:p>
          <a:p>
            <a:r>
              <a:rPr lang="en-US" b="1" dirty="0"/>
              <a:t>Limitations</a:t>
            </a:r>
          </a:p>
          <a:p>
            <a:pPr marL="285750" indent="-285750">
              <a:buFont typeface="Arial" panose="020B0604020202020204" pitchFamily="34" charset="0"/>
              <a:buChar char="•"/>
            </a:pPr>
            <a:r>
              <a:rPr lang="en-US" b="1" dirty="0"/>
              <a:t>Complex implementation:</a:t>
            </a:r>
            <a:r>
              <a:rPr lang="en-US" dirty="0"/>
              <a:t> More difficult than binary or AVL trees.</a:t>
            </a:r>
          </a:p>
          <a:p>
            <a:pPr marL="285750" indent="-285750">
              <a:buFont typeface="Arial" panose="020B0604020202020204" pitchFamily="34" charset="0"/>
              <a:buChar char="•"/>
            </a:pPr>
            <a:r>
              <a:rPr lang="en-US" b="1" dirty="0"/>
              <a:t>Memory overhead:</a:t>
            </a:r>
            <a:r>
              <a:rPr lang="en-US" dirty="0"/>
              <a:t> Internal nodes may store many pointers.</a:t>
            </a:r>
          </a:p>
          <a:p>
            <a:pPr marL="285750" indent="-285750">
              <a:buFont typeface="Arial" panose="020B0604020202020204" pitchFamily="34" charset="0"/>
              <a:buChar char="•"/>
            </a:pPr>
            <a:r>
              <a:rPr lang="en-US" b="1" dirty="0"/>
              <a:t>Not ideal for small datasets:</a:t>
            </a:r>
            <a:r>
              <a:rPr lang="en-US" dirty="0"/>
              <a:t> Overhead outweighs benefits when data fits in memory.</a:t>
            </a:r>
          </a:p>
          <a:p>
            <a:endParaRPr lang="en-US" dirty="0"/>
          </a:p>
          <a:p>
            <a:endParaRPr lang="en-US" b="1" dirty="0" smtClean="0"/>
          </a:p>
        </p:txBody>
      </p:sp>
    </p:spTree>
    <p:extLst>
      <p:ext uri="{BB962C8B-B14F-4D97-AF65-F5344CB8AC3E}">
        <p14:creationId xmlns:p14="http://schemas.microsoft.com/office/powerpoint/2010/main" val="401439779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5909310"/>
          </a:xfrm>
          <a:prstGeom prst="rect">
            <a:avLst/>
          </a:prstGeom>
        </p:spPr>
        <p:txBody>
          <a:bodyPr wrap="square">
            <a:spAutoFit/>
          </a:bodyPr>
          <a:lstStyle/>
          <a:p>
            <a:r>
              <a:rPr lang="en-US" b="1" dirty="0">
                <a:solidFill>
                  <a:srgbClr val="FF0000"/>
                </a:solidFill>
              </a:rPr>
              <a:t>B-Tree </a:t>
            </a:r>
            <a:r>
              <a:rPr lang="en-US" b="1" dirty="0" smtClean="0">
                <a:solidFill>
                  <a:srgbClr val="FF0000"/>
                </a:solidFill>
              </a:rPr>
              <a:t>Family</a:t>
            </a:r>
          </a:p>
          <a:p>
            <a:endParaRPr lang="en-US" b="1" dirty="0">
              <a:solidFill>
                <a:srgbClr val="FF0000"/>
              </a:solidFill>
            </a:endParaRPr>
          </a:p>
          <a:p>
            <a:r>
              <a:rPr lang="en-US" b="1" dirty="0"/>
              <a:t>B‑Tree</a:t>
            </a:r>
          </a:p>
          <a:p>
            <a:pPr marL="285750" indent="-285750">
              <a:buFont typeface="Arial" panose="020B0604020202020204" pitchFamily="34" charset="0"/>
              <a:buChar char="•"/>
            </a:pPr>
            <a:r>
              <a:rPr lang="en-US" b="1" dirty="0"/>
              <a:t>Structure:</a:t>
            </a:r>
            <a:r>
              <a:rPr lang="en-US" dirty="0"/>
              <a:t> Each node can hold multiple keys and have multiple children (up to order </a:t>
            </a:r>
            <a:r>
              <a:rPr lang="en-US" i="1" dirty="0"/>
              <a:t>m</a:t>
            </a:r>
            <a:r>
              <a:rPr lang="en-US" dirty="0"/>
              <a:t>).</a:t>
            </a:r>
          </a:p>
          <a:p>
            <a:pPr marL="285750" indent="-285750">
              <a:buFont typeface="Arial" panose="020B0604020202020204" pitchFamily="34" charset="0"/>
              <a:buChar char="•"/>
            </a:pPr>
            <a:r>
              <a:rPr lang="en-US" b="1" dirty="0"/>
              <a:t>Property:</a:t>
            </a:r>
            <a:r>
              <a:rPr lang="en-US" dirty="0"/>
              <a:t> Keys in each node are sorted; children pointers divide ranges of keys.</a:t>
            </a:r>
          </a:p>
          <a:p>
            <a:pPr marL="285750" indent="-285750">
              <a:buFont typeface="Arial" panose="020B0604020202020204" pitchFamily="34" charset="0"/>
              <a:buChar char="•"/>
            </a:pPr>
            <a:r>
              <a:rPr lang="en-US" b="1" dirty="0"/>
              <a:t>Balance:</a:t>
            </a:r>
            <a:r>
              <a:rPr lang="en-US" dirty="0"/>
              <a:t> All leaves are at the same level.</a:t>
            </a:r>
          </a:p>
          <a:p>
            <a:pPr marL="285750" indent="-285750">
              <a:buFont typeface="Arial" panose="020B0604020202020204" pitchFamily="34" charset="0"/>
              <a:buChar char="•"/>
            </a:pPr>
            <a:r>
              <a:rPr lang="en-US" b="1" dirty="0"/>
              <a:t>Use Case:</a:t>
            </a:r>
            <a:r>
              <a:rPr lang="en-US" dirty="0"/>
              <a:t> General indexing in databases and file systems.</a:t>
            </a:r>
          </a:p>
          <a:p>
            <a:pPr marL="285750" indent="-285750">
              <a:buFont typeface="Arial" panose="020B0604020202020204" pitchFamily="34" charset="0"/>
              <a:buChar char="•"/>
            </a:pPr>
            <a:r>
              <a:rPr lang="en-US" b="1" dirty="0"/>
              <a:t>Operations:</a:t>
            </a:r>
            <a:r>
              <a:rPr lang="en-US" dirty="0"/>
              <a:t> Search, insert, delete all run in </a:t>
            </a:r>
            <a:r>
              <a:rPr lang="en-US" b="1" dirty="0"/>
              <a:t>O(log n)</a:t>
            </a:r>
            <a:r>
              <a:rPr lang="en-US" dirty="0"/>
              <a:t>.</a:t>
            </a:r>
          </a:p>
          <a:p>
            <a:endParaRPr lang="en-US" dirty="0"/>
          </a:p>
          <a:p>
            <a:r>
              <a:rPr lang="en-US" b="1" dirty="0"/>
              <a:t>B+ Tree</a:t>
            </a:r>
          </a:p>
          <a:p>
            <a:pPr marL="285750" indent="-285750">
              <a:buFont typeface="Arial" panose="020B0604020202020204" pitchFamily="34" charset="0"/>
              <a:buChar char="•"/>
            </a:pPr>
            <a:r>
              <a:rPr lang="en-US" b="1" dirty="0"/>
              <a:t>Structure:</a:t>
            </a:r>
            <a:r>
              <a:rPr lang="en-US" dirty="0"/>
              <a:t> Internal nodes store only keys (for navigation), while </a:t>
            </a:r>
            <a:r>
              <a:rPr lang="en-US" b="1" dirty="0"/>
              <a:t>all actual data is stored in leaf nodes</a:t>
            </a:r>
            <a:r>
              <a:rPr lang="en-US" dirty="0"/>
              <a:t>.</a:t>
            </a:r>
          </a:p>
          <a:p>
            <a:pPr marL="285750" indent="-285750">
              <a:buFont typeface="Arial" panose="020B0604020202020204" pitchFamily="34" charset="0"/>
              <a:buChar char="•"/>
            </a:pPr>
            <a:r>
              <a:rPr lang="en-US" b="1" dirty="0"/>
              <a:t>Property:</a:t>
            </a:r>
            <a:r>
              <a:rPr lang="en-US" dirty="0"/>
              <a:t> Leaf nodes are linked together, enabling fast sequential access.</a:t>
            </a:r>
          </a:p>
          <a:p>
            <a:pPr marL="285750" indent="-285750">
              <a:buFont typeface="Arial" panose="020B0604020202020204" pitchFamily="34" charset="0"/>
              <a:buChar char="•"/>
            </a:pPr>
            <a:r>
              <a:rPr lang="en-US" b="1" dirty="0"/>
              <a:t>Advantage:</a:t>
            </a:r>
            <a:r>
              <a:rPr lang="en-US" dirty="0"/>
              <a:t> Excellent for range queries and ordered traversals.</a:t>
            </a:r>
          </a:p>
          <a:p>
            <a:pPr marL="285750" indent="-285750">
              <a:buFont typeface="Arial" panose="020B0604020202020204" pitchFamily="34" charset="0"/>
              <a:buChar char="•"/>
            </a:pPr>
            <a:r>
              <a:rPr lang="en-US" b="1" dirty="0"/>
              <a:t>Use Case:</a:t>
            </a:r>
            <a:r>
              <a:rPr lang="en-US" dirty="0"/>
              <a:t> Widely used in relational databases (MySQL, Oracle) and file systems (NTFS, ext4).</a:t>
            </a:r>
          </a:p>
          <a:p>
            <a:endParaRPr lang="en-US" b="1" dirty="0" smtClean="0"/>
          </a:p>
          <a:p>
            <a:r>
              <a:rPr lang="en-US" b="1" i="1" dirty="0"/>
              <a:t>B</a:t>
            </a:r>
            <a:r>
              <a:rPr lang="en-US" b="1" dirty="0"/>
              <a:t> Tree*</a:t>
            </a:r>
          </a:p>
          <a:p>
            <a:pPr marL="285750" indent="-285750">
              <a:buFont typeface="Arial" panose="020B0604020202020204" pitchFamily="34" charset="0"/>
              <a:buChar char="•"/>
            </a:pPr>
            <a:r>
              <a:rPr lang="en-US" b="1" dirty="0"/>
              <a:t>Structure:</a:t>
            </a:r>
            <a:r>
              <a:rPr lang="en-US" dirty="0"/>
              <a:t> A variant of B+ Tree.</a:t>
            </a:r>
          </a:p>
          <a:p>
            <a:pPr marL="285750" indent="-285750">
              <a:buFont typeface="Arial" panose="020B0604020202020204" pitchFamily="34" charset="0"/>
              <a:buChar char="•"/>
            </a:pPr>
            <a:r>
              <a:rPr lang="en-US" b="1" dirty="0"/>
              <a:t>Property:</a:t>
            </a:r>
            <a:r>
              <a:rPr lang="en-US" dirty="0"/>
              <a:t> Instead of splitting immediately when a node overflows, it redistributes keys with siblings first.</a:t>
            </a:r>
          </a:p>
          <a:p>
            <a:pPr marL="285750" indent="-285750">
              <a:buFont typeface="Arial" panose="020B0604020202020204" pitchFamily="34" charset="0"/>
              <a:buChar char="•"/>
            </a:pPr>
            <a:r>
              <a:rPr lang="en-US" b="1" dirty="0"/>
              <a:t>Advantage:</a:t>
            </a:r>
            <a:r>
              <a:rPr lang="en-US" dirty="0"/>
              <a:t> Better space utilization (about 2/3 full vs 1/2 full in B+ Trees).</a:t>
            </a:r>
          </a:p>
          <a:p>
            <a:pPr marL="285750" indent="-285750">
              <a:buFont typeface="Arial" panose="020B0604020202020204" pitchFamily="34" charset="0"/>
              <a:buChar char="•"/>
            </a:pPr>
            <a:r>
              <a:rPr lang="en-US" b="1" dirty="0"/>
              <a:t>Use Case:</a:t>
            </a:r>
            <a:r>
              <a:rPr lang="en-US" dirty="0"/>
              <a:t> Advanced database indexing where minimizing splits is critical.</a:t>
            </a:r>
          </a:p>
          <a:p>
            <a:endParaRPr lang="en-US" b="1" dirty="0" smtClean="0"/>
          </a:p>
        </p:txBody>
      </p:sp>
    </p:spTree>
    <p:extLst>
      <p:ext uri="{BB962C8B-B14F-4D97-AF65-F5344CB8AC3E}">
        <p14:creationId xmlns:p14="http://schemas.microsoft.com/office/powerpoint/2010/main" val="141329528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2031325"/>
          </a:xfrm>
          <a:prstGeom prst="rect">
            <a:avLst/>
          </a:prstGeom>
        </p:spPr>
        <p:txBody>
          <a:bodyPr wrap="square">
            <a:spAutoFit/>
          </a:bodyPr>
          <a:lstStyle/>
          <a:p>
            <a:r>
              <a:rPr lang="en-US" b="1" dirty="0">
                <a:solidFill>
                  <a:srgbClr val="FF0000"/>
                </a:solidFill>
              </a:rPr>
              <a:t>B-Tree </a:t>
            </a:r>
            <a:r>
              <a:rPr lang="en-US" b="1" dirty="0" smtClean="0">
                <a:solidFill>
                  <a:srgbClr val="FF0000"/>
                </a:solidFill>
              </a:rPr>
              <a:t>Family</a:t>
            </a:r>
          </a:p>
          <a:p>
            <a:endParaRPr lang="en-US" b="1" dirty="0">
              <a:solidFill>
                <a:srgbClr val="FF0000"/>
              </a:solidFill>
            </a:endParaRPr>
          </a:p>
          <a:p>
            <a:r>
              <a:rPr lang="en-US" b="1" dirty="0"/>
              <a:t>B‑Link Tree</a:t>
            </a:r>
          </a:p>
          <a:p>
            <a:pPr marL="285750" indent="-285750">
              <a:buFont typeface="Arial" panose="020B0604020202020204" pitchFamily="34" charset="0"/>
              <a:buChar char="•"/>
            </a:pPr>
            <a:r>
              <a:rPr lang="en-US" b="1" dirty="0"/>
              <a:t>Structure:</a:t>
            </a:r>
            <a:r>
              <a:rPr lang="en-US" dirty="0"/>
              <a:t> Extension of B+ Tree with </a:t>
            </a:r>
            <a:r>
              <a:rPr lang="en-US" b="1" dirty="0"/>
              <a:t>extra sibling pointers</a:t>
            </a:r>
            <a:r>
              <a:rPr lang="en-US" dirty="0"/>
              <a:t> at each level.</a:t>
            </a:r>
          </a:p>
          <a:p>
            <a:pPr marL="285750" indent="-285750">
              <a:buFont typeface="Arial" panose="020B0604020202020204" pitchFamily="34" charset="0"/>
              <a:buChar char="•"/>
            </a:pPr>
            <a:r>
              <a:rPr lang="en-US" b="1" dirty="0"/>
              <a:t>Property:</a:t>
            </a:r>
            <a:r>
              <a:rPr lang="en-US" dirty="0"/>
              <a:t> Allows concurrent operations (insert, delete, search) without locking the entire tree.</a:t>
            </a:r>
          </a:p>
          <a:p>
            <a:pPr marL="285750" indent="-285750">
              <a:buFont typeface="Arial" panose="020B0604020202020204" pitchFamily="34" charset="0"/>
              <a:buChar char="•"/>
            </a:pPr>
            <a:r>
              <a:rPr lang="en-US" b="1" dirty="0"/>
              <a:t>Advantage:</a:t>
            </a:r>
            <a:r>
              <a:rPr lang="en-US" dirty="0"/>
              <a:t> High concurrency and parallelism — multiple threads can safely access/update.</a:t>
            </a:r>
          </a:p>
          <a:p>
            <a:pPr marL="285750" indent="-285750">
              <a:buFont typeface="Arial" panose="020B0604020202020204" pitchFamily="34" charset="0"/>
              <a:buChar char="•"/>
            </a:pPr>
            <a:r>
              <a:rPr lang="en-US" b="1" dirty="0"/>
              <a:t>Use Case:</a:t>
            </a:r>
            <a:r>
              <a:rPr lang="en-US" dirty="0"/>
              <a:t> High‑performance transactional systems, modern databases needing parallel access.</a:t>
            </a:r>
          </a:p>
        </p:txBody>
      </p:sp>
      <p:graphicFrame>
        <p:nvGraphicFramePr>
          <p:cNvPr id="2" name="Table 1"/>
          <p:cNvGraphicFramePr>
            <a:graphicFrameLocks noGrp="1"/>
          </p:cNvGraphicFramePr>
          <p:nvPr>
            <p:extLst>
              <p:ext uri="{D42A27DB-BD31-4B8C-83A1-F6EECF244321}">
                <p14:modId xmlns:p14="http://schemas.microsoft.com/office/powerpoint/2010/main" val="1111754142"/>
              </p:ext>
            </p:extLst>
          </p:nvPr>
        </p:nvGraphicFramePr>
        <p:xfrm>
          <a:off x="181495" y="2895702"/>
          <a:ext cx="10515600" cy="2926080"/>
        </p:xfrm>
        <a:graphic>
          <a:graphicData uri="http://schemas.openxmlformats.org/drawingml/2006/table">
            <a:tbl>
              <a:tblPr/>
              <a:tblGrid>
                <a:gridCol w="2628900"/>
                <a:gridCol w="2628900"/>
                <a:gridCol w="2628900"/>
                <a:gridCol w="2628900"/>
              </a:tblGrid>
              <a:tr h="0">
                <a:tc>
                  <a:txBody>
                    <a:bodyPr/>
                    <a:lstStyle/>
                    <a:p>
                      <a:pPr algn="ctr"/>
                      <a:r>
                        <a:rPr lang="en-IN" b="1" dirty="0"/>
                        <a:t>Tree Type</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IN" b="1" dirty="0"/>
                        <a:t>Data Storage</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IN" b="1" dirty="0"/>
                        <a:t>Special Feature</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IN" b="1" dirty="0"/>
                        <a:t>Best Use Case</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r>
              <a:tr h="0">
                <a:tc>
                  <a:txBody>
                    <a:bodyPr/>
                    <a:lstStyle/>
                    <a:p>
                      <a:r>
                        <a:rPr lang="en-IN" b="1" dirty="0"/>
                        <a:t>B‑Tree</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Keys + data in all nodes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a:t>Balanced, multi‑way search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a:t>General indexing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IN" b="1"/>
                        <a:t>B+ Tree</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Data only in leaves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Linked leaves for fast range queries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a:t>Databases, file systems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IN" b="1" i="1" dirty="0"/>
                        <a:t>B</a:t>
                      </a:r>
                      <a:r>
                        <a:rPr lang="en-IN" b="1" dirty="0"/>
                        <a:t> Tree*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a:t>Data in leaves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Redistributes before splitting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Efficient space utilization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IN" b="1"/>
                        <a:t>B‑Link Tree</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a:t>Data in leaves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a:t>Sibling pointers for concurrency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Parallel database systems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90298061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2031325"/>
          </a:xfrm>
          <a:prstGeom prst="rect">
            <a:avLst/>
          </a:prstGeom>
        </p:spPr>
        <p:txBody>
          <a:bodyPr wrap="square">
            <a:spAutoFit/>
          </a:bodyPr>
          <a:lstStyle/>
          <a:p>
            <a:r>
              <a:rPr lang="en-US" b="1" dirty="0">
                <a:solidFill>
                  <a:srgbClr val="FF0000"/>
                </a:solidFill>
              </a:rPr>
              <a:t>B-Tree </a:t>
            </a:r>
            <a:r>
              <a:rPr lang="en-US" b="1" dirty="0" smtClean="0">
                <a:solidFill>
                  <a:srgbClr val="FF0000"/>
                </a:solidFill>
              </a:rPr>
              <a:t>Family</a:t>
            </a:r>
          </a:p>
          <a:p>
            <a:endParaRPr lang="en-US" b="1" dirty="0" smtClean="0">
              <a:solidFill>
                <a:srgbClr val="FF0000"/>
              </a:solidFill>
            </a:endParaRPr>
          </a:p>
          <a:p>
            <a:pPr marL="285750" indent="-285750">
              <a:buFont typeface="Arial" panose="020B0604020202020204" pitchFamily="34" charset="0"/>
              <a:buChar char="•"/>
            </a:pPr>
            <a:r>
              <a:rPr lang="en-IN" dirty="0"/>
              <a:t>B‑Tree is the foundation.</a:t>
            </a:r>
          </a:p>
          <a:p>
            <a:pPr marL="285750" indent="-285750">
              <a:buFont typeface="Arial" panose="020B0604020202020204" pitchFamily="34" charset="0"/>
              <a:buChar char="•"/>
            </a:pPr>
            <a:r>
              <a:rPr lang="en-US" dirty="0" smtClean="0"/>
              <a:t>B</a:t>
            </a:r>
            <a:r>
              <a:rPr lang="en-US" dirty="0"/>
              <a:t>+ Tree dominates in practice due to fast sequential access.</a:t>
            </a:r>
          </a:p>
          <a:p>
            <a:pPr marL="285750" indent="-285750">
              <a:buFont typeface="Arial" panose="020B0604020202020204" pitchFamily="34" charset="0"/>
              <a:buChar char="•"/>
            </a:pPr>
            <a:r>
              <a:rPr lang="en-US" dirty="0" smtClean="0"/>
              <a:t>B </a:t>
            </a:r>
            <a:r>
              <a:rPr lang="en-US" dirty="0"/>
              <a:t>Tree* improves efficiency by reducing splits.</a:t>
            </a:r>
          </a:p>
          <a:p>
            <a:pPr marL="285750" indent="-285750">
              <a:buFont typeface="Arial" panose="020B0604020202020204" pitchFamily="34" charset="0"/>
              <a:buChar char="•"/>
            </a:pPr>
            <a:r>
              <a:rPr lang="en-US" dirty="0" smtClean="0"/>
              <a:t>B‑Link </a:t>
            </a:r>
            <a:r>
              <a:rPr lang="en-US" dirty="0"/>
              <a:t>Tree enables concurrency for modern multi‑threaded environments.</a:t>
            </a:r>
          </a:p>
          <a:p>
            <a:endParaRPr lang="en-US" b="1" dirty="0">
              <a:solidFill>
                <a:srgbClr val="FF0000"/>
              </a:solidFill>
            </a:endParaRPr>
          </a:p>
        </p:txBody>
      </p:sp>
    </p:spTree>
    <p:extLst>
      <p:ext uri="{BB962C8B-B14F-4D97-AF65-F5344CB8AC3E}">
        <p14:creationId xmlns:p14="http://schemas.microsoft.com/office/powerpoint/2010/main" val="192012806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6186309"/>
          </a:xfrm>
          <a:prstGeom prst="rect">
            <a:avLst/>
          </a:prstGeom>
        </p:spPr>
        <p:txBody>
          <a:bodyPr wrap="square">
            <a:spAutoFit/>
          </a:bodyPr>
          <a:lstStyle/>
          <a:p>
            <a:r>
              <a:rPr lang="en-US" b="1" dirty="0">
                <a:solidFill>
                  <a:srgbClr val="FF0000"/>
                </a:solidFill>
              </a:rPr>
              <a:t>B-Tree </a:t>
            </a:r>
            <a:r>
              <a:rPr lang="en-US" b="1" dirty="0" smtClean="0">
                <a:solidFill>
                  <a:srgbClr val="FF0000"/>
                </a:solidFill>
              </a:rPr>
              <a:t>Family</a:t>
            </a:r>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a:p>
            <a:pPr marL="285750" indent="-285750">
              <a:buFont typeface="Arial" panose="020B0604020202020204" pitchFamily="34" charset="0"/>
              <a:buChar char="•"/>
            </a:pPr>
            <a:r>
              <a:rPr lang="en-IN" b="1" dirty="0"/>
              <a:t>B‑Tree</a:t>
            </a:r>
            <a:r>
              <a:rPr lang="en-IN" dirty="0"/>
              <a:t> → Keys and data stored in all nodes. Balanced search tree.</a:t>
            </a:r>
          </a:p>
          <a:p>
            <a:pPr marL="285750" indent="-285750">
              <a:buFont typeface="Arial" panose="020B0604020202020204" pitchFamily="34" charset="0"/>
              <a:buChar char="•"/>
            </a:pPr>
            <a:r>
              <a:rPr lang="en-IN" b="1" dirty="0"/>
              <a:t>B+ Tree</a:t>
            </a:r>
            <a:r>
              <a:rPr lang="en-IN" dirty="0"/>
              <a:t> → Data only in leaf nodes. Internal nodes guide search. Leaves linked for fast range queries.</a:t>
            </a:r>
          </a:p>
          <a:p>
            <a:pPr marL="285750" indent="-285750">
              <a:buFont typeface="Arial" panose="020B0604020202020204" pitchFamily="34" charset="0"/>
              <a:buChar char="•"/>
            </a:pPr>
            <a:r>
              <a:rPr lang="en-IN" i="1" dirty="0"/>
              <a:t>B</a:t>
            </a:r>
            <a:r>
              <a:rPr lang="en-IN" dirty="0"/>
              <a:t> Tree* → Redistributes keys with siblings before splitting. Optimized space usage.</a:t>
            </a:r>
          </a:p>
          <a:p>
            <a:pPr marL="285750" indent="-285750">
              <a:buFont typeface="Arial" panose="020B0604020202020204" pitchFamily="34" charset="0"/>
              <a:buChar char="•"/>
            </a:pPr>
            <a:r>
              <a:rPr lang="en-IN" b="1" dirty="0"/>
              <a:t>B‑Link Tree</a:t>
            </a:r>
            <a:r>
              <a:rPr lang="en-IN" dirty="0"/>
              <a:t> → Adds sibling pointers at each level. Enables high concurrency and parallel operations</a:t>
            </a:r>
            <a:r>
              <a:rPr lang="en-IN" dirty="0" smtClean="0"/>
              <a:t>.</a:t>
            </a:r>
            <a:endParaRPr lang="en-US" b="1" dirty="0" smtClean="0">
              <a:solidFill>
                <a:srgbClr val="FF0000"/>
              </a:solidFill>
            </a:endParaRPr>
          </a:p>
        </p:txBody>
      </p:sp>
      <p:pic>
        <p:nvPicPr>
          <p:cNvPr id="2051" name="Picture 3" descr="B-Tree family comparison diagra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254" y="940416"/>
            <a:ext cx="9667702" cy="43132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657624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2585323"/>
          </a:xfrm>
          <a:prstGeom prst="rect">
            <a:avLst/>
          </a:prstGeom>
        </p:spPr>
        <p:txBody>
          <a:bodyPr wrap="square">
            <a:spAutoFit/>
          </a:bodyPr>
          <a:lstStyle/>
          <a:p>
            <a:r>
              <a:rPr lang="en-US" b="1" dirty="0">
                <a:solidFill>
                  <a:srgbClr val="FF0000"/>
                </a:solidFill>
              </a:rPr>
              <a:t>B-Tree </a:t>
            </a:r>
            <a:r>
              <a:rPr lang="en-US" b="1" dirty="0" smtClean="0">
                <a:solidFill>
                  <a:srgbClr val="FF0000"/>
                </a:solidFill>
              </a:rPr>
              <a:t>Family</a:t>
            </a:r>
          </a:p>
          <a:p>
            <a:endParaRPr lang="en-US" b="1" dirty="0" smtClean="0">
              <a:solidFill>
                <a:srgbClr val="FF0000"/>
              </a:solidFill>
            </a:endParaRPr>
          </a:p>
          <a:p>
            <a:r>
              <a:rPr lang="en-US" b="1" dirty="0"/>
              <a:t>B‑Tree</a:t>
            </a:r>
          </a:p>
          <a:p>
            <a:pPr marL="285750" indent="-285750">
              <a:buFont typeface="Arial" panose="020B0604020202020204" pitchFamily="34" charset="0"/>
              <a:buChar char="•"/>
            </a:pPr>
            <a:r>
              <a:rPr lang="en-US" dirty="0"/>
              <a:t>Keys and Data together in every node</a:t>
            </a:r>
          </a:p>
          <a:p>
            <a:pPr marL="285750" indent="-285750">
              <a:buFont typeface="Arial" panose="020B0604020202020204" pitchFamily="34" charset="0"/>
              <a:buChar char="•"/>
            </a:pPr>
            <a:r>
              <a:rPr lang="en-US" b="1" dirty="0"/>
              <a:t>Key (K) </a:t>
            </a:r>
            <a:r>
              <a:rPr lang="en-US" dirty="0"/>
              <a:t>→ used for ordering and searching (e.g., 10, 15, 20, 25, …).</a:t>
            </a:r>
          </a:p>
          <a:p>
            <a:pPr marL="285750" indent="-285750">
              <a:buFont typeface="Arial" panose="020B0604020202020204" pitchFamily="34" charset="0"/>
              <a:buChar char="•"/>
            </a:pPr>
            <a:r>
              <a:rPr lang="en-US" b="1" dirty="0" smtClean="0"/>
              <a:t>Data </a:t>
            </a:r>
            <a:r>
              <a:rPr lang="en-US" b="1" dirty="0"/>
              <a:t>(D) </a:t>
            </a:r>
            <a:r>
              <a:rPr lang="en-US" dirty="0"/>
              <a:t>→ actual record linked to that key (e.g., file, name, pointer).</a:t>
            </a:r>
          </a:p>
          <a:p>
            <a:pPr marL="285750" indent="-285750">
              <a:buFont typeface="Arial" panose="020B0604020202020204" pitchFamily="34" charset="0"/>
              <a:buChar char="•"/>
            </a:pPr>
            <a:r>
              <a:rPr lang="en-US" dirty="0" smtClean="0"/>
              <a:t>Each </a:t>
            </a:r>
            <a:r>
              <a:rPr lang="en-US" dirty="0"/>
              <a:t>node stores both Key (K) and its Data (D).</a:t>
            </a:r>
          </a:p>
          <a:p>
            <a:pPr marL="285750" indent="-285750">
              <a:buFont typeface="Arial" panose="020B0604020202020204" pitchFamily="34" charset="0"/>
              <a:buChar char="•"/>
            </a:pPr>
            <a:r>
              <a:rPr lang="en-US" dirty="0"/>
              <a:t>Example: K20:D20 means key = 20, data = record 20.</a:t>
            </a:r>
          </a:p>
          <a:p>
            <a:endParaRPr lang="en-US" b="1" dirty="0" smtClean="0">
              <a:solidFill>
                <a:srgbClr val="FF0000"/>
              </a:solidFill>
            </a:endParaRPr>
          </a:p>
        </p:txBody>
      </p:sp>
      <p:pic>
        <p:nvPicPr>
          <p:cNvPr id="7" name="Picture 6"/>
          <p:cNvPicPr>
            <a:picLocks noChangeAspect="1"/>
          </p:cNvPicPr>
          <p:nvPr/>
        </p:nvPicPr>
        <p:blipFill>
          <a:blip r:embed="rId3"/>
          <a:stretch>
            <a:fillRect/>
          </a:stretch>
        </p:blipFill>
        <p:spPr>
          <a:xfrm>
            <a:off x="1570764" y="3127378"/>
            <a:ext cx="4877481" cy="724001"/>
          </a:xfrm>
          <a:prstGeom prst="rect">
            <a:avLst/>
          </a:prstGeom>
        </p:spPr>
      </p:pic>
      <p:pic>
        <p:nvPicPr>
          <p:cNvPr id="8" name="Picture 7"/>
          <p:cNvPicPr>
            <a:picLocks noChangeAspect="1"/>
          </p:cNvPicPr>
          <p:nvPr/>
        </p:nvPicPr>
        <p:blipFill>
          <a:blip r:embed="rId4"/>
          <a:stretch>
            <a:fillRect/>
          </a:stretch>
        </p:blipFill>
        <p:spPr>
          <a:xfrm>
            <a:off x="1328784" y="4368000"/>
            <a:ext cx="5544324" cy="1114581"/>
          </a:xfrm>
          <a:prstGeom prst="rect">
            <a:avLst/>
          </a:prstGeom>
        </p:spPr>
      </p:pic>
    </p:spTree>
    <p:extLst>
      <p:ext uri="{BB962C8B-B14F-4D97-AF65-F5344CB8AC3E}">
        <p14:creationId xmlns:p14="http://schemas.microsoft.com/office/powerpoint/2010/main" val="100464761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2308324"/>
          </a:xfrm>
          <a:prstGeom prst="rect">
            <a:avLst/>
          </a:prstGeom>
        </p:spPr>
        <p:txBody>
          <a:bodyPr wrap="square">
            <a:spAutoFit/>
          </a:bodyPr>
          <a:lstStyle/>
          <a:p>
            <a:r>
              <a:rPr lang="en-US" b="1" dirty="0">
                <a:solidFill>
                  <a:srgbClr val="FF0000"/>
                </a:solidFill>
              </a:rPr>
              <a:t>B-Tree </a:t>
            </a:r>
            <a:r>
              <a:rPr lang="en-US" b="1" dirty="0" smtClean="0">
                <a:solidFill>
                  <a:srgbClr val="FF0000"/>
                </a:solidFill>
              </a:rPr>
              <a:t>Family</a:t>
            </a:r>
          </a:p>
          <a:p>
            <a:endParaRPr lang="en-US" b="1" dirty="0" smtClean="0">
              <a:solidFill>
                <a:srgbClr val="FF0000"/>
              </a:solidFill>
            </a:endParaRPr>
          </a:p>
          <a:p>
            <a:r>
              <a:rPr lang="en-IN" b="1" dirty="0"/>
              <a:t>B+ </a:t>
            </a:r>
            <a:r>
              <a:rPr lang="en-IN" b="1" dirty="0" smtClean="0"/>
              <a:t>Tree</a:t>
            </a:r>
          </a:p>
          <a:p>
            <a:pPr marL="285750" indent="-285750">
              <a:buFont typeface="Arial" panose="020B0604020202020204" pitchFamily="34" charset="0"/>
              <a:buChar char="•"/>
            </a:pPr>
            <a:r>
              <a:rPr lang="en-US" dirty="0"/>
              <a:t>Keys in internal nodes; Data only in leaf </a:t>
            </a:r>
            <a:r>
              <a:rPr lang="en-US" dirty="0" smtClean="0"/>
              <a:t>nodes</a:t>
            </a:r>
          </a:p>
          <a:p>
            <a:pPr marL="285750" indent="-285750">
              <a:buFont typeface="Arial" panose="020B0604020202020204" pitchFamily="34" charset="0"/>
              <a:buChar char="•"/>
            </a:pPr>
            <a:r>
              <a:rPr lang="en-US" dirty="0"/>
              <a:t>Internal nodes: Keys only for navigation.</a:t>
            </a:r>
          </a:p>
          <a:p>
            <a:pPr marL="285750" indent="-285750">
              <a:buFont typeface="Arial" panose="020B0604020202020204" pitchFamily="34" charset="0"/>
              <a:buChar char="•"/>
            </a:pPr>
            <a:r>
              <a:rPr lang="en-US" dirty="0" smtClean="0"/>
              <a:t>Leaf </a:t>
            </a:r>
            <a:r>
              <a:rPr lang="en-US" dirty="0"/>
              <a:t>nodes: Data records associated with keys.</a:t>
            </a:r>
          </a:p>
          <a:p>
            <a:pPr marL="285750" indent="-285750">
              <a:buFont typeface="Arial" panose="020B0604020202020204" pitchFamily="34" charset="0"/>
              <a:buChar char="•"/>
            </a:pPr>
            <a:r>
              <a:rPr lang="en-US" dirty="0" smtClean="0"/>
              <a:t>Leaf </a:t>
            </a:r>
            <a:r>
              <a:rPr lang="en-US" dirty="0"/>
              <a:t>nodes are linked for fast sequential access.</a:t>
            </a:r>
          </a:p>
          <a:p>
            <a:endParaRPr lang="en-US" b="1" dirty="0" smtClean="0">
              <a:solidFill>
                <a:srgbClr val="FF0000"/>
              </a:solidFill>
            </a:endParaRPr>
          </a:p>
        </p:txBody>
      </p:sp>
      <p:pic>
        <p:nvPicPr>
          <p:cNvPr id="3" name="Picture 2"/>
          <p:cNvPicPr>
            <a:picLocks noChangeAspect="1"/>
          </p:cNvPicPr>
          <p:nvPr/>
        </p:nvPicPr>
        <p:blipFill>
          <a:blip r:embed="rId3"/>
          <a:stretch>
            <a:fillRect/>
          </a:stretch>
        </p:blipFill>
        <p:spPr>
          <a:xfrm>
            <a:off x="1398077" y="2826563"/>
            <a:ext cx="5239481" cy="771633"/>
          </a:xfrm>
          <a:prstGeom prst="rect">
            <a:avLst/>
          </a:prstGeom>
        </p:spPr>
      </p:pic>
      <p:pic>
        <p:nvPicPr>
          <p:cNvPr id="8" name="Picture 7"/>
          <p:cNvPicPr>
            <a:picLocks noChangeAspect="1"/>
          </p:cNvPicPr>
          <p:nvPr/>
        </p:nvPicPr>
        <p:blipFill>
          <a:blip r:embed="rId4"/>
          <a:stretch>
            <a:fillRect/>
          </a:stretch>
        </p:blipFill>
        <p:spPr>
          <a:xfrm>
            <a:off x="1398077" y="4009339"/>
            <a:ext cx="5382376" cy="1133633"/>
          </a:xfrm>
          <a:prstGeom prst="rect">
            <a:avLst/>
          </a:prstGeom>
        </p:spPr>
      </p:pic>
    </p:spTree>
    <p:extLst>
      <p:ext uri="{BB962C8B-B14F-4D97-AF65-F5344CB8AC3E}">
        <p14:creationId xmlns:p14="http://schemas.microsoft.com/office/powerpoint/2010/main" val="150493652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2862322"/>
          </a:xfrm>
          <a:prstGeom prst="rect">
            <a:avLst/>
          </a:prstGeom>
        </p:spPr>
        <p:txBody>
          <a:bodyPr wrap="square">
            <a:spAutoFit/>
          </a:bodyPr>
          <a:lstStyle/>
          <a:p>
            <a:r>
              <a:rPr lang="en-US" b="1" dirty="0">
                <a:solidFill>
                  <a:srgbClr val="FF0000"/>
                </a:solidFill>
              </a:rPr>
              <a:t>B-Tree </a:t>
            </a:r>
            <a:r>
              <a:rPr lang="en-US" b="1" dirty="0" smtClean="0">
                <a:solidFill>
                  <a:srgbClr val="FF0000"/>
                </a:solidFill>
              </a:rPr>
              <a:t>Family</a:t>
            </a:r>
          </a:p>
          <a:p>
            <a:endParaRPr lang="en-US" b="1" dirty="0" smtClean="0">
              <a:solidFill>
                <a:srgbClr val="FF0000"/>
              </a:solidFill>
            </a:endParaRPr>
          </a:p>
          <a:p>
            <a:r>
              <a:rPr lang="en-IN" b="1" i="1" dirty="0"/>
              <a:t>B</a:t>
            </a:r>
            <a:r>
              <a:rPr lang="en-IN" b="1" dirty="0"/>
              <a:t> Tree</a:t>
            </a:r>
            <a:r>
              <a:rPr lang="en-IN" b="1" dirty="0" smtClean="0"/>
              <a:t>*</a:t>
            </a:r>
          </a:p>
          <a:p>
            <a:pPr marL="285750" indent="-285750">
              <a:buFont typeface="Arial" panose="020B0604020202020204" pitchFamily="34" charset="0"/>
              <a:buChar char="•"/>
            </a:pPr>
            <a:r>
              <a:rPr lang="en-US" dirty="0"/>
              <a:t>Redistributes keys before splitting (space optimization</a:t>
            </a:r>
            <a:r>
              <a:rPr lang="en-US" dirty="0" smtClean="0"/>
              <a:t>)</a:t>
            </a:r>
          </a:p>
          <a:p>
            <a:pPr marL="285750" indent="-285750">
              <a:buFont typeface="Arial" panose="020B0604020202020204" pitchFamily="34" charset="0"/>
              <a:buChar char="•"/>
            </a:pPr>
            <a:r>
              <a:rPr lang="en-US" dirty="0"/>
              <a:t>Same structure as B+ Tree, but before splitting, keys are </a:t>
            </a:r>
            <a:r>
              <a:rPr lang="en-US" b="1" dirty="0"/>
              <a:t>shared with siblings</a:t>
            </a:r>
            <a:r>
              <a:rPr lang="en-US" dirty="0"/>
              <a:t>.</a:t>
            </a:r>
          </a:p>
          <a:p>
            <a:pPr marL="285750" indent="-285750">
              <a:buFont typeface="Arial" panose="020B0604020202020204" pitchFamily="34" charset="0"/>
              <a:buChar char="•"/>
            </a:pPr>
            <a:r>
              <a:rPr lang="en-US" dirty="0"/>
              <a:t>Keeps nodes about </a:t>
            </a:r>
            <a:r>
              <a:rPr lang="en-US" b="1" dirty="0"/>
              <a:t>2/3 full</a:t>
            </a:r>
            <a:r>
              <a:rPr lang="en-US" dirty="0"/>
              <a:t>, improving space efficiency</a:t>
            </a:r>
            <a:r>
              <a:rPr lang="en-US" dirty="0" smtClean="0"/>
              <a:t>.</a:t>
            </a:r>
          </a:p>
          <a:p>
            <a:pPr marL="285750" indent="-285750">
              <a:buFont typeface="Arial" panose="020B0604020202020204" pitchFamily="34" charset="0"/>
              <a:buChar char="•"/>
            </a:pPr>
            <a:r>
              <a:rPr lang="en-US" dirty="0"/>
              <a:t>Same key/data separation as B+ Tree.</a:t>
            </a:r>
          </a:p>
          <a:p>
            <a:pPr marL="285750" indent="-285750">
              <a:buFont typeface="Arial" panose="020B0604020202020204" pitchFamily="34" charset="0"/>
              <a:buChar char="•"/>
            </a:pPr>
            <a:r>
              <a:rPr lang="en-US" dirty="0"/>
              <a:t>Before splitting, keys are shared with siblings to keep nodes ~2/3 full.</a:t>
            </a:r>
          </a:p>
          <a:p>
            <a:pPr marL="285750" indent="-285750">
              <a:buFont typeface="Arial" panose="020B0604020202020204" pitchFamily="34" charset="0"/>
              <a:buChar char="•"/>
            </a:pPr>
            <a:endParaRPr lang="en-US" dirty="0"/>
          </a:p>
          <a:p>
            <a:endParaRPr lang="en-IN" dirty="0" smtClean="0"/>
          </a:p>
        </p:txBody>
      </p:sp>
      <p:pic>
        <p:nvPicPr>
          <p:cNvPr id="2" name="Picture 1"/>
          <p:cNvPicPr>
            <a:picLocks noChangeAspect="1"/>
          </p:cNvPicPr>
          <p:nvPr/>
        </p:nvPicPr>
        <p:blipFill>
          <a:blip r:embed="rId3"/>
          <a:stretch>
            <a:fillRect/>
          </a:stretch>
        </p:blipFill>
        <p:spPr>
          <a:xfrm>
            <a:off x="936534" y="3175064"/>
            <a:ext cx="6677957" cy="724001"/>
          </a:xfrm>
          <a:prstGeom prst="rect">
            <a:avLst/>
          </a:prstGeom>
        </p:spPr>
      </p:pic>
      <p:sp>
        <p:nvSpPr>
          <p:cNvPr id="7" name="Rectangle 6"/>
          <p:cNvSpPr/>
          <p:nvPr/>
        </p:nvSpPr>
        <p:spPr>
          <a:xfrm>
            <a:off x="936534" y="4280885"/>
            <a:ext cx="8905703" cy="1477328"/>
          </a:xfrm>
          <a:prstGeom prst="rect">
            <a:avLst/>
          </a:prstGeom>
          <a:solidFill>
            <a:schemeClr val="tx1"/>
          </a:solidFill>
        </p:spPr>
        <p:txBody>
          <a:bodyPr wrap="square">
            <a:spAutoFit/>
          </a:bodyPr>
          <a:lstStyle/>
          <a:p>
            <a:r>
              <a:rPr lang="en-IN" dirty="0">
                <a:solidFill>
                  <a:schemeClr val="bg1"/>
                </a:solidFill>
              </a:rPr>
              <a:t>Root (internal, keys only):</a:t>
            </a:r>
          </a:p>
          <a:p>
            <a:r>
              <a:rPr lang="en-IN" dirty="0">
                <a:solidFill>
                  <a:schemeClr val="bg1"/>
                </a:solidFill>
              </a:rPr>
              <a:t>        [K20 | K40]</a:t>
            </a:r>
          </a:p>
          <a:p>
            <a:endParaRPr lang="en-IN" dirty="0">
              <a:solidFill>
                <a:schemeClr val="bg1"/>
              </a:solidFill>
            </a:endParaRPr>
          </a:p>
          <a:p>
            <a:r>
              <a:rPr lang="en-IN" dirty="0">
                <a:solidFill>
                  <a:schemeClr val="bg1"/>
                </a:solidFill>
              </a:rPr>
              <a:t>Leaf nodes (keys + data, redistributed for space efficiency):</a:t>
            </a:r>
          </a:p>
          <a:p>
            <a:r>
              <a:rPr lang="en-IN" dirty="0">
                <a:solidFill>
                  <a:schemeClr val="bg1"/>
                </a:solidFill>
              </a:rPr>
              <a:t>   [K10:D10 | K15:D15 | K18:D18] → [K25:D25 | K30:D30 | K35:D35] → [K45:D45 | K50:D50]</a:t>
            </a:r>
          </a:p>
        </p:txBody>
      </p:sp>
    </p:spTree>
    <p:extLst>
      <p:ext uri="{BB962C8B-B14F-4D97-AF65-F5344CB8AC3E}">
        <p14:creationId xmlns:p14="http://schemas.microsoft.com/office/powerpoint/2010/main" val="12657906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3139321"/>
          </a:xfrm>
          <a:prstGeom prst="rect">
            <a:avLst/>
          </a:prstGeom>
        </p:spPr>
        <p:txBody>
          <a:bodyPr wrap="square">
            <a:spAutoFit/>
          </a:bodyPr>
          <a:lstStyle/>
          <a:p>
            <a:r>
              <a:rPr lang="en-US" b="1" dirty="0">
                <a:solidFill>
                  <a:srgbClr val="FF0000"/>
                </a:solidFill>
              </a:rPr>
              <a:t>B-Tree </a:t>
            </a:r>
            <a:r>
              <a:rPr lang="en-US" b="1" dirty="0" smtClean="0">
                <a:solidFill>
                  <a:srgbClr val="FF0000"/>
                </a:solidFill>
              </a:rPr>
              <a:t>Family</a:t>
            </a:r>
          </a:p>
          <a:p>
            <a:endParaRPr lang="en-US" b="1" dirty="0" smtClean="0">
              <a:solidFill>
                <a:srgbClr val="FF0000"/>
              </a:solidFill>
            </a:endParaRPr>
          </a:p>
          <a:p>
            <a:r>
              <a:rPr lang="en-IN" b="1" dirty="0"/>
              <a:t>B‑Link </a:t>
            </a:r>
            <a:r>
              <a:rPr lang="en-IN" b="1" dirty="0" smtClean="0"/>
              <a:t>Tree</a:t>
            </a:r>
          </a:p>
          <a:p>
            <a:pPr marL="285750" indent="-285750">
              <a:buFont typeface="Arial" panose="020B0604020202020204" pitchFamily="34" charset="0"/>
              <a:buChar char="•"/>
            </a:pPr>
            <a:r>
              <a:rPr lang="en-US" dirty="0"/>
              <a:t>Adds sibling pointers for </a:t>
            </a:r>
            <a:r>
              <a:rPr lang="en-US" dirty="0" smtClean="0"/>
              <a:t>concurrency</a:t>
            </a:r>
          </a:p>
          <a:p>
            <a:pPr marL="285750" indent="-285750">
              <a:buFont typeface="Arial" panose="020B0604020202020204" pitchFamily="34" charset="0"/>
              <a:buChar char="•"/>
            </a:pPr>
            <a:r>
              <a:rPr lang="en-US" dirty="0"/>
              <a:t>Similar to B+ Tree, but adds </a:t>
            </a:r>
            <a:r>
              <a:rPr lang="en-US" b="1" dirty="0"/>
              <a:t>horizontal links</a:t>
            </a:r>
            <a:r>
              <a:rPr lang="en-US" dirty="0"/>
              <a:t> between nodes at all levels.</a:t>
            </a:r>
          </a:p>
          <a:p>
            <a:pPr marL="285750" indent="-285750">
              <a:buFont typeface="Arial" panose="020B0604020202020204" pitchFamily="34" charset="0"/>
              <a:buChar char="•"/>
            </a:pPr>
            <a:r>
              <a:rPr lang="en-US" dirty="0"/>
              <a:t>Enables </a:t>
            </a:r>
            <a:r>
              <a:rPr lang="en-US" b="1" dirty="0"/>
              <a:t>parallel operations</a:t>
            </a:r>
            <a:r>
              <a:rPr lang="en-US" dirty="0"/>
              <a:t> (multiple threads can safely insert/search).</a:t>
            </a:r>
          </a:p>
          <a:p>
            <a:pPr marL="285750" indent="-285750">
              <a:buFont typeface="Arial" panose="020B0604020202020204" pitchFamily="34" charset="0"/>
              <a:buChar char="•"/>
            </a:pPr>
            <a:r>
              <a:rPr lang="en-US" dirty="0"/>
              <a:t>Like B+ Tree, but adds sibling pointers for </a:t>
            </a:r>
            <a:r>
              <a:rPr lang="en-US" dirty="0" smtClean="0"/>
              <a:t>concurrency</a:t>
            </a:r>
          </a:p>
          <a:p>
            <a:pPr marL="285750" indent="-285750">
              <a:buFont typeface="Arial" panose="020B0604020202020204" pitchFamily="34" charset="0"/>
              <a:buChar char="•"/>
            </a:pPr>
            <a:r>
              <a:rPr lang="en-IN" dirty="0"/>
              <a:t>Internal nodes = keys only.</a:t>
            </a:r>
          </a:p>
          <a:p>
            <a:pPr marL="285750" indent="-285750">
              <a:buFont typeface="Arial" panose="020B0604020202020204" pitchFamily="34" charset="0"/>
              <a:buChar char="•"/>
            </a:pPr>
            <a:r>
              <a:rPr lang="en-IN" dirty="0"/>
              <a:t>Leaf nodes = keys + data.</a:t>
            </a:r>
          </a:p>
          <a:p>
            <a:pPr marL="285750" indent="-285750">
              <a:buFont typeface="Arial" panose="020B0604020202020204" pitchFamily="34" charset="0"/>
              <a:buChar char="•"/>
            </a:pPr>
            <a:r>
              <a:rPr lang="en-US" dirty="0"/>
              <a:t>Extra links between siblings allow parallel operations.</a:t>
            </a:r>
          </a:p>
          <a:p>
            <a:endParaRPr lang="en-IN" dirty="0" smtClean="0"/>
          </a:p>
        </p:txBody>
      </p:sp>
      <p:pic>
        <p:nvPicPr>
          <p:cNvPr id="3" name="Picture 2"/>
          <p:cNvPicPr>
            <a:picLocks noChangeAspect="1"/>
          </p:cNvPicPr>
          <p:nvPr/>
        </p:nvPicPr>
        <p:blipFill>
          <a:blip r:embed="rId3"/>
          <a:stretch>
            <a:fillRect/>
          </a:stretch>
        </p:blipFill>
        <p:spPr>
          <a:xfrm>
            <a:off x="1358056" y="3734265"/>
            <a:ext cx="6716062" cy="762106"/>
          </a:xfrm>
          <a:prstGeom prst="rect">
            <a:avLst/>
          </a:prstGeom>
        </p:spPr>
      </p:pic>
      <p:sp>
        <p:nvSpPr>
          <p:cNvPr id="9" name="Rectangle 8"/>
          <p:cNvSpPr/>
          <p:nvPr/>
        </p:nvSpPr>
        <p:spPr>
          <a:xfrm>
            <a:off x="1202575" y="4671583"/>
            <a:ext cx="10152610" cy="1477328"/>
          </a:xfrm>
          <a:prstGeom prst="rect">
            <a:avLst/>
          </a:prstGeom>
          <a:solidFill>
            <a:schemeClr val="tx1"/>
          </a:solidFill>
        </p:spPr>
        <p:txBody>
          <a:bodyPr wrap="square">
            <a:spAutoFit/>
          </a:bodyPr>
          <a:lstStyle/>
          <a:p>
            <a:r>
              <a:rPr lang="en-IN" dirty="0">
                <a:solidFill>
                  <a:schemeClr val="bg1"/>
                </a:solidFill>
              </a:rPr>
              <a:t>Root (internal, keys only):</a:t>
            </a:r>
          </a:p>
          <a:p>
            <a:r>
              <a:rPr lang="en-IN" dirty="0">
                <a:solidFill>
                  <a:schemeClr val="bg1"/>
                </a:solidFill>
              </a:rPr>
              <a:t>        [K20 | K40]</a:t>
            </a:r>
          </a:p>
          <a:p>
            <a:endParaRPr lang="en-IN" dirty="0">
              <a:solidFill>
                <a:schemeClr val="bg1"/>
              </a:solidFill>
            </a:endParaRPr>
          </a:p>
          <a:p>
            <a:r>
              <a:rPr lang="en-IN" dirty="0">
                <a:solidFill>
                  <a:schemeClr val="bg1"/>
                </a:solidFill>
              </a:rPr>
              <a:t>Leaf nodes (keys + data, linked with extra sibling pointers):</a:t>
            </a:r>
          </a:p>
          <a:p>
            <a:r>
              <a:rPr lang="en-IN" dirty="0">
                <a:solidFill>
                  <a:schemeClr val="bg1"/>
                </a:solidFill>
              </a:rPr>
              <a:t>   [K10:D10 | K15:D15] → [K25:D25 | K30:D30] → [K45:D45 | K50:D50] → [K55:D55 | K60:D60]</a:t>
            </a:r>
          </a:p>
        </p:txBody>
      </p:sp>
    </p:spTree>
    <p:extLst>
      <p:ext uri="{BB962C8B-B14F-4D97-AF65-F5344CB8AC3E}">
        <p14:creationId xmlns:p14="http://schemas.microsoft.com/office/powerpoint/2010/main" val="144745148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2308324"/>
          </a:xfrm>
          <a:prstGeom prst="rect">
            <a:avLst/>
          </a:prstGeom>
        </p:spPr>
        <p:txBody>
          <a:bodyPr wrap="square">
            <a:spAutoFit/>
          </a:bodyPr>
          <a:lstStyle/>
          <a:p>
            <a:r>
              <a:rPr lang="en-US" b="1" dirty="0">
                <a:solidFill>
                  <a:srgbClr val="FF0000"/>
                </a:solidFill>
              </a:rPr>
              <a:t>B-Tree </a:t>
            </a:r>
            <a:r>
              <a:rPr lang="en-US" b="1" dirty="0" smtClean="0">
                <a:solidFill>
                  <a:srgbClr val="FF0000"/>
                </a:solidFill>
              </a:rPr>
              <a:t>Family</a:t>
            </a:r>
          </a:p>
          <a:p>
            <a:endParaRPr lang="en-US" b="1" dirty="0" smtClean="0">
              <a:solidFill>
                <a:srgbClr val="FF0000"/>
              </a:solidFill>
            </a:endParaRPr>
          </a:p>
          <a:p>
            <a:r>
              <a:rPr lang="en-US" b="1" dirty="0"/>
              <a:t>Key vs Data Recap</a:t>
            </a:r>
          </a:p>
          <a:p>
            <a:pPr marL="285750" indent="-285750">
              <a:buFont typeface="Arial" panose="020B0604020202020204" pitchFamily="34" charset="0"/>
              <a:buChar char="•"/>
            </a:pPr>
            <a:r>
              <a:rPr lang="en-US" b="1" dirty="0"/>
              <a:t>Key (K):</a:t>
            </a:r>
            <a:r>
              <a:rPr lang="en-US" dirty="0"/>
              <a:t> Used for ordering/search (like an index number).</a:t>
            </a:r>
          </a:p>
          <a:p>
            <a:pPr marL="285750" indent="-285750">
              <a:buFont typeface="Arial" panose="020B0604020202020204" pitchFamily="34" charset="0"/>
              <a:buChar char="•"/>
            </a:pPr>
            <a:r>
              <a:rPr lang="en-US" b="1" dirty="0"/>
              <a:t>Data (D):</a:t>
            </a:r>
            <a:r>
              <a:rPr lang="en-US" dirty="0"/>
              <a:t> The actual record linked to that key (like a file, name, or pointer).</a:t>
            </a:r>
          </a:p>
          <a:p>
            <a:pPr marL="285750" indent="-285750">
              <a:buFont typeface="Arial" panose="020B0604020202020204" pitchFamily="34" charset="0"/>
              <a:buChar char="•"/>
            </a:pPr>
            <a:r>
              <a:rPr lang="en-US" b="1" dirty="0"/>
              <a:t>B‑Tree:</a:t>
            </a:r>
            <a:r>
              <a:rPr lang="en-US" dirty="0"/>
              <a:t> Keys + Data everywhere.</a:t>
            </a:r>
          </a:p>
          <a:p>
            <a:pPr marL="285750" indent="-285750">
              <a:buFont typeface="Arial" panose="020B0604020202020204" pitchFamily="34" charset="0"/>
              <a:buChar char="•"/>
            </a:pPr>
            <a:r>
              <a:rPr lang="en-US" i="1" dirty="0"/>
              <a:t>B+ / B</a:t>
            </a:r>
            <a:r>
              <a:rPr lang="en-US" dirty="0"/>
              <a:t> / B‑Link:* Keys in internal nodes, Data only in leaves.</a:t>
            </a:r>
          </a:p>
          <a:p>
            <a:pPr marL="285750" indent="-285750">
              <a:buFont typeface="Arial" panose="020B0604020202020204" pitchFamily="34" charset="0"/>
              <a:buChar char="•"/>
            </a:pPr>
            <a:endParaRPr lang="en-US" b="1" dirty="0" smtClean="0">
              <a:solidFill>
                <a:srgbClr val="FF0000"/>
              </a:solidFill>
            </a:endParaRPr>
          </a:p>
        </p:txBody>
      </p:sp>
    </p:spTree>
    <p:extLst>
      <p:ext uri="{BB962C8B-B14F-4D97-AF65-F5344CB8AC3E}">
        <p14:creationId xmlns:p14="http://schemas.microsoft.com/office/powerpoint/2010/main" val="362399800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5078313"/>
          </a:xfrm>
          <a:prstGeom prst="rect">
            <a:avLst/>
          </a:prstGeom>
        </p:spPr>
        <p:txBody>
          <a:bodyPr wrap="square">
            <a:spAutoFit/>
          </a:bodyPr>
          <a:lstStyle/>
          <a:p>
            <a:r>
              <a:rPr lang="en-US" b="1" dirty="0">
                <a:solidFill>
                  <a:srgbClr val="FF0000"/>
                </a:solidFill>
              </a:rPr>
              <a:t>B-Tree </a:t>
            </a:r>
            <a:r>
              <a:rPr lang="en-US" b="1" dirty="0" smtClean="0">
                <a:solidFill>
                  <a:srgbClr val="FF0000"/>
                </a:solidFill>
              </a:rPr>
              <a:t>Family</a:t>
            </a:r>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p:txBody>
      </p:sp>
      <p:pic>
        <p:nvPicPr>
          <p:cNvPr id="7" name="Picture 6"/>
          <p:cNvPicPr>
            <a:picLocks noChangeAspect="1"/>
          </p:cNvPicPr>
          <p:nvPr/>
        </p:nvPicPr>
        <p:blipFill>
          <a:blip r:embed="rId3"/>
          <a:stretch>
            <a:fillRect/>
          </a:stretch>
        </p:blipFill>
        <p:spPr>
          <a:xfrm>
            <a:off x="151807" y="945621"/>
            <a:ext cx="4772691" cy="5715798"/>
          </a:xfrm>
          <a:prstGeom prst="rect">
            <a:avLst/>
          </a:prstGeom>
        </p:spPr>
      </p:pic>
      <p:pic>
        <p:nvPicPr>
          <p:cNvPr id="8" name="Picture 7"/>
          <p:cNvPicPr>
            <a:picLocks noChangeAspect="1"/>
          </p:cNvPicPr>
          <p:nvPr/>
        </p:nvPicPr>
        <p:blipFill>
          <a:blip r:embed="rId4"/>
          <a:stretch>
            <a:fillRect/>
          </a:stretch>
        </p:blipFill>
        <p:spPr>
          <a:xfrm>
            <a:off x="5231795" y="945621"/>
            <a:ext cx="4743477" cy="5638059"/>
          </a:xfrm>
          <a:prstGeom prst="rect">
            <a:avLst/>
          </a:prstGeom>
        </p:spPr>
      </p:pic>
    </p:spTree>
    <p:extLst>
      <p:ext uri="{BB962C8B-B14F-4D97-AF65-F5344CB8AC3E}">
        <p14:creationId xmlns:p14="http://schemas.microsoft.com/office/powerpoint/2010/main" val="18376945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5078313"/>
          </a:xfrm>
          <a:prstGeom prst="rect">
            <a:avLst/>
          </a:prstGeom>
        </p:spPr>
        <p:txBody>
          <a:bodyPr wrap="square">
            <a:spAutoFit/>
          </a:bodyPr>
          <a:lstStyle/>
          <a:p>
            <a:r>
              <a:rPr lang="en-US" b="1" dirty="0">
                <a:solidFill>
                  <a:srgbClr val="FF0000"/>
                </a:solidFill>
              </a:rPr>
              <a:t>B-Tree </a:t>
            </a:r>
            <a:r>
              <a:rPr lang="en-US" b="1" dirty="0" smtClean="0">
                <a:solidFill>
                  <a:srgbClr val="FF0000"/>
                </a:solidFill>
              </a:rPr>
              <a:t>Family</a:t>
            </a:r>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p:txBody>
      </p:sp>
      <p:pic>
        <p:nvPicPr>
          <p:cNvPr id="9" name="Picture 8"/>
          <p:cNvPicPr>
            <a:picLocks noChangeAspect="1"/>
          </p:cNvPicPr>
          <p:nvPr/>
        </p:nvPicPr>
        <p:blipFill>
          <a:blip r:embed="rId3"/>
          <a:stretch>
            <a:fillRect/>
          </a:stretch>
        </p:blipFill>
        <p:spPr>
          <a:xfrm>
            <a:off x="157942" y="1003811"/>
            <a:ext cx="4477375" cy="5613120"/>
          </a:xfrm>
          <a:prstGeom prst="rect">
            <a:avLst/>
          </a:prstGeom>
        </p:spPr>
      </p:pic>
      <p:pic>
        <p:nvPicPr>
          <p:cNvPr id="10" name="Picture 9"/>
          <p:cNvPicPr>
            <a:picLocks noChangeAspect="1"/>
          </p:cNvPicPr>
          <p:nvPr/>
        </p:nvPicPr>
        <p:blipFill>
          <a:blip r:embed="rId4"/>
          <a:stretch>
            <a:fillRect/>
          </a:stretch>
        </p:blipFill>
        <p:spPr>
          <a:xfrm>
            <a:off x="4793259" y="1003811"/>
            <a:ext cx="5077534" cy="5613120"/>
          </a:xfrm>
          <a:prstGeom prst="rect">
            <a:avLst/>
          </a:prstGeom>
        </p:spPr>
      </p:pic>
    </p:spTree>
    <p:extLst>
      <p:ext uri="{BB962C8B-B14F-4D97-AF65-F5344CB8AC3E}">
        <p14:creationId xmlns:p14="http://schemas.microsoft.com/office/powerpoint/2010/main" val="314248369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5078313"/>
          </a:xfrm>
          <a:prstGeom prst="rect">
            <a:avLst/>
          </a:prstGeom>
        </p:spPr>
        <p:txBody>
          <a:bodyPr wrap="square">
            <a:spAutoFit/>
          </a:bodyPr>
          <a:lstStyle/>
          <a:p>
            <a:r>
              <a:rPr lang="en-US" b="1" dirty="0">
                <a:solidFill>
                  <a:srgbClr val="FF0000"/>
                </a:solidFill>
              </a:rPr>
              <a:t>B-Tree </a:t>
            </a:r>
            <a:r>
              <a:rPr lang="en-US" b="1" dirty="0" smtClean="0">
                <a:solidFill>
                  <a:srgbClr val="FF0000"/>
                </a:solidFill>
              </a:rPr>
              <a:t>Family</a:t>
            </a:r>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p:txBody>
      </p:sp>
      <p:pic>
        <p:nvPicPr>
          <p:cNvPr id="7" name="Picture 6"/>
          <p:cNvPicPr>
            <a:picLocks noChangeAspect="1"/>
          </p:cNvPicPr>
          <p:nvPr/>
        </p:nvPicPr>
        <p:blipFill>
          <a:blip r:embed="rId3"/>
          <a:stretch>
            <a:fillRect/>
          </a:stretch>
        </p:blipFill>
        <p:spPr>
          <a:xfrm>
            <a:off x="146405" y="908382"/>
            <a:ext cx="5249008" cy="3096057"/>
          </a:xfrm>
          <a:prstGeom prst="rect">
            <a:avLst/>
          </a:prstGeom>
        </p:spPr>
      </p:pic>
      <p:pic>
        <p:nvPicPr>
          <p:cNvPr id="8" name="Picture 7"/>
          <p:cNvPicPr>
            <a:picLocks noChangeAspect="1"/>
          </p:cNvPicPr>
          <p:nvPr/>
        </p:nvPicPr>
        <p:blipFill>
          <a:blip r:embed="rId4"/>
          <a:stretch>
            <a:fillRect/>
          </a:stretch>
        </p:blipFill>
        <p:spPr>
          <a:xfrm>
            <a:off x="146405" y="4426357"/>
            <a:ext cx="6134956" cy="1105054"/>
          </a:xfrm>
          <a:prstGeom prst="rect">
            <a:avLst/>
          </a:prstGeom>
        </p:spPr>
      </p:pic>
      <p:pic>
        <p:nvPicPr>
          <p:cNvPr id="2" name="Picture 1"/>
          <p:cNvPicPr>
            <a:picLocks noChangeAspect="1"/>
          </p:cNvPicPr>
          <p:nvPr/>
        </p:nvPicPr>
        <p:blipFill>
          <a:blip r:embed="rId5"/>
          <a:stretch>
            <a:fillRect/>
          </a:stretch>
        </p:blipFill>
        <p:spPr>
          <a:xfrm>
            <a:off x="6709984" y="4559725"/>
            <a:ext cx="4715533" cy="838317"/>
          </a:xfrm>
          <a:prstGeom prst="rect">
            <a:avLst/>
          </a:prstGeom>
        </p:spPr>
      </p:pic>
    </p:spTree>
    <p:extLst>
      <p:ext uri="{BB962C8B-B14F-4D97-AF65-F5344CB8AC3E}">
        <p14:creationId xmlns:p14="http://schemas.microsoft.com/office/powerpoint/2010/main" val="64884677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8679299"/>
          </a:xfrm>
          <a:prstGeom prst="rect">
            <a:avLst/>
          </a:prstGeom>
        </p:spPr>
        <p:txBody>
          <a:bodyPr wrap="square">
            <a:spAutoFit/>
          </a:bodyPr>
          <a:lstStyle/>
          <a:p>
            <a:r>
              <a:rPr lang="en-US" b="1" dirty="0">
                <a:solidFill>
                  <a:srgbClr val="FF0000"/>
                </a:solidFill>
              </a:rPr>
              <a:t>B-Tree </a:t>
            </a:r>
            <a:r>
              <a:rPr lang="en-US" b="1" dirty="0" smtClean="0">
                <a:solidFill>
                  <a:srgbClr val="FF0000"/>
                </a:solidFill>
              </a:rPr>
              <a:t>Family</a:t>
            </a:r>
          </a:p>
          <a:p>
            <a:endParaRPr lang="en-US" b="1" dirty="0" smtClean="0">
              <a:solidFill>
                <a:srgbClr val="FF0000"/>
              </a:solidFill>
            </a:endParaRPr>
          </a:p>
          <a:p>
            <a:r>
              <a:rPr lang="en-IN" b="1" dirty="0" smtClean="0"/>
              <a:t>1. </a:t>
            </a:r>
            <a:r>
              <a:rPr lang="en-IN" b="1" dirty="0" err="1" smtClean="0"/>
              <a:t>BTreeNode</a:t>
            </a:r>
            <a:r>
              <a:rPr lang="en-IN" b="1" dirty="0" smtClean="0"/>
              <a:t> </a:t>
            </a:r>
            <a:r>
              <a:rPr lang="en-IN" b="1" dirty="0"/>
              <a:t>Class</a:t>
            </a:r>
          </a:p>
          <a:p>
            <a:endParaRPr lang="en-IN" dirty="0" smtClean="0"/>
          </a:p>
          <a:p>
            <a:r>
              <a:rPr lang="en-IN" dirty="0" smtClean="0"/>
              <a:t>Fields</a:t>
            </a:r>
            <a:r>
              <a:rPr lang="en-IN" dirty="0"/>
              <a:t>:</a:t>
            </a:r>
          </a:p>
          <a:p>
            <a:pPr marL="285750" indent="-285750">
              <a:buFont typeface="Arial" panose="020B0604020202020204" pitchFamily="34" charset="0"/>
              <a:buChar char="•"/>
            </a:pPr>
            <a:r>
              <a:rPr lang="en-US" dirty="0" smtClean="0"/>
              <a:t>keys</a:t>
            </a:r>
            <a:r>
              <a:rPr lang="en-US" dirty="0"/>
              <a:t>[] → stores the keys in sorted order.</a:t>
            </a:r>
          </a:p>
          <a:p>
            <a:pPr marL="285750" indent="-285750">
              <a:buFont typeface="Arial" panose="020B0604020202020204" pitchFamily="34" charset="0"/>
              <a:buChar char="•"/>
            </a:pPr>
            <a:r>
              <a:rPr lang="en-US" dirty="0" smtClean="0"/>
              <a:t>t </a:t>
            </a:r>
            <a:r>
              <a:rPr lang="en-US" dirty="0"/>
              <a:t>→ minimum degree (defines the range of children).</a:t>
            </a:r>
          </a:p>
          <a:p>
            <a:pPr marL="285750" indent="-285750">
              <a:buFont typeface="Arial" panose="020B0604020202020204" pitchFamily="34" charset="0"/>
              <a:buChar char="•"/>
            </a:pPr>
            <a:r>
              <a:rPr lang="en-US" dirty="0" smtClean="0"/>
              <a:t>C</a:t>
            </a:r>
            <a:r>
              <a:rPr lang="en-US" dirty="0"/>
              <a:t>[] → array of child pointers.</a:t>
            </a:r>
          </a:p>
          <a:p>
            <a:pPr marL="285750" indent="-285750">
              <a:buFont typeface="Arial" panose="020B0604020202020204" pitchFamily="34" charset="0"/>
              <a:buChar char="•"/>
            </a:pPr>
            <a:r>
              <a:rPr lang="en-US" dirty="0" smtClean="0"/>
              <a:t>n </a:t>
            </a:r>
            <a:r>
              <a:rPr lang="en-US" dirty="0"/>
              <a:t>→ current number of keys in the node.</a:t>
            </a:r>
          </a:p>
          <a:p>
            <a:pPr marL="285750" indent="-285750">
              <a:buFont typeface="Arial" panose="020B0604020202020204" pitchFamily="34" charset="0"/>
              <a:buChar char="•"/>
            </a:pPr>
            <a:r>
              <a:rPr lang="en-US" dirty="0" smtClean="0"/>
              <a:t>leaf </a:t>
            </a:r>
            <a:r>
              <a:rPr lang="en-US" dirty="0"/>
              <a:t>→ flag to check if the node is a leaf.</a:t>
            </a:r>
          </a:p>
          <a:p>
            <a:r>
              <a:rPr lang="en-US" dirty="0" smtClean="0"/>
              <a:t>Constructor</a:t>
            </a:r>
            <a:r>
              <a:rPr lang="en-US" dirty="0"/>
              <a:t>: </a:t>
            </a:r>
            <a:endParaRPr lang="en-US" dirty="0" smtClean="0"/>
          </a:p>
          <a:p>
            <a:pPr marL="285750" indent="-285750">
              <a:buFont typeface="Arial" panose="020B0604020202020204" pitchFamily="34" charset="0"/>
              <a:buChar char="•"/>
            </a:pPr>
            <a:r>
              <a:rPr lang="en-US" dirty="0" smtClean="0"/>
              <a:t>Initializes </a:t>
            </a:r>
            <a:r>
              <a:rPr lang="en-US" dirty="0"/>
              <a:t>a node with capacity 2t - 1 keys and 2t children.</a:t>
            </a:r>
          </a:p>
          <a:p>
            <a:endParaRPr lang="en-US" b="1" dirty="0" smtClean="0">
              <a:solidFill>
                <a:srgbClr val="FF0000"/>
              </a:solidFill>
            </a:endParaRPr>
          </a:p>
          <a:p>
            <a:r>
              <a:rPr lang="en-IN" dirty="0"/>
              <a:t>2. </a:t>
            </a:r>
            <a:r>
              <a:rPr lang="en-IN" b="1" dirty="0"/>
              <a:t>Traverse Method</a:t>
            </a:r>
            <a:endParaRPr lang="en-US" b="1" dirty="0">
              <a:solidFill>
                <a:srgbClr val="FF0000"/>
              </a:solidFill>
            </a:endParaRPr>
          </a:p>
          <a:p>
            <a:pPr marL="285750" indent="-285750">
              <a:buFont typeface="Arial" panose="020B0604020202020204" pitchFamily="34" charset="0"/>
              <a:buChar char="•"/>
            </a:pPr>
            <a:r>
              <a:rPr lang="en-US" dirty="0"/>
              <a:t>Performs an </a:t>
            </a:r>
            <a:r>
              <a:rPr lang="en-US" b="1" dirty="0"/>
              <a:t>in‑order traversal</a:t>
            </a:r>
            <a:r>
              <a:rPr lang="en-US" dirty="0"/>
              <a:t> of the B‑Tree.</a:t>
            </a:r>
          </a:p>
          <a:p>
            <a:pPr marL="285750" indent="-285750">
              <a:buFont typeface="Arial" panose="020B0604020202020204" pitchFamily="34" charset="0"/>
              <a:buChar char="•"/>
            </a:pPr>
            <a:r>
              <a:rPr lang="en-US" dirty="0"/>
              <a:t>Prints all keys in </a:t>
            </a:r>
            <a:r>
              <a:rPr lang="en-US" b="1" dirty="0"/>
              <a:t>sorted order</a:t>
            </a:r>
            <a:r>
              <a:rPr lang="en-US" dirty="0"/>
              <a:t>.</a:t>
            </a:r>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p:txBody>
      </p:sp>
    </p:spTree>
    <p:extLst>
      <p:ext uri="{BB962C8B-B14F-4D97-AF65-F5344CB8AC3E}">
        <p14:creationId xmlns:p14="http://schemas.microsoft.com/office/powerpoint/2010/main" val="191765960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6740307"/>
          </a:xfrm>
          <a:prstGeom prst="rect">
            <a:avLst/>
          </a:prstGeom>
        </p:spPr>
        <p:txBody>
          <a:bodyPr wrap="square">
            <a:spAutoFit/>
          </a:bodyPr>
          <a:lstStyle/>
          <a:p>
            <a:r>
              <a:rPr lang="en-US" b="1" dirty="0">
                <a:solidFill>
                  <a:srgbClr val="FF0000"/>
                </a:solidFill>
              </a:rPr>
              <a:t>B-Tree </a:t>
            </a:r>
            <a:r>
              <a:rPr lang="en-US" b="1" dirty="0" smtClean="0">
                <a:solidFill>
                  <a:srgbClr val="FF0000"/>
                </a:solidFill>
              </a:rPr>
              <a:t>Family</a:t>
            </a:r>
          </a:p>
          <a:p>
            <a:endParaRPr lang="en-US" b="1" dirty="0" smtClean="0">
              <a:solidFill>
                <a:srgbClr val="FF0000"/>
              </a:solidFill>
            </a:endParaRPr>
          </a:p>
          <a:p>
            <a:r>
              <a:rPr lang="en-IN" dirty="0"/>
              <a:t>3. </a:t>
            </a:r>
            <a:r>
              <a:rPr lang="en-IN" b="1" dirty="0" err="1"/>
              <a:t>InsertNonFull</a:t>
            </a:r>
            <a:r>
              <a:rPr lang="en-IN" b="1" dirty="0"/>
              <a:t> </a:t>
            </a:r>
            <a:r>
              <a:rPr lang="en-IN" b="1" dirty="0" smtClean="0"/>
              <a:t>Method</a:t>
            </a:r>
          </a:p>
          <a:p>
            <a:pPr marL="285750" indent="-285750">
              <a:buFont typeface="Arial" panose="020B0604020202020204" pitchFamily="34" charset="0"/>
              <a:buChar char="•"/>
            </a:pPr>
            <a:r>
              <a:rPr lang="en-US" dirty="0"/>
              <a:t>Inserts a key into a node that is not full.</a:t>
            </a:r>
          </a:p>
          <a:p>
            <a:pPr marL="285750" indent="-285750">
              <a:buFont typeface="Arial" panose="020B0604020202020204" pitchFamily="34" charset="0"/>
              <a:buChar char="•"/>
            </a:pPr>
            <a:r>
              <a:rPr lang="en-US" dirty="0" smtClean="0"/>
              <a:t>If </a:t>
            </a:r>
            <a:r>
              <a:rPr lang="en-US" dirty="0"/>
              <a:t>it’s a leaf → inserts in sorted order.</a:t>
            </a:r>
          </a:p>
          <a:p>
            <a:pPr marL="285750" indent="-285750">
              <a:buFont typeface="Arial" panose="020B0604020202020204" pitchFamily="34" charset="0"/>
              <a:buChar char="•"/>
            </a:pPr>
            <a:r>
              <a:rPr lang="en-US" dirty="0" smtClean="0"/>
              <a:t>If </a:t>
            </a:r>
            <a:r>
              <a:rPr lang="en-US" dirty="0"/>
              <a:t>it’s internal → finds the correct child and inserts recursively.</a:t>
            </a:r>
          </a:p>
          <a:p>
            <a:pPr marL="285750" indent="-285750">
              <a:buFont typeface="Arial" panose="020B0604020202020204" pitchFamily="34" charset="0"/>
              <a:buChar char="•"/>
            </a:pPr>
            <a:r>
              <a:rPr lang="en-US" dirty="0" smtClean="0"/>
              <a:t>If </a:t>
            </a:r>
            <a:r>
              <a:rPr lang="en-US" dirty="0"/>
              <a:t>the child is full → calls </a:t>
            </a:r>
            <a:r>
              <a:rPr lang="en-US" dirty="0" err="1"/>
              <a:t>splitChild</a:t>
            </a:r>
            <a:r>
              <a:rPr lang="en-US" dirty="0"/>
              <a:t>() before inserting.</a:t>
            </a:r>
          </a:p>
          <a:p>
            <a:endParaRPr lang="en-US" b="1" dirty="0">
              <a:solidFill>
                <a:srgbClr val="FF0000"/>
              </a:solidFill>
            </a:endParaRPr>
          </a:p>
          <a:p>
            <a:endParaRPr lang="en-US" b="1" dirty="0" smtClean="0">
              <a:solidFill>
                <a:srgbClr val="FF0000"/>
              </a:solidFill>
            </a:endParaRPr>
          </a:p>
          <a:p>
            <a:r>
              <a:rPr lang="en-IN" dirty="0"/>
              <a:t>4. </a:t>
            </a:r>
            <a:r>
              <a:rPr lang="en-IN" b="1" dirty="0" err="1"/>
              <a:t>SplitChild</a:t>
            </a:r>
            <a:r>
              <a:rPr lang="en-IN" b="1" dirty="0"/>
              <a:t> Method</a:t>
            </a:r>
            <a:endParaRPr lang="en-US" b="1" dirty="0">
              <a:solidFill>
                <a:srgbClr val="FF0000"/>
              </a:solidFill>
            </a:endParaRPr>
          </a:p>
          <a:p>
            <a:pPr marL="285750" indent="-285750">
              <a:buFont typeface="Arial" panose="020B0604020202020204" pitchFamily="34" charset="0"/>
              <a:buChar char="•"/>
            </a:pPr>
            <a:r>
              <a:rPr lang="en-US" dirty="0"/>
              <a:t>Splits a full child node into two nodes.</a:t>
            </a:r>
          </a:p>
          <a:p>
            <a:pPr marL="285750" indent="-285750">
              <a:buFont typeface="Arial" panose="020B0604020202020204" pitchFamily="34" charset="0"/>
              <a:buChar char="•"/>
            </a:pPr>
            <a:r>
              <a:rPr lang="en-US" dirty="0" smtClean="0"/>
              <a:t>Promotes </a:t>
            </a:r>
            <a:r>
              <a:rPr lang="en-US" dirty="0"/>
              <a:t>the middle key to the parent.</a:t>
            </a:r>
          </a:p>
          <a:p>
            <a:pPr marL="285750" indent="-285750">
              <a:buFont typeface="Arial" panose="020B0604020202020204" pitchFamily="34" charset="0"/>
              <a:buChar char="•"/>
            </a:pPr>
            <a:r>
              <a:rPr lang="en-US" dirty="0" smtClean="0"/>
              <a:t>Ensures </a:t>
            </a:r>
            <a:r>
              <a:rPr lang="en-US" dirty="0"/>
              <a:t>the B‑Tree properties are maintained (balanced, sorted, within degree limits).</a:t>
            </a:r>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p:txBody>
      </p:sp>
    </p:spTree>
    <p:extLst>
      <p:ext uri="{BB962C8B-B14F-4D97-AF65-F5344CB8AC3E}">
        <p14:creationId xmlns:p14="http://schemas.microsoft.com/office/powerpoint/2010/main" val="343722179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6463308"/>
          </a:xfrm>
          <a:prstGeom prst="rect">
            <a:avLst/>
          </a:prstGeom>
        </p:spPr>
        <p:txBody>
          <a:bodyPr wrap="square">
            <a:spAutoFit/>
          </a:bodyPr>
          <a:lstStyle/>
          <a:p>
            <a:r>
              <a:rPr lang="en-US" b="1" dirty="0">
                <a:solidFill>
                  <a:srgbClr val="FF0000"/>
                </a:solidFill>
              </a:rPr>
              <a:t>B-Tree </a:t>
            </a:r>
            <a:r>
              <a:rPr lang="en-US" b="1" dirty="0" smtClean="0">
                <a:solidFill>
                  <a:srgbClr val="FF0000"/>
                </a:solidFill>
              </a:rPr>
              <a:t>Family</a:t>
            </a:r>
          </a:p>
          <a:p>
            <a:endParaRPr lang="en-US" b="1" dirty="0" smtClean="0">
              <a:solidFill>
                <a:srgbClr val="FF0000"/>
              </a:solidFill>
            </a:endParaRPr>
          </a:p>
          <a:p>
            <a:r>
              <a:rPr lang="en-IN" b="1" dirty="0"/>
              <a:t>BTreeExample13 Class</a:t>
            </a:r>
          </a:p>
          <a:p>
            <a:endParaRPr lang="en-IN" dirty="0" smtClean="0"/>
          </a:p>
          <a:p>
            <a:r>
              <a:rPr lang="en-IN" b="1" dirty="0" smtClean="0"/>
              <a:t>Fields</a:t>
            </a:r>
            <a:r>
              <a:rPr lang="en-IN" b="1" dirty="0"/>
              <a:t>:</a:t>
            </a:r>
          </a:p>
          <a:p>
            <a:pPr marL="285750" indent="-285750">
              <a:buFont typeface="Arial" panose="020B0604020202020204" pitchFamily="34" charset="0"/>
              <a:buChar char="•"/>
            </a:pPr>
            <a:r>
              <a:rPr lang="en-US" dirty="0" smtClean="0"/>
              <a:t>root </a:t>
            </a:r>
            <a:r>
              <a:rPr lang="en-US" dirty="0"/>
              <a:t>→ root of the B‑Tree.</a:t>
            </a:r>
          </a:p>
          <a:p>
            <a:pPr marL="285750" indent="-285750">
              <a:buFont typeface="Arial" panose="020B0604020202020204" pitchFamily="34" charset="0"/>
              <a:buChar char="•"/>
            </a:pPr>
            <a:r>
              <a:rPr lang="en-IN" dirty="0" smtClean="0"/>
              <a:t>t </a:t>
            </a:r>
            <a:r>
              <a:rPr lang="en-IN" dirty="0"/>
              <a:t>→ minimum degree.</a:t>
            </a:r>
          </a:p>
          <a:p>
            <a:endParaRPr lang="en-IN" dirty="0" smtClean="0"/>
          </a:p>
          <a:p>
            <a:r>
              <a:rPr lang="en-IN" b="1" dirty="0" smtClean="0"/>
              <a:t>Insert </a:t>
            </a:r>
            <a:r>
              <a:rPr lang="en-IN" b="1" dirty="0"/>
              <a:t>Method:</a:t>
            </a:r>
          </a:p>
          <a:p>
            <a:pPr marL="285750" indent="-285750">
              <a:buFont typeface="Arial" panose="020B0604020202020204" pitchFamily="34" charset="0"/>
              <a:buChar char="•"/>
            </a:pPr>
            <a:r>
              <a:rPr lang="en-US" dirty="0" smtClean="0"/>
              <a:t>If </a:t>
            </a:r>
            <a:r>
              <a:rPr lang="en-US" dirty="0"/>
              <a:t>root is null → create a new root.</a:t>
            </a:r>
          </a:p>
          <a:p>
            <a:pPr marL="285750" indent="-285750">
              <a:buFont typeface="Arial" panose="020B0604020202020204" pitchFamily="34" charset="0"/>
              <a:buChar char="•"/>
            </a:pPr>
            <a:r>
              <a:rPr lang="en-US" dirty="0" smtClean="0"/>
              <a:t>If </a:t>
            </a:r>
            <a:r>
              <a:rPr lang="en-US" dirty="0"/>
              <a:t>root is full → split root, create a new root, and insert.</a:t>
            </a:r>
          </a:p>
          <a:p>
            <a:pPr marL="285750" indent="-285750">
              <a:buFont typeface="Arial" panose="020B0604020202020204" pitchFamily="34" charset="0"/>
              <a:buChar char="•"/>
            </a:pPr>
            <a:r>
              <a:rPr lang="en-US" dirty="0" smtClean="0"/>
              <a:t>Otherwise </a:t>
            </a:r>
            <a:r>
              <a:rPr lang="en-US" dirty="0"/>
              <a:t>→ insert into non‑full node.</a:t>
            </a:r>
          </a:p>
          <a:p>
            <a:endParaRPr lang="en-US" b="1" dirty="0" smtClean="0">
              <a:solidFill>
                <a:srgbClr val="FF0000"/>
              </a:solidFill>
            </a:endParaRPr>
          </a:p>
          <a:p>
            <a:r>
              <a:rPr lang="en-IN" b="1" dirty="0" smtClean="0"/>
              <a:t>Main </a:t>
            </a:r>
            <a:r>
              <a:rPr lang="en-IN" b="1" dirty="0"/>
              <a:t>method</a:t>
            </a:r>
          </a:p>
          <a:p>
            <a:pPr marL="285750" indent="-285750">
              <a:buFont typeface="Arial" panose="020B0604020202020204" pitchFamily="34" charset="0"/>
              <a:buChar char="•"/>
            </a:pPr>
            <a:r>
              <a:rPr lang="en-US" dirty="0" smtClean="0"/>
              <a:t>Creates </a:t>
            </a:r>
            <a:r>
              <a:rPr lang="en-US" dirty="0"/>
              <a:t>a B‑Tree of minimum degree 3.</a:t>
            </a:r>
          </a:p>
          <a:p>
            <a:pPr marL="285750" indent="-285750">
              <a:buFont typeface="Arial" panose="020B0604020202020204" pitchFamily="34" charset="0"/>
              <a:buChar char="•"/>
            </a:pPr>
            <a:r>
              <a:rPr lang="fr-FR" dirty="0"/>
              <a:t>Inserts values: {10, 20, 5, 6, 12, 30, 7, 17}.</a:t>
            </a:r>
          </a:p>
          <a:p>
            <a:pPr marL="285750" indent="-285750">
              <a:buFont typeface="Arial" panose="020B0604020202020204" pitchFamily="34" charset="0"/>
              <a:buChar char="•"/>
            </a:pPr>
            <a:r>
              <a:rPr lang="en-US" dirty="0"/>
              <a:t>Traverses the tree → prints keys in sorted order.</a:t>
            </a:r>
          </a:p>
          <a:p>
            <a:endParaRPr lang="en-US" b="1" dirty="0" smtClean="0">
              <a:solidFill>
                <a:srgbClr val="FF0000"/>
              </a:solidFill>
            </a:endParaRPr>
          </a:p>
          <a:p>
            <a:r>
              <a:rPr lang="en-IN" b="1" dirty="0" smtClean="0"/>
              <a:t>Output:</a:t>
            </a:r>
          </a:p>
          <a:p>
            <a:r>
              <a:rPr lang="en-US" dirty="0"/>
              <a:t>Traversal of B-Tree: 5 6 7 10 12 17 20 </a:t>
            </a:r>
            <a:r>
              <a:rPr lang="en-US" dirty="0" smtClean="0"/>
              <a:t>30</a:t>
            </a:r>
            <a:endParaRPr lang="en-US" b="1" dirty="0">
              <a:solidFill>
                <a:srgbClr val="FF0000"/>
              </a:solidFill>
            </a:endParaRPr>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p:txBody>
      </p:sp>
    </p:spTree>
    <p:extLst>
      <p:ext uri="{BB962C8B-B14F-4D97-AF65-F5344CB8AC3E}">
        <p14:creationId xmlns:p14="http://schemas.microsoft.com/office/powerpoint/2010/main" val="355499596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2585323"/>
          </a:xfrm>
          <a:prstGeom prst="rect">
            <a:avLst/>
          </a:prstGeom>
        </p:spPr>
        <p:txBody>
          <a:bodyPr wrap="square">
            <a:spAutoFit/>
          </a:bodyPr>
          <a:lstStyle/>
          <a:p>
            <a:r>
              <a:rPr lang="en-US" b="1" dirty="0">
                <a:solidFill>
                  <a:srgbClr val="FF0000"/>
                </a:solidFill>
              </a:rPr>
              <a:t>B-Tree </a:t>
            </a:r>
            <a:r>
              <a:rPr lang="en-US" b="1" dirty="0" smtClean="0">
                <a:solidFill>
                  <a:srgbClr val="FF0000"/>
                </a:solidFill>
              </a:rPr>
              <a:t>Family</a:t>
            </a:r>
          </a:p>
          <a:p>
            <a:endParaRPr lang="en-US" b="1" dirty="0" smtClean="0">
              <a:solidFill>
                <a:srgbClr val="FF0000"/>
              </a:solidFill>
            </a:endParaRPr>
          </a:p>
          <a:p>
            <a:r>
              <a:rPr lang="en-US" dirty="0"/>
              <a:t>This program demonstrates:</a:t>
            </a:r>
          </a:p>
          <a:p>
            <a:pPr marL="285750" indent="-285750">
              <a:buFont typeface="Arial" panose="020B0604020202020204" pitchFamily="34" charset="0"/>
              <a:buChar char="•"/>
            </a:pPr>
            <a:r>
              <a:rPr lang="en-US" b="1" dirty="0"/>
              <a:t>Insertion</a:t>
            </a:r>
            <a:r>
              <a:rPr lang="en-US" dirty="0"/>
              <a:t> into a B‑Tree with splitting when nodes are full.</a:t>
            </a:r>
          </a:p>
          <a:p>
            <a:pPr marL="285750" indent="-285750">
              <a:buFont typeface="Arial" panose="020B0604020202020204" pitchFamily="34" charset="0"/>
              <a:buChar char="•"/>
            </a:pPr>
            <a:r>
              <a:rPr lang="en-US" b="1" dirty="0"/>
              <a:t>Traversal</a:t>
            </a:r>
            <a:r>
              <a:rPr lang="en-US" dirty="0"/>
              <a:t> that prints keys in sorted order.</a:t>
            </a:r>
          </a:p>
          <a:p>
            <a:pPr marL="285750" indent="-285750">
              <a:buFont typeface="Arial" panose="020B0604020202020204" pitchFamily="34" charset="0"/>
              <a:buChar char="•"/>
            </a:pPr>
            <a:r>
              <a:rPr lang="en-US" dirty="0"/>
              <a:t>How a </a:t>
            </a:r>
            <a:r>
              <a:rPr lang="en-US" b="1" dirty="0"/>
              <a:t>B‑Tree maintains balance</a:t>
            </a:r>
            <a:r>
              <a:rPr lang="en-US" dirty="0"/>
              <a:t> and efficient search/insert operations.</a:t>
            </a:r>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p:txBody>
      </p:sp>
      <p:pic>
        <p:nvPicPr>
          <p:cNvPr id="3" name="Picture 2"/>
          <p:cNvPicPr>
            <a:picLocks noChangeAspect="1"/>
          </p:cNvPicPr>
          <p:nvPr/>
        </p:nvPicPr>
        <p:blipFill>
          <a:blip r:embed="rId3"/>
          <a:stretch>
            <a:fillRect/>
          </a:stretch>
        </p:blipFill>
        <p:spPr>
          <a:xfrm>
            <a:off x="152309" y="2320542"/>
            <a:ext cx="8745170" cy="3829584"/>
          </a:xfrm>
          <a:prstGeom prst="rect">
            <a:avLst/>
          </a:prstGeom>
        </p:spPr>
      </p:pic>
      <p:pic>
        <p:nvPicPr>
          <p:cNvPr id="7" name="Picture 6"/>
          <p:cNvPicPr>
            <a:picLocks noChangeAspect="1"/>
          </p:cNvPicPr>
          <p:nvPr/>
        </p:nvPicPr>
        <p:blipFill>
          <a:blip r:embed="rId4"/>
          <a:stretch>
            <a:fillRect/>
          </a:stretch>
        </p:blipFill>
        <p:spPr>
          <a:xfrm>
            <a:off x="6916464" y="3288332"/>
            <a:ext cx="4715533" cy="838317"/>
          </a:xfrm>
          <a:prstGeom prst="rect">
            <a:avLst/>
          </a:prstGeom>
        </p:spPr>
      </p:pic>
    </p:spTree>
    <p:extLst>
      <p:ext uri="{BB962C8B-B14F-4D97-AF65-F5344CB8AC3E}">
        <p14:creationId xmlns:p14="http://schemas.microsoft.com/office/powerpoint/2010/main" val="418384929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1200329"/>
          </a:xfrm>
          <a:prstGeom prst="rect">
            <a:avLst/>
          </a:prstGeom>
        </p:spPr>
        <p:txBody>
          <a:bodyPr wrap="square">
            <a:spAutoFit/>
          </a:bodyPr>
          <a:lstStyle/>
          <a:p>
            <a:r>
              <a:rPr lang="en-US" b="1" dirty="0">
                <a:solidFill>
                  <a:srgbClr val="FF0000"/>
                </a:solidFill>
              </a:rPr>
              <a:t>B-Tree </a:t>
            </a:r>
            <a:r>
              <a:rPr lang="en-US" b="1" dirty="0" smtClean="0">
                <a:solidFill>
                  <a:srgbClr val="FF0000"/>
                </a:solidFill>
              </a:rPr>
              <a:t>Family</a:t>
            </a:r>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p:txBody>
      </p:sp>
      <p:pic>
        <p:nvPicPr>
          <p:cNvPr id="8" name="Picture 7"/>
          <p:cNvPicPr>
            <a:picLocks noChangeAspect="1"/>
          </p:cNvPicPr>
          <p:nvPr/>
        </p:nvPicPr>
        <p:blipFill>
          <a:blip r:embed="rId3"/>
          <a:stretch>
            <a:fillRect/>
          </a:stretch>
        </p:blipFill>
        <p:spPr>
          <a:xfrm>
            <a:off x="68744" y="989215"/>
            <a:ext cx="3858163" cy="5848626"/>
          </a:xfrm>
          <a:prstGeom prst="rect">
            <a:avLst/>
          </a:prstGeom>
        </p:spPr>
      </p:pic>
      <p:pic>
        <p:nvPicPr>
          <p:cNvPr id="9" name="Picture 8"/>
          <p:cNvPicPr>
            <a:picLocks noChangeAspect="1"/>
          </p:cNvPicPr>
          <p:nvPr/>
        </p:nvPicPr>
        <p:blipFill>
          <a:blip r:embed="rId4"/>
          <a:stretch>
            <a:fillRect/>
          </a:stretch>
        </p:blipFill>
        <p:spPr>
          <a:xfrm>
            <a:off x="5465035" y="1527513"/>
            <a:ext cx="4620270" cy="4915586"/>
          </a:xfrm>
          <a:prstGeom prst="rect">
            <a:avLst/>
          </a:prstGeom>
        </p:spPr>
      </p:pic>
    </p:spTree>
    <p:extLst>
      <p:ext uri="{BB962C8B-B14F-4D97-AF65-F5344CB8AC3E}">
        <p14:creationId xmlns:p14="http://schemas.microsoft.com/office/powerpoint/2010/main" val="255760037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5632311"/>
          </a:xfrm>
          <a:prstGeom prst="rect">
            <a:avLst/>
          </a:prstGeom>
        </p:spPr>
        <p:txBody>
          <a:bodyPr wrap="square">
            <a:spAutoFit/>
          </a:bodyPr>
          <a:lstStyle/>
          <a:p>
            <a:r>
              <a:rPr lang="en-US" b="1" dirty="0" err="1" smtClean="0">
                <a:solidFill>
                  <a:srgbClr val="FF0000"/>
                </a:solidFill>
              </a:rPr>
              <a:t>B+Tree</a:t>
            </a:r>
            <a:endParaRPr lang="en-US" b="1" dirty="0" smtClean="0">
              <a:solidFill>
                <a:srgbClr val="FF0000"/>
              </a:solidFill>
            </a:endParaRPr>
          </a:p>
          <a:p>
            <a:endParaRPr lang="en-US" b="1" dirty="0" smtClean="0">
              <a:solidFill>
                <a:srgbClr val="FF0000"/>
              </a:solidFill>
            </a:endParaRPr>
          </a:p>
          <a:p>
            <a:r>
              <a:rPr lang="en-US" dirty="0"/>
              <a:t>A </a:t>
            </a:r>
            <a:r>
              <a:rPr lang="en-US" b="1" dirty="0"/>
              <a:t>B+ Tree</a:t>
            </a:r>
            <a:r>
              <a:rPr lang="en-US" dirty="0"/>
              <a:t> is a </a:t>
            </a:r>
            <a:r>
              <a:rPr lang="en-US" b="1" dirty="0"/>
              <a:t>balanced multi‑way search tree</a:t>
            </a:r>
            <a:r>
              <a:rPr lang="en-US" dirty="0"/>
              <a:t> that improves on the basic B‑Tree by separating </a:t>
            </a:r>
            <a:r>
              <a:rPr lang="en-US" b="1" dirty="0"/>
              <a:t>keys</a:t>
            </a:r>
            <a:r>
              <a:rPr lang="en-US" dirty="0"/>
              <a:t> (used for navigation) from </a:t>
            </a:r>
            <a:r>
              <a:rPr lang="en-US" b="1" dirty="0"/>
              <a:t>data</a:t>
            </a:r>
            <a:r>
              <a:rPr lang="en-US" dirty="0"/>
              <a:t> (actual records). It ensures that all data resides in the </a:t>
            </a:r>
            <a:r>
              <a:rPr lang="en-US" b="1" dirty="0"/>
              <a:t>leaf nodes</a:t>
            </a:r>
            <a:r>
              <a:rPr lang="en-US" dirty="0"/>
              <a:t>, while internal nodes only store keys to guide searches.</a:t>
            </a:r>
            <a:endParaRPr lang="en-US" b="1" dirty="0" smtClean="0">
              <a:solidFill>
                <a:srgbClr val="FF0000"/>
              </a:solidFill>
            </a:endParaRPr>
          </a:p>
          <a:p>
            <a:endParaRPr lang="en-US" b="1" dirty="0">
              <a:solidFill>
                <a:srgbClr val="FF0000"/>
              </a:solidFill>
            </a:endParaRPr>
          </a:p>
          <a:p>
            <a:endParaRPr lang="en-US" b="1" dirty="0">
              <a:solidFill>
                <a:srgbClr val="FF0000"/>
              </a:solidFill>
            </a:endParaRPr>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a:p>
            <a:endParaRPr lang="en-US" b="1" dirty="0">
              <a:solidFill>
                <a:srgbClr val="FF0000"/>
              </a:solidFill>
            </a:endParaRPr>
          </a:p>
          <a:p>
            <a:r>
              <a:rPr lang="en-IN" b="1" dirty="0" smtClean="0"/>
              <a:t>Internal </a:t>
            </a:r>
            <a:r>
              <a:rPr lang="en-IN" b="1" dirty="0"/>
              <a:t>Nodes</a:t>
            </a:r>
          </a:p>
          <a:p>
            <a:pPr marL="285750" indent="-285750">
              <a:buFont typeface="Arial" panose="020B0604020202020204" pitchFamily="34" charset="0"/>
              <a:buChar char="•"/>
            </a:pPr>
            <a:r>
              <a:rPr lang="en-IN" dirty="0"/>
              <a:t>Contain </a:t>
            </a:r>
            <a:r>
              <a:rPr lang="en-IN" b="1" dirty="0"/>
              <a:t>keys only</a:t>
            </a:r>
            <a:r>
              <a:rPr lang="en-IN" dirty="0"/>
              <a:t> (no data).</a:t>
            </a:r>
          </a:p>
          <a:p>
            <a:pPr marL="285750" indent="-285750">
              <a:buFont typeface="Arial" panose="020B0604020202020204" pitchFamily="34" charset="0"/>
              <a:buChar char="•"/>
            </a:pPr>
            <a:r>
              <a:rPr lang="en-IN" dirty="0"/>
              <a:t>Act as </a:t>
            </a:r>
            <a:r>
              <a:rPr lang="en-IN" b="1" dirty="0"/>
              <a:t>index guides</a:t>
            </a:r>
            <a:r>
              <a:rPr lang="en-IN" dirty="0"/>
              <a:t> to locate the correct leaf node.</a:t>
            </a:r>
          </a:p>
          <a:p>
            <a:endParaRPr lang="en-IN" b="1" dirty="0" smtClean="0"/>
          </a:p>
          <a:p>
            <a:r>
              <a:rPr lang="en-IN" b="1" dirty="0" smtClean="0"/>
              <a:t>Leaf </a:t>
            </a:r>
            <a:r>
              <a:rPr lang="en-IN" b="1" dirty="0"/>
              <a:t>Nodes</a:t>
            </a:r>
          </a:p>
          <a:p>
            <a:pPr marL="285750" indent="-285750">
              <a:buFont typeface="Arial" panose="020B0604020202020204" pitchFamily="34" charset="0"/>
              <a:buChar char="•"/>
            </a:pPr>
            <a:r>
              <a:rPr lang="en-IN" dirty="0"/>
              <a:t>Contain </a:t>
            </a:r>
            <a:r>
              <a:rPr lang="en-IN" b="1" dirty="0"/>
              <a:t>keys + data</a:t>
            </a:r>
            <a:r>
              <a:rPr lang="en-IN" dirty="0"/>
              <a:t>.</a:t>
            </a:r>
          </a:p>
          <a:p>
            <a:pPr marL="285750" indent="-285750">
              <a:buFont typeface="Arial" panose="020B0604020202020204" pitchFamily="34" charset="0"/>
              <a:buChar char="•"/>
            </a:pPr>
            <a:r>
              <a:rPr lang="en-IN" dirty="0"/>
              <a:t>Linked horizontally for </a:t>
            </a:r>
            <a:r>
              <a:rPr lang="en-IN" b="1" dirty="0"/>
              <a:t>fast sequential access</a:t>
            </a:r>
            <a:r>
              <a:rPr lang="en-IN" dirty="0"/>
              <a:t> (range queries).</a:t>
            </a:r>
          </a:p>
          <a:p>
            <a:endParaRPr lang="en-US" b="1" dirty="0" smtClean="0">
              <a:solidFill>
                <a:srgbClr val="FF0000"/>
              </a:solidFill>
            </a:endParaRPr>
          </a:p>
        </p:txBody>
      </p:sp>
      <p:sp>
        <p:nvSpPr>
          <p:cNvPr id="7" name="Rectangle 6"/>
          <p:cNvSpPr/>
          <p:nvPr/>
        </p:nvSpPr>
        <p:spPr>
          <a:xfrm>
            <a:off x="407324" y="1897949"/>
            <a:ext cx="10756669" cy="1477328"/>
          </a:xfrm>
          <a:prstGeom prst="rect">
            <a:avLst/>
          </a:prstGeom>
          <a:solidFill>
            <a:schemeClr val="tx1"/>
          </a:solidFill>
        </p:spPr>
        <p:txBody>
          <a:bodyPr wrap="square">
            <a:spAutoFit/>
          </a:bodyPr>
          <a:lstStyle/>
          <a:p>
            <a:r>
              <a:rPr lang="en-IN" dirty="0">
                <a:solidFill>
                  <a:schemeClr val="bg1"/>
                </a:solidFill>
              </a:rPr>
              <a:t> [K20 | K40]          ← Root (keys only)</a:t>
            </a:r>
          </a:p>
          <a:p>
            <a:r>
              <a:rPr lang="en-IN" dirty="0">
                <a:solidFill>
                  <a:schemeClr val="bg1"/>
                </a:solidFill>
              </a:rPr>
              <a:t>               /         \</a:t>
            </a:r>
          </a:p>
          <a:p>
            <a:r>
              <a:rPr lang="en-IN" dirty="0">
                <a:solidFill>
                  <a:schemeClr val="bg1"/>
                </a:solidFill>
              </a:rPr>
              <a:t>   [K10 | K15]           [K25 | K30 | K35]      ← Internal nodes (keys only)</a:t>
            </a:r>
          </a:p>
          <a:p>
            <a:r>
              <a:rPr lang="en-IN" dirty="0">
                <a:solidFill>
                  <a:schemeClr val="bg1"/>
                </a:solidFill>
              </a:rPr>
              <a:t>     |                         |</a:t>
            </a:r>
          </a:p>
          <a:p>
            <a:r>
              <a:rPr lang="en-IN" dirty="0">
                <a:solidFill>
                  <a:schemeClr val="bg1"/>
                </a:solidFill>
              </a:rPr>
              <a:t> [D5 | D6 | D7 | D10 | D15] → [D20 | D25 | D30 | D35 | D40]  ← Leaf nodes (data + linked)</a:t>
            </a:r>
          </a:p>
        </p:txBody>
      </p:sp>
    </p:spTree>
    <p:extLst>
      <p:ext uri="{BB962C8B-B14F-4D97-AF65-F5344CB8AC3E}">
        <p14:creationId xmlns:p14="http://schemas.microsoft.com/office/powerpoint/2010/main" val="261787968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4524315"/>
          </a:xfrm>
          <a:prstGeom prst="rect">
            <a:avLst/>
          </a:prstGeom>
        </p:spPr>
        <p:txBody>
          <a:bodyPr wrap="square">
            <a:spAutoFit/>
          </a:bodyPr>
          <a:lstStyle/>
          <a:p>
            <a:r>
              <a:rPr lang="en-US" b="1" dirty="0" smtClean="0">
                <a:solidFill>
                  <a:srgbClr val="FF0000"/>
                </a:solidFill>
              </a:rPr>
              <a:t>B+ Tree</a:t>
            </a:r>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a:p>
            <a:endParaRPr lang="en-US" b="1" dirty="0">
              <a:solidFill>
                <a:srgbClr val="FF0000"/>
              </a:solidFill>
            </a:endParaRPr>
          </a:p>
          <a:p>
            <a:r>
              <a:rPr lang="en-IN" b="1" dirty="0"/>
              <a:t>Advantages</a:t>
            </a:r>
          </a:p>
          <a:p>
            <a:pPr marL="285750" indent="-285750">
              <a:buFont typeface="Arial" panose="020B0604020202020204" pitchFamily="34" charset="0"/>
              <a:buChar char="•"/>
            </a:pPr>
            <a:r>
              <a:rPr lang="en-IN" b="1" dirty="0"/>
              <a:t>Efficient range queries:</a:t>
            </a:r>
            <a:r>
              <a:rPr lang="en-IN" dirty="0"/>
              <a:t> Linked leaves allow scanning consecutive records quickly.</a:t>
            </a:r>
          </a:p>
          <a:p>
            <a:pPr marL="285750" indent="-285750">
              <a:buFont typeface="Arial" panose="020B0604020202020204" pitchFamily="34" charset="0"/>
              <a:buChar char="•"/>
            </a:pPr>
            <a:r>
              <a:rPr lang="en-IN" b="1" dirty="0"/>
              <a:t>Better disk utilization:</a:t>
            </a:r>
            <a:r>
              <a:rPr lang="en-IN" dirty="0"/>
              <a:t> Internal nodes are smaller (keys only).</a:t>
            </a:r>
          </a:p>
          <a:p>
            <a:pPr marL="285750" indent="-285750">
              <a:buFont typeface="Arial" panose="020B0604020202020204" pitchFamily="34" charset="0"/>
              <a:buChar char="•"/>
            </a:pPr>
            <a:r>
              <a:rPr lang="en-IN" b="1" dirty="0"/>
              <a:t>Predictable depth:</a:t>
            </a:r>
            <a:r>
              <a:rPr lang="en-IN" dirty="0"/>
              <a:t> All leaves are at the same level → balanced height.</a:t>
            </a:r>
          </a:p>
          <a:p>
            <a:pPr marL="285750" indent="-285750">
              <a:buFont typeface="Arial" panose="020B0604020202020204" pitchFamily="34" charset="0"/>
              <a:buChar char="•"/>
            </a:pPr>
            <a:r>
              <a:rPr lang="en-IN" b="1" dirty="0"/>
              <a:t>Ideal for databases and file systems:</a:t>
            </a:r>
            <a:r>
              <a:rPr lang="en-IN" dirty="0"/>
              <a:t> Used in MySQL, NTFS, </a:t>
            </a:r>
            <a:r>
              <a:rPr lang="en-IN" dirty="0" err="1"/>
              <a:t>PostgreSQL</a:t>
            </a:r>
            <a:r>
              <a:rPr lang="en-IN" dirty="0"/>
              <a:t>, etc.</a:t>
            </a:r>
          </a:p>
          <a:p>
            <a:pPr marL="285750" indent="-285750">
              <a:buFont typeface="Arial" panose="020B0604020202020204" pitchFamily="34" charset="0"/>
              <a:buChar char="•"/>
            </a:pPr>
            <a:endParaRPr lang="en-US" b="1" dirty="0" smtClean="0">
              <a:solidFill>
                <a:srgbClr val="FF0000"/>
              </a:solidFill>
            </a:endParaRPr>
          </a:p>
        </p:txBody>
      </p:sp>
      <p:graphicFrame>
        <p:nvGraphicFramePr>
          <p:cNvPr id="2" name="Table 1"/>
          <p:cNvGraphicFramePr>
            <a:graphicFrameLocks noGrp="1"/>
          </p:cNvGraphicFramePr>
          <p:nvPr>
            <p:extLst>
              <p:ext uri="{D42A27DB-BD31-4B8C-83A1-F6EECF244321}">
                <p14:modId xmlns:p14="http://schemas.microsoft.com/office/powerpoint/2010/main" val="3160902138"/>
              </p:ext>
            </p:extLst>
          </p:nvPr>
        </p:nvGraphicFramePr>
        <p:xfrm>
          <a:off x="322811" y="1266406"/>
          <a:ext cx="10515600" cy="1828800"/>
        </p:xfrm>
        <a:graphic>
          <a:graphicData uri="http://schemas.openxmlformats.org/drawingml/2006/table">
            <a:tbl>
              <a:tblPr/>
              <a:tblGrid>
                <a:gridCol w="1647305"/>
                <a:gridCol w="5363095"/>
                <a:gridCol w="3505200"/>
              </a:tblGrid>
              <a:tr h="0">
                <a:tc>
                  <a:txBody>
                    <a:bodyPr/>
                    <a:lstStyle/>
                    <a:p>
                      <a:pPr algn="ctr"/>
                      <a:r>
                        <a:rPr lang="en-IN" b="1" dirty="0"/>
                        <a:t>Operation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IN" b="1" dirty="0"/>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IN" b="1"/>
                        <a:t>Time Complexity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r>
              <a:tr h="0">
                <a:tc>
                  <a:txBody>
                    <a:bodyPr/>
                    <a:lstStyle/>
                    <a:p>
                      <a:r>
                        <a:rPr lang="en-IN" b="1" dirty="0"/>
                        <a:t>Search</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Navigate using keys until reaching leaf node.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a:t>O(log⁡n)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IN" b="1"/>
                        <a:t>Insertion</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Insert data in leaf; split if full; promote key upward.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a:t>O(log⁡n)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IN" b="1"/>
                        <a:t>Deletion</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Remove from leaf; rebalance if underflow occurs.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O(</a:t>
                      </a:r>
                      <a:r>
                        <a:rPr lang="en-IN" dirty="0" err="1"/>
                        <a:t>log⁡n</a:t>
                      </a:r>
                      <a:r>
                        <a:rPr lang="en-IN"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IN" b="1" dirty="0"/>
                        <a:t>Traversal</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Sequentially follow leaf links for sorted output.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87486290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5632311"/>
          </a:xfrm>
          <a:prstGeom prst="rect">
            <a:avLst/>
          </a:prstGeom>
        </p:spPr>
        <p:txBody>
          <a:bodyPr wrap="square">
            <a:spAutoFit/>
          </a:bodyPr>
          <a:lstStyle/>
          <a:p>
            <a:r>
              <a:rPr lang="en-US" b="1" dirty="0" smtClean="0">
                <a:solidFill>
                  <a:srgbClr val="FF0000"/>
                </a:solidFill>
              </a:rPr>
              <a:t>B+ Tree</a:t>
            </a:r>
          </a:p>
          <a:p>
            <a:endParaRPr lang="en-US" b="1" dirty="0" smtClean="0">
              <a:solidFill>
                <a:srgbClr val="FF0000"/>
              </a:solidFill>
            </a:endParaRPr>
          </a:p>
          <a:p>
            <a:r>
              <a:rPr lang="en-US" dirty="0"/>
              <a:t>If you insert {5, 6, 7, 10, 12, 17, 20, 30}:</a:t>
            </a:r>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a:p>
            <a:r>
              <a:rPr lang="en-IN" dirty="0"/>
              <a:t>Internal node [10 | 20] guides searches.</a:t>
            </a:r>
          </a:p>
          <a:p>
            <a:r>
              <a:rPr lang="en-US" dirty="0" smtClean="0"/>
              <a:t>Leaf </a:t>
            </a:r>
            <a:r>
              <a:rPr lang="en-US" dirty="0"/>
              <a:t>nodes hold the actual data and are linked for range queries.</a:t>
            </a:r>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a:p>
            <a:endParaRPr lang="en-US" b="1" dirty="0">
              <a:solidFill>
                <a:srgbClr val="FF0000"/>
              </a:solidFill>
            </a:endParaRPr>
          </a:p>
        </p:txBody>
      </p:sp>
      <p:pic>
        <p:nvPicPr>
          <p:cNvPr id="3" name="Picture 2"/>
          <p:cNvPicPr>
            <a:picLocks noChangeAspect="1"/>
          </p:cNvPicPr>
          <p:nvPr/>
        </p:nvPicPr>
        <p:blipFill>
          <a:blip r:embed="rId3"/>
          <a:stretch>
            <a:fillRect/>
          </a:stretch>
        </p:blipFill>
        <p:spPr>
          <a:xfrm>
            <a:off x="534594" y="1663270"/>
            <a:ext cx="2743583" cy="771633"/>
          </a:xfrm>
          <a:prstGeom prst="rect">
            <a:avLst/>
          </a:prstGeom>
        </p:spPr>
      </p:pic>
    </p:spTree>
    <p:extLst>
      <p:ext uri="{BB962C8B-B14F-4D97-AF65-F5344CB8AC3E}">
        <p14:creationId xmlns:p14="http://schemas.microsoft.com/office/powerpoint/2010/main" val="350394743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2585323"/>
          </a:xfrm>
          <a:prstGeom prst="rect">
            <a:avLst/>
          </a:prstGeom>
        </p:spPr>
        <p:txBody>
          <a:bodyPr wrap="square">
            <a:spAutoFit/>
          </a:bodyPr>
          <a:lstStyle/>
          <a:p>
            <a:r>
              <a:rPr lang="en-US" b="1" dirty="0" smtClean="0">
                <a:solidFill>
                  <a:srgbClr val="FF0000"/>
                </a:solidFill>
              </a:rPr>
              <a:t>B+ Tree</a:t>
            </a:r>
            <a:endParaRPr lang="en-US" b="1" dirty="0" smtClean="0">
              <a:solidFill>
                <a:srgbClr val="FF0000"/>
              </a:solidFill>
            </a:endParaRPr>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a:p>
            <a:endParaRPr lang="en-US" b="1" dirty="0">
              <a:solidFill>
                <a:srgbClr val="FF0000"/>
              </a:solidFill>
            </a:endParaRPr>
          </a:p>
        </p:txBody>
      </p:sp>
      <p:pic>
        <p:nvPicPr>
          <p:cNvPr id="2" name="Picture 1"/>
          <p:cNvPicPr>
            <a:picLocks noChangeAspect="1"/>
          </p:cNvPicPr>
          <p:nvPr/>
        </p:nvPicPr>
        <p:blipFill>
          <a:blip r:embed="rId3"/>
          <a:stretch>
            <a:fillRect/>
          </a:stretch>
        </p:blipFill>
        <p:spPr>
          <a:xfrm>
            <a:off x="1205690" y="1011374"/>
            <a:ext cx="8716591" cy="5068007"/>
          </a:xfrm>
          <a:prstGeom prst="rect">
            <a:avLst/>
          </a:prstGeom>
        </p:spPr>
      </p:pic>
    </p:spTree>
    <p:extLst>
      <p:ext uri="{BB962C8B-B14F-4D97-AF65-F5344CB8AC3E}">
        <p14:creationId xmlns:p14="http://schemas.microsoft.com/office/powerpoint/2010/main" val="162609623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4801314"/>
          </a:xfrm>
          <a:prstGeom prst="rect">
            <a:avLst/>
          </a:prstGeom>
        </p:spPr>
        <p:txBody>
          <a:bodyPr wrap="square">
            <a:spAutoFit/>
          </a:bodyPr>
          <a:lstStyle/>
          <a:p>
            <a:r>
              <a:rPr lang="en-US" b="1" dirty="0" err="1" smtClean="0">
                <a:solidFill>
                  <a:srgbClr val="FF0000"/>
                </a:solidFill>
              </a:rPr>
              <a:t>B+Tree</a:t>
            </a:r>
            <a:r>
              <a:rPr lang="en-US" b="1" dirty="0" smtClean="0">
                <a:solidFill>
                  <a:srgbClr val="FF0000"/>
                </a:solidFill>
              </a:rPr>
              <a:t> </a:t>
            </a:r>
          </a:p>
          <a:p>
            <a:endParaRPr lang="en-US" b="1" dirty="0" smtClean="0">
              <a:solidFill>
                <a:srgbClr val="FF0000"/>
              </a:solidFill>
            </a:endParaRPr>
          </a:p>
          <a:p>
            <a:r>
              <a:rPr lang="en-US" dirty="0"/>
              <a:t>Here’s the B+ Tree diagram you asked for — it shows how internal nodes (in blue) hold keys only, while leaf nodes (in green) store keys + data and are linked horizontally for fast range queries.</a:t>
            </a:r>
          </a:p>
          <a:p>
            <a:endParaRPr lang="en-IN" dirty="0"/>
          </a:p>
          <a:p>
            <a:r>
              <a:rPr lang="en-IN" dirty="0"/>
              <a:t>In this structure:</a:t>
            </a:r>
          </a:p>
          <a:p>
            <a:pPr marL="285750" indent="-285750">
              <a:buFont typeface="Arial" panose="020B0604020202020204" pitchFamily="34" charset="0"/>
              <a:buChar char="•"/>
            </a:pPr>
            <a:r>
              <a:rPr lang="en-US" dirty="0" smtClean="0"/>
              <a:t>The </a:t>
            </a:r>
            <a:r>
              <a:rPr lang="en-US" dirty="0"/>
              <a:t>root node [10 | 20] guides navigation.</a:t>
            </a:r>
          </a:p>
          <a:p>
            <a:pPr marL="285750" indent="-285750">
              <a:buFont typeface="Arial" panose="020B0604020202020204" pitchFamily="34" charset="0"/>
              <a:buChar char="•"/>
            </a:pPr>
            <a:r>
              <a:rPr lang="en-US" dirty="0" smtClean="0"/>
              <a:t>The </a:t>
            </a:r>
            <a:r>
              <a:rPr lang="en-US" dirty="0"/>
              <a:t>internal nodes below it contain keys that separate ranges.</a:t>
            </a:r>
          </a:p>
          <a:p>
            <a:pPr marL="285750" indent="-285750">
              <a:buFont typeface="Arial" panose="020B0604020202020204" pitchFamily="34" charset="0"/>
              <a:buChar char="•"/>
            </a:pPr>
            <a:r>
              <a:rPr lang="en-US" dirty="0" smtClean="0"/>
              <a:t>The </a:t>
            </a:r>
            <a:r>
              <a:rPr lang="en-US" dirty="0"/>
              <a:t>leaf nodes at the bottom hold the actual data records and are connected left‑to‑right for sequential access.</a:t>
            </a:r>
          </a:p>
          <a:p>
            <a:pPr marL="285750" indent="-285750">
              <a:buFont typeface="Arial" panose="020B0604020202020204" pitchFamily="34" charset="0"/>
              <a:buChar char="•"/>
            </a:pPr>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a:p>
            <a:endParaRPr lang="en-US" b="1" dirty="0">
              <a:solidFill>
                <a:srgbClr val="FF0000"/>
              </a:solidFill>
            </a:endParaRPr>
          </a:p>
        </p:txBody>
      </p:sp>
    </p:spTree>
    <p:extLst>
      <p:ext uri="{BB962C8B-B14F-4D97-AF65-F5344CB8AC3E}">
        <p14:creationId xmlns:p14="http://schemas.microsoft.com/office/powerpoint/2010/main" val="316606075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2308324"/>
          </a:xfrm>
          <a:prstGeom prst="rect">
            <a:avLst/>
          </a:prstGeom>
        </p:spPr>
        <p:txBody>
          <a:bodyPr wrap="square">
            <a:spAutoFit/>
          </a:bodyPr>
          <a:lstStyle/>
          <a:p>
            <a:r>
              <a:rPr lang="en-US" b="1" dirty="0" err="1" smtClean="0">
                <a:solidFill>
                  <a:srgbClr val="FF0000"/>
                </a:solidFill>
              </a:rPr>
              <a:t>B+Tree</a:t>
            </a:r>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a:p>
            <a:endParaRPr lang="en-US" b="1" dirty="0">
              <a:solidFill>
                <a:srgbClr val="FF0000"/>
              </a:solidFill>
            </a:endParaRPr>
          </a:p>
        </p:txBody>
      </p:sp>
      <p:pic>
        <p:nvPicPr>
          <p:cNvPr id="7" name="Picture 6"/>
          <p:cNvPicPr>
            <a:picLocks noChangeAspect="1"/>
          </p:cNvPicPr>
          <p:nvPr/>
        </p:nvPicPr>
        <p:blipFill>
          <a:blip r:embed="rId3"/>
          <a:stretch>
            <a:fillRect/>
          </a:stretch>
        </p:blipFill>
        <p:spPr>
          <a:xfrm>
            <a:off x="164217" y="896784"/>
            <a:ext cx="4382112" cy="5803273"/>
          </a:xfrm>
          <a:prstGeom prst="rect">
            <a:avLst/>
          </a:prstGeom>
        </p:spPr>
      </p:pic>
      <p:pic>
        <p:nvPicPr>
          <p:cNvPr id="8" name="Picture 7"/>
          <p:cNvPicPr>
            <a:picLocks noChangeAspect="1"/>
          </p:cNvPicPr>
          <p:nvPr/>
        </p:nvPicPr>
        <p:blipFill>
          <a:blip r:embed="rId4"/>
          <a:stretch>
            <a:fillRect/>
          </a:stretch>
        </p:blipFill>
        <p:spPr>
          <a:xfrm>
            <a:off x="4769834" y="896784"/>
            <a:ext cx="5477639" cy="5803272"/>
          </a:xfrm>
          <a:prstGeom prst="rect">
            <a:avLst/>
          </a:prstGeom>
        </p:spPr>
      </p:pic>
    </p:spTree>
    <p:extLst>
      <p:ext uri="{BB962C8B-B14F-4D97-AF65-F5344CB8AC3E}">
        <p14:creationId xmlns:p14="http://schemas.microsoft.com/office/powerpoint/2010/main" val="233078656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2308324"/>
          </a:xfrm>
          <a:prstGeom prst="rect">
            <a:avLst/>
          </a:prstGeom>
        </p:spPr>
        <p:txBody>
          <a:bodyPr wrap="square">
            <a:spAutoFit/>
          </a:bodyPr>
          <a:lstStyle/>
          <a:p>
            <a:r>
              <a:rPr lang="en-US" b="1" dirty="0" err="1" smtClean="0">
                <a:solidFill>
                  <a:srgbClr val="FF0000"/>
                </a:solidFill>
              </a:rPr>
              <a:t>B+Tree</a:t>
            </a:r>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a:p>
            <a:endParaRPr lang="en-US" b="1" dirty="0">
              <a:solidFill>
                <a:srgbClr val="FF0000"/>
              </a:solidFill>
            </a:endParaRPr>
          </a:p>
        </p:txBody>
      </p:sp>
      <p:pic>
        <p:nvPicPr>
          <p:cNvPr id="9" name="Picture 8"/>
          <p:cNvPicPr>
            <a:picLocks noChangeAspect="1"/>
          </p:cNvPicPr>
          <p:nvPr/>
        </p:nvPicPr>
        <p:blipFill>
          <a:blip r:embed="rId3"/>
          <a:stretch>
            <a:fillRect/>
          </a:stretch>
        </p:blipFill>
        <p:spPr>
          <a:xfrm>
            <a:off x="147702" y="980902"/>
            <a:ext cx="7773485" cy="5669280"/>
          </a:xfrm>
          <a:prstGeom prst="rect">
            <a:avLst/>
          </a:prstGeom>
        </p:spPr>
      </p:pic>
    </p:spTree>
    <p:extLst>
      <p:ext uri="{BB962C8B-B14F-4D97-AF65-F5344CB8AC3E}">
        <p14:creationId xmlns:p14="http://schemas.microsoft.com/office/powerpoint/2010/main" val="159267135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2585323"/>
          </a:xfrm>
          <a:prstGeom prst="rect">
            <a:avLst/>
          </a:prstGeom>
        </p:spPr>
        <p:txBody>
          <a:bodyPr wrap="square">
            <a:spAutoFit/>
          </a:bodyPr>
          <a:lstStyle/>
          <a:p>
            <a:r>
              <a:rPr lang="en-US" b="1" dirty="0" err="1" smtClean="0">
                <a:solidFill>
                  <a:srgbClr val="FF0000"/>
                </a:solidFill>
              </a:rPr>
              <a:t>B+Tree</a:t>
            </a:r>
            <a:endParaRPr lang="en-US" b="1" dirty="0" smtClean="0">
              <a:solidFill>
                <a:srgbClr val="FF0000"/>
              </a:solidFill>
            </a:endParaRPr>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a:p>
            <a:endParaRPr lang="en-US" b="1" dirty="0">
              <a:solidFill>
                <a:srgbClr val="FF0000"/>
              </a:solidFill>
            </a:endParaRPr>
          </a:p>
        </p:txBody>
      </p:sp>
      <p:pic>
        <p:nvPicPr>
          <p:cNvPr id="7" name="Picture 6"/>
          <p:cNvPicPr>
            <a:picLocks noChangeAspect="1"/>
          </p:cNvPicPr>
          <p:nvPr/>
        </p:nvPicPr>
        <p:blipFill>
          <a:blip r:embed="rId3"/>
          <a:stretch>
            <a:fillRect/>
          </a:stretch>
        </p:blipFill>
        <p:spPr>
          <a:xfrm>
            <a:off x="281289" y="972589"/>
            <a:ext cx="5611008" cy="5775227"/>
          </a:xfrm>
          <a:prstGeom prst="rect">
            <a:avLst/>
          </a:prstGeom>
        </p:spPr>
      </p:pic>
      <p:pic>
        <p:nvPicPr>
          <p:cNvPr id="8" name="Picture 7"/>
          <p:cNvPicPr>
            <a:picLocks noChangeAspect="1"/>
          </p:cNvPicPr>
          <p:nvPr/>
        </p:nvPicPr>
        <p:blipFill>
          <a:blip r:embed="rId4"/>
          <a:stretch>
            <a:fillRect/>
          </a:stretch>
        </p:blipFill>
        <p:spPr>
          <a:xfrm>
            <a:off x="6173586" y="2228170"/>
            <a:ext cx="5452915" cy="1753625"/>
          </a:xfrm>
          <a:prstGeom prst="rect">
            <a:avLst/>
          </a:prstGeom>
        </p:spPr>
      </p:pic>
    </p:spTree>
    <p:extLst>
      <p:ext uri="{BB962C8B-B14F-4D97-AF65-F5344CB8AC3E}">
        <p14:creationId xmlns:p14="http://schemas.microsoft.com/office/powerpoint/2010/main" val="390279511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7848302"/>
          </a:xfrm>
          <a:prstGeom prst="rect">
            <a:avLst/>
          </a:prstGeom>
        </p:spPr>
        <p:txBody>
          <a:bodyPr wrap="square">
            <a:spAutoFit/>
          </a:bodyPr>
          <a:lstStyle/>
          <a:p>
            <a:r>
              <a:rPr lang="en-US" b="1" dirty="0" err="1" smtClean="0">
                <a:solidFill>
                  <a:srgbClr val="FF0000"/>
                </a:solidFill>
              </a:rPr>
              <a:t>B+Tree</a:t>
            </a:r>
            <a:endParaRPr lang="en-US" b="1" dirty="0" smtClean="0">
              <a:solidFill>
                <a:srgbClr val="FF0000"/>
              </a:solidFill>
            </a:endParaRPr>
          </a:p>
          <a:p>
            <a:endParaRPr lang="en-US" b="1" dirty="0" smtClean="0">
              <a:solidFill>
                <a:srgbClr val="FF0000"/>
              </a:solidFill>
            </a:endParaRPr>
          </a:p>
          <a:p>
            <a:r>
              <a:rPr lang="en-US" b="1" dirty="0"/>
              <a:t>Purpose</a:t>
            </a:r>
          </a:p>
          <a:p>
            <a:pPr marL="285750" indent="-285750">
              <a:buFont typeface="Arial" panose="020B0604020202020204" pitchFamily="34" charset="0"/>
              <a:buChar char="•"/>
            </a:pPr>
            <a:r>
              <a:rPr lang="en-US" dirty="0"/>
              <a:t>It demonstrates how a </a:t>
            </a:r>
            <a:r>
              <a:rPr lang="en-US" b="1" dirty="0"/>
              <a:t>B+ Tree</a:t>
            </a:r>
            <a:r>
              <a:rPr lang="en-US" dirty="0"/>
              <a:t>:</a:t>
            </a:r>
          </a:p>
          <a:p>
            <a:pPr marL="285750" indent="-285750">
              <a:buFont typeface="Arial" panose="020B0604020202020204" pitchFamily="34" charset="0"/>
              <a:buChar char="•"/>
            </a:pPr>
            <a:r>
              <a:rPr lang="en-US" dirty="0"/>
              <a:t>Stores keys in </a:t>
            </a:r>
            <a:r>
              <a:rPr lang="en-US" b="1" dirty="0"/>
              <a:t>sorted order</a:t>
            </a:r>
            <a:r>
              <a:rPr lang="en-US" dirty="0"/>
              <a:t>.</a:t>
            </a:r>
          </a:p>
          <a:p>
            <a:pPr marL="285750" indent="-285750">
              <a:buFont typeface="Arial" panose="020B0604020202020204" pitchFamily="34" charset="0"/>
              <a:buChar char="•"/>
            </a:pPr>
            <a:r>
              <a:rPr lang="en-US" dirty="0"/>
              <a:t>Keeps all </a:t>
            </a:r>
            <a:r>
              <a:rPr lang="en-US" b="1" dirty="0"/>
              <a:t>data in leaf nodes</a:t>
            </a:r>
            <a:r>
              <a:rPr lang="en-US" dirty="0"/>
              <a:t>.</a:t>
            </a:r>
          </a:p>
          <a:p>
            <a:pPr marL="285750" indent="-285750">
              <a:buFont typeface="Arial" panose="020B0604020202020204" pitchFamily="34" charset="0"/>
              <a:buChar char="•"/>
            </a:pPr>
            <a:r>
              <a:rPr lang="en-US" dirty="0"/>
              <a:t>Links leaf nodes for </a:t>
            </a:r>
            <a:r>
              <a:rPr lang="en-US" b="1" dirty="0"/>
              <a:t>fast sequential access</a:t>
            </a:r>
            <a:r>
              <a:rPr lang="en-US" dirty="0"/>
              <a:t>.</a:t>
            </a:r>
          </a:p>
          <a:p>
            <a:pPr marL="285750" indent="-285750">
              <a:buFont typeface="Arial" panose="020B0604020202020204" pitchFamily="34" charset="0"/>
              <a:buChar char="•"/>
            </a:pPr>
            <a:r>
              <a:rPr lang="en-US" dirty="0"/>
              <a:t>Splits nodes when they exceed capacity.</a:t>
            </a:r>
          </a:p>
          <a:p>
            <a:endParaRPr lang="en-US" b="1" dirty="0" smtClean="0">
              <a:solidFill>
                <a:srgbClr val="FF0000"/>
              </a:solidFill>
            </a:endParaRPr>
          </a:p>
          <a:p>
            <a:r>
              <a:rPr lang="en-IN" b="1" dirty="0"/>
              <a:t>Core Components</a:t>
            </a:r>
          </a:p>
          <a:p>
            <a:endParaRPr lang="en-IN" dirty="0"/>
          </a:p>
          <a:p>
            <a:r>
              <a:rPr lang="en-IN" b="1" dirty="0" err="1"/>
              <a:t>BPlusNode</a:t>
            </a:r>
            <a:r>
              <a:rPr lang="en-IN" b="1" dirty="0"/>
              <a:t> Class</a:t>
            </a:r>
          </a:p>
          <a:p>
            <a:endParaRPr lang="en-IN" dirty="0"/>
          </a:p>
          <a:p>
            <a:r>
              <a:rPr lang="en-IN" dirty="0"/>
              <a:t>Each node has:</a:t>
            </a:r>
          </a:p>
          <a:p>
            <a:pPr marL="285750" indent="-285750">
              <a:buFont typeface="Arial" panose="020B0604020202020204" pitchFamily="34" charset="0"/>
              <a:buChar char="•"/>
            </a:pPr>
            <a:r>
              <a:rPr lang="en-US" dirty="0" err="1"/>
              <a:t>boolean</a:t>
            </a:r>
            <a:r>
              <a:rPr lang="en-US" dirty="0"/>
              <a:t> </a:t>
            </a:r>
            <a:r>
              <a:rPr lang="en-US" dirty="0" err="1"/>
              <a:t>isLeaf</a:t>
            </a:r>
            <a:r>
              <a:rPr lang="en-US" dirty="0"/>
              <a:t> → true if it’s a leaf node.</a:t>
            </a:r>
          </a:p>
          <a:p>
            <a:pPr marL="285750" indent="-285750">
              <a:buFont typeface="Arial" panose="020B0604020202020204" pitchFamily="34" charset="0"/>
              <a:buChar char="•"/>
            </a:pPr>
            <a:r>
              <a:rPr lang="en-IN" dirty="0"/>
              <a:t>List&lt;Integer&gt; keys → stores keys (used for ordering/search).</a:t>
            </a:r>
          </a:p>
          <a:p>
            <a:pPr marL="285750" indent="-285750">
              <a:buFont typeface="Arial" panose="020B0604020202020204" pitchFamily="34" charset="0"/>
              <a:buChar char="•"/>
            </a:pPr>
            <a:r>
              <a:rPr lang="en-US" dirty="0"/>
              <a:t>List&lt;</a:t>
            </a:r>
            <a:r>
              <a:rPr lang="en-US" dirty="0" err="1"/>
              <a:t>BPlusNode</a:t>
            </a:r>
            <a:r>
              <a:rPr lang="en-US" dirty="0"/>
              <a:t>&gt; children → references to child nodes.</a:t>
            </a:r>
          </a:p>
          <a:p>
            <a:pPr marL="285750" indent="-285750">
              <a:buFont typeface="Arial" panose="020B0604020202020204" pitchFamily="34" charset="0"/>
              <a:buChar char="•"/>
            </a:pPr>
            <a:r>
              <a:rPr lang="en-US" dirty="0" err="1"/>
              <a:t>BPlusNode</a:t>
            </a:r>
            <a:r>
              <a:rPr lang="en-US" dirty="0"/>
              <a:t> next → pointer to the next leaf node (for range queries).</a:t>
            </a:r>
          </a:p>
          <a:p>
            <a:endParaRPr lang="en-US" dirty="0" smtClean="0"/>
          </a:p>
          <a:p>
            <a:r>
              <a:rPr lang="en-US" dirty="0" smtClean="0"/>
              <a:t>Internal </a:t>
            </a:r>
            <a:r>
              <a:rPr lang="en-US" dirty="0"/>
              <a:t>nodes contain only keys for navigation.</a:t>
            </a:r>
          </a:p>
          <a:p>
            <a:r>
              <a:rPr lang="en-US" dirty="0"/>
              <a:t>Leaf nodes contain keys that represent the actual data (in this demo, keys = data).</a:t>
            </a:r>
          </a:p>
          <a:p>
            <a:endParaRPr lang="en-US" b="1" dirty="0">
              <a:solidFill>
                <a:srgbClr val="FF0000"/>
              </a:solidFill>
            </a:endParaRPr>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a:p>
            <a:endParaRPr lang="en-US" b="1" dirty="0">
              <a:solidFill>
                <a:srgbClr val="FF0000"/>
              </a:solidFill>
            </a:endParaRPr>
          </a:p>
        </p:txBody>
      </p:sp>
    </p:spTree>
    <p:extLst>
      <p:ext uri="{BB962C8B-B14F-4D97-AF65-F5344CB8AC3E}">
        <p14:creationId xmlns:p14="http://schemas.microsoft.com/office/powerpoint/2010/main" val="84667969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7848302"/>
          </a:xfrm>
          <a:prstGeom prst="rect">
            <a:avLst/>
          </a:prstGeom>
        </p:spPr>
        <p:txBody>
          <a:bodyPr wrap="square">
            <a:spAutoFit/>
          </a:bodyPr>
          <a:lstStyle/>
          <a:p>
            <a:r>
              <a:rPr lang="en-US" b="1" dirty="0" err="1" smtClean="0">
                <a:solidFill>
                  <a:srgbClr val="FF0000"/>
                </a:solidFill>
              </a:rPr>
              <a:t>B+Tree</a:t>
            </a:r>
            <a:endParaRPr lang="en-US" b="1" dirty="0" smtClean="0">
              <a:solidFill>
                <a:srgbClr val="FF0000"/>
              </a:solidFill>
            </a:endParaRPr>
          </a:p>
          <a:p>
            <a:endParaRPr lang="en-US" b="1" dirty="0" smtClean="0">
              <a:solidFill>
                <a:srgbClr val="FF0000"/>
              </a:solidFill>
            </a:endParaRPr>
          </a:p>
          <a:p>
            <a:r>
              <a:rPr lang="en-US" b="1" dirty="0"/>
              <a:t>Purpose</a:t>
            </a:r>
          </a:p>
          <a:p>
            <a:pPr marL="285750" indent="-285750">
              <a:buFont typeface="Arial" panose="020B0604020202020204" pitchFamily="34" charset="0"/>
              <a:buChar char="•"/>
            </a:pPr>
            <a:r>
              <a:rPr lang="en-US" dirty="0"/>
              <a:t>It demonstrates how a </a:t>
            </a:r>
            <a:r>
              <a:rPr lang="en-US" b="1" dirty="0"/>
              <a:t>B+ Tree</a:t>
            </a:r>
            <a:r>
              <a:rPr lang="en-US" dirty="0"/>
              <a:t>:</a:t>
            </a:r>
          </a:p>
          <a:p>
            <a:pPr marL="285750" indent="-285750">
              <a:buFont typeface="Arial" panose="020B0604020202020204" pitchFamily="34" charset="0"/>
              <a:buChar char="•"/>
            </a:pPr>
            <a:r>
              <a:rPr lang="en-US" dirty="0"/>
              <a:t>Stores keys in </a:t>
            </a:r>
            <a:r>
              <a:rPr lang="en-US" b="1" dirty="0"/>
              <a:t>sorted order</a:t>
            </a:r>
            <a:r>
              <a:rPr lang="en-US" dirty="0"/>
              <a:t>.</a:t>
            </a:r>
          </a:p>
          <a:p>
            <a:pPr marL="285750" indent="-285750">
              <a:buFont typeface="Arial" panose="020B0604020202020204" pitchFamily="34" charset="0"/>
              <a:buChar char="•"/>
            </a:pPr>
            <a:r>
              <a:rPr lang="en-US" dirty="0"/>
              <a:t>Keeps all </a:t>
            </a:r>
            <a:r>
              <a:rPr lang="en-US" b="1" dirty="0"/>
              <a:t>data in leaf nodes</a:t>
            </a:r>
            <a:r>
              <a:rPr lang="en-US" dirty="0"/>
              <a:t>.</a:t>
            </a:r>
          </a:p>
          <a:p>
            <a:pPr marL="285750" indent="-285750">
              <a:buFont typeface="Arial" panose="020B0604020202020204" pitchFamily="34" charset="0"/>
              <a:buChar char="•"/>
            </a:pPr>
            <a:r>
              <a:rPr lang="en-US" dirty="0"/>
              <a:t>Links leaf nodes for </a:t>
            </a:r>
            <a:r>
              <a:rPr lang="en-US" b="1" dirty="0"/>
              <a:t>fast sequential access</a:t>
            </a:r>
            <a:r>
              <a:rPr lang="en-US" dirty="0"/>
              <a:t>.</a:t>
            </a:r>
          </a:p>
          <a:p>
            <a:pPr marL="285750" indent="-285750">
              <a:buFont typeface="Arial" panose="020B0604020202020204" pitchFamily="34" charset="0"/>
              <a:buChar char="•"/>
            </a:pPr>
            <a:r>
              <a:rPr lang="en-US" dirty="0"/>
              <a:t>Splits nodes when they exceed capacity.</a:t>
            </a:r>
          </a:p>
          <a:p>
            <a:endParaRPr lang="en-US" b="1" dirty="0" smtClean="0">
              <a:solidFill>
                <a:srgbClr val="FF0000"/>
              </a:solidFill>
            </a:endParaRPr>
          </a:p>
          <a:p>
            <a:r>
              <a:rPr lang="en-IN" b="1" dirty="0"/>
              <a:t>Core Components</a:t>
            </a:r>
          </a:p>
          <a:p>
            <a:endParaRPr lang="en-IN" dirty="0"/>
          </a:p>
          <a:p>
            <a:r>
              <a:rPr lang="en-IN" b="1" dirty="0" err="1"/>
              <a:t>BPlusNode</a:t>
            </a:r>
            <a:r>
              <a:rPr lang="en-IN" b="1" dirty="0"/>
              <a:t> Class</a:t>
            </a:r>
          </a:p>
          <a:p>
            <a:endParaRPr lang="en-IN" dirty="0"/>
          </a:p>
          <a:p>
            <a:r>
              <a:rPr lang="en-IN" dirty="0"/>
              <a:t>Each node has:</a:t>
            </a:r>
          </a:p>
          <a:p>
            <a:pPr marL="285750" indent="-285750">
              <a:buFont typeface="Arial" panose="020B0604020202020204" pitchFamily="34" charset="0"/>
              <a:buChar char="•"/>
            </a:pPr>
            <a:r>
              <a:rPr lang="en-US" dirty="0" err="1"/>
              <a:t>boolean</a:t>
            </a:r>
            <a:r>
              <a:rPr lang="en-US" dirty="0"/>
              <a:t> </a:t>
            </a:r>
            <a:r>
              <a:rPr lang="en-US" dirty="0" err="1"/>
              <a:t>isLeaf</a:t>
            </a:r>
            <a:r>
              <a:rPr lang="en-US" dirty="0"/>
              <a:t> → true if it’s a leaf node.</a:t>
            </a:r>
          </a:p>
          <a:p>
            <a:pPr marL="285750" indent="-285750">
              <a:buFont typeface="Arial" panose="020B0604020202020204" pitchFamily="34" charset="0"/>
              <a:buChar char="•"/>
            </a:pPr>
            <a:r>
              <a:rPr lang="en-IN" dirty="0"/>
              <a:t>List&lt;Integer&gt; keys → stores keys (used for ordering/search).</a:t>
            </a:r>
          </a:p>
          <a:p>
            <a:pPr marL="285750" indent="-285750">
              <a:buFont typeface="Arial" panose="020B0604020202020204" pitchFamily="34" charset="0"/>
              <a:buChar char="•"/>
            </a:pPr>
            <a:r>
              <a:rPr lang="en-US" dirty="0"/>
              <a:t>List&lt;</a:t>
            </a:r>
            <a:r>
              <a:rPr lang="en-US" dirty="0" err="1"/>
              <a:t>BPlusNode</a:t>
            </a:r>
            <a:r>
              <a:rPr lang="en-US" dirty="0"/>
              <a:t>&gt; children → references to child nodes.</a:t>
            </a:r>
          </a:p>
          <a:p>
            <a:pPr marL="285750" indent="-285750">
              <a:buFont typeface="Arial" panose="020B0604020202020204" pitchFamily="34" charset="0"/>
              <a:buChar char="•"/>
            </a:pPr>
            <a:r>
              <a:rPr lang="en-US" dirty="0" err="1"/>
              <a:t>BPlusNode</a:t>
            </a:r>
            <a:r>
              <a:rPr lang="en-US" dirty="0"/>
              <a:t> next → pointer to the next leaf node (for range queries).</a:t>
            </a:r>
          </a:p>
          <a:p>
            <a:endParaRPr lang="en-US" dirty="0" smtClean="0"/>
          </a:p>
          <a:p>
            <a:r>
              <a:rPr lang="en-US" dirty="0" smtClean="0"/>
              <a:t>Internal </a:t>
            </a:r>
            <a:r>
              <a:rPr lang="en-US" dirty="0"/>
              <a:t>nodes contain only keys for navigation.</a:t>
            </a:r>
          </a:p>
          <a:p>
            <a:r>
              <a:rPr lang="en-US" dirty="0"/>
              <a:t>Leaf nodes contain keys that represent the actual data (in this demo, keys = data).</a:t>
            </a:r>
          </a:p>
          <a:p>
            <a:endParaRPr lang="en-US" b="1" dirty="0">
              <a:solidFill>
                <a:srgbClr val="FF0000"/>
              </a:solidFill>
            </a:endParaRPr>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a:p>
            <a:endParaRPr lang="en-US" b="1" dirty="0">
              <a:solidFill>
                <a:srgbClr val="FF0000"/>
              </a:solidFill>
            </a:endParaRPr>
          </a:p>
        </p:txBody>
      </p:sp>
    </p:spTree>
    <p:extLst>
      <p:ext uri="{BB962C8B-B14F-4D97-AF65-F5344CB8AC3E}">
        <p14:creationId xmlns:p14="http://schemas.microsoft.com/office/powerpoint/2010/main" val="426517832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5355312"/>
          </a:xfrm>
          <a:prstGeom prst="rect">
            <a:avLst/>
          </a:prstGeom>
        </p:spPr>
        <p:txBody>
          <a:bodyPr wrap="square">
            <a:spAutoFit/>
          </a:bodyPr>
          <a:lstStyle/>
          <a:p>
            <a:r>
              <a:rPr lang="en-US" b="1" dirty="0" err="1" smtClean="0">
                <a:solidFill>
                  <a:srgbClr val="FF0000"/>
                </a:solidFill>
              </a:rPr>
              <a:t>B+Tree</a:t>
            </a:r>
            <a:endParaRPr lang="en-US" b="1" dirty="0" smtClean="0">
              <a:solidFill>
                <a:srgbClr val="FF0000"/>
              </a:solidFill>
            </a:endParaRPr>
          </a:p>
          <a:p>
            <a:endParaRPr lang="en-US" b="1" dirty="0" smtClean="0">
              <a:solidFill>
                <a:srgbClr val="FF0000"/>
              </a:solidFill>
            </a:endParaRPr>
          </a:p>
          <a:p>
            <a:r>
              <a:rPr lang="en-IN" b="1" dirty="0"/>
              <a:t>BPlusTreeExample14 </a:t>
            </a:r>
            <a:r>
              <a:rPr lang="en-IN" b="1" dirty="0" smtClean="0"/>
              <a:t>Class</a:t>
            </a:r>
          </a:p>
          <a:p>
            <a:endParaRPr lang="en-IN" b="1" dirty="0"/>
          </a:p>
          <a:p>
            <a:r>
              <a:rPr lang="en-IN" dirty="0"/>
              <a:t>Manages the tree structure.</a:t>
            </a:r>
          </a:p>
          <a:p>
            <a:pPr marL="285750" indent="-285750">
              <a:buFont typeface="Arial" panose="020B0604020202020204" pitchFamily="34" charset="0"/>
              <a:buChar char="•"/>
            </a:pPr>
            <a:r>
              <a:rPr lang="en-IN" dirty="0" smtClean="0"/>
              <a:t>root </a:t>
            </a:r>
            <a:r>
              <a:rPr lang="en-IN" dirty="0"/>
              <a:t>→ the topmost node.</a:t>
            </a:r>
          </a:p>
          <a:p>
            <a:pPr marL="285750" indent="-285750">
              <a:buFont typeface="Arial" panose="020B0604020202020204" pitchFamily="34" charset="0"/>
              <a:buChar char="•"/>
            </a:pPr>
            <a:r>
              <a:rPr lang="en-US" dirty="0" err="1" smtClean="0"/>
              <a:t>maxKeys</a:t>
            </a:r>
            <a:r>
              <a:rPr lang="en-US" dirty="0" smtClean="0"/>
              <a:t> </a:t>
            </a:r>
            <a:r>
              <a:rPr lang="en-US" dirty="0"/>
              <a:t>→ maximum number of keys allowed per node before splitting.</a:t>
            </a:r>
          </a:p>
          <a:p>
            <a:endParaRPr lang="en-US" b="1" dirty="0">
              <a:solidFill>
                <a:srgbClr val="FF0000"/>
              </a:solidFill>
            </a:endParaRPr>
          </a:p>
          <a:p>
            <a:r>
              <a:rPr lang="en-IN" b="1" dirty="0"/>
              <a:t>Main </a:t>
            </a:r>
            <a:r>
              <a:rPr lang="en-IN" b="1" dirty="0" smtClean="0"/>
              <a:t>Operations</a:t>
            </a:r>
          </a:p>
          <a:p>
            <a:endParaRPr lang="en-IN" b="1" dirty="0"/>
          </a:p>
          <a:p>
            <a:r>
              <a:rPr lang="en-IN" b="1" dirty="0"/>
              <a:t>Insert</a:t>
            </a:r>
          </a:p>
          <a:p>
            <a:pPr marL="285750" indent="-285750">
              <a:buFont typeface="Arial" panose="020B0604020202020204" pitchFamily="34" charset="0"/>
              <a:buChar char="•"/>
            </a:pPr>
            <a:r>
              <a:rPr lang="en-US" dirty="0"/>
              <a:t>Finds the correct leaf node using </a:t>
            </a:r>
            <a:r>
              <a:rPr lang="en-US" dirty="0" err="1"/>
              <a:t>findLeaf</a:t>
            </a:r>
            <a:r>
              <a:rPr lang="en-US" dirty="0"/>
              <a:t>().</a:t>
            </a:r>
          </a:p>
          <a:p>
            <a:pPr marL="285750" indent="-285750">
              <a:buFont typeface="Arial" panose="020B0604020202020204" pitchFamily="34" charset="0"/>
              <a:buChar char="•"/>
            </a:pPr>
            <a:r>
              <a:rPr lang="en-US" dirty="0" smtClean="0"/>
              <a:t>Inserts </a:t>
            </a:r>
            <a:r>
              <a:rPr lang="en-US" dirty="0"/>
              <a:t>the key in sorted order with </a:t>
            </a:r>
            <a:r>
              <a:rPr lang="en-US" dirty="0" err="1"/>
              <a:t>insertIntoLeaf</a:t>
            </a:r>
            <a:r>
              <a:rPr lang="en-US" dirty="0"/>
              <a:t>().</a:t>
            </a:r>
          </a:p>
          <a:p>
            <a:pPr marL="285750" indent="-285750">
              <a:buFont typeface="Arial" panose="020B0604020202020204" pitchFamily="34" charset="0"/>
              <a:buChar char="•"/>
            </a:pPr>
            <a:r>
              <a:rPr lang="en-US" dirty="0" smtClean="0"/>
              <a:t>If </a:t>
            </a:r>
            <a:r>
              <a:rPr lang="en-US" dirty="0"/>
              <a:t>the leaf exceeds </a:t>
            </a:r>
            <a:r>
              <a:rPr lang="en-US" dirty="0" err="1"/>
              <a:t>maxKeys</a:t>
            </a:r>
            <a:r>
              <a:rPr lang="en-US" dirty="0"/>
              <a:t>, calls </a:t>
            </a:r>
            <a:r>
              <a:rPr lang="en-US" dirty="0" err="1"/>
              <a:t>splitLeaf</a:t>
            </a:r>
            <a:r>
              <a:rPr lang="en-US" dirty="0"/>
              <a:t>().</a:t>
            </a:r>
          </a:p>
          <a:p>
            <a:endParaRPr lang="en-US" b="1" dirty="0" smtClean="0">
              <a:solidFill>
                <a:srgbClr val="FF0000"/>
              </a:solidFill>
            </a:endParaRPr>
          </a:p>
          <a:p>
            <a:r>
              <a:rPr lang="en-IN" b="1" dirty="0"/>
              <a:t>Find Leaf</a:t>
            </a:r>
            <a:endParaRPr lang="en-US" b="1" dirty="0" smtClean="0">
              <a:solidFill>
                <a:srgbClr val="FF0000"/>
              </a:solidFill>
            </a:endParaRPr>
          </a:p>
          <a:p>
            <a:pPr marL="285750" indent="-285750">
              <a:buFont typeface="Arial" panose="020B0604020202020204" pitchFamily="34" charset="0"/>
              <a:buChar char="•"/>
            </a:pPr>
            <a:r>
              <a:rPr lang="en-US" dirty="0" smtClean="0"/>
              <a:t>Traverses </a:t>
            </a:r>
            <a:r>
              <a:rPr lang="en-US" dirty="0"/>
              <a:t>down the tree using keys until it reaches a leaf node.</a:t>
            </a:r>
            <a:endParaRPr lang="en-US" b="1" dirty="0">
              <a:solidFill>
                <a:srgbClr val="FF0000"/>
              </a:solidFill>
            </a:endParaRPr>
          </a:p>
          <a:p>
            <a:endParaRPr lang="en-US" b="1" dirty="0" smtClean="0">
              <a:solidFill>
                <a:srgbClr val="FF0000"/>
              </a:solidFill>
            </a:endParaRPr>
          </a:p>
          <a:p>
            <a:endParaRPr lang="en-US" b="1" dirty="0">
              <a:solidFill>
                <a:srgbClr val="FF0000"/>
              </a:solidFill>
            </a:endParaRPr>
          </a:p>
        </p:txBody>
      </p:sp>
    </p:spTree>
    <p:extLst>
      <p:ext uri="{BB962C8B-B14F-4D97-AF65-F5344CB8AC3E}">
        <p14:creationId xmlns:p14="http://schemas.microsoft.com/office/powerpoint/2010/main" val="287058817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5078313"/>
          </a:xfrm>
          <a:prstGeom prst="rect">
            <a:avLst/>
          </a:prstGeom>
        </p:spPr>
        <p:txBody>
          <a:bodyPr wrap="square">
            <a:spAutoFit/>
          </a:bodyPr>
          <a:lstStyle/>
          <a:p>
            <a:r>
              <a:rPr lang="en-US" b="1" dirty="0" err="1" smtClean="0">
                <a:solidFill>
                  <a:srgbClr val="FF0000"/>
                </a:solidFill>
              </a:rPr>
              <a:t>B+Tree</a:t>
            </a:r>
            <a:endParaRPr lang="en-US" b="1" dirty="0" smtClean="0">
              <a:solidFill>
                <a:srgbClr val="FF0000"/>
              </a:solidFill>
            </a:endParaRPr>
          </a:p>
          <a:p>
            <a:endParaRPr lang="en-US" b="1" dirty="0" smtClean="0">
              <a:solidFill>
                <a:srgbClr val="FF0000"/>
              </a:solidFill>
            </a:endParaRPr>
          </a:p>
          <a:p>
            <a:r>
              <a:rPr lang="en-IN" b="1" dirty="0"/>
              <a:t>Split </a:t>
            </a:r>
            <a:r>
              <a:rPr lang="en-IN" b="1" dirty="0" smtClean="0"/>
              <a:t>Leaf</a:t>
            </a:r>
          </a:p>
          <a:p>
            <a:pPr marL="285750" indent="-285750">
              <a:buFont typeface="Arial" panose="020B0604020202020204" pitchFamily="34" charset="0"/>
              <a:buChar char="•"/>
            </a:pPr>
            <a:r>
              <a:rPr lang="en-US" dirty="0"/>
              <a:t>Divides a full leaf into two halves.</a:t>
            </a:r>
          </a:p>
          <a:p>
            <a:pPr marL="285750" indent="-285750">
              <a:buFont typeface="Arial" panose="020B0604020202020204" pitchFamily="34" charset="0"/>
              <a:buChar char="•"/>
            </a:pPr>
            <a:r>
              <a:rPr lang="en-US" dirty="0" smtClean="0"/>
              <a:t>Promotes </a:t>
            </a:r>
            <a:r>
              <a:rPr lang="en-US" dirty="0"/>
              <a:t>the first key of the new leaf to the parent.</a:t>
            </a:r>
          </a:p>
          <a:p>
            <a:pPr marL="285750" indent="-285750">
              <a:buFont typeface="Arial" panose="020B0604020202020204" pitchFamily="34" charset="0"/>
              <a:buChar char="•"/>
            </a:pPr>
            <a:r>
              <a:rPr lang="en-US" dirty="0" smtClean="0"/>
              <a:t>Links </a:t>
            </a:r>
            <a:r>
              <a:rPr lang="en-US" dirty="0"/>
              <a:t>the new leaf to the old one (</a:t>
            </a:r>
            <a:r>
              <a:rPr lang="en-US" dirty="0" err="1"/>
              <a:t>leaf.next</a:t>
            </a:r>
            <a:r>
              <a:rPr lang="en-US" dirty="0"/>
              <a:t> = </a:t>
            </a:r>
            <a:r>
              <a:rPr lang="en-US" dirty="0" err="1"/>
              <a:t>newLeaf</a:t>
            </a:r>
            <a:r>
              <a:rPr lang="en-US" dirty="0"/>
              <a:t>).</a:t>
            </a:r>
          </a:p>
          <a:p>
            <a:pPr marL="285750" indent="-285750">
              <a:buFont typeface="Arial" panose="020B0604020202020204" pitchFamily="34" charset="0"/>
              <a:buChar char="•"/>
            </a:pPr>
            <a:r>
              <a:rPr lang="en-US" dirty="0" smtClean="0"/>
              <a:t>If </a:t>
            </a:r>
            <a:r>
              <a:rPr lang="en-US" dirty="0"/>
              <a:t>the split happens at the root, creates a new root.</a:t>
            </a:r>
          </a:p>
          <a:p>
            <a:endParaRPr lang="en-US" b="1" dirty="0" smtClean="0">
              <a:solidFill>
                <a:srgbClr val="FF0000"/>
              </a:solidFill>
            </a:endParaRPr>
          </a:p>
          <a:p>
            <a:r>
              <a:rPr lang="en-IN" b="1" dirty="0"/>
              <a:t>Print Leaves</a:t>
            </a:r>
            <a:endParaRPr lang="en-US" b="1" dirty="0" smtClean="0">
              <a:solidFill>
                <a:srgbClr val="FF0000"/>
              </a:solidFill>
            </a:endParaRPr>
          </a:p>
          <a:p>
            <a:r>
              <a:rPr lang="en-US" dirty="0"/>
              <a:t>Traverses the linked leaf nodes and prints their keys sequentially</a:t>
            </a:r>
            <a:r>
              <a:rPr lang="en-US" dirty="0" smtClean="0"/>
              <a:t>.</a:t>
            </a:r>
          </a:p>
          <a:p>
            <a:endParaRPr lang="en-US" b="1" dirty="0">
              <a:solidFill>
                <a:srgbClr val="FF0000"/>
              </a:solidFill>
            </a:endParaRPr>
          </a:p>
          <a:p>
            <a:r>
              <a:rPr lang="en-IN" b="1" dirty="0"/>
              <a:t>Execution </a:t>
            </a:r>
            <a:r>
              <a:rPr lang="en-IN" b="1" dirty="0" smtClean="0"/>
              <a:t>Flow</a:t>
            </a:r>
          </a:p>
          <a:p>
            <a:endParaRPr lang="en-US" b="1" dirty="0" smtClean="0">
              <a:solidFill>
                <a:srgbClr val="FF0000"/>
              </a:solidFill>
            </a:endParaRPr>
          </a:p>
          <a:p>
            <a:endParaRPr lang="en-US" b="1" dirty="0">
              <a:solidFill>
                <a:srgbClr val="FF0000"/>
              </a:solidFill>
            </a:endParaRPr>
          </a:p>
          <a:p>
            <a:r>
              <a:rPr lang="en-US" dirty="0"/>
              <a:t>Inserts each value into the B+ Tree.</a:t>
            </a:r>
          </a:p>
          <a:p>
            <a:r>
              <a:rPr lang="en-IN" dirty="0" smtClean="0"/>
              <a:t>Splits </a:t>
            </a:r>
            <a:r>
              <a:rPr lang="en-IN" dirty="0"/>
              <a:t>leaves when full.</a:t>
            </a:r>
          </a:p>
          <a:p>
            <a:r>
              <a:rPr lang="en-IN" dirty="0" smtClean="0"/>
              <a:t>Finally </a:t>
            </a:r>
            <a:r>
              <a:rPr lang="en-IN" dirty="0"/>
              <a:t>prints:</a:t>
            </a:r>
          </a:p>
          <a:p>
            <a:endParaRPr lang="en-US" b="1" dirty="0">
              <a:solidFill>
                <a:srgbClr val="FF0000"/>
              </a:solidFill>
            </a:endParaRPr>
          </a:p>
        </p:txBody>
      </p:sp>
      <p:pic>
        <p:nvPicPr>
          <p:cNvPr id="9" name="Picture 8"/>
          <p:cNvPicPr>
            <a:picLocks noChangeAspect="1"/>
          </p:cNvPicPr>
          <p:nvPr/>
        </p:nvPicPr>
        <p:blipFill>
          <a:blip r:embed="rId3"/>
          <a:stretch>
            <a:fillRect/>
          </a:stretch>
        </p:blipFill>
        <p:spPr>
          <a:xfrm>
            <a:off x="128420" y="3921330"/>
            <a:ext cx="3639058" cy="362001"/>
          </a:xfrm>
          <a:prstGeom prst="rect">
            <a:avLst/>
          </a:prstGeom>
        </p:spPr>
      </p:pic>
      <p:pic>
        <p:nvPicPr>
          <p:cNvPr id="10" name="Picture 9"/>
          <p:cNvPicPr>
            <a:picLocks noChangeAspect="1"/>
          </p:cNvPicPr>
          <p:nvPr/>
        </p:nvPicPr>
        <p:blipFill>
          <a:blip r:embed="rId4"/>
          <a:stretch>
            <a:fillRect/>
          </a:stretch>
        </p:blipFill>
        <p:spPr>
          <a:xfrm>
            <a:off x="128420" y="5311256"/>
            <a:ext cx="4277322" cy="362001"/>
          </a:xfrm>
          <a:prstGeom prst="rect">
            <a:avLst/>
          </a:prstGeom>
        </p:spPr>
      </p:pic>
    </p:spTree>
    <p:extLst>
      <p:ext uri="{BB962C8B-B14F-4D97-AF65-F5344CB8AC3E}">
        <p14:creationId xmlns:p14="http://schemas.microsoft.com/office/powerpoint/2010/main" val="355452464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5355312"/>
          </a:xfrm>
          <a:prstGeom prst="rect">
            <a:avLst/>
          </a:prstGeom>
        </p:spPr>
        <p:txBody>
          <a:bodyPr wrap="square">
            <a:spAutoFit/>
          </a:bodyPr>
          <a:lstStyle/>
          <a:p>
            <a:r>
              <a:rPr lang="en-US" b="1" dirty="0" smtClean="0">
                <a:solidFill>
                  <a:srgbClr val="FF0000"/>
                </a:solidFill>
              </a:rPr>
              <a:t>B+ Tree</a:t>
            </a:r>
            <a:endParaRPr lang="en-US" b="1" dirty="0" smtClean="0">
              <a:solidFill>
                <a:srgbClr val="FF0000"/>
              </a:solidFill>
            </a:endParaRPr>
          </a:p>
          <a:p>
            <a:r>
              <a:rPr lang="en-IN" b="1" dirty="0"/>
              <a:t>Final Structure (Simplified</a:t>
            </a:r>
            <a:r>
              <a:rPr lang="en-IN" b="1" dirty="0" smtClean="0"/>
              <a:t>)</a:t>
            </a:r>
          </a:p>
          <a:p>
            <a:endParaRPr lang="en-US" b="1" dirty="0">
              <a:solidFill>
                <a:srgbClr val="FF0000"/>
              </a:solidFill>
            </a:endParaRPr>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a:p>
            <a:endParaRPr lang="en-US" b="1" dirty="0">
              <a:solidFill>
                <a:srgbClr val="FF0000"/>
              </a:solidFill>
            </a:endParaRPr>
          </a:p>
          <a:p>
            <a:pPr marL="285750" indent="-285750">
              <a:buFont typeface="Arial" panose="020B0604020202020204" pitchFamily="34" charset="0"/>
              <a:buChar char="•"/>
            </a:pPr>
            <a:r>
              <a:rPr lang="fr-FR" dirty="0" err="1"/>
              <a:t>Internal</a:t>
            </a:r>
            <a:r>
              <a:rPr lang="fr-FR" dirty="0"/>
              <a:t> </a:t>
            </a:r>
            <a:r>
              <a:rPr lang="fr-FR" dirty="0" err="1"/>
              <a:t>node</a:t>
            </a:r>
            <a:r>
              <a:rPr lang="fr-FR" dirty="0"/>
              <a:t> [10] guides navigation.</a:t>
            </a:r>
          </a:p>
          <a:p>
            <a:pPr marL="285750" indent="-285750">
              <a:buFont typeface="Arial" panose="020B0604020202020204" pitchFamily="34" charset="0"/>
              <a:buChar char="•"/>
            </a:pPr>
            <a:r>
              <a:rPr lang="en-US" dirty="0" smtClean="0"/>
              <a:t>Leaf </a:t>
            </a:r>
            <a:r>
              <a:rPr lang="en-US" dirty="0"/>
              <a:t>nodes hold actual data and are linked for range queries.</a:t>
            </a:r>
          </a:p>
          <a:p>
            <a:endParaRPr lang="en-US" b="1" dirty="0" smtClean="0">
              <a:solidFill>
                <a:srgbClr val="FF0000"/>
              </a:solidFill>
            </a:endParaRPr>
          </a:p>
          <a:p>
            <a:endParaRPr lang="en-US" b="1" dirty="0" smtClean="0">
              <a:solidFill>
                <a:srgbClr val="FF0000"/>
              </a:solidFill>
            </a:endParaRPr>
          </a:p>
          <a:p>
            <a:r>
              <a:rPr lang="en-US" b="1" dirty="0" smtClean="0"/>
              <a:t>Note:</a:t>
            </a:r>
            <a:endParaRPr lang="en-US" b="1" dirty="0"/>
          </a:p>
          <a:p>
            <a:r>
              <a:rPr lang="en-IN" dirty="0"/>
              <a:t>Keys = integers you insert.</a:t>
            </a:r>
          </a:p>
          <a:p>
            <a:r>
              <a:rPr lang="en-IN" dirty="0" smtClean="0"/>
              <a:t>Data </a:t>
            </a:r>
            <a:r>
              <a:rPr lang="en-IN" dirty="0"/>
              <a:t>= same as keys (no separate data field).</a:t>
            </a:r>
          </a:p>
          <a:p>
            <a:r>
              <a:rPr lang="en-US" dirty="0" smtClean="0"/>
              <a:t>Internal </a:t>
            </a:r>
            <a:r>
              <a:rPr lang="en-US" dirty="0"/>
              <a:t>nodes = keys only (navigation).</a:t>
            </a:r>
          </a:p>
          <a:p>
            <a:r>
              <a:rPr lang="en-US" dirty="0" smtClean="0"/>
              <a:t>Leaf </a:t>
            </a:r>
            <a:r>
              <a:rPr lang="en-US" dirty="0"/>
              <a:t>nodes = keys + data (actual records).</a:t>
            </a:r>
          </a:p>
          <a:p>
            <a:r>
              <a:rPr lang="en-US" dirty="0" smtClean="0"/>
              <a:t>Linked </a:t>
            </a:r>
            <a:r>
              <a:rPr lang="en-US" dirty="0"/>
              <a:t>leaves = enable fast sequential access.</a:t>
            </a:r>
          </a:p>
          <a:p>
            <a:endParaRPr lang="en-US" b="1" dirty="0" smtClean="0">
              <a:solidFill>
                <a:srgbClr val="FF0000"/>
              </a:solidFill>
            </a:endParaRPr>
          </a:p>
          <a:p>
            <a:endParaRPr lang="en-US" b="1" dirty="0" smtClean="0">
              <a:solidFill>
                <a:srgbClr val="FF0000"/>
              </a:solidFill>
            </a:endParaRPr>
          </a:p>
        </p:txBody>
      </p:sp>
      <p:pic>
        <p:nvPicPr>
          <p:cNvPr id="2" name="Picture 1"/>
          <p:cNvPicPr>
            <a:picLocks noChangeAspect="1"/>
          </p:cNvPicPr>
          <p:nvPr/>
        </p:nvPicPr>
        <p:blipFill>
          <a:blip r:embed="rId3"/>
          <a:stretch>
            <a:fillRect/>
          </a:stretch>
        </p:blipFill>
        <p:spPr>
          <a:xfrm>
            <a:off x="557552" y="1595647"/>
            <a:ext cx="5058481" cy="724001"/>
          </a:xfrm>
          <a:prstGeom prst="rect">
            <a:avLst/>
          </a:prstGeom>
        </p:spPr>
      </p:pic>
    </p:spTree>
    <p:extLst>
      <p:ext uri="{BB962C8B-B14F-4D97-AF65-F5344CB8AC3E}">
        <p14:creationId xmlns:p14="http://schemas.microsoft.com/office/powerpoint/2010/main" val="158249473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369332"/>
          </a:xfrm>
          <a:prstGeom prst="rect">
            <a:avLst/>
          </a:prstGeom>
        </p:spPr>
        <p:txBody>
          <a:bodyPr wrap="square">
            <a:spAutoFit/>
          </a:bodyPr>
          <a:lstStyle/>
          <a:p>
            <a:r>
              <a:rPr lang="en-US" b="1" dirty="0" smtClean="0">
                <a:solidFill>
                  <a:srgbClr val="FF0000"/>
                </a:solidFill>
              </a:rPr>
              <a:t>B+ Tree</a:t>
            </a:r>
            <a:endParaRPr lang="en-US" b="1" dirty="0" smtClean="0">
              <a:solidFill>
                <a:srgbClr val="FF0000"/>
              </a:solidFill>
            </a:endParaRPr>
          </a:p>
        </p:txBody>
      </p:sp>
      <p:pic>
        <p:nvPicPr>
          <p:cNvPr id="7" name="Picture 6"/>
          <p:cNvPicPr>
            <a:picLocks noChangeAspect="1"/>
          </p:cNvPicPr>
          <p:nvPr/>
        </p:nvPicPr>
        <p:blipFill>
          <a:blip r:embed="rId3"/>
          <a:stretch>
            <a:fillRect/>
          </a:stretch>
        </p:blipFill>
        <p:spPr>
          <a:xfrm>
            <a:off x="82126" y="970560"/>
            <a:ext cx="5934903" cy="5468113"/>
          </a:xfrm>
          <a:prstGeom prst="rect">
            <a:avLst/>
          </a:prstGeom>
        </p:spPr>
      </p:pic>
      <p:pic>
        <p:nvPicPr>
          <p:cNvPr id="8" name="Picture 7"/>
          <p:cNvPicPr>
            <a:picLocks noChangeAspect="1"/>
          </p:cNvPicPr>
          <p:nvPr/>
        </p:nvPicPr>
        <p:blipFill>
          <a:blip r:embed="rId4"/>
          <a:stretch>
            <a:fillRect/>
          </a:stretch>
        </p:blipFill>
        <p:spPr>
          <a:xfrm>
            <a:off x="7571246" y="2086152"/>
            <a:ext cx="2991267" cy="2419688"/>
          </a:xfrm>
          <a:prstGeom prst="rect">
            <a:avLst/>
          </a:prstGeom>
        </p:spPr>
      </p:pic>
    </p:spTree>
    <p:extLst>
      <p:ext uri="{BB962C8B-B14F-4D97-AF65-F5344CB8AC3E}">
        <p14:creationId xmlns:p14="http://schemas.microsoft.com/office/powerpoint/2010/main" val="151236226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3693319"/>
          </a:xfrm>
          <a:prstGeom prst="rect">
            <a:avLst/>
          </a:prstGeom>
        </p:spPr>
        <p:txBody>
          <a:bodyPr wrap="square">
            <a:spAutoFit/>
          </a:bodyPr>
          <a:lstStyle/>
          <a:p>
            <a:r>
              <a:rPr lang="en-US" b="1" dirty="0" smtClean="0">
                <a:solidFill>
                  <a:srgbClr val="FF0000"/>
                </a:solidFill>
              </a:rPr>
              <a:t>B * Tree</a:t>
            </a:r>
          </a:p>
          <a:p>
            <a:endParaRPr lang="en-US" b="1" dirty="0">
              <a:solidFill>
                <a:srgbClr val="FF0000"/>
              </a:solidFill>
            </a:endParaRPr>
          </a:p>
          <a:p>
            <a:pPr marL="285750" indent="-285750">
              <a:buFont typeface="Arial" panose="020B0604020202020204" pitchFamily="34" charset="0"/>
              <a:buChar char="•"/>
            </a:pPr>
            <a:r>
              <a:rPr lang="en-US" dirty="0"/>
              <a:t>A B★ Tree is a self‑balancing multi‑way search tree.</a:t>
            </a:r>
          </a:p>
          <a:p>
            <a:pPr marL="285750" indent="-285750">
              <a:buFont typeface="Arial" panose="020B0604020202020204" pitchFamily="34" charset="0"/>
              <a:buChar char="•"/>
            </a:pPr>
            <a:r>
              <a:rPr lang="en-US" dirty="0" smtClean="0"/>
              <a:t>It’s </a:t>
            </a:r>
            <a:r>
              <a:rPr lang="en-US" dirty="0"/>
              <a:t>almost identical to a B+ Tree, but it changes how nodes split.</a:t>
            </a:r>
          </a:p>
          <a:p>
            <a:pPr marL="285750" indent="-285750">
              <a:buFont typeface="Arial" panose="020B0604020202020204" pitchFamily="34" charset="0"/>
              <a:buChar char="•"/>
            </a:pPr>
            <a:r>
              <a:rPr lang="en-US" dirty="0" smtClean="0"/>
              <a:t>Instead </a:t>
            </a:r>
            <a:r>
              <a:rPr lang="en-US" dirty="0"/>
              <a:t>of splitting immediately when a node is full, it first redistributes keys with its sibling.</a:t>
            </a:r>
          </a:p>
          <a:p>
            <a:pPr marL="285750" indent="-285750">
              <a:buFont typeface="Arial" panose="020B0604020202020204" pitchFamily="34" charset="0"/>
              <a:buChar char="•"/>
            </a:pPr>
            <a:r>
              <a:rPr lang="en-US" dirty="0" smtClean="0"/>
              <a:t>This </a:t>
            </a:r>
            <a:r>
              <a:rPr lang="en-US" dirty="0"/>
              <a:t>ensures nodes are at least two‑thirds full (instead of just half full in a B+ Tree).</a:t>
            </a:r>
          </a:p>
          <a:p>
            <a:endParaRPr lang="en-US" b="1" dirty="0" smtClean="0">
              <a:solidFill>
                <a:srgbClr val="FF0000"/>
              </a:solidFill>
            </a:endParaRPr>
          </a:p>
          <a:p>
            <a:r>
              <a:rPr lang="en-US" b="1" dirty="0"/>
              <a:t>Structure</a:t>
            </a:r>
          </a:p>
          <a:p>
            <a:r>
              <a:rPr lang="en-US" b="1" dirty="0"/>
              <a:t>Internal nodes:</a:t>
            </a:r>
            <a:r>
              <a:rPr lang="en-US" dirty="0"/>
              <a:t> contain </a:t>
            </a:r>
            <a:r>
              <a:rPr lang="en-US" b="1" dirty="0"/>
              <a:t>keys only</a:t>
            </a:r>
            <a:r>
              <a:rPr lang="en-US" dirty="0"/>
              <a:t> (used for navigation).</a:t>
            </a:r>
          </a:p>
          <a:p>
            <a:r>
              <a:rPr lang="en-US" b="1" dirty="0"/>
              <a:t>Leaf nodes:</a:t>
            </a:r>
            <a:r>
              <a:rPr lang="en-US" dirty="0"/>
              <a:t> contain </a:t>
            </a:r>
            <a:r>
              <a:rPr lang="en-US" b="1" dirty="0"/>
              <a:t>keys + data</a:t>
            </a:r>
            <a:r>
              <a:rPr lang="en-US" dirty="0"/>
              <a:t> (actual records).</a:t>
            </a:r>
          </a:p>
          <a:p>
            <a:r>
              <a:rPr lang="en-US" b="1" dirty="0"/>
              <a:t>Sibling pointers:</a:t>
            </a:r>
            <a:r>
              <a:rPr lang="en-US" dirty="0"/>
              <a:t> connect leaf nodes for sequential access.</a:t>
            </a:r>
          </a:p>
          <a:p>
            <a:r>
              <a:rPr lang="en-US" dirty="0"/>
              <a:t>Example:</a:t>
            </a:r>
          </a:p>
          <a:p>
            <a:endParaRPr lang="en-US" b="1" dirty="0" smtClean="0">
              <a:solidFill>
                <a:srgbClr val="FF0000"/>
              </a:solidFill>
            </a:endParaRPr>
          </a:p>
        </p:txBody>
      </p:sp>
      <p:pic>
        <p:nvPicPr>
          <p:cNvPr id="2" name="Picture 1"/>
          <p:cNvPicPr>
            <a:picLocks noChangeAspect="1"/>
          </p:cNvPicPr>
          <p:nvPr/>
        </p:nvPicPr>
        <p:blipFill>
          <a:blip r:embed="rId3"/>
          <a:stretch>
            <a:fillRect/>
          </a:stretch>
        </p:blipFill>
        <p:spPr>
          <a:xfrm>
            <a:off x="1050850" y="4057428"/>
            <a:ext cx="6449325" cy="704948"/>
          </a:xfrm>
          <a:prstGeom prst="rect">
            <a:avLst/>
          </a:prstGeom>
        </p:spPr>
      </p:pic>
    </p:spTree>
    <p:extLst>
      <p:ext uri="{BB962C8B-B14F-4D97-AF65-F5344CB8AC3E}">
        <p14:creationId xmlns:p14="http://schemas.microsoft.com/office/powerpoint/2010/main" val="355864342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4524315"/>
          </a:xfrm>
          <a:prstGeom prst="rect">
            <a:avLst/>
          </a:prstGeom>
        </p:spPr>
        <p:txBody>
          <a:bodyPr wrap="square">
            <a:spAutoFit/>
          </a:bodyPr>
          <a:lstStyle/>
          <a:p>
            <a:r>
              <a:rPr lang="en-US" b="1" dirty="0" smtClean="0">
                <a:solidFill>
                  <a:srgbClr val="FF0000"/>
                </a:solidFill>
              </a:rPr>
              <a:t>B * Tree</a:t>
            </a:r>
          </a:p>
          <a:p>
            <a:endParaRPr lang="en-US" b="1" dirty="0">
              <a:solidFill>
                <a:srgbClr val="FF0000"/>
              </a:solidFill>
            </a:endParaRPr>
          </a:p>
          <a:p>
            <a:r>
              <a:rPr lang="en-IN" b="1" dirty="0"/>
              <a:t>How It </a:t>
            </a:r>
            <a:r>
              <a:rPr lang="en-IN" b="1" dirty="0" smtClean="0"/>
              <a:t>Works</a:t>
            </a:r>
          </a:p>
          <a:p>
            <a:endParaRPr lang="en-IN" dirty="0"/>
          </a:p>
          <a:p>
            <a:r>
              <a:rPr lang="en-IN" b="1" dirty="0"/>
              <a:t>Insertion</a:t>
            </a:r>
          </a:p>
          <a:p>
            <a:pPr marL="285750" indent="-285750">
              <a:buFont typeface="Arial" panose="020B0604020202020204" pitchFamily="34" charset="0"/>
              <a:buChar char="•"/>
            </a:pPr>
            <a:r>
              <a:rPr lang="en-US" dirty="0" smtClean="0"/>
              <a:t>If </a:t>
            </a:r>
            <a:r>
              <a:rPr lang="en-US" dirty="0"/>
              <a:t>a node is full, instead of splitting immediately, the B★ Tree redistributes keys with its sibling.</a:t>
            </a:r>
          </a:p>
          <a:p>
            <a:pPr marL="285750" indent="-285750">
              <a:buFont typeface="Arial" panose="020B0604020202020204" pitchFamily="34" charset="0"/>
              <a:buChar char="•"/>
            </a:pPr>
            <a:r>
              <a:rPr lang="en-US" dirty="0" smtClean="0"/>
              <a:t>Only </a:t>
            </a:r>
            <a:r>
              <a:rPr lang="en-US" dirty="0"/>
              <a:t>if redistribution fails (both siblings are full) does it split.</a:t>
            </a:r>
          </a:p>
          <a:p>
            <a:endParaRPr lang="en-IN" dirty="0"/>
          </a:p>
          <a:p>
            <a:r>
              <a:rPr lang="en-IN" b="1" dirty="0"/>
              <a:t>Splitting</a:t>
            </a:r>
          </a:p>
          <a:p>
            <a:pPr marL="285750" indent="-285750">
              <a:buFont typeface="Arial" panose="020B0604020202020204" pitchFamily="34" charset="0"/>
              <a:buChar char="•"/>
            </a:pPr>
            <a:r>
              <a:rPr lang="en-US" dirty="0" smtClean="0"/>
              <a:t>When </a:t>
            </a:r>
            <a:r>
              <a:rPr lang="en-US" dirty="0"/>
              <a:t>splitting occurs, two nodes are created from three‑quarters full nodes.</a:t>
            </a:r>
          </a:p>
          <a:p>
            <a:pPr marL="285750" indent="-285750">
              <a:buFont typeface="Arial" panose="020B0604020202020204" pitchFamily="34" charset="0"/>
              <a:buChar char="•"/>
            </a:pPr>
            <a:r>
              <a:rPr lang="en-US" dirty="0" smtClean="0"/>
              <a:t>A </a:t>
            </a:r>
            <a:r>
              <a:rPr lang="en-US" dirty="0"/>
              <a:t>new key is promoted to the parent.</a:t>
            </a:r>
          </a:p>
          <a:p>
            <a:pPr marL="285750" indent="-285750">
              <a:buFont typeface="Arial" panose="020B0604020202020204" pitchFamily="34" charset="0"/>
              <a:buChar char="•"/>
            </a:pPr>
            <a:r>
              <a:rPr lang="en-US" dirty="0" smtClean="0"/>
              <a:t>This </a:t>
            </a:r>
            <a:r>
              <a:rPr lang="en-US" dirty="0"/>
              <a:t>reduces the number of splits and keeps nodes denser.</a:t>
            </a:r>
          </a:p>
          <a:p>
            <a:endParaRPr lang="en-IN" dirty="0"/>
          </a:p>
          <a:p>
            <a:r>
              <a:rPr lang="en-IN" b="1" dirty="0"/>
              <a:t>Search</a:t>
            </a:r>
          </a:p>
          <a:p>
            <a:pPr marL="285750" indent="-285750">
              <a:buFont typeface="Arial" panose="020B0604020202020204" pitchFamily="34" charset="0"/>
              <a:buChar char="•"/>
            </a:pPr>
            <a:r>
              <a:rPr lang="en-US" dirty="0" smtClean="0"/>
              <a:t>Works </a:t>
            </a:r>
            <a:r>
              <a:rPr lang="en-US" dirty="0"/>
              <a:t>like a B+ Tree: navigate internal keys until reaching the leaf node containing the data.</a:t>
            </a:r>
          </a:p>
          <a:p>
            <a:endParaRPr lang="en-US" b="1" dirty="0" smtClean="0">
              <a:solidFill>
                <a:srgbClr val="FF0000"/>
              </a:solidFill>
            </a:endParaRPr>
          </a:p>
        </p:txBody>
      </p:sp>
    </p:spTree>
    <p:extLst>
      <p:ext uri="{BB962C8B-B14F-4D97-AF65-F5344CB8AC3E}">
        <p14:creationId xmlns:p14="http://schemas.microsoft.com/office/powerpoint/2010/main" val="917196796"/>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6186309"/>
          </a:xfrm>
          <a:prstGeom prst="rect">
            <a:avLst/>
          </a:prstGeom>
        </p:spPr>
        <p:txBody>
          <a:bodyPr wrap="square">
            <a:spAutoFit/>
          </a:bodyPr>
          <a:lstStyle/>
          <a:p>
            <a:r>
              <a:rPr lang="en-US" b="1" dirty="0" smtClean="0">
                <a:solidFill>
                  <a:srgbClr val="FF0000"/>
                </a:solidFill>
              </a:rPr>
              <a:t>B * Tree</a:t>
            </a:r>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a:p>
            <a:r>
              <a:rPr lang="en-US" b="1" dirty="0"/>
              <a:t>Advantages</a:t>
            </a:r>
          </a:p>
          <a:p>
            <a:pPr marL="285750" indent="-285750">
              <a:buFont typeface="Arial" panose="020B0604020202020204" pitchFamily="34" charset="0"/>
              <a:buChar char="•"/>
            </a:pPr>
            <a:r>
              <a:rPr lang="en-US" b="1" dirty="0"/>
              <a:t>Higher space efficiency</a:t>
            </a:r>
            <a:r>
              <a:rPr lang="en-US" dirty="0"/>
              <a:t> (nodes ~2/3 full).</a:t>
            </a:r>
          </a:p>
          <a:p>
            <a:pPr marL="285750" indent="-285750">
              <a:buFont typeface="Arial" panose="020B0604020202020204" pitchFamily="34" charset="0"/>
              <a:buChar char="•"/>
            </a:pPr>
            <a:r>
              <a:rPr lang="en-US" b="1" dirty="0"/>
              <a:t>Fewer splits</a:t>
            </a:r>
            <a:r>
              <a:rPr lang="en-US" dirty="0"/>
              <a:t>, meaning fewer disk writes.</a:t>
            </a:r>
          </a:p>
          <a:p>
            <a:pPr marL="285750" indent="-285750">
              <a:buFont typeface="Arial" panose="020B0604020202020204" pitchFamily="34" charset="0"/>
              <a:buChar char="•"/>
            </a:pPr>
            <a:r>
              <a:rPr lang="en-US" b="1" dirty="0"/>
              <a:t>Better performance</a:t>
            </a:r>
            <a:r>
              <a:rPr lang="en-US" dirty="0"/>
              <a:t> for large databases and file systems.</a:t>
            </a:r>
          </a:p>
          <a:p>
            <a:pPr marL="285750" indent="-285750">
              <a:buFont typeface="Arial" panose="020B0604020202020204" pitchFamily="34" charset="0"/>
              <a:buChar char="•"/>
            </a:pPr>
            <a:r>
              <a:rPr lang="en-US" b="1" dirty="0"/>
              <a:t>Balanced height</a:t>
            </a:r>
            <a:r>
              <a:rPr lang="en-US" dirty="0"/>
              <a:t> → predictable search time.</a:t>
            </a:r>
          </a:p>
          <a:p>
            <a:endParaRPr lang="en-US" b="1" dirty="0" smtClean="0">
              <a:solidFill>
                <a:srgbClr val="FF0000"/>
              </a:solidFill>
            </a:endParaRPr>
          </a:p>
          <a:p>
            <a:r>
              <a:rPr lang="en-US" b="1" dirty="0"/>
              <a:t>Key vs Data</a:t>
            </a:r>
          </a:p>
          <a:p>
            <a:pPr marL="285750" indent="-285750">
              <a:buFont typeface="Arial" panose="020B0604020202020204" pitchFamily="34" charset="0"/>
              <a:buChar char="•"/>
            </a:pPr>
            <a:r>
              <a:rPr lang="en-US" b="1" dirty="0"/>
              <a:t>Internal nodes:</a:t>
            </a:r>
            <a:r>
              <a:rPr lang="en-US" dirty="0"/>
              <a:t> keys only (navigation).</a:t>
            </a:r>
          </a:p>
          <a:p>
            <a:pPr marL="285750" indent="-285750">
              <a:buFont typeface="Arial" panose="020B0604020202020204" pitchFamily="34" charset="0"/>
              <a:buChar char="•"/>
            </a:pPr>
            <a:r>
              <a:rPr lang="en-US" b="1" dirty="0"/>
              <a:t>Leaf nodes:</a:t>
            </a:r>
            <a:r>
              <a:rPr lang="en-US" dirty="0"/>
              <a:t> keys + data (actual records).</a:t>
            </a:r>
          </a:p>
          <a:p>
            <a:endParaRPr lang="en-US" b="1" dirty="0">
              <a:solidFill>
                <a:srgbClr val="FF0000"/>
              </a:solidFill>
            </a:endParaRPr>
          </a:p>
        </p:txBody>
      </p:sp>
      <p:graphicFrame>
        <p:nvGraphicFramePr>
          <p:cNvPr id="2" name="Table 1"/>
          <p:cNvGraphicFramePr>
            <a:graphicFrameLocks noGrp="1"/>
          </p:cNvGraphicFramePr>
          <p:nvPr>
            <p:extLst>
              <p:ext uri="{D42A27DB-BD31-4B8C-83A1-F6EECF244321}">
                <p14:modId xmlns:p14="http://schemas.microsoft.com/office/powerpoint/2010/main" val="3776315808"/>
              </p:ext>
            </p:extLst>
          </p:nvPr>
        </p:nvGraphicFramePr>
        <p:xfrm>
          <a:off x="249381" y="1128469"/>
          <a:ext cx="10515600" cy="2194560"/>
        </p:xfrm>
        <a:graphic>
          <a:graphicData uri="http://schemas.openxmlformats.org/drawingml/2006/table">
            <a:tbl>
              <a:tblPr/>
              <a:tblGrid>
                <a:gridCol w="3505200"/>
                <a:gridCol w="3505200"/>
                <a:gridCol w="3505200"/>
              </a:tblGrid>
              <a:tr h="0">
                <a:tc>
                  <a:txBody>
                    <a:bodyPr/>
                    <a:lstStyle/>
                    <a:p>
                      <a:pPr algn="ctr"/>
                      <a:r>
                        <a:rPr lang="en-IN" b="1" dirty="0"/>
                        <a:t>Feature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B+ Tree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dirty="0"/>
                        <a:t>B★ Tree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IN" dirty="0"/>
                        <a:t>Minimum node fill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a:t>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a:t>66%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IN" dirty="0"/>
                        <a:t>Redistribution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Optional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a:t>Mandatory before split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IN"/>
                        <a:t>Space utilization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Moderate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a:t>High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IN"/>
                        <a:t>Splitting frequency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More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Less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IN"/>
                        <a:t>Performance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a:t>Good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Better for large datasets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140059769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646331"/>
          </a:xfrm>
          <a:prstGeom prst="rect">
            <a:avLst/>
          </a:prstGeom>
        </p:spPr>
        <p:txBody>
          <a:bodyPr wrap="square">
            <a:spAutoFit/>
          </a:bodyPr>
          <a:lstStyle/>
          <a:p>
            <a:r>
              <a:rPr lang="en-US" b="1" dirty="0" smtClean="0">
                <a:solidFill>
                  <a:srgbClr val="FF0000"/>
                </a:solidFill>
              </a:rPr>
              <a:t>B * Tree</a:t>
            </a:r>
          </a:p>
          <a:p>
            <a:endParaRPr lang="en-US" b="1" dirty="0">
              <a:solidFill>
                <a:srgbClr val="FF0000"/>
              </a:solidFill>
            </a:endParaRPr>
          </a:p>
        </p:txBody>
      </p:sp>
      <p:pic>
        <p:nvPicPr>
          <p:cNvPr id="7" name="Picture 6"/>
          <p:cNvPicPr>
            <a:picLocks noChangeAspect="1"/>
          </p:cNvPicPr>
          <p:nvPr/>
        </p:nvPicPr>
        <p:blipFill>
          <a:blip r:embed="rId3"/>
          <a:stretch>
            <a:fillRect/>
          </a:stretch>
        </p:blipFill>
        <p:spPr>
          <a:xfrm>
            <a:off x="127142" y="872837"/>
            <a:ext cx="4572638" cy="5877098"/>
          </a:xfrm>
          <a:prstGeom prst="rect">
            <a:avLst/>
          </a:prstGeom>
        </p:spPr>
      </p:pic>
      <p:pic>
        <p:nvPicPr>
          <p:cNvPr id="8" name="Picture 7"/>
          <p:cNvPicPr>
            <a:picLocks noChangeAspect="1"/>
          </p:cNvPicPr>
          <p:nvPr/>
        </p:nvPicPr>
        <p:blipFill>
          <a:blip r:embed="rId4"/>
          <a:stretch>
            <a:fillRect/>
          </a:stretch>
        </p:blipFill>
        <p:spPr>
          <a:xfrm>
            <a:off x="4922310" y="1128469"/>
            <a:ext cx="5506218" cy="5106113"/>
          </a:xfrm>
          <a:prstGeom prst="rect">
            <a:avLst/>
          </a:prstGeom>
        </p:spPr>
      </p:pic>
    </p:spTree>
    <p:extLst>
      <p:ext uri="{BB962C8B-B14F-4D97-AF65-F5344CB8AC3E}">
        <p14:creationId xmlns:p14="http://schemas.microsoft.com/office/powerpoint/2010/main" val="55112486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646331"/>
          </a:xfrm>
          <a:prstGeom prst="rect">
            <a:avLst/>
          </a:prstGeom>
        </p:spPr>
        <p:txBody>
          <a:bodyPr wrap="square">
            <a:spAutoFit/>
          </a:bodyPr>
          <a:lstStyle/>
          <a:p>
            <a:r>
              <a:rPr lang="en-US" b="1" dirty="0" smtClean="0">
                <a:solidFill>
                  <a:srgbClr val="FF0000"/>
                </a:solidFill>
              </a:rPr>
              <a:t>B * Tree</a:t>
            </a:r>
          </a:p>
          <a:p>
            <a:endParaRPr lang="en-US" b="1" dirty="0">
              <a:solidFill>
                <a:srgbClr val="FF0000"/>
              </a:solidFill>
            </a:endParaRPr>
          </a:p>
        </p:txBody>
      </p:sp>
      <p:pic>
        <p:nvPicPr>
          <p:cNvPr id="9" name="Picture 8"/>
          <p:cNvPicPr>
            <a:picLocks noChangeAspect="1"/>
          </p:cNvPicPr>
          <p:nvPr/>
        </p:nvPicPr>
        <p:blipFill>
          <a:blip r:embed="rId3"/>
          <a:stretch>
            <a:fillRect/>
          </a:stretch>
        </p:blipFill>
        <p:spPr>
          <a:xfrm>
            <a:off x="124132" y="955964"/>
            <a:ext cx="6773220" cy="5618515"/>
          </a:xfrm>
          <a:prstGeom prst="rect">
            <a:avLst/>
          </a:prstGeom>
        </p:spPr>
      </p:pic>
    </p:spTree>
    <p:extLst>
      <p:ext uri="{BB962C8B-B14F-4D97-AF65-F5344CB8AC3E}">
        <p14:creationId xmlns:p14="http://schemas.microsoft.com/office/powerpoint/2010/main" val="160804519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646331"/>
          </a:xfrm>
          <a:prstGeom prst="rect">
            <a:avLst/>
          </a:prstGeom>
        </p:spPr>
        <p:txBody>
          <a:bodyPr wrap="square">
            <a:spAutoFit/>
          </a:bodyPr>
          <a:lstStyle/>
          <a:p>
            <a:r>
              <a:rPr lang="en-US" b="1" dirty="0" smtClean="0">
                <a:solidFill>
                  <a:srgbClr val="FF0000"/>
                </a:solidFill>
              </a:rPr>
              <a:t>B * Tree</a:t>
            </a:r>
          </a:p>
          <a:p>
            <a:endParaRPr lang="en-US" b="1" dirty="0">
              <a:solidFill>
                <a:srgbClr val="FF0000"/>
              </a:solidFill>
            </a:endParaRPr>
          </a:p>
        </p:txBody>
      </p:sp>
      <p:pic>
        <p:nvPicPr>
          <p:cNvPr id="7" name="Picture 6"/>
          <p:cNvPicPr>
            <a:picLocks noChangeAspect="1"/>
          </p:cNvPicPr>
          <p:nvPr/>
        </p:nvPicPr>
        <p:blipFill>
          <a:blip r:embed="rId3"/>
          <a:stretch>
            <a:fillRect/>
          </a:stretch>
        </p:blipFill>
        <p:spPr>
          <a:xfrm>
            <a:off x="148195" y="989215"/>
            <a:ext cx="5677692" cy="5708565"/>
          </a:xfrm>
          <a:prstGeom prst="rect">
            <a:avLst/>
          </a:prstGeom>
        </p:spPr>
      </p:pic>
    </p:spTree>
    <p:extLst>
      <p:ext uri="{BB962C8B-B14F-4D97-AF65-F5344CB8AC3E}">
        <p14:creationId xmlns:p14="http://schemas.microsoft.com/office/powerpoint/2010/main" val="99890623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646331"/>
          </a:xfrm>
          <a:prstGeom prst="rect">
            <a:avLst/>
          </a:prstGeom>
        </p:spPr>
        <p:txBody>
          <a:bodyPr wrap="square">
            <a:spAutoFit/>
          </a:bodyPr>
          <a:lstStyle/>
          <a:p>
            <a:r>
              <a:rPr lang="en-US" b="1" dirty="0" smtClean="0">
                <a:solidFill>
                  <a:srgbClr val="FF0000"/>
                </a:solidFill>
              </a:rPr>
              <a:t>B * Tree</a:t>
            </a:r>
          </a:p>
          <a:p>
            <a:endParaRPr lang="en-US" b="1" dirty="0">
              <a:solidFill>
                <a:srgbClr val="FF0000"/>
              </a:solidFill>
            </a:endParaRPr>
          </a:p>
        </p:txBody>
      </p:sp>
      <p:pic>
        <p:nvPicPr>
          <p:cNvPr id="8" name="Picture 7"/>
          <p:cNvPicPr>
            <a:picLocks noChangeAspect="1"/>
          </p:cNvPicPr>
          <p:nvPr/>
        </p:nvPicPr>
        <p:blipFill>
          <a:blip r:embed="rId3"/>
          <a:stretch>
            <a:fillRect/>
          </a:stretch>
        </p:blipFill>
        <p:spPr>
          <a:xfrm>
            <a:off x="186664" y="978806"/>
            <a:ext cx="6854215" cy="1539949"/>
          </a:xfrm>
          <a:prstGeom prst="rect">
            <a:avLst/>
          </a:prstGeom>
        </p:spPr>
      </p:pic>
      <p:pic>
        <p:nvPicPr>
          <p:cNvPr id="9" name="Picture 8"/>
          <p:cNvPicPr>
            <a:picLocks noChangeAspect="1"/>
          </p:cNvPicPr>
          <p:nvPr/>
        </p:nvPicPr>
        <p:blipFill>
          <a:blip r:embed="rId4"/>
          <a:stretch>
            <a:fillRect/>
          </a:stretch>
        </p:blipFill>
        <p:spPr>
          <a:xfrm>
            <a:off x="186664" y="2853340"/>
            <a:ext cx="4172532" cy="3057952"/>
          </a:xfrm>
          <a:prstGeom prst="rect">
            <a:avLst/>
          </a:prstGeom>
        </p:spPr>
      </p:pic>
    </p:spTree>
    <p:extLst>
      <p:ext uri="{BB962C8B-B14F-4D97-AF65-F5344CB8AC3E}">
        <p14:creationId xmlns:p14="http://schemas.microsoft.com/office/powerpoint/2010/main" val="4085420437"/>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5355312"/>
          </a:xfrm>
          <a:prstGeom prst="rect">
            <a:avLst/>
          </a:prstGeom>
        </p:spPr>
        <p:txBody>
          <a:bodyPr wrap="square">
            <a:spAutoFit/>
          </a:bodyPr>
          <a:lstStyle/>
          <a:p>
            <a:r>
              <a:rPr lang="en-US" b="1" dirty="0" smtClean="0">
                <a:solidFill>
                  <a:srgbClr val="FF0000"/>
                </a:solidFill>
              </a:rPr>
              <a:t>B * Tree</a:t>
            </a:r>
          </a:p>
          <a:p>
            <a:endParaRPr lang="en-US" b="1" dirty="0" smtClean="0">
              <a:solidFill>
                <a:srgbClr val="FF0000"/>
              </a:solidFill>
            </a:endParaRPr>
          </a:p>
          <a:p>
            <a:r>
              <a:rPr lang="en-US" dirty="0"/>
              <a:t>A </a:t>
            </a:r>
            <a:r>
              <a:rPr lang="en-US" b="1" dirty="0"/>
              <a:t>B★ Tree</a:t>
            </a:r>
            <a:r>
              <a:rPr lang="en-US" dirty="0"/>
              <a:t> is like a </a:t>
            </a:r>
            <a:r>
              <a:rPr lang="en-US" b="1" dirty="0"/>
              <a:t>B+ Tree</a:t>
            </a:r>
            <a:r>
              <a:rPr lang="en-US" dirty="0"/>
              <a:t>, but it tries to </a:t>
            </a:r>
            <a:r>
              <a:rPr lang="en-US" b="1" dirty="0"/>
              <a:t>redistribute keys with siblings before splitting</a:t>
            </a:r>
            <a:r>
              <a:rPr lang="en-US" dirty="0"/>
              <a:t>. This keeps nodes more densely packed (about 2/3 full instead of just half full).</a:t>
            </a:r>
          </a:p>
          <a:p>
            <a:endParaRPr lang="en-US" b="1" dirty="0" smtClean="0">
              <a:solidFill>
                <a:srgbClr val="FF0000"/>
              </a:solidFill>
            </a:endParaRPr>
          </a:p>
          <a:p>
            <a:r>
              <a:rPr lang="en-IN" b="1" dirty="0"/>
              <a:t>Program Components</a:t>
            </a:r>
          </a:p>
          <a:p>
            <a:endParaRPr lang="en-IN" b="1" dirty="0"/>
          </a:p>
          <a:p>
            <a:r>
              <a:rPr lang="en-IN" b="1" dirty="0" err="1"/>
              <a:t>BStarNode</a:t>
            </a:r>
            <a:endParaRPr lang="en-IN" b="1" dirty="0"/>
          </a:p>
          <a:p>
            <a:pPr marL="285750" indent="-285750">
              <a:buFont typeface="Arial" panose="020B0604020202020204" pitchFamily="34" charset="0"/>
              <a:buChar char="•"/>
            </a:pPr>
            <a:r>
              <a:rPr lang="en-US" dirty="0"/>
              <a:t>keys → list of integer keys (in sorted order).</a:t>
            </a:r>
          </a:p>
          <a:p>
            <a:pPr marL="285750" indent="-285750">
              <a:buFont typeface="Arial" panose="020B0604020202020204" pitchFamily="34" charset="0"/>
              <a:buChar char="•"/>
            </a:pPr>
            <a:r>
              <a:rPr lang="en-US" dirty="0"/>
              <a:t>children → references to child nodes.</a:t>
            </a:r>
          </a:p>
          <a:p>
            <a:pPr marL="285750" indent="-285750">
              <a:buFont typeface="Arial" panose="020B0604020202020204" pitchFamily="34" charset="0"/>
              <a:buChar char="•"/>
            </a:pPr>
            <a:r>
              <a:rPr lang="en-US" dirty="0" err="1"/>
              <a:t>isLeaf</a:t>
            </a:r>
            <a:r>
              <a:rPr lang="en-US" dirty="0"/>
              <a:t> → flag to check if the node is a leaf.</a:t>
            </a:r>
          </a:p>
          <a:p>
            <a:endParaRPr lang="en-IN" dirty="0"/>
          </a:p>
          <a:p>
            <a:pPr marL="285750" indent="-285750">
              <a:buFont typeface="Arial" panose="020B0604020202020204" pitchFamily="34" charset="0"/>
              <a:buChar char="•"/>
            </a:pPr>
            <a:r>
              <a:rPr lang="en-US" dirty="0"/>
              <a:t>Internal nodes = keys only (navigation).</a:t>
            </a:r>
          </a:p>
          <a:p>
            <a:pPr marL="285750" indent="-285750">
              <a:buFont typeface="Arial" panose="020B0604020202020204" pitchFamily="34" charset="0"/>
              <a:buChar char="•"/>
            </a:pPr>
            <a:r>
              <a:rPr lang="en-US" dirty="0"/>
              <a:t>Leaf nodes = keys (which act as both keys and data in this demo).</a:t>
            </a:r>
          </a:p>
          <a:p>
            <a:endParaRPr lang="en-IN" dirty="0"/>
          </a:p>
          <a:p>
            <a:r>
              <a:rPr lang="en-IN" b="1" dirty="0"/>
              <a:t>BStarTreeExample15</a:t>
            </a:r>
          </a:p>
          <a:p>
            <a:pPr marL="285750" indent="-285750">
              <a:buFont typeface="Arial" panose="020B0604020202020204" pitchFamily="34" charset="0"/>
              <a:buChar char="•"/>
            </a:pPr>
            <a:r>
              <a:rPr lang="en-IN" dirty="0"/>
              <a:t>root → the root node.</a:t>
            </a:r>
          </a:p>
          <a:p>
            <a:pPr marL="285750" indent="-285750">
              <a:buFont typeface="Arial" panose="020B0604020202020204" pitchFamily="34" charset="0"/>
              <a:buChar char="•"/>
            </a:pPr>
            <a:r>
              <a:rPr lang="en-US" dirty="0" err="1"/>
              <a:t>maxKeys</a:t>
            </a:r>
            <a:r>
              <a:rPr lang="en-US" dirty="0"/>
              <a:t> → maximum number of keys allowed in a node before redistribution/split.</a:t>
            </a:r>
          </a:p>
          <a:p>
            <a:endParaRPr lang="en-US" b="1" dirty="0">
              <a:solidFill>
                <a:srgbClr val="FF0000"/>
              </a:solidFill>
            </a:endParaRPr>
          </a:p>
        </p:txBody>
      </p:sp>
    </p:spTree>
    <p:extLst>
      <p:ext uri="{BB962C8B-B14F-4D97-AF65-F5344CB8AC3E}">
        <p14:creationId xmlns:p14="http://schemas.microsoft.com/office/powerpoint/2010/main" val="3715092673"/>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6186309"/>
          </a:xfrm>
          <a:prstGeom prst="rect">
            <a:avLst/>
          </a:prstGeom>
        </p:spPr>
        <p:txBody>
          <a:bodyPr wrap="square">
            <a:spAutoFit/>
          </a:bodyPr>
          <a:lstStyle/>
          <a:p>
            <a:r>
              <a:rPr lang="en-US" b="1" dirty="0" smtClean="0">
                <a:solidFill>
                  <a:srgbClr val="FF0000"/>
                </a:solidFill>
              </a:rPr>
              <a:t>B * Tree</a:t>
            </a:r>
          </a:p>
          <a:p>
            <a:r>
              <a:rPr lang="en-IN" b="1" dirty="0" smtClean="0"/>
              <a:t>Main Operations</a:t>
            </a:r>
          </a:p>
          <a:p>
            <a:endParaRPr lang="en-US" b="1" dirty="0">
              <a:solidFill>
                <a:srgbClr val="FF0000"/>
              </a:solidFill>
            </a:endParaRPr>
          </a:p>
          <a:p>
            <a:r>
              <a:rPr lang="en-IN" b="1" dirty="0" smtClean="0"/>
              <a:t>Insert</a:t>
            </a:r>
          </a:p>
          <a:p>
            <a:pPr marL="285750" indent="-285750">
              <a:buFont typeface="Arial" panose="020B0604020202020204" pitchFamily="34" charset="0"/>
              <a:buChar char="•"/>
            </a:pPr>
            <a:r>
              <a:rPr lang="en-US" dirty="0"/>
              <a:t>Inserts a key into the tree.</a:t>
            </a:r>
          </a:p>
          <a:p>
            <a:pPr marL="285750" indent="-285750">
              <a:buFont typeface="Arial" panose="020B0604020202020204" pitchFamily="34" charset="0"/>
              <a:buChar char="•"/>
            </a:pPr>
            <a:r>
              <a:rPr lang="en-US" dirty="0"/>
              <a:t>If root is full → calls </a:t>
            </a:r>
            <a:r>
              <a:rPr lang="en-US" dirty="0" err="1"/>
              <a:t>splitRoot</a:t>
            </a:r>
            <a:r>
              <a:rPr lang="en-US" dirty="0"/>
              <a:t>().</a:t>
            </a:r>
          </a:p>
          <a:p>
            <a:endParaRPr lang="en-IN" dirty="0"/>
          </a:p>
          <a:p>
            <a:r>
              <a:rPr lang="en-IN" b="1" dirty="0" err="1"/>
              <a:t>InsertInternal</a:t>
            </a:r>
            <a:endParaRPr lang="en-IN" b="1" dirty="0"/>
          </a:p>
          <a:p>
            <a:pPr marL="285750" indent="-285750">
              <a:buFont typeface="Arial" panose="020B0604020202020204" pitchFamily="34" charset="0"/>
              <a:buChar char="•"/>
            </a:pPr>
            <a:r>
              <a:rPr lang="en-US" dirty="0"/>
              <a:t>If node is a leaf → insert key in sorted order.</a:t>
            </a:r>
          </a:p>
          <a:p>
            <a:pPr marL="285750" indent="-285750">
              <a:buFont typeface="Arial" panose="020B0604020202020204" pitchFamily="34" charset="0"/>
              <a:buChar char="•"/>
            </a:pPr>
            <a:r>
              <a:rPr lang="en-US" dirty="0"/>
              <a:t>If node is internal → find correct child and insert recursively.</a:t>
            </a:r>
          </a:p>
          <a:p>
            <a:pPr marL="285750" indent="-285750">
              <a:buFont typeface="Arial" panose="020B0604020202020204" pitchFamily="34" charset="0"/>
              <a:buChar char="•"/>
            </a:pPr>
            <a:r>
              <a:rPr lang="en-US" dirty="0"/>
              <a:t>If child overflows → call </a:t>
            </a:r>
            <a:r>
              <a:rPr lang="en-US" dirty="0" err="1"/>
              <a:t>handleOverflow</a:t>
            </a:r>
            <a:r>
              <a:rPr lang="en-US" dirty="0"/>
              <a:t>().</a:t>
            </a:r>
          </a:p>
          <a:p>
            <a:endParaRPr lang="en-IN" dirty="0"/>
          </a:p>
          <a:p>
            <a:r>
              <a:rPr lang="en-IN" b="1" dirty="0" err="1"/>
              <a:t>HandleOverflow</a:t>
            </a:r>
            <a:endParaRPr lang="en-IN" b="1" dirty="0"/>
          </a:p>
          <a:p>
            <a:pPr marL="285750" indent="-285750">
              <a:buFont typeface="Arial" panose="020B0604020202020204" pitchFamily="34" charset="0"/>
              <a:buChar char="•"/>
            </a:pPr>
            <a:r>
              <a:rPr lang="en-US" dirty="0"/>
              <a:t>First tries redistribution with the right sibling.</a:t>
            </a:r>
          </a:p>
          <a:p>
            <a:pPr marL="285750" indent="-285750">
              <a:buFont typeface="Arial" panose="020B0604020202020204" pitchFamily="34" charset="0"/>
              <a:buChar char="•"/>
            </a:pPr>
            <a:r>
              <a:rPr lang="en-US" dirty="0"/>
              <a:t>If redistribution isn’t possible → performs a split.</a:t>
            </a:r>
          </a:p>
          <a:p>
            <a:endParaRPr lang="en-IN" dirty="0"/>
          </a:p>
          <a:p>
            <a:r>
              <a:rPr lang="en-IN" b="1" dirty="0" err="1"/>
              <a:t>SplitChild</a:t>
            </a:r>
            <a:endParaRPr lang="en-IN" b="1" dirty="0"/>
          </a:p>
          <a:p>
            <a:pPr marL="285750" indent="-285750">
              <a:buFont typeface="Arial" panose="020B0604020202020204" pitchFamily="34" charset="0"/>
              <a:buChar char="•"/>
            </a:pPr>
            <a:r>
              <a:rPr lang="en-US" dirty="0"/>
              <a:t>Splits a full child into two nodes.</a:t>
            </a:r>
          </a:p>
          <a:p>
            <a:pPr marL="285750" indent="-285750">
              <a:buFont typeface="Arial" panose="020B0604020202020204" pitchFamily="34" charset="0"/>
              <a:buChar char="•"/>
            </a:pPr>
            <a:r>
              <a:rPr lang="en-US" dirty="0"/>
              <a:t>Promotes the middle key to the parent.</a:t>
            </a:r>
          </a:p>
          <a:p>
            <a:endParaRPr lang="en-IN" dirty="0"/>
          </a:p>
          <a:p>
            <a:r>
              <a:rPr lang="en-IN" b="1" dirty="0"/>
              <a:t>Traverse</a:t>
            </a:r>
          </a:p>
          <a:p>
            <a:pPr marL="285750" indent="-285750">
              <a:buFont typeface="Arial" panose="020B0604020202020204" pitchFamily="34" charset="0"/>
              <a:buChar char="•"/>
            </a:pPr>
            <a:r>
              <a:rPr lang="en-US" dirty="0"/>
              <a:t>Performs an in‑order traversal, printing all keys in sorted order</a:t>
            </a:r>
            <a:r>
              <a:rPr lang="en-US" dirty="0" smtClean="0"/>
              <a:t>.</a:t>
            </a:r>
            <a:endParaRPr lang="en-US" b="1" dirty="0" smtClean="0">
              <a:solidFill>
                <a:srgbClr val="FF0000"/>
              </a:solidFill>
            </a:endParaRPr>
          </a:p>
        </p:txBody>
      </p:sp>
    </p:spTree>
    <p:extLst>
      <p:ext uri="{BB962C8B-B14F-4D97-AF65-F5344CB8AC3E}">
        <p14:creationId xmlns:p14="http://schemas.microsoft.com/office/powerpoint/2010/main" val="1148713184"/>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6186309"/>
          </a:xfrm>
          <a:prstGeom prst="rect">
            <a:avLst/>
          </a:prstGeom>
        </p:spPr>
        <p:txBody>
          <a:bodyPr wrap="square">
            <a:spAutoFit/>
          </a:bodyPr>
          <a:lstStyle/>
          <a:p>
            <a:r>
              <a:rPr lang="en-US" b="1" dirty="0" smtClean="0">
                <a:solidFill>
                  <a:srgbClr val="FF0000"/>
                </a:solidFill>
              </a:rPr>
              <a:t>B * Tree</a:t>
            </a:r>
          </a:p>
          <a:p>
            <a:endParaRPr lang="en-US" b="1" dirty="0">
              <a:solidFill>
                <a:srgbClr val="FF0000"/>
              </a:solidFill>
            </a:endParaRPr>
          </a:p>
          <a:p>
            <a:r>
              <a:rPr lang="en-IN" b="1" dirty="0"/>
              <a:t>Execution </a:t>
            </a:r>
            <a:r>
              <a:rPr lang="en-IN" b="1" dirty="0" smtClean="0"/>
              <a:t>Flow</a:t>
            </a:r>
          </a:p>
          <a:p>
            <a:endParaRPr lang="en-US" b="1" dirty="0">
              <a:solidFill>
                <a:srgbClr val="FF0000"/>
              </a:solidFill>
            </a:endParaRPr>
          </a:p>
          <a:p>
            <a:endParaRPr lang="en-US" b="1" dirty="0" smtClean="0">
              <a:solidFill>
                <a:srgbClr val="FF0000"/>
              </a:solidFill>
            </a:endParaRPr>
          </a:p>
          <a:p>
            <a:pPr marL="285750" indent="-285750">
              <a:buFont typeface="Arial" panose="020B0604020202020204" pitchFamily="34" charset="0"/>
              <a:buChar char="•"/>
            </a:pPr>
            <a:r>
              <a:rPr lang="en-US" dirty="0"/>
              <a:t>Inserts each value into the B★ Tree.</a:t>
            </a:r>
          </a:p>
          <a:p>
            <a:pPr marL="285750" indent="-285750">
              <a:buFont typeface="Arial" panose="020B0604020202020204" pitchFamily="34" charset="0"/>
              <a:buChar char="•"/>
            </a:pPr>
            <a:r>
              <a:rPr lang="en-US" dirty="0" smtClean="0"/>
              <a:t>Redistributes </a:t>
            </a:r>
            <a:r>
              <a:rPr lang="en-US" dirty="0"/>
              <a:t>or splits nodes when necessary.</a:t>
            </a:r>
          </a:p>
          <a:p>
            <a:pPr marL="285750" indent="-285750">
              <a:buFont typeface="Arial" panose="020B0604020202020204" pitchFamily="34" charset="0"/>
              <a:buChar char="•"/>
            </a:pPr>
            <a:r>
              <a:rPr lang="en-IN" dirty="0" smtClean="0"/>
              <a:t>Finally </a:t>
            </a:r>
            <a:r>
              <a:rPr lang="en-IN" dirty="0"/>
              <a:t>prints</a:t>
            </a:r>
            <a:r>
              <a:rPr lang="en-IN" dirty="0" smtClean="0"/>
              <a: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smtClean="0"/>
          </a:p>
          <a:p>
            <a:endParaRPr lang="en-US" dirty="0"/>
          </a:p>
          <a:p>
            <a:r>
              <a:rPr lang="en-IN" b="1" dirty="0"/>
              <a:t>Final Structure (Simplified</a:t>
            </a:r>
            <a:r>
              <a:rPr lang="en-IN" b="1" dirty="0" smtClean="0"/>
              <a:t>)</a:t>
            </a:r>
          </a:p>
          <a:p>
            <a:endParaRPr lang="en-US" b="1" dirty="0"/>
          </a:p>
          <a:p>
            <a:endParaRPr lang="en-US" b="1" dirty="0" smtClean="0"/>
          </a:p>
          <a:p>
            <a:endParaRPr lang="en-US" b="1" dirty="0"/>
          </a:p>
          <a:p>
            <a:endParaRPr lang="en-US" b="1" dirty="0" smtClean="0"/>
          </a:p>
          <a:p>
            <a:pPr marL="285750" indent="-285750">
              <a:buFont typeface="Arial" panose="020B0604020202020204" pitchFamily="34" charset="0"/>
              <a:buChar char="•"/>
            </a:pPr>
            <a:r>
              <a:rPr lang="en-US" dirty="0"/>
              <a:t>Root contains a separator key [10].</a:t>
            </a:r>
          </a:p>
          <a:p>
            <a:pPr marL="285750" indent="-285750">
              <a:buFont typeface="Arial" panose="020B0604020202020204" pitchFamily="34" charset="0"/>
              <a:buChar char="•"/>
            </a:pPr>
            <a:r>
              <a:rPr lang="en-US" dirty="0" smtClean="0"/>
              <a:t>Left </a:t>
            </a:r>
            <a:r>
              <a:rPr lang="en-US" dirty="0"/>
              <a:t>child contains values &lt; 10.</a:t>
            </a:r>
          </a:p>
          <a:p>
            <a:pPr marL="285750" indent="-285750">
              <a:buFont typeface="Arial" panose="020B0604020202020204" pitchFamily="34" charset="0"/>
              <a:buChar char="•"/>
            </a:pPr>
            <a:r>
              <a:rPr lang="en-US" dirty="0" smtClean="0"/>
              <a:t>Right </a:t>
            </a:r>
            <a:r>
              <a:rPr lang="en-US" dirty="0"/>
              <a:t>child contains values ≥ 10.</a:t>
            </a:r>
          </a:p>
          <a:p>
            <a:pPr marL="285750" indent="-285750">
              <a:buFont typeface="Arial" panose="020B0604020202020204" pitchFamily="34" charset="0"/>
              <a:buChar char="•"/>
            </a:pPr>
            <a:r>
              <a:rPr lang="en-US" dirty="0" smtClean="0"/>
              <a:t>Redistribution </a:t>
            </a:r>
            <a:r>
              <a:rPr lang="en-US" dirty="0"/>
              <a:t>ensures nodes are ~2/3 full before splitting.</a:t>
            </a:r>
          </a:p>
          <a:p>
            <a:endParaRPr lang="en-IN" b="1" dirty="0"/>
          </a:p>
          <a:p>
            <a:endParaRPr lang="en-US" b="1" dirty="0" smtClean="0">
              <a:solidFill>
                <a:srgbClr val="FF0000"/>
              </a:solidFill>
            </a:endParaRPr>
          </a:p>
        </p:txBody>
      </p:sp>
      <p:pic>
        <p:nvPicPr>
          <p:cNvPr id="2" name="Picture 1"/>
          <p:cNvPicPr>
            <a:picLocks noChangeAspect="1"/>
          </p:cNvPicPr>
          <p:nvPr/>
        </p:nvPicPr>
        <p:blipFill>
          <a:blip r:embed="rId3"/>
          <a:stretch>
            <a:fillRect/>
          </a:stretch>
        </p:blipFill>
        <p:spPr>
          <a:xfrm>
            <a:off x="125810" y="1405468"/>
            <a:ext cx="3810532" cy="314369"/>
          </a:xfrm>
          <a:prstGeom prst="rect">
            <a:avLst/>
          </a:prstGeom>
        </p:spPr>
      </p:pic>
      <p:pic>
        <p:nvPicPr>
          <p:cNvPr id="7" name="Picture 6"/>
          <p:cNvPicPr>
            <a:picLocks noChangeAspect="1"/>
          </p:cNvPicPr>
          <p:nvPr/>
        </p:nvPicPr>
        <p:blipFill>
          <a:blip r:embed="rId4"/>
          <a:stretch>
            <a:fillRect/>
          </a:stretch>
        </p:blipFill>
        <p:spPr>
          <a:xfrm>
            <a:off x="363968" y="2854965"/>
            <a:ext cx="3334215" cy="333422"/>
          </a:xfrm>
          <a:prstGeom prst="rect">
            <a:avLst/>
          </a:prstGeom>
        </p:spPr>
      </p:pic>
      <p:pic>
        <p:nvPicPr>
          <p:cNvPr id="8" name="Picture 7"/>
          <p:cNvPicPr>
            <a:picLocks noChangeAspect="1"/>
          </p:cNvPicPr>
          <p:nvPr/>
        </p:nvPicPr>
        <p:blipFill>
          <a:blip r:embed="rId5"/>
          <a:stretch>
            <a:fillRect/>
          </a:stretch>
        </p:blipFill>
        <p:spPr>
          <a:xfrm>
            <a:off x="363968" y="3891150"/>
            <a:ext cx="2410161" cy="752580"/>
          </a:xfrm>
          <a:prstGeom prst="rect">
            <a:avLst/>
          </a:prstGeom>
        </p:spPr>
      </p:pic>
    </p:spTree>
    <p:extLst>
      <p:ext uri="{BB962C8B-B14F-4D97-AF65-F5344CB8AC3E}">
        <p14:creationId xmlns:p14="http://schemas.microsoft.com/office/powerpoint/2010/main" val="2514698649"/>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2308324"/>
          </a:xfrm>
          <a:prstGeom prst="rect">
            <a:avLst/>
          </a:prstGeom>
        </p:spPr>
        <p:txBody>
          <a:bodyPr wrap="square">
            <a:spAutoFit/>
          </a:bodyPr>
          <a:lstStyle/>
          <a:p>
            <a:r>
              <a:rPr lang="en-US" b="1" dirty="0" smtClean="0">
                <a:solidFill>
                  <a:srgbClr val="FF0000"/>
                </a:solidFill>
              </a:rPr>
              <a:t>B * Tree</a:t>
            </a:r>
          </a:p>
          <a:p>
            <a:endParaRPr lang="en-US" b="1" dirty="0">
              <a:solidFill>
                <a:srgbClr val="FF0000"/>
              </a:solidFill>
            </a:endParaRPr>
          </a:p>
          <a:p>
            <a:pPr marL="285750" indent="-285750">
              <a:buFont typeface="Arial" panose="020B0604020202020204" pitchFamily="34" charset="0"/>
              <a:buChar char="•"/>
            </a:pPr>
            <a:r>
              <a:rPr lang="en-IN" dirty="0" smtClean="0"/>
              <a:t>Keys </a:t>
            </a:r>
            <a:r>
              <a:rPr lang="en-IN" dirty="0"/>
              <a:t>= integers you insert.</a:t>
            </a:r>
          </a:p>
          <a:p>
            <a:pPr marL="285750" indent="-285750">
              <a:buFont typeface="Arial" panose="020B0604020202020204" pitchFamily="34" charset="0"/>
              <a:buChar char="•"/>
            </a:pPr>
            <a:r>
              <a:rPr lang="en-US" dirty="0" smtClean="0"/>
              <a:t>Data </a:t>
            </a:r>
            <a:r>
              <a:rPr lang="en-US" dirty="0"/>
              <a:t>= same as keys (no separate data field in this demo).</a:t>
            </a:r>
          </a:p>
          <a:p>
            <a:pPr marL="285750" indent="-285750">
              <a:buFont typeface="Arial" panose="020B0604020202020204" pitchFamily="34" charset="0"/>
              <a:buChar char="•"/>
            </a:pPr>
            <a:r>
              <a:rPr lang="en-US" dirty="0" smtClean="0"/>
              <a:t>Internal </a:t>
            </a:r>
            <a:r>
              <a:rPr lang="en-US" dirty="0"/>
              <a:t>nodes = keys only (navigation).</a:t>
            </a:r>
          </a:p>
          <a:p>
            <a:pPr marL="285750" indent="-285750">
              <a:buFont typeface="Arial" panose="020B0604020202020204" pitchFamily="34" charset="0"/>
              <a:buChar char="•"/>
            </a:pPr>
            <a:r>
              <a:rPr lang="en-US" dirty="0" smtClean="0"/>
              <a:t>Leaf </a:t>
            </a:r>
            <a:r>
              <a:rPr lang="en-US" dirty="0"/>
              <a:t>nodes = keys + data (actual records).</a:t>
            </a:r>
          </a:p>
          <a:p>
            <a:pPr marL="285750" indent="-285750">
              <a:buFont typeface="Arial" panose="020B0604020202020204" pitchFamily="34" charset="0"/>
              <a:buChar char="•"/>
            </a:pPr>
            <a:r>
              <a:rPr lang="en-US" dirty="0" smtClean="0"/>
              <a:t>Redistribution </a:t>
            </a:r>
            <a:r>
              <a:rPr lang="en-US" dirty="0"/>
              <a:t>before splitting = the unique feature of B★ Tree.</a:t>
            </a:r>
          </a:p>
          <a:p>
            <a:pPr marL="285750" indent="-285750">
              <a:buFont typeface="Arial" panose="020B0604020202020204" pitchFamily="34" charset="0"/>
              <a:buChar char="•"/>
            </a:pPr>
            <a:endParaRPr lang="en-US" b="1" dirty="0" smtClean="0">
              <a:solidFill>
                <a:srgbClr val="FF0000"/>
              </a:solidFill>
            </a:endParaRPr>
          </a:p>
        </p:txBody>
      </p:sp>
    </p:spTree>
    <p:extLst>
      <p:ext uri="{BB962C8B-B14F-4D97-AF65-F5344CB8AC3E}">
        <p14:creationId xmlns:p14="http://schemas.microsoft.com/office/powerpoint/2010/main" val="3048016293"/>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646331"/>
          </a:xfrm>
          <a:prstGeom prst="rect">
            <a:avLst/>
          </a:prstGeom>
        </p:spPr>
        <p:txBody>
          <a:bodyPr wrap="square">
            <a:spAutoFit/>
          </a:bodyPr>
          <a:lstStyle/>
          <a:p>
            <a:r>
              <a:rPr lang="en-US" b="1" dirty="0" smtClean="0">
                <a:solidFill>
                  <a:srgbClr val="FF0000"/>
                </a:solidFill>
              </a:rPr>
              <a:t>B * Tree</a:t>
            </a:r>
          </a:p>
          <a:p>
            <a:endParaRPr lang="en-US" b="1" dirty="0">
              <a:solidFill>
                <a:srgbClr val="FF0000"/>
              </a:solidFill>
            </a:endParaRPr>
          </a:p>
        </p:txBody>
      </p:sp>
      <p:pic>
        <p:nvPicPr>
          <p:cNvPr id="7" name="Picture 6"/>
          <p:cNvPicPr>
            <a:picLocks noChangeAspect="1"/>
          </p:cNvPicPr>
          <p:nvPr/>
        </p:nvPicPr>
        <p:blipFill>
          <a:blip r:embed="rId3"/>
          <a:stretch>
            <a:fillRect/>
          </a:stretch>
        </p:blipFill>
        <p:spPr>
          <a:xfrm>
            <a:off x="177557" y="958341"/>
            <a:ext cx="6782747" cy="5639587"/>
          </a:xfrm>
          <a:prstGeom prst="rect">
            <a:avLst/>
          </a:prstGeom>
        </p:spPr>
      </p:pic>
    </p:spTree>
    <p:extLst>
      <p:ext uri="{BB962C8B-B14F-4D97-AF65-F5344CB8AC3E}">
        <p14:creationId xmlns:p14="http://schemas.microsoft.com/office/powerpoint/2010/main" val="700920490"/>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3139321"/>
          </a:xfrm>
          <a:prstGeom prst="rect">
            <a:avLst/>
          </a:prstGeom>
        </p:spPr>
        <p:txBody>
          <a:bodyPr wrap="square">
            <a:spAutoFit/>
          </a:bodyPr>
          <a:lstStyle/>
          <a:p>
            <a:r>
              <a:rPr lang="en-US" b="1" dirty="0" smtClean="0">
                <a:solidFill>
                  <a:srgbClr val="FF0000"/>
                </a:solidFill>
              </a:rPr>
              <a:t>B Link Tree</a:t>
            </a:r>
          </a:p>
          <a:p>
            <a:endParaRPr lang="en-US" b="1" dirty="0" smtClean="0">
              <a:solidFill>
                <a:srgbClr val="FF0000"/>
              </a:solidFill>
            </a:endParaRPr>
          </a:p>
          <a:p>
            <a:r>
              <a:rPr lang="en-US" dirty="0"/>
              <a:t>A </a:t>
            </a:r>
            <a:r>
              <a:rPr lang="en-US" b="1" dirty="0"/>
              <a:t>B‑Link Tree</a:t>
            </a:r>
            <a:r>
              <a:rPr lang="en-US" dirty="0"/>
              <a:t> is essentially a </a:t>
            </a:r>
            <a:r>
              <a:rPr lang="en-US" b="1" dirty="0"/>
              <a:t>B+ Tree</a:t>
            </a:r>
            <a:r>
              <a:rPr lang="en-US" dirty="0"/>
              <a:t> with an extra </a:t>
            </a:r>
            <a:r>
              <a:rPr lang="en-US" dirty="0" smtClean="0"/>
              <a:t>twist:</a:t>
            </a:r>
          </a:p>
          <a:p>
            <a:pPr marL="285750" indent="-285750">
              <a:buFont typeface="Arial" panose="020B0604020202020204" pitchFamily="34" charset="0"/>
              <a:buChar char="•"/>
            </a:pPr>
            <a:r>
              <a:rPr lang="en-US" dirty="0" smtClean="0"/>
              <a:t>It </a:t>
            </a:r>
            <a:r>
              <a:rPr lang="en-US" dirty="0"/>
              <a:t>adds </a:t>
            </a:r>
            <a:r>
              <a:rPr lang="en-US" b="1" dirty="0"/>
              <a:t>sibling pointers</a:t>
            </a:r>
            <a:r>
              <a:rPr lang="en-US" dirty="0"/>
              <a:t> at every level (not just leaves).</a:t>
            </a:r>
          </a:p>
          <a:p>
            <a:pPr marL="285750" indent="-285750">
              <a:buFont typeface="Arial" panose="020B0604020202020204" pitchFamily="34" charset="0"/>
              <a:buChar char="•"/>
            </a:pPr>
            <a:r>
              <a:rPr lang="en-US" dirty="0"/>
              <a:t>This allows multiple threads or processes to </a:t>
            </a:r>
            <a:r>
              <a:rPr lang="en-US" b="1" dirty="0"/>
              <a:t>traverse and update the tree concurrently</a:t>
            </a:r>
            <a:r>
              <a:rPr lang="en-US" dirty="0"/>
              <a:t> without locking the entire structure.</a:t>
            </a:r>
          </a:p>
          <a:p>
            <a:endParaRPr lang="en-US" b="1" dirty="0" smtClean="0">
              <a:solidFill>
                <a:srgbClr val="FF0000"/>
              </a:solidFill>
            </a:endParaRPr>
          </a:p>
          <a:p>
            <a:r>
              <a:rPr lang="en-US" b="1" dirty="0"/>
              <a:t>Structure</a:t>
            </a:r>
          </a:p>
          <a:p>
            <a:pPr marL="285750" indent="-285750">
              <a:buFont typeface="Arial" panose="020B0604020202020204" pitchFamily="34" charset="0"/>
              <a:buChar char="•"/>
            </a:pPr>
            <a:r>
              <a:rPr lang="en-US" b="1" dirty="0"/>
              <a:t>Internal nodes:</a:t>
            </a:r>
            <a:r>
              <a:rPr lang="en-US" dirty="0"/>
              <a:t> contain </a:t>
            </a:r>
            <a:r>
              <a:rPr lang="en-US" b="1" dirty="0"/>
              <a:t>keys only</a:t>
            </a:r>
            <a:r>
              <a:rPr lang="en-US" dirty="0"/>
              <a:t> (used for navigation).</a:t>
            </a:r>
          </a:p>
          <a:p>
            <a:pPr marL="285750" indent="-285750">
              <a:buFont typeface="Arial" panose="020B0604020202020204" pitchFamily="34" charset="0"/>
              <a:buChar char="•"/>
            </a:pPr>
            <a:r>
              <a:rPr lang="en-US" b="1" dirty="0"/>
              <a:t>Leaf nodes:</a:t>
            </a:r>
            <a:r>
              <a:rPr lang="en-US" dirty="0"/>
              <a:t> contain </a:t>
            </a:r>
            <a:r>
              <a:rPr lang="en-US" b="1" dirty="0"/>
              <a:t>keys + data</a:t>
            </a:r>
            <a:r>
              <a:rPr lang="en-US" dirty="0"/>
              <a:t> (actual records).</a:t>
            </a:r>
          </a:p>
          <a:p>
            <a:pPr marL="285750" indent="-285750">
              <a:buFont typeface="Arial" panose="020B0604020202020204" pitchFamily="34" charset="0"/>
              <a:buChar char="•"/>
            </a:pPr>
            <a:r>
              <a:rPr lang="en-US" b="1" dirty="0"/>
              <a:t>Sibling pointers:</a:t>
            </a:r>
            <a:r>
              <a:rPr lang="en-US" dirty="0"/>
              <a:t> connect nodes horizontally at </a:t>
            </a:r>
            <a:r>
              <a:rPr lang="en-US" b="1" dirty="0"/>
              <a:t>every level</a:t>
            </a:r>
            <a:r>
              <a:rPr lang="en-US" dirty="0"/>
              <a:t> (not just leaves).</a:t>
            </a:r>
          </a:p>
          <a:p>
            <a:endParaRPr lang="en-US" b="1" dirty="0">
              <a:solidFill>
                <a:srgbClr val="FF0000"/>
              </a:solidFill>
            </a:endParaRPr>
          </a:p>
        </p:txBody>
      </p:sp>
      <p:pic>
        <p:nvPicPr>
          <p:cNvPr id="2" name="Picture 1"/>
          <p:cNvPicPr>
            <a:picLocks noChangeAspect="1"/>
          </p:cNvPicPr>
          <p:nvPr/>
        </p:nvPicPr>
        <p:blipFill>
          <a:blip r:embed="rId3"/>
          <a:stretch>
            <a:fillRect/>
          </a:stretch>
        </p:blipFill>
        <p:spPr>
          <a:xfrm>
            <a:off x="2078051" y="3676613"/>
            <a:ext cx="5591955" cy="733527"/>
          </a:xfrm>
          <a:prstGeom prst="rect">
            <a:avLst/>
          </a:prstGeom>
        </p:spPr>
      </p:pic>
    </p:spTree>
    <p:extLst>
      <p:ext uri="{BB962C8B-B14F-4D97-AF65-F5344CB8AC3E}">
        <p14:creationId xmlns:p14="http://schemas.microsoft.com/office/powerpoint/2010/main" val="756197592"/>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3693319"/>
          </a:xfrm>
          <a:prstGeom prst="rect">
            <a:avLst/>
          </a:prstGeom>
        </p:spPr>
        <p:txBody>
          <a:bodyPr wrap="square">
            <a:spAutoFit/>
          </a:bodyPr>
          <a:lstStyle/>
          <a:p>
            <a:r>
              <a:rPr lang="en-US" b="1" dirty="0" smtClean="0">
                <a:solidFill>
                  <a:srgbClr val="FF0000"/>
                </a:solidFill>
              </a:rPr>
              <a:t>B Link Tree</a:t>
            </a:r>
          </a:p>
          <a:p>
            <a:endParaRPr lang="en-US" b="1" dirty="0" smtClean="0">
              <a:solidFill>
                <a:srgbClr val="FF0000"/>
              </a:solidFill>
            </a:endParaRPr>
          </a:p>
          <a:p>
            <a:r>
              <a:rPr lang="en-US" b="1" dirty="0"/>
              <a:t>How It </a:t>
            </a:r>
            <a:r>
              <a:rPr lang="en-US" b="1" dirty="0" smtClean="0"/>
              <a:t>Works</a:t>
            </a:r>
          </a:p>
          <a:p>
            <a:endParaRPr lang="en-US" b="1" dirty="0"/>
          </a:p>
          <a:p>
            <a:pPr marL="285750" indent="-285750">
              <a:buFont typeface="Arial" panose="020B0604020202020204" pitchFamily="34" charset="0"/>
              <a:buChar char="•"/>
            </a:pPr>
            <a:r>
              <a:rPr lang="en-US" b="1" dirty="0"/>
              <a:t>Search</a:t>
            </a:r>
            <a:endParaRPr lang="en-US" dirty="0"/>
          </a:p>
          <a:p>
            <a:pPr marL="742950" lvl="1" indent="-285750">
              <a:buFont typeface="Arial" panose="020B0604020202020204" pitchFamily="34" charset="0"/>
              <a:buChar char="•"/>
            </a:pPr>
            <a:r>
              <a:rPr lang="en-US" dirty="0"/>
              <a:t>Works like a B+ Tree: follow keys down to the leaf.</a:t>
            </a:r>
          </a:p>
          <a:p>
            <a:pPr marL="742950" lvl="1" indent="-285750">
              <a:buFont typeface="Arial" panose="020B0604020202020204" pitchFamily="34" charset="0"/>
              <a:buChar char="•"/>
            </a:pPr>
            <a:r>
              <a:rPr lang="en-US" dirty="0"/>
              <a:t>If a node is being split, sibling pointers ensure you can still find the correct path.</a:t>
            </a:r>
          </a:p>
          <a:p>
            <a:pPr marL="285750" indent="-285750">
              <a:buFont typeface="Arial" panose="020B0604020202020204" pitchFamily="34" charset="0"/>
              <a:buChar char="•"/>
            </a:pPr>
            <a:r>
              <a:rPr lang="en-US" b="1" dirty="0"/>
              <a:t>Insertion</a:t>
            </a:r>
            <a:endParaRPr lang="en-US" dirty="0"/>
          </a:p>
          <a:p>
            <a:pPr marL="742950" lvl="1" indent="-285750">
              <a:buFont typeface="Arial" panose="020B0604020202020204" pitchFamily="34" charset="0"/>
              <a:buChar char="•"/>
            </a:pPr>
            <a:r>
              <a:rPr lang="en-US" dirty="0"/>
              <a:t>If a node is full, it splits.</a:t>
            </a:r>
          </a:p>
          <a:p>
            <a:pPr marL="742950" lvl="1" indent="-285750">
              <a:buFont typeface="Arial" panose="020B0604020202020204" pitchFamily="34" charset="0"/>
              <a:buChar char="•"/>
            </a:pPr>
            <a:r>
              <a:rPr lang="en-US" dirty="0"/>
              <a:t>The sibling pointer lets other threads continue searching without waiting for the split to finish.</a:t>
            </a:r>
          </a:p>
          <a:p>
            <a:pPr marL="285750" indent="-285750">
              <a:buFont typeface="Arial" panose="020B0604020202020204" pitchFamily="34" charset="0"/>
              <a:buChar char="•"/>
            </a:pPr>
            <a:r>
              <a:rPr lang="en-US" b="1" dirty="0"/>
              <a:t>Concurrency</a:t>
            </a:r>
            <a:endParaRPr lang="en-US" dirty="0"/>
          </a:p>
          <a:p>
            <a:pPr marL="742950" lvl="1" indent="-285750">
              <a:buFont typeface="Arial" panose="020B0604020202020204" pitchFamily="34" charset="0"/>
              <a:buChar char="•"/>
            </a:pPr>
            <a:r>
              <a:rPr lang="en-US" dirty="0"/>
              <a:t>Multiple operations (search, insert, delete) can happen in parallel.</a:t>
            </a:r>
          </a:p>
          <a:p>
            <a:pPr marL="742950" lvl="1" indent="-285750">
              <a:buFont typeface="Arial" panose="020B0604020202020204" pitchFamily="34" charset="0"/>
              <a:buChar char="•"/>
            </a:pPr>
            <a:r>
              <a:rPr lang="en-US" dirty="0"/>
              <a:t>Sibling pointers prevent “dead ends” during concurrent updates.</a:t>
            </a:r>
          </a:p>
        </p:txBody>
      </p:sp>
    </p:spTree>
    <p:extLst>
      <p:ext uri="{BB962C8B-B14F-4D97-AF65-F5344CB8AC3E}">
        <p14:creationId xmlns:p14="http://schemas.microsoft.com/office/powerpoint/2010/main" val="2613321614"/>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5355312"/>
          </a:xfrm>
          <a:prstGeom prst="rect">
            <a:avLst/>
          </a:prstGeom>
        </p:spPr>
        <p:txBody>
          <a:bodyPr wrap="square">
            <a:spAutoFit/>
          </a:bodyPr>
          <a:lstStyle/>
          <a:p>
            <a:r>
              <a:rPr lang="en-US" b="1" dirty="0" smtClean="0">
                <a:solidFill>
                  <a:srgbClr val="FF0000"/>
                </a:solidFill>
              </a:rPr>
              <a:t>B Link Tree</a:t>
            </a:r>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a:p>
            <a:r>
              <a:rPr lang="en-US" b="1" dirty="0"/>
              <a:t>Advantages</a:t>
            </a:r>
          </a:p>
          <a:p>
            <a:pPr marL="285750" indent="-285750">
              <a:buFont typeface="Arial" panose="020B0604020202020204" pitchFamily="34" charset="0"/>
              <a:buChar char="•"/>
            </a:pPr>
            <a:r>
              <a:rPr lang="en-US" b="1" dirty="0"/>
              <a:t>High concurrency:</a:t>
            </a:r>
            <a:r>
              <a:rPr lang="en-US" dirty="0"/>
              <a:t> multiple threads can safely traverse.</a:t>
            </a:r>
          </a:p>
          <a:p>
            <a:pPr marL="285750" indent="-285750">
              <a:buFont typeface="Arial" panose="020B0604020202020204" pitchFamily="34" charset="0"/>
              <a:buChar char="•"/>
            </a:pPr>
            <a:r>
              <a:rPr lang="en-US" b="1" dirty="0"/>
              <a:t>No blocking:</a:t>
            </a:r>
            <a:r>
              <a:rPr lang="en-US" dirty="0"/>
              <a:t> sibling pointers allow searches to continue even during splits.</a:t>
            </a:r>
          </a:p>
          <a:p>
            <a:pPr marL="285750" indent="-285750">
              <a:buFont typeface="Arial" panose="020B0604020202020204" pitchFamily="34" charset="0"/>
              <a:buChar char="•"/>
            </a:pPr>
            <a:r>
              <a:rPr lang="en-US" b="1" dirty="0"/>
              <a:t>Efficient for modern systems:</a:t>
            </a:r>
            <a:r>
              <a:rPr lang="en-US" dirty="0"/>
              <a:t> especially in multi‑core, multi‑threaded environments.</a:t>
            </a:r>
          </a:p>
          <a:p>
            <a:endParaRPr lang="en-US" b="1" dirty="0" smtClean="0">
              <a:solidFill>
                <a:srgbClr val="FF0000"/>
              </a:solidFill>
            </a:endParaRPr>
          </a:p>
          <a:p>
            <a:r>
              <a:rPr lang="en-US" dirty="0"/>
              <a:t>A </a:t>
            </a:r>
            <a:r>
              <a:rPr lang="en-US" b="1" dirty="0"/>
              <a:t>B‑Link Tree</a:t>
            </a:r>
            <a:r>
              <a:rPr lang="en-US" dirty="0"/>
              <a:t> is like a </a:t>
            </a:r>
            <a:r>
              <a:rPr lang="en-US" b="1" dirty="0"/>
              <a:t>B+ Tree with extra sibling pointers at every level</a:t>
            </a:r>
            <a:r>
              <a:rPr lang="en-US" dirty="0"/>
              <a:t>, enabling </a:t>
            </a:r>
            <a:r>
              <a:rPr lang="en-US" b="1" dirty="0"/>
              <a:t>parallel access and updates</a:t>
            </a:r>
            <a:r>
              <a:rPr lang="en-US" dirty="0"/>
              <a:t> without locking the whole tree.</a:t>
            </a:r>
            <a:endParaRPr lang="en-US" b="1" dirty="0" smtClean="0">
              <a:solidFill>
                <a:srgbClr val="FF0000"/>
              </a:solidFill>
            </a:endParaRPr>
          </a:p>
        </p:txBody>
      </p:sp>
      <p:graphicFrame>
        <p:nvGraphicFramePr>
          <p:cNvPr id="2" name="Table 1"/>
          <p:cNvGraphicFramePr>
            <a:graphicFrameLocks noGrp="1"/>
          </p:cNvGraphicFramePr>
          <p:nvPr>
            <p:extLst>
              <p:ext uri="{D42A27DB-BD31-4B8C-83A1-F6EECF244321}">
                <p14:modId xmlns:p14="http://schemas.microsoft.com/office/powerpoint/2010/main" val="120758880"/>
              </p:ext>
            </p:extLst>
          </p:nvPr>
        </p:nvGraphicFramePr>
        <p:xfrm>
          <a:off x="114993" y="1312127"/>
          <a:ext cx="10515600" cy="2103120"/>
        </p:xfrm>
        <a:graphic>
          <a:graphicData uri="http://schemas.openxmlformats.org/drawingml/2006/table">
            <a:tbl>
              <a:tblPr/>
              <a:tblGrid>
                <a:gridCol w="3505200"/>
                <a:gridCol w="3505200"/>
                <a:gridCol w="3505200"/>
              </a:tblGrid>
              <a:tr h="0">
                <a:tc>
                  <a:txBody>
                    <a:bodyPr/>
                    <a:lstStyle/>
                    <a:p>
                      <a:pPr algn="ctr"/>
                      <a:r>
                        <a:rPr lang="en-IN" b="1" dirty="0"/>
                        <a:t>Feature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IN" b="1" dirty="0"/>
                        <a:t>B+ Tree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IN" b="1" dirty="0"/>
                        <a:t>B‑Link Tree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r>
              <a:tr h="0">
                <a:tc>
                  <a:txBody>
                    <a:bodyPr/>
                    <a:lstStyle/>
                    <a:p>
                      <a:r>
                        <a:rPr lang="en-IN" dirty="0"/>
                        <a:t>Leaf links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a:t>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a:t>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IN" dirty="0"/>
                        <a:t>Internal links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a:t>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IN"/>
                        <a:t>Concurrency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Limited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a:t>High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IN"/>
                        <a:t>Use case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Databases, file systems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Multi‑threaded databases, parallel systems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4180501601"/>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646331"/>
          </a:xfrm>
          <a:prstGeom prst="rect">
            <a:avLst/>
          </a:prstGeom>
        </p:spPr>
        <p:txBody>
          <a:bodyPr wrap="square">
            <a:spAutoFit/>
          </a:bodyPr>
          <a:lstStyle/>
          <a:p>
            <a:r>
              <a:rPr lang="en-US" b="1" dirty="0" smtClean="0">
                <a:solidFill>
                  <a:srgbClr val="FF0000"/>
                </a:solidFill>
              </a:rPr>
              <a:t>B Link Tree</a:t>
            </a:r>
          </a:p>
          <a:p>
            <a:endParaRPr lang="en-US" b="1" dirty="0" smtClean="0">
              <a:solidFill>
                <a:srgbClr val="FF0000"/>
              </a:solidFill>
            </a:endParaRPr>
          </a:p>
        </p:txBody>
      </p:sp>
      <p:pic>
        <p:nvPicPr>
          <p:cNvPr id="7" name="Picture 6"/>
          <p:cNvPicPr>
            <a:picLocks noChangeAspect="1"/>
          </p:cNvPicPr>
          <p:nvPr/>
        </p:nvPicPr>
        <p:blipFill>
          <a:blip r:embed="rId3"/>
          <a:stretch>
            <a:fillRect/>
          </a:stretch>
        </p:blipFill>
        <p:spPr>
          <a:xfrm>
            <a:off x="144258" y="931025"/>
            <a:ext cx="4829849" cy="5847628"/>
          </a:xfrm>
          <a:prstGeom prst="rect">
            <a:avLst/>
          </a:prstGeom>
        </p:spPr>
      </p:pic>
    </p:spTree>
    <p:extLst>
      <p:ext uri="{BB962C8B-B14F-4D97-AF65-F5344CB8AC3E}">
        <p14:creationId xmlns:p14="http://schemas.microsoft.com/office/powerpoint/2010/main" val="4260363515"/>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646331"/>
          </a:xfrm>
          <a:prstGeom prst="rect">
            <a:avLst/>
          </a:prstGeom>
        </p:spPr>
        <p:txBody>
          <a:bodyPr wrap="square">
            <a:spAutoFit/>
          </a:bodyPr>
          <a:lstStyle/>
          <a:p>
            <a:r>
              <a:rPr lang="en-US" b="1" dirty="0" smtClean="0">
                <a:solidFill>
                  <a:srgbClr val="FF0000"/>
                </a:solidFill>
              </a:rPr>
              <a:t>B Link Tree</a:t>
            </a:r>
          </a:p>
          <a:p>
            <a:endParaRPr lang="en-US" b="1" dirty="0" smtClean="0">
              <a:solidFill>
                <a:srgbClr val="FF0000"/>
              </a:solidFill>
            </a:endParaRPr>
          </a:p>
        </p:txBody>
      </p:sp>
      <p:pic>
        <p:nvPicPr>
          <p:cNvPr id="8" name="Picture 7"/>
          <p:cNvPicPr>
            <a:picLocks noChangeAspect="1"/>
          </p:cNvPicPr>
          <p:nvPr/>
        </p:nvPicPr>
        <p:blipFill>
          <a:blip r:embed="rId3"/>
          <a:stretch>
            <a:fillRect/>
          </a:stretch>
        </p:blipFill>
        <p:spPr>
          <a:xfrm>
            <a:off x="91793" y="964275"/>
            <a:ext cx="6106377" cy="5795365"/>
          </a:xfrm>
          <a:prstGeom prst="rect">
            <a:avLst/>
          </a:prstGeom>
        </p:spPr>
      </p:pic>
    </p:spTree>
    <p:extLst>
      <p:ext uri="{BB962C8B-B14F-4D97-AF65-F5344CB8AC3E}">
        <p14:creationId xmlns:p14="http://schemas.microsoft.com/office/powerpoint/2010/main" val="1177506029"/>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646331"/>
          </a:xfrm>
          <a:prstGeom prst="rect">
            <a:avLst/>
          </a:prstGeom>
        </p:spPr>
        <p:txBody>
          <a:bodyPr wrap="square">
            <a:spAutoFit/>
          </a:bodyPr>
          <a:lstStyle/>
          <a:p>
            <a:r>
              <a:rPr lang="en-US" b="1" dirty="0" smtClean="0">
                <a:solidFill>
                  <a:srgbClr val="FF0000"/>
                </a:solidFill>
              </a:rPr>
              <a:t>B Link Tree</a:t>
            </a:r>
          </a:p>
          <a:p>
            <a:endParaRPr lang="en-US" b="1" dirty="0" smtClean="0">
              <a:solidFill>
                <a:srgbClr val="FF0000"/>
              </a:solidFill>
            </a:endParaRPr>
          </a:p>
        </p:txBody>
      </p:sp>
      <p:pic>
        <p:nvPicPr>
          <p:cNvPr id="7" name="Picture 6"/>
          <p:cNvPicPr>
            <a:picLocks noChangeAspect="1"/>
          </p:cNvPicPr>
          <p:nvPr/>
        </p:nvPicPr>
        <p:blipFill>
          <a:blip r:embed="rId3"/>
          <a:stretch>
            <a:fillRect/>
          </a:stretch>
        </p:blipFill>
        <p:spPr>
          <a:xfrm>
            <a:off x="87578" y="932008"/>
            <a:ext cx="5715798" cy="5792008"/>
          </a:xfrm>
          <a:prstGeom prst="rect">
            <a:avLst/>
          </a:prstGeom>
        </p:spPr>
      </p:pic>
    </p:spTree>
    <p:extLst>
      <p:ext uri="{BB962C8B-B14F-4D97-AF65-F5344CB8AC3E}">
        <p14:creationId xmlns:p14="http://schemas.microsoft.com/office/powerpoint/2010/main" val="1629593595"/>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646331"/>
          </a:xfrm>
          <a:prstGeom prst="rect">
            <a:avLst/>
          </a:prstGeom>
        </p:spPr>
        <p:txBody>
          <a:bodyPr wrap="square">
            <a:spAutoFit/>
          </a:bodyPr>
          <a:lstStyle/>
          <a:p>
            <a:r>
              <a:rPr lang="en-US" b="1" dirty="0" smtClean="0">
                <a:solidFill>
                  <a:srgbClr val="FF0000"/>
                </a:solidFill>
              </a:rPr>
              <a:t>B Link Tree</a:t>
            </a:r>
          </a:p>
          <a:p>
            <a:endParaRPr lang="en-US" b="1" dirty="0" smtClean="0">
              <a:solidFill>
                <a:srgbClr val="FF0000"/>
              </a:solidFill>
            </a:endParaRPr>
          </a:p>
        </p:txBody>
      </p:sp>
      <p:pic>
        <p:nvPicPr>
          <p:cNvPr id="8" name="Picture 7"/>
          <p:cNvPicPr>
            <a:picLocks noChangeAspect="1"/>
          </p:cNvPicPr>
          <p:nvPr/>
        </p:nvPicPr>
        <p:blipFill>
          <a:blip r:embed="rId3"/>
          <a:stretch>
            <a:fillRect/>
          </a:stretch>
        </p:blipFill>
        <p:spPr>
          <a:xfrm>
            <a:off x="172767" y="868434"/>
            <a:ext cx="6901364" cy="1326126"/>
          </a:xfrm>
          <a:prstGeom prst="rect">
            <a:avLst/>
          </a:prstGeom>
        </p:spPr>
      </p:pic>
    </p:spTree>
    <p:extLst>
      <p:ext uri="{BB962C8B-B14F-4D97-AF65-F5344CB8AC3E}">
        <p14:creationId xmlns:p14="http://schemas.microsoft.com/office/powerpoint/2010/main" val="475368840"/>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646331"/>
          </a:xfrm>
          <a:prstGeom prst="rect">
            <a:avLst/>
          </a:prstGeom>
        </p:spPr>
        <p:txBody>
          <a:bodyPr wrap="square">
            <a:spAutoFit/>
          </a:bodyPr>
          <a:lstStyle/>
          <a:p>
            <a:r>
              <a:rPr lang="en-US" b="1" dirty="0" smtClean="0">
                <a:solidFill>
                  <a:srgbClr val="FF0000"/>
                </a:solidFill>
              </a:rPr>
              <a:t>B Link Tree</a:t>
            </a:r>
          </a:p>
          <a:p>
            <a:endParaRPr lang="en-US" b="1" dirty="0" smtClean="0">
              <a:solidFill>
                <a:srgbClr val="FF0000"/>
              </a:solidFill>
            </a:endParaRPr>
          </a:p>
        </p:txBody>
      </p:sp>
      <p:pic>
        <p:nvPicPr>
          <p:cNvPr id="7" name="Picture 6"/>
          <p:cNvPicPr>
            <a:picLocks noChangeAspect="1"/>
          </p:cNvPicPr>
          <p:nvPr/>
        </p:nvPicPr>
        <p:blipFill>
          <a:blip r:embed="rId3"/>
          <a:stretch>
            <a:fillRect/>
          </a:stretch>
        </p:blipFill>
        <p:spPr>
          <a:xfrm>
            <a:off x="207084" y="1049844"/>
            <a:ext cx="4296375" cy="4725059"/>
          </a:xfrm>
          <a:prstGeom prst="rect">
            <a:avLst/>
          </a:prstGeom>
        </p:spPr>
      </p:pic>
    </p:spTree>
    <p:extLst>
      <p:ext uri="{BB962C8B-B14F-4D97-AF65-F5344CB8AC3E}">
        <p14:creationId xmlns:p14="http://schemas.microsoft.com/office/powerpoint/2010/main" val="3011770193"/>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6463308"/>
          </a:xfrm>
          <a:prstGeom prst="rect">
            <a:avLst/>
          </a:prstGeom>
        </p:spPr>
        <p:txBody>
          <a:bodyPr wrap="square">
            <a:spAutoFit/>
          </a:bodyPr>
          <a:lstStyle/>
          <a:p>
            <a:r>
              <a:rPr lang="en-US" b="1" dirty="0" smtClean="0">
                <a:solidFill>
                  <a:srgbClr val="FF0000"/>
                </a:solidFill>
              </a:rPr>
              <a:t>B Link Tree</a:t>
            </a:r>
          </a:p>
          <a:p>
            <a:endParaRPr lang="en-US" b="1" dirty="0" smtClean="0">
              <a:solidFill>
                <a:srgbClr val="FF0000"/>
              </a:solidFill>
            </a:endParaRPr>
          </a:p>
          <a:p>
            <a:r>
              <a:rPr lang="en-US" b="1" dirty="0"/>
              <a:t>Core Idea</a:t>
            </a:r>
          </a:p>
          <a:p>
            <a:pPr marL="285750" indent="-285750">
              <a:buFont typeface="Arial" panose="020B0604020202020204" pitchFamily="34" charset="0"/>
              <a:buChar char="•"/>
            </a:pPr>
            <a:r>
              <a:rPr lang="en-US" dirty="0"/>
              <a:t>A </a:t>
            </a:r>
            <a:r>
              <a:rPr lang="en-US" b="1" dirty="0"/>
              <a:t>B‑Link Tree</a:t>
            </a:r>
            <a:r>
              <a:rPr lang="en-US" dirty="0"/>
              <a:t> is like a </a:t>
            </a:r>
            <a:r>
              <a:rPr lang="en-US" b="1" dirty="0"/>
              <a:t>B+ Tree</a:t>
            </a:r>
            <a:r>
              <a:rPr lang="en-US" dirty="0"/>
              <a:t>, but it adds </a:t>
            </a:r>
            <a:r>
              <a:rPr lang="en-US" b="1" dirty="0"/>
              <a:t>sibling links at every level</a:t>
            </a:r>
            <a:r>
              <a:rPr lang="en-US" dirty="0"/>
              <a:t>.</a:t>
            </a:r>
          </a:p>
          <a:p>
            <a:pPr marL="285750" indent="-285750">
              <a:buFont typeface="Arial" panose="020B0604020202020204" pitchFamily="34" charset="0"/>
              <a:buChar char="•"/>
            </a:pPr>
            <a:r>
              <a:rPr lang="en-US" dirty="0"/>
              <a:t>These links allow </a:t>
            </a:r>
            <a:r>
              <a:rPr lang="en-US" b="1" dirty="0"/>
              <a:t>concurrent operations</a:t>
            </a:r>
            <a:r>
              <a:rPr lang="en-US" dirty="0"/>
              <a:t> (search, insert) without blocking.</a:t>
            </a:r>
          </a:p>
          <a:p>
            <a:pPr marL="285750" indent="-285750">
              <a:buFont typeface="Arial" panose="020B0604020202020204" pitchFamily="34" charset="0"/>
              <a:buChar char="•"/>
            </a:pPr>
            <a:r>
              <a:rPr lang="en-US" dirty="0"/>
              <a:t>Even if a node is being split, you can still traverse sideways to find the right node.</a:t>
            </a:r>
          </a:p>
          <a:p>
            <a:endParaRPr lang="en-US" b="1" dirty="0" smtClean="0">
              <a:solidFill>
                <a:srgbClr val="FF0000"/>
              </a:solidFill>
            </a:endParaRPr>
          </a:p>
          <a:p>
            <a:r>
              <a:rPr lang="en-IN" b="1" dirty="0"/>
              <a:t>Program Components</a:t>
            </a:r>
          </a:p>
          <a:p>
            <a:endParaRPr lang="en-IN" b="1" dirty="0" smtClean="0"/>
          </a:p>
          <a:p>
            <a:r>
              <a:rPr lang="en-IN" b="1" dirty="0" err="1" smtClean="0"/>
              <a:t>BLinkNode</a:t>
            </a:r>
            <a:endParaRPr lang="en-IN" b="1" dirty="0"/>
          </a:p>
          <a:p>
            <a:pPr marL="285750" indent="-285750">
              <a:buFont typeface="Arial" panose="020B0604020202020204" pitchFamily="34" charset="0"/>
              <a:buChar char="•"/>
            </a:pPr>
            <a:r>
              <a:rPr lang="en-US" dirty="0"/>
              <a:t>keys → list of integers stored in sorted order.</a:t>
            </a:r>
          </a:p>
          <a:p>
            <a:pPr marL="285750" indent="-285750">
              <a:buFont typeface="Arial" panose="020B0604020202020204" pitchFamily="34" charset="0"/>
              <a:buChar char="•"/>
            </a:pPr>
            <a:r>
              <a:rPr lang="en-US" dirty="0" smtClean="0"/>
              <a:t>children </a:t>
            </a:r>
            <a:r>
              <a:rPr lang="en-US" dirty="0"/>
              <a:t>→ references to child nodes.</a:t>
            </a:r>
          </a:p>
          <a:p>
            <a:pPr marL="285750" indent="-285750">
              <a:buFont typeface="Arial" panose="020B0604020202020204" pitchFamily="34" charset="0"/>
              <a:buChar char="•"/>
            </a:pPr>
            <a:r>
              <a:rPr lang="en-US" dirty="0" err="1" smtClean="0"/>
              <a:t>isLeaf</a:t>
            </a:r>
            <a:r>
              <a:rPr lang="en-US" dirty="0" smtClean="0"/>
              <a:t> </a:t>
            </a:r>
            <a:r>
              <a:rPr lang="en-US" dirty="0"/>
              <a:t>→ flag to indicate if the node is a leaf.</a:t>
            </a:r>
          </a:p>
          <a:p>
            <a:pPr marL="285750" indent="-285750">
              <a:buFont typeface="Arial" panose="020B0604020202020204" pitchFamily="34" charset="0"/>
              <a:buChar char="•"/>
            </a:pPr>
            <a:r>
              <a:rPr lang="en-US" dirty="0" smtClean="0"/>
              <a:t>right </a:t>
            </a:r>
            <a:r>
              <a:rPr lang="en-US" dirty="0"/>
              <a:t>→ sibling pointer to the next node at the same level.</a:t>
            </a:r>
          </a:p>
          <a:p>
            <a:endParaRPr lang="en-IN" dirty="0"/>
          </a:p>
          <a:p>
            <a:r>
              <a:rPr lang="en-US" dirty="0" smtClean="0"/>
              <a:t>Internal </a:t>
            </a:r>
            <a:r>
              <a:rPr lang="en-US" dirty="0"/>
              <a:t>nodes = keys only (navigation).</a:t>
            </a:r>
          </a:p>
          <a:p>
            <a:r>
              <a:rPr lang="en-US" dirty="0" smtClean="0"/>
              <a:t>Leaf </a:t>
            </a:r>
            <a:r>
              <a:rPr lang="en-US" dirty="0"/>
              <a:t>nodes = keys (which act as both keys and data in this demo).</a:t>
            </a:r>
          </a:p>
          <a:p>
            <a:r>
              <a:rPr lang="en-US" dirty="0" smtClean="0"/>
              <a:t>right </a:t>
            </a:r>
            <a:r>
              <a:rPr lang="en-US" dirty="0"/>
              <a:t>pointer = horizontal link for concurrency and range queries.</a:t>
            </a:r>
          </a:p>
          <a:p>
            <a:endParaRPr lang="en-US" b="1" dirty="0" smtClean="0">
              <a:solidFill>
                <a:srgbClr val="FF0000"/>
              </a:solidFill>
            </a:endParaRPr>
          </a:p>
          <a:p>
            <a:r>
              <a:rPr lang="en-IN" b="1" dirty="0"/>
              <a:t>BLinkTreeExample16</a:t>
            </a:r>
          </a:p>
          <a:p>
            <a:pPr marL="285750" indent="-285750">
              <a:buFont typeface="Arial" panose="020B0604020202020204" pitchFamily="34" charset="0"/>
              <a:buChar char="•"/>
            </a:pPr>
            <a:r>
              <a:rPr lang="en-IN" dirty="0"/>
              <a:t>root → the root node.</a:t>
            </a:r>
          </a:p>
          <a:p>
            <a:pPr marL="285750" indent="-285750">
              <a:buFont typeface="Arial" panose="020B0604020202020204" pitchFamily="34" charset="0"/>
              <a:buChar char="•"/>
            </a:pPr>
            <a:r>
              <a:rPr lang="en-US" dirty="0" err="1" smtClean="0"/>
              <a:t>maxKeys</a:t>
            </a:r>
            <a:r>
              <a:rPr lang="en-US" dirty="0" smtClean="0"/>
              <a:t> </a:t>
            </a:r>
            <a:r>
              <a:rPr lang="en-US" dirty="0"/>
              <a:t>→ maximum number of keys allowed in a node before splitting.</a:t>
            </a:r>
          </a:p>
          <a:p>
            <a:endParaRPr lang="en-US" b="1" dirty="0" smtClean="0">
              <a:solidFill>
                <a:srgbClr val="FF0000"/>
              </a:solidFill>
            </a:endParaRPr>
          </a:p>
        </p:txBody>
      </p:sp>
    </p:spTree>
    <p:extLst>
      <p:ext uri="{BB962C8B-B14F-4D97-AF65-F5344CB8AC3E}">
        <p14:creationId xmlns:p14="http://schemas.microsoft.com/office/powerpoint/2010/main" val="3718304933"/>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5632311"/>
          </a:xfrm>
          <a:prstGeom prst="rect">
            <a:avLst/>
          </a:prstGeom>
        </p:spPr>
        <p:txBody>
          <a:bodyPr wrap="square">
            <a:spAutoFit/>
          </a:bodyPr>
          <a:lstStyle/>
          <a:p>
            <a:r>
              <a:rPr lang="en-US" b="1" dirty="0" smtClean="0">
                <a:solidFill>
                  <a:srgbClr val="FF0000"/>
                </a:solidFill>
              </a:rPr>
              <a:t>B Link Tree</a:t>
            </a:r>
          </a:p>
          <a:p>
            <a:endParaRPr lang="en-US" b="1" dirty="0" smtClean="0">
              <a:solidFill>
                <a:srgbClr val="FF0000"/>
              </a:solidFill>
            </a:endParaRPr>
          </a:p>
          <a:p>
            <a:r>
              <a:rPr lang="en-IN" b="1" dirty="0"/>
              <a:t>Main </a:t>
            </a:r>
            <a:r>
              <a:rPr lang="en-IN" b="1" dirty="0" smtClean="0"/>
              <a:t>Operations</a:t>
            </a:r>
          </a:p>
          <a:p>
            <a:endParaRPr lang="en-IN" b="1" dirty="0"/>
          </a:p>
          <a:p>
            <a:r>
              <a:rPr lang="en-IN" b="1" dirty="0"/>
              <a:t>Insert</a:t>
            </a:r>
          </a:p>
          <a:p>
            <a:pPr marL="285750" indent="-285750">
              <a:buFont typeface="Arial" panose="020B0604020202020204" pitchFamily="34" charset="0"/>
              <a:buChar char="•"/>
            </a:pPr>
            <a:r>
              <a:rPr lang="en-US" dirty="0" smtClean="0"/>
              <a:t>Finds </a:t>
            </a:r>
            <a:r>
              <a:rPr lang="en-US" dirty="0"/>
              <a:t>the correct leaf using </a:t>
            </a:r>
            <a:r>
              <a:rPr lang="en-US" dirty="0" err="1"/>
              <a:t>findLeaf</a:t>
            </a:r>
            <a:r>
              <a:rPr lang="en-US" dirty="0"/>
              <a:t>().</a:t>
            </a:r>
          </a:p>
          <a:p>
            <a:pPr marL="285750" indent="-285750">
              <a:buFont typeface="Arial" panose="020B0604020202020204" pitchFamily="34" charset="0"/>
              <a:buChar char="•"/>
            </a:pPr>
            <a:r>
              <a:rPr lang="en-US" dirty="0" smtClean="0"/>
              <a:t>Inserts </a:t>
            </a:r>
            <a:r>
              <a:rPr lang="en-US" dirty="0"/>
              <a:t>the key in sorted order.</a:t>
            </a:r>
          </a:p>
          <a:p>
            <a:pPr marL="285750" indent="-285750">
              <a:buFont typeface="Arial" panose="020B0604020202020204" pitchFamily="34" charset="0"/>
              <a:buChar char="•"/>
            </a:pPr>
            <a:r>
              <a:rPr lang="en-US" dirty="0" smtClean="0"/>
              <a:t>If </a:t>
            </a:r>
            <a:r>
              <a:rPr lang="en-US" dirty="0"/>
              <a:t>the leaf is full → calls </a:t>
            </a:r>
            <a:r>
              <a:rPr lang="en-US" dirty="0" err="1"/>
              <a:t>splitNode</a:t>
            </a:r>
            <a:r>
              <a:rPr lang="en-US" dirty="0"/>
              <a:t>().</a:t>
            </a:r>
          </a:p>
          <a:p>
            <a:endParaRPr lang="en-IN" dirty="0"/>
          </a:p>
          <a:p>
            <a:r>
              <a:rPr lang="en-IN" b="1" dirty="0" err="1" smtClean="0"/>
              <a:t>SplitNode</a:t>
            </a:r>
            <a:endParaRPr lang="en-IN" b="1" dirty="0" smtClean="0"/>
          </a:p>
          <a:p>
            <a:pPr marL="285750" indent="-285750">
              <a:buFont typeface="Arial" panose="020B0604020202020204" pitchFamily="34" charset="0"/>
              <a:buChar char="•"/>
            </a:pPr>
            <a:r>
              <a:rPr lang="en-US" dirty="0" smtClean="0"/>
              <a:t>Splits </a:t>
            </a:r>
            <a:r>
              <a:rPr lang="en-US" dirty="0"/>
              <a:t>a full node into two halves.</a:t>
            </a:r>
          </a:p>
          <a:p>
            <a:pPr marL="285750" indent="-285750">
              <a:buFont typeface="Arial" panose="020B0604020202020204" pitchFamily="34" charset="0"/>
              <a:buChar char="•"/>
            </a:pPr>
            <a:r>
              <a:rPr lang="en-US" dirty="0" smtClean="0"/>
              <a:t>Maintains </a:t>
            </a:r>
            <a:r>
              <a:rPr lang="en-US" dirty="0"/>
              <a:t>the right sibling link (</a:t>
            </a:r>
            <a:r>
              <a:rPr lang="en-US" dirty="0" err="1"/>
              <a:t>node.right</a:t>
            </a:r>
            <a:r>
              <a:rPr lang="en-US" dirty="0"/>
              <a:t> = </a:t>
            </a:r>
            <a:r>
              <a:rPr lang="en-US" dirty="0" err="1"/>
              <a:t>newNode</a:t>
            </a:r>
            <a:r>
              <a:rPr lang="en-US" dirty="0"/>
              <a:t>).</a:t>
            </a:r>
          </a:p>
          <a:p>
            <a:pPr marL="285750" indent="-285750">
              <a:buFont typeface="Arial" panose="020B0604020202020204" pitchFamily="34" charset="0"/>
              <a:buChar char="•"/>
            </a:pPr>
            <a:r>
              <a:rPr lang="en-US" dirty="0" smtClean="0"/>
              <a:t>If </a:t>
            </a:r>
            <a:r>
              <a:rPr lang="en-US" dirty="0"/>
              <a:t>the split happens at the root → creates a new root with two children.</a:t>
            </a:r>
          </a:p>
          <a:p>
            <a:endParaRPr lang="en-IN" dirty="0"/>
          </a:p>
          <a:p>
            <a:r>
              <a:rPr lang="en-IN" b="1" dirty="0" err="1"/>
              <a:t>FindLeaf</a:t>
            </a:r>
            <a:endParaRPr lang="en-IN" b="1" dirty="0"/>
          </a:p>
          <a:p>
            <a:pPr marL="285750" indent="-285750">
              <a:buFont typeface="Arial" panose="020B0604020202020204" pitchFamily="34" charset="0"/>
              <a:buChar char="•"/>
            </a:pPr>
            <a:r>
              <a:rPr lang="en-US" dirty="0" smtClean="0"/>
              <a:t>Traverses </a:t>
            </a:r>
            <a:r>
              <a:rPr lang="en-US" dirty="0"/>
              <a:t>down the tree using keys until reaching a leaf node.</a:t>
            </a:r>
          </a:p>
          <a:p>
            <a:endParaRPr lang="en-IN" dirty="0"/>
          </a:p>
          <a:p>
            <a:r>
              <a:rPr lang="en-IN" b="1" dirty="0" err="1"/>
              <a:t>PrintLeaves</a:t>
            </a:r>
            <a:endParaRPr lang="en-IN" b="1" dirty="0"/>
          </a:p>
          <a:p>
            <a:pPr marL="285750" indent="-285750">
              <a:buFont typeface="Arial" panose="020B0604020202020204" pitchFamily="34" charset="0"/>
              <a:buChar char="•"/>
            </a:pPr>
            <a:r>
              <a:rPr lang="en-US" dirty="0" smtClean="0"/>
              <a:t>Starts </a:t>
            </a:r>
            <a:r>
              <a:rPr lang="en-US" dirty="0"/>
              <a:t>at the leftmost leaf.</a:t>
            </a:r>
          </a:p>
          <a:p>
            <a:pPr marL="285750" indent="-285750">
              <a:buFont typeface="Arial" panose="020B0604020202020204" pitchFamily="34" charset="0"/>
              <a:buChar char="•"/>
            </a:pPr>
            <a:r>
              <a:rPr lang="en-US" dirty="0" smtClean="0"/>
              <a:t>Follows </a:t>
            </a:r>
            <a:r>
              <a:rPr lang="en-US" dirty="0"/>
              <a:t>the right sibling links to print all leaf keys sequentially.</a:t>
            </a:r>
          </a:p>
        </p:txBody>
      </p:sp>
    </p:spTree>
    <p:extLst>
      <p:ext uri="{BB962C8B-B14F-4D97-AF65-F5344CB8AC3E}">
        <p14:creationId xmlns:p14="http://schemas.microsoft.com/office/powerpoint/2010/main" val="3938344780"/>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6186309"/>
          </a:xfrm>
          <a:prstGeom prst="rect">
            <a:avLst/>
          </a:prstGeom>
        </p:spPr>
        <p:txBody>
          <a:bodyPr wrap="square">
            <a:spAutoFit/>
          </a:bodyPr>
          <a:lstStyle/>
          <a:p>
            <a:r>
              <a:rPr lang="en-US" b="1" dirty="0" smtClean="0">
                <a:solidFill>
                  <a:srgbClr val="FF0000"/>
                </a:solidFill>
              </a:rPr>
              <a:t>B Link Tree</a:t>
            </a:r>
          </a:p>
          <a:p>
            <a:endParaRPr lang="en-US" b="1" dirty="0" smtClean="0">
              <a:solidFill>
                <a:srgbClr val="FF0000"/>
              </a:solidFill>
            </a:endParaRPr>
          </a:p>
          <a:p>
            <a:r>
              <a:rPr lang="en-IN" b="1" dirty="0"/>
              <a:t>Execution Flow</a:t>
            </a:r>
          </a:p>
          <a:p>
            <a:endParaRPr lang="en-IN" dirty="0"/>
          </a:p>
          <a:p>
            <a:endParaRPr lang="en-IN" dirty="0"/>
          </a:p>
          <a:p>
            <a:r>
              <a:rPr lang="en-US" dirty="0"/>
              <a:t>Inserts each value into the B‑Link Tree.</a:t>
            </a:r>
          </a:p>
          <a:p>
            <a:r>
              <a:rPr lang="en-US" dirty="0" smtClean="0"/>
              <a:t>Splits </a:t>
            </a:r>
            <a:r>
              <a:rPr lang="en-US" dirty="0"/>
              <a:t>nodes when full, maintaining sibling links.</a:t>
            </a:r>
          </a:p>
          <a:p>
            <a:endParaRPr lang="en-IN" dirty="0"/>
          </a:p>
          <a:p>
            <a:r>
              <a:rPr lang="en-IN" dirty="0"/>
              <a:t>Finally prints</a:t>
            </a:r>
            <a:r>
              <a:rPr lang="en-IN" dirty="0" smtClean="0"/>
              <a:t>:</a:t>
            </a:r>
          </a:p>
          <a:p>
            <a:endParaRPr lang="en-US" dirty="0"/>
          </a:p>
          <a:p>
            <a:endParaRPr lang="en-US" dirty="0" smtClean="0"/>
          </a:p>
          <a:p>
            <a:endParaRPr lang="en-US" dirty="0"/>
          </a:p>
          <a:p>
            <a:r>
              <a:rPr lang="en-IN" b="1" dirty="0"/>
              <a:t>Final Structure (Simplified)</a:t>
            </a:r>
            <a:endParaRPr lang="en-US" b="1" dirty="0" smtClean="0"/>
          </a:p>
          <a:p>
            <a:endParaRPr lang="en-US" dirty="0" smtClean="0"/>
          </a:p>
          <a:p>
            <a:endParaRPr lang="en-US" dirty="0" smtClean="0"/>
          </a:p>
          <a:p>
            <a:endParaRPr lang="en-US" dirty="0"/>
          </a:p>
          <a:p>
            <a:endParaRPr lang="en-US" dirty="0" smtClean="0"/>
          </a:p>
          <a:p>
            <a:pPr marL="285750" indent="-285750">
              <a:buFont typeface="Arial" panose="020B0604020202020204" pitchFamily="34" charset="0"/>
              <a:buChar char="•"/>
            </a:pPr>
            <a:r>
              <a:rPr lang="en-US" dirty="0" smtClean="0"/>
              <a:t>Root </a:t>
            </a:r>
            <a:r>
              <a:rPr lang="en-US" dirty="0"/>
              <a:t>contains separator key [10].</a:t>
            </a:r>
          </a:p>
          <a:p>
            <a:pPr marL="285750" indent="-285750">
              <a:buFont typeface="Arial" panose="020B0604020202020204" pitchFamily="34" charset="0"/>
              <a:buChar char="•"/>
            </a:pPr>
            <a:r>
              <a:rPr lang="en-US" dirty="0" smtClean="0"/>
              <a:t>Left </a:t>
            </a:r>
            <a:r>
              <a:rPr lang="en-US" dirty="0"/>
              <a:t>leaf holds values &lt; 10.</a:t>
            </a:r>
          </a:p>
          <a:p>
            <a:pPr marL="285750" indent="-285750">
              <a:buFont typeface="Arial" panose="020B0604020202020204" pitchFamily="34" charset="0"/>
              <a:buChar char="•"/>
            </a:pPr>
            <a:r>
              <a:rPr lang="en-US" dirty="0" smtClean="0"/>
              <a:t>Right </a:t>
            </a:r>
            <a:r>
              <a:rPr lang="en-US" dirty="0"/>
              <a:t>leaf holds values ≥ 10.</a:t>
            </a:r>
          </a:p>
          <a:p>
            <a:pPr marL="285750" indent="-285750">
              <a:buFont typeface="Arial" panose="020B0604020202020204" pitchFamily="34" charset="0"/>
              <a:buChar char="•"/>
            </a:pPr>
            <a:r>
              <a:rPr lang="en-US" dirty="0" smtClean="0"/>
              <a:t>Leaves </a:t>
            </a:r>
            <a:r>
              <a:rPr lang="en-US" dirty="0"/>
              <a:t>are linked with right pointers for sequential traversal.</a:t>
            </a:r>
          </a:p>
          <a:p>
            <a:pPr marL="285750" indent="-285750">
              <a:buFont typeface="Arial" panose="020B0604020202020204" pitchFamily="34" charset="0"/>
              <a:buChar char="•"/>
            </a:pPr>
            <a:endParaRPr lang="en-IN" dirty="0"/>
          </a:p>
        </p:txBody>
      </p:sp>
      <p:pic>
        <p:nvPicPr>
          <p:cNvPr id="2" name="Picture 1"/>
          <p:cNvPicPr>
            <a:picLocks noChangeAspect="1"/>
          </p:cNvPicPr>
          <p:nvPr/>
        </p:nvPicPr>
        <p:blipFill>
          <a:blip r:embed="rId3"/>
          <a:stretch>
            <a:fillRect/>
          </a:stretch>
        </p:blipFill>
        <p:spPr>
          <a:xfrm>
            <a:off x="97469" y="1431851"/>
            <a:ext cx="3743847" cy="342948"/>
          </a:xfrm>
          <a:prstGeom prst="rect">
            <a:avLst/>
          </a:prstGeom>
        </p:spPr>
      </p:pic>
      <p:pic>
        <p:nvPicPr>
          <p:cNvPr id="3" name="Picture 2"/>
          <p:cNvPicPr>
            <a:picLocks noChangeAspect="1"/>
          </p:cNvPicPr>
          <p:nvPr/>
        </p:nvPicPr>
        <p:blipFill>
          <a:blip r:embed="rId4"/>
          <a:stretch>
            <a:fillRect/>
          </a:stretch>
        </p:blipFill>
        <p:spPr>
          <a:xfrm>
            <a:off x="97469" y="3123684"/>
            <a:ext cx="5430008" cy="304843"/>
          </a:xfrm>
          <a:prstGeom prst="rect">
            <a:avLst/>
          </a:prstGeom>
        </p:spPr>
      </p:pic>
      <p:pic>
        <p:nvPicPr>
          <p:cNvPr id="7" name="Picture 6"/>
          <p:cNvPicPr>
            <a:picLocks noChangeAspect="1"/>
          </p:cNvPicPr>
          <p:nvPr/>
        </p:nvPicPr>
        <p:blipFill>
          <a:blip r:embed="rId5"/>
          <a:stretch>
            <a:fillRect/>
          </a:stretch>
        </p:blipFill>
        <p:spPr>
          <a:xfrm>
            <a:off x="807610" y="4231995"/>
            <a:ext cx="2829320" cy="704948"/>
          </a:xfrm>
          <a:prstGeom prst="rect">
            <a:avLst/>
          </a:prstGeom>
        </p:spPr>
      </p:pic>
    </p:spTree>
    <p:extLst>
      <p:ext uri="{BB962C8B-B14F-4D97-AF65-F5344CB8AC3E}">
        <p14:creationId xmlns:p14="http://schemas.microsoft.com/office/powerpoint/2010/main" val="2670257172"/>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2308324"/>
          </a:xfrm>
          <a:prstGeom prst="rect">
            <a:avLst/>
          </a:prstGeom>
        </p:spPr>
        <p:txBody>
          <a:bodyPr wrap="square">
            <a:spAutoFit/>
          </a:bodyPr>
          <a:lstStyle/>
          <a:p>
            <a:r>
              <a:rPr lang="en-US" b="1" dirty="0" smtClean="0">
                <a:solidFill>
                  <a:srgbClr val="FF0000"/>
                </a:solidFill>
              </a:rPr>
              <a:t>B Link Tree</a:t>
            </a:r>
          </a:p>
          <a:p>
            <a:endParaRPr lang="en-US" b="1" dirty="0" smtClean="0">
              <a:solidFill>
                <a:srgbClr val="FF0000"/>
              </a:solidFill>
            </a:endParaRPr>
          </a:p>
          <a:p>
            <a:pPr marL="285750" indent="-285750">
              <a:buFont typeface="Arial" panose="020B0604020202020204" pitchFamily="34" charset="0"/>
              <a:buChar char="•"/>
            </a:pPr>
            <a:r>
              <a:rPr lang="en-IN" dirty="0"/>
              <a:t>Keys = integers you insert.</a:t>
            </a:r>
          </a:p>
          <a:p>
            <a:pPr marL="285750" indent="-285750">
              <a:buFont typeface="Arial" panose="020B0604020202020204" pitchFamily="34" charset="0"/>
              <a:buChar char="•"/>
            </a:pPr>
            <a:r>
              <a:rPr lang="en-US" dirty="0" smtClean="0"/>
              <a:t>Data </a:t>
            </a:r>
            <a:r>
              <a:rPr lang="en-US" dirty="0"/>
              <a:t>= same as keys (no separate data field in this demo).</a:t>
            </a:r>
          </a:p>
          <a:p>
            <a:pPr marL="285750" indent="-285750">
              <a:buFont typeface="Arial" panose="020B0604020202020204" pitchFamily="34" charset="0"/>
              <a:buChar char="•"/>
            </a:pPr>
            <a:r>
              <a:rPr lang="en-US" dirty="0" smtClean="0"/>
              <a:t>Internal </a:t>
            </a:r>
            <a:r>
              <a:rPr lang="en-US" dirty="0"/>
              <a:t>nodes = keys only (navigation).</a:t>
            </a:r>
          </a:p>
          <a:p>
            <a:pPr marL="285750" indent="-285750">
              <a:buFont typeface="Arial" panose="020B0604020202020204" pitchFamily="34" charset="0"/>
              <a:buChar char="•"/>
            </a:pPr>
            <a:r>
              <a:rPr lang="en-US" dirty="0" smtClean="0"/>
              <a:t>Leaf </a:t>
            </a:r>
            <a:r>
              <a:rPr lang="en-US" dirty="0"/>
              <a:t>nodes = keys + data (actual records).</a:t>
            </a:r>
          </a:p>
          <a:p>
            <a:pPr marL="285750" indent="-285750">
              <a:buFont typeface="Arial" panose="020B0604020202020204" pitchFamily="34" charset="0"/>
              <a:buChar char="•"/>
            </a:pPr>
            <a:r>
              <a:rPr lang="en-US" dirty="0" smtClean="0"/>
              <a:t>Right </a:t>
            </a:r>
            <a:r>
              <a:rPr lang="en-US" dirty="0"/>
              <a:t>sibling links = allow fast range queries and concurrent operations.</a:t>
            </a:r>
          </a:p>
          <a:p>
            <a:pPr marL="285750" indent="-285750">
              <a:buFont typeface="Arial" panose="020B0604020202020204" pitchFamily="34" charset="0"/>
              <a:buChar char="•"/>
            </a:pPr>
            <a:endParaRPr lang="en-US" b="1" dirty="0" smtClean="0">
              <a:solidFill>
                <a:srgbClr val="FF0000"/>
              </a:solidFill>
            </a:endParaRPr>
          </a:p>
        </p:txBody>
      </p:sp>
    </p:spTree>
    <p:extLst>
      <p:ext uri="{BB962C8B-B14F-4D97-AF65-F5344CB8AC3E}">
        <p14:creationId xmlns:p14="http://schemas.microsoft.com/office/powerpoint/2010/main" val="3649144647"/>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5632311"/>
          </a:xfrm>
          <a:prstGeom prst="rect">
            <a:avLst/>
          </a:prstGeom>
        </p:spPr>
        <p:txBody>
          <a:bodyPr wrap="square">
            <a:spAutoFit/>
          </a:bodyPr>
          <a:lstStyle/>
          <a:p>
            <a:r>
              <a:rPr lang="en-US" b="1" dirty="0" err="1" smtClean="0">
                <a:solidFill>
                  <a:srgbClr val="FF0000"/>
                </a:solidFill>
              </a:rPr>
              <a:t>Trie</a:t>
            </a:r>
            <a:r>
              <a:rPr lang="en-US" b="1" dirty="0" smtClean="0">
                <a:solidFill>
                  <a:srgbClr val="FF0000"/>
                </a:solidFill>
              </a:rPr>
              <a:t> Tree</a:t>
            </a:r>
          </a:p>
          <a:p>
            <a:endParaRPr lang="en-US" b="1" dirty="0" smtClean="0">
              <a:solidFill>
                <a:srgbClr val="FF0000"/>
              </a:solidFill>
            </a:endParaRPr>
          </a:p>
          <a:p>
            <a:pPr marL="285750" indent="-285750">
              <a:buFont typeface="Arial" panose="020B0604020202020204" pitchFamily="34" charset="0"/>
              <a:buChar char="•"/>
            </a:pPr>
            <a:r>
              <a:rPr lang="en-US" dirty="0"/>
              <a:t>A </a:t>
            </a:r>
            <a:r>
              <a:rPr lang="en-US" b="1" dirty="0" err="1"/>
              <a:t>Trie</a:t>
            </a:r>
            <a:r>
              <a:rPr lang="en-US" dirty="0"/>
              <a:t> (pronounced </a:t>
            </a:r>
            <a:r>
              <a:rPr lang="en-US" i="1" dirty="0"/>
              <a:t>try</a:t>
            </a:r>
            <a:r>
              <a:rPr lang="en-US" dirty="0"/>
              <a:t>, short for “retrieval tree”) is a </a:t>
            </a:r>
            <a:r>
              <a:rPr lang="en-US" b="1" dirty="0"/>
              <a:t>prefix tree</a:t>
            </a:r>
            <a:r>
              <a:rPr lang="en-US" dirty="0"/>
              <a:t> used to store strings efficiently.</a:t>
            </a:r>
          </a:p>
          <a:p>
            <a:pPr marL="285750" indent="-285750">
              <a:buFont typeface="Arial" panose="020B0604020202020204" pitchFamily="34" charset="0"/>
              <a:buChar char="•"/>
            </a:pPr>
            <a:r>
              <a:rPr lang="en-US" dirty="0"/>
              <a:t>Each node represents a </a:t>
            </a:r>
            <a:r>
              <a:rPr lang="en-US" b="1" dirty="0"/>
              <a:t>character</a:t>
            </a:r>
            <a:r>
              <a:rPr lang="en-US" dirty="0"/>
              <a:t>.</a:t>
            </a:r>
          </a:p>
          <a:p>
            <a:pPr marL="285750" indent="-285750">
              <a:buFont typeface="Arial" panose="020B0604020202020204" pitchFamily="34" charset="0"/>
              <a:buChar char="•"/>
            </a:pPr>
            <a:r>
              <a:rPr lang="en-US" dirty="0"/>
              <a:t>Paths from the root to leaves represent </a:t>
            </a:r>
            <a:r>
              <a:rPr lang="en-US" b="1" dirty="0"/>
              <a:t>words or keys</a:t>
            </a:r>
            <a:r>
              <a:rPr lang="en-US" dirty="0"/>
              <a:t>.</a:t>
            </a:r>
          </a:p>
          <a:p>
            <a:pPr marL="285750" indent="-285750">
              <a:buFont typeface="Arial" panose="020B0604020202020204" pitchFamily="34" charset="0"/>
              <a:buChar char="•"/>
            </a:pPr>
            <a:r>
              <a:rPr lang="en-US" dirty="0"/>
              <a:t>It’s especially powerful for </a:t>
            </a:r>
            <a:r>
              <a:rPr lang="en-US" b="1" dirty="0"/>
              <a:t>prefix‑based searching</a:t>
            </a:r>
            <a:r>
              <a:rPr lang="en-US" dirty="0"/>
              <a:t>.</a:t>
            </a:r>
          </a:p>
          <a:p>
            <a:endParaRPr lang="en-US" b="1" dirty="0" smtClean="0">
              <a:solidFill>
                <a:srgbClr val="FF0000"/>
              </a:solidFill>
            </a:endParaRPr>
          </a:p>
          <a:p>
            <a:r>
              <a:rPr lang="en-US" b="1" dirty="0"/>
              <a:t>Structure</a:t>
            </a:r>
          </a:p>
          <a:p>
            <a:pPr marL="285750" indent="-285750">
              <a:buFont typeface="Arial" panose="020B0604020202020204" pitchFamily="34" charset="0"/>
              <a:buChar char="•"/>
            </a:pPr>
            <a:r>
              <a:rPr lang="en-US" b="1" dirty="0"/>
              <a:t>Root node:</a:t>
            </a:r>
            <a:r>
              <a:rPr lang="en-US" dirty="0"/>
              <a:t> Represents an empty string.</a:t>
            </a:r>
          </a:p>
          <a:p>
            <a:pPr marL="285750" indent="-285750">
              <a:buFont typeface="Arial" panose="020B0604020202020204" pitchFamily="34" charset="0"/>
              <a:buChar char="•"/>
            </a:pPr>
            <a:r>
              <a:rPr lang="en-US" b="1" dirty="0"/>
              <a:t>Children:</a:t>
            </a:r>
            <a:r>
              <a:rPr lang="en-US" dirty="0"/>
              <a:t> Each edge corresponds to a character.</a:t>
            </a:r>
          </a:p>
          <a:p>
            <a:pPr marL="285750" indent="-285750">
              <a:buFont typeface="Arial" panose="020B0604020202020204" pitchFamily="34" charset="0"/>
              <a:buChar char="•"/>
            </a:pPr>
            <a:r>
              <a:rPr lang="en-US" b="1" dirty="0"/>
              <a:t>End marker:</a:t>
            </a:r>
            <a:r>
              <a:rPr lang="en-US" dirty="0"/>
              <a:t> A flag at nodes that mark the end of a valid word.</a:t>
            </a:r>
          </a:p>
          <a:p>
            <a:pPr marL="285750" indent="-285750">
              <a:buFont typeface="Arial" panose="020B0604020202020204" pitchFamily="34" charset="0"/>
              <a:buChar char="•"/>
            </a:pPr>
            <a:r>
              <a:rPr lang="en-US" b="1" dirty="0"/>
              <a:t>Alphabet size:</a:t>
            </a:r>
            <a:r>
              <a:rPr lang="en-US" dirty="0"/>
              <a:t> Each node can have up to </a:t>
            </a:r>
            <a:r>
              <a:rPr lang="en-US" i="1" dirty="0"/>
              <a:t>n</a:t>
            </a:r>
            <a:r>
              <a:rPr lang="en-US" dirty="0"/>
              <a:t> children, where </a:t>
            </a:r>
            <a:r>
              <a:rPr lang="en-US" i="1" dirty="0"/>
              <a:t>n</a:t>
            </a:r>
            <a:r>
              <a:rPr lang="en-US" dirty="0"/>
              <a:t> is the number of possible characters (e.g., 26 for English letters)</a:t>
            </a:r>
          </a:p>
          <a:p>
            <a:endParaRPr lang="en-US" b="1" dirty="0" smtClean="0">
              <a:solidFill>
                <a:srgbClr val="FF0000"/>
              </a:solidFill>
            </a:endParaRPr>
          </a:p>
          <a:p>
            <a:r>
              <a:rPr lang="en-US" b="1" dirty="0"/>
              <a:t>Applications</a:t>
            </a:r>
          </a:p>
          <a:p>
            <a:pPr marL="285750" indent="-285750">
              <a:buFont typeface="Arial" panose="020B0604020202020204" pitchFamily="34" charset="0"/>
              <a:buChar char="•"/>
            </a:pPr>
            <a:r>
              <a:rPr lang="en-US" b="1" dirty="0"/>
              <a:t>Autocomplete systems</a:t>
            </a:r>
            <a:r>
              <a:rPr lang="en-US" dirty="0"/>
              <a:t> (search engines, IDEs).</a:t>
            </a:r>
          </a:p>
          <a:p>
            <a:pPr marL="285750" indent="-285750">
              <a:buFont typeface="Arial" panose="020B0604020202020204" pitchFamily="34" charset="0"/>
              <a:buChar char="•"/>
            </a:pPr>
            <a:r>
              <a:rPr lang="en-US" b="1" dirty="0"/>
              <a:t>Spell checkers</a:t>
            </a:r>
            <a:r>
              <a:rPr lang="en-US" dirty="0"/>
              <a:t>.</a:t>
            </a:r>
          </a:p>
          <a:p>
            <a:pPr marL="285750" indent="-285750">
              <a:buFont typeface="Arial" panose="020B0604020202020204" pitchFamily="34" charset="0"/>
              <a:buChar char="•"/>
            </a:pPr>
            <a:r>
              <a:rPr lang="en-US" b="1" dirty="0"/>
              <a:t>IP routing tables</a:t>
            </a:r>
            <a:r>
              <a:rPr lang="en-US" dirty="0"/>
              <a:t>.</a:t>
            </a:r>
          </a:p>
          <a:p>
            <a:pPr marL="285750" indent="-285750">
              <a:buFont typeface="Arial" panose="020B0604020202020204" pitchFamily="34" charset="0"/>
              <a:buChar char="•"/>
            </a:pPr>
            <a:r>
              <a:rPr lang="en-US" b="1" dirty="0"/>
              <a:t>Dictionary compression</a:t>
            </a:r>
            <a:r>
              <a:rPr lang="en-US" dirty="0"/>
              <a:t>.</a:t>
            </a:r>
          </a:p>
          <a:p>
            <a:pPr marL="285750" indent="-285750">
              <a:buFont typeface="Arial" panose="020B0604020202020204" pitchFamily="34" charset="0"/>
              <a:buChar char="•"/>
            </a:pPr>
            <a:r>
              <a:rPr lang="en-US" b="1" dirty="0"/>
              <a:t>Prefix matching in NLP</a:t>
            </a:r>
            <a:r>
              <a:rPr lang="en-US" dirty="0"/>
              <a:t>.</a:t>
            </a:r>
          </a:p>
          <a:p>
            <a:endParaRPr lang="en-US" b="1" dirty="0">
              <a:solidFill>
                <a:srgbClr val="FF0000"/>
              </a:solidFill>
            </a:endParaRPr>
          </a:p>
        </p:txBody>
      </p:sp>
    </p:spTree>
    <p:extLst>
      <p:ext uri="{BB962C8B-B14F-4D97-AF65-F5344CB8AC3E}">
        <p14:creationId xmlns:p14="http://schemas.microsoft.com/office/powerpoint/2010/main" val="2843432880"/>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3693319"/>
          </a:xfrm>
          <a:prstGeom prst="rect">
            <a:avLst/>
          </a:prstGeom>
        </p:spPr>
        <p:txBody>
          <a:bodyPr wrap="square">
            <a:spAutoFit/>
          </a:bodyPr>
          <a:lstStyle/>
          <a:p>
            <a:r>
              <a:rPr lang="en-US" b="1" dirty="0" err="1" smtClean="0">
                <a:solidFill>
                  <a:srgbClr val="FF0000"/>
                </a:solidFill>
              </a:rPr>
              <a:t>Trie</a:t>
            </a:r>
            <a:r>
              <a:rPr lang="en-US" b="1" dirty="0" smtClean="0">
                <a:solidFill>
                  <a:srgbClr val="FF0000"/>
                </a:solidFill>
              </a:rPr>
              <a:t> Tree</a:t>
            </a:r>
            <a:endParaRPr lang="en-US" b="1" dirty="0">
              <a:solidFill>
                <a:srgbClr val="FF0000"/>
              </a:solidFill>
            </a:endParaRPr>
          </a:p>
          <a:p>
            <a:endParaRPr lang="en-US" b="1" dirty="0" smtClean="0">
              <a:solidFill>
                <a:srgbClr val="FF0000"/>
              </a:solidFill>
            </a:endParaRPr>
          </a:p>
          <a:p>
            <a:r>
              <a:rPr lang="en-US" b="1" dirty="0"/>
              <a:t>Advantages</a:t>
            </a:r>
          </a:p>
          <a:p>
            <a:pPr marL="285750" indent="-285750">
              <a:buFont typeface="Arial" panose="020B0604020202020204" pitchFamily="34" charset="0"/>
              <a:buChar char="•"/>
            </a:pPr>
            <a:r>
              <a:rPr lang="en-US" dirty="0"/>
              <a:t>Fast prefix lookups.</a:t>
            </a:r>
          </a:p>
          <a:p>
            <a:pPr marL="285750" indent="-285750">
              <a:buFont typeface="Arial" panose="020B0604020202020204" pitchFamily="34" charset="0"/>
              <a:buChar char="•"/>
            </a:pPr>
            <a:r>
              <a:rPr lang="en-US" dirty="0"/>
              <a:t>Efficient for large word sets.</a:t>
            </a:r>
          </a:p>
          <a:p>
            <a:pPr marL="285750" indent="-285750">
              <a:buFont typeface="Arial" panose="020B0604020202020204" pitchFamily="34" charset="0"/>
              <a:buChar char="•"/>
            </a:pPr>
            <a:r>
              <a:rPr lang="en-US" dirty="0"/>
              <a:t>No need for hashing or collision handling.</a:t>
            </a:r>
          </a:p>
          <a:p>
            <a:endParaRPr lang="en-US" b="1" dirty="0" smtClean="0">
              <a:solidFill>
                <a:srgbClr val="FF0000"/>
              </a:solidFill>
            </a:endParaRPr>
          </a:p>
          <a:p>
            <a:r>
              <a:rPr lang="en-US" b="1" dirty="0"/>
              <a:t>Limitations</a:t>
            </a:r>
          </a:p>
          <a:p>
            <a:pPr marL="285750" indent="-285750">
              <a:buFont typeface="Arial" panose="020B0604020202020204" pitchFamily="34" charset="0"/>
              <a:buChar char="•"/>
            </a:pPr>
            <a:r>
              <a:rPr lang="en-US" dirty="0" smtClean="0"/>
              <a:t>High memory usage (many pointers).</a:t>
            </a:r>
          </a:p>
          <a:p>
            <a:pPr marL="285750" indent="-285750">
              <a:buFont typeface="Arial" panose="020B0604020202020204" pitchFamily="34" charset="0"/>
              <a:buChar char="•"/>
            </a:pPr>
            <a:r>
              <a:rPr lang="en-US" dirty="0" smtClean="0"/>
              <a:t>Slower for small datasets compared to hash tables.</a:t>
            </a:r>
          </a:p>
          <a:p>
            <a:pPr marL="285750" indent="-285750">
              <a:buFont typeface="Arial" panose="020B0604020202020204" pitchFamily="34" charset="0"/>
              <a:buChar char="•"/>
            </a:pPr>
            <a:endParaRPr lang="en-US" b="1" dirty="0" smtClean="0">
              <a:solidFill>
                <a:srgbClr val="FF0000"/>
              </a:solidFill>
            </a:endParaRPr>
          </a:p>
          <a:p>
            <a:r>
              <a:rPr lang="en-US" dirty="0"/>
              <a:t>A </a:t>
            </a:r>
            <a:r>
              <a:rPr lang="en-US" b="1" dirty="0" err="1"/>
              <a:t>Trie</a:t>
            </a:r>
            <a:r>
              <a:rPr lang="en-US" b="1" dirty="0"/>
              <a:t> Tree</a:t>
            </a:r>
            <a:r>
              <a:rPr lang="en-US" dirty="0"/>
              <a:t> is ideal when you need </a:t>
            </a:r>
            <a:r>
              <a:rPr lang="en-US" b="1" dirty="0"/>
              <a:t>prefix‑based searching</a:t>
            </a:r>
            <a:r>
              <a:rPr lang="en-US" dirty="0"/>
              <a:t> — it trades space for speed. It’s the backbone of </a:t>
            </a:r>
            <a:r>
              <a:rPr lang="en-US" b="1" dirty="0"/>
              <a:t>autocomplete, spell‑checking, and routing algorithms</a:t>
            </a:r>
            <a:r>
              <a:rPr lang="en-US" dirty="0"/>
              <a:t>.</a:t>
            </a:r>
            <a:endParaRPr lang="en-US" b="1" dirty="0" smtClean="0">
              <a:solidFill>
                <a:srgbClr val="FF0000"/>
              </a:solidFill>
            </a:endParaRPr>
          </a:p>
        </p:txBody>
      </p:sp>
      <p:pic>
        <p:nvPicPr>
          <p:cNvPr id="7" name="Picture 6"/>
          <p:cNvPicPr>
            <a:picLocks noChangeAspect="1"/>
          </p:cNvPicPr>
          <p:nvPr/>
        </p:nvPicPr>
        <p:blipFill>
          <a:blip r:embed="rId3"/>
          <a:stretch>
            <a:fillRect/>
          </a:stretch>
        </p:blipFill>
        <p:spPr>
          <a:xfrm>
            <a:off x="4125117" y="3934763"/>
            <a:ext cx="2295845" cy="2695951"/>
          </a:xfrm>
          <a:prstGeom prst="rect">
            <a:avLst/>
          </a:prstGeom>
        </p:spPr>
      </p:pic>
    </p:spTree>
    <p:extLst>
      <p:ext uri="{BB962C8B-B14F-4D97-AF65-F5344CB8AC3E}">
        <p14:creationId xmlns:p14="http://schemas.microsoft.com/office/powerpoint/2010/main" val="3327340696"/>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646331"/>
          </a:xfrm>
          <a:prstGeom prst="rect">
            <a:avLst/>
          </a:prstGeom>
        </p:spPr>
        <p:txBody>
          <a:bodyPr wrap="square">
            <a:spAutoFit/>
          </a:bodyPr>
          <a:lstStyle/>
          <a:p>
            <a:r>
              <a:rPr lang="en-US" b="1" dirty="0" err="1" smtClean="0">
                <a:solidFill>
                  <a:srgbClr val="FF0000"/>
                </a:solidFill>
              </a:rPr>
              <a:t>Trie</a:t>
            </a:r>
            <a:r>
              <a:rPr lang="en-US" b="1" dirty="0" smtClean="0">
                <a:solidFill>
                  <a:srgbClr val="FF0000"/>
                </a:solidFill>
              </a:rPr>
              <a:t> Tree</a:t>
            </a:r>
            <a:endParaRPr lang="en-US" b="1" dirty="0">
              <a:solidFill>
                <a:srgbClr val="FF0000"/>
              </a:solidFill>
            </a:endParaRPr>
          </a:p>
          <a:p>
            <a:endParaRPr lang="en-US" b="1" dirty="0" smtClean="0">
              <a:solidFill>
                <a:srgbClr val="FF0000"/>
              </a:solidFill>
            </a:endParaRPr>
          </a:p>
        </p:txBody>
      </p:sp>
      <p:pic>
        <p:nvPicPr>
          <p:cNvPr id="8" name="Picture 7"/>
          <p:cNvPicPr>
            <a:picLocks noChangeAspect="1"/>
          </p:cNvPicPr>
          <p:nvPr/>
        </p:nvPicPr>
        <p:blipFill>
          <a:blip r:embed="rId3"/>
          <a:stretch>
            <a:fillRect/>
          </a:stretch>
        </p:blipFill>
        <p:spPr>
          <a:xfrm>
            <a:off x="181144" y="889461"/>
            <a:ext cx="5029902" cy="5806431"/>
          </a:xfrm>
          <a:prstGeom prst="rect">
            <a:avLst/>
          </a:prstGeom>
        </p:spPr>
      </p:pic>
      <p:pic>
        <p:nvPicPr>
          <p:cNvPr id="9" name="Picture 8"/>
          <p:cNvPicPr>
            <a:picLocks noChangeAspect="1"/>
          </p:cNvPicPr>
          <p:nvPr/>
        </p:nvPicPr>
        <p:blipFill>
          <a:blip r:embed="rId4"/>
          <a:stretch>
            <a:fillRect/>
          </a:stretch>
        </p:blipFill>
        <p:spPr>
          <a:xfrm>
            <a:off x="5395167" y="889461"/>
            <a:ext cx="4477375" cy="5806432"/>
          </a:xfrm>
          <a:prstGeom prst="rect">
            <a:avLst/>
          </a:prstGeom>
        </p:spPr>
      </p:pic>
    </p:spTree>
    <p:extLst>
      <p:ext uri="{BB962C8B-B14F-4D97-AF65-F5344CB8AC3E}">
        <p14:creationId xmlns:p14="http://schemas.microsoft.com/office/powerpoint/2010/main" val="3161964565"/>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646331"/>
          </a:xfrm>
          <a:prstGeom prst="rect">
            <a:avLst/>
          </a:prstGeom>
        </p:spPr>
        <p:txBody>
          <a:bodyPr wrap="square">
            <a:spAutoFit/>
          </a:bodyPr>
          <a:lstStyle/>
          <a:p>
            <a:r>
              <a:rPr lang="en-US" b="1" dirty="0" err="1" smtClean="0">
                <a:solidFill>
                  <a:srgbClr val="FF0000"/>
                </a:solidFill>
              </a:rPr>
              <a:t>Trie</a:t>
            </a:r>
            <a:r>
              <a:rPr lang="en-US" b="1" dirty="0" smtClean="0">
                <a:solidFill>
                  <a:srgbClr val="FF0000"/>
                </a:solidFill>
              </a:rPr>
              <a:t> Tree</a:t>
            </a:r>
            <a:endParaRPr lang="en-US" b="1" dirty="0">
              <a:solidFill>
                <a:srgbClr val="FF0000"/>
              </a:solidFill>
            </a:endParaRPr>
          </a:p>
          <a:p>
            <a:endParaRPr lang="en-US" b="1" dirty="0" smtClean="0">
              <a:solidFill>
                <a:srgbClr val="FF0000"/>
              </a:solidFill>
            </a:endParaRPr>
          </a:p>
        </p:txBody>
      </p:sp>
      <p:pic>
        <p:nvPicPr>
          <p:cNvPr id="7" name="Picture 6"/>
          <p:cNvPicPr>
            <a:picLocks noChangeAspect="1"/>
          </p:cNvPicPr>
          <p:nvPr/>
        </p:nvPicPr>
        <p:blipFill>
          <a:blip r:embed="rId3"/>
          <a:stretch>
            <a:fillRect/>
          </a:stretch>
        </p:blipFill>
        <p:spPr>
          <a:xfrm>
            <a:off x="139150" y="1128469"/>
            <a:ext cx="6211167" cy="2724530"/>
          </a:xfrm>
          <a:prstGeom prst="rect">
            <a:avLst/>
          </a:prstGeom>
        </p:spPr>
      </p:pic>
      <p:pic>
        <p:nvPicPr>
          <p:cNvPr id="10" name="Picture 9"/>
          <p:cNvPicPr>
            <a:picLocks noChangeAspect="1"/>
          </p:cNvPicPr>
          <p:nvPr/>
        </p:nvPicPr>
        <p:blipFill>
          <a:blip r:embed="rId4"/>
          <a:stretch>
            <a:fillRect/>
          </a:stretch>
        </p:blipFill>
        <p:spPr>
          <a:xfrm>
            <a:off x="139150" y="4129396"/>
            <a:ext cx="7367243" cy="2296342"/>
          </a:xfrm>
          <a:prstGeom prst="rect">
            <a:avLst/>
          </a:prstGeom>
        </p:spPr>
      </p:pic>
    </p:spTree>
    <p:extLst>
      <p:ext uri="{BB962C8B-B14F-4D97-AF65-F5344CB8AC3E}">
        <p14:creationId xmlns:p14="http://schemas.microsoft.com/office/powerpoint/2010/main" val="3610245067"/>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646331"/>
          </a:xfrm>
          <a:prstGeom prst="rect">
            <a:avLst/>
          </a:prstGeom>
        </p:spPr>
        <p:txBody>
          <a:bodyPr wrap="square">
            <a:spAutoFit/>
          </a:bodyPr>
          <a:lstStyle/>
          <a:p>
            <a:r>
              <a:rPr lang="en-US" b="1" dirty="0" err="1" smtClean="0">
                <a:solidFill>
                  <a:srgbClr val="FF0000"/>
                </a:solidFill>
              </a:rPr>
              <a:t>Trie</a:t>
            </a:r>
            <a:r>
              <a:rPr lang="en-US" b="1" dirty="0" smtClean="0">
                <a:solidFill>
                  <a:srgbClr val="FF0000"/>
                </a:solidFill>
              </a:rPr>
              <a:t> Tree</a:t>
            </a:r>
            <a:endParaRPr lang="en-US" b="1" dirty="0">
              <a:solidFill>
                <a:srgbClr val="FF0000"/>
              </a:solidFill>
            </a:endParaRPr>
          </a:p>
          <a:p>
            <a:endParaRPr lang="en-US" b="1" dirty="0" smtClean="0">
              <a:solidFill>
                <a:srgbClr val="FF0000"/>
              </a:solidFill>
            </a:endParaRPr>
          </a:p>
        </p:txBody>
      </p:sp>
      <p:pic>
        <p:nvPicPr>
          <p:cNvPr id="8" name="Picture 7"/>
          <p:cNvPicPr>
            <a:picLocks noChangeAspect="1"/>
          </p:cNvPicPr>
          <p:nvPr/>
        </p:nvPicPr>
        <p:blipFill>
          <a:blip r:embed="rId3"/>
          <a:stretch>
            <a:fillRect/>
          </a:stretch>
        </p:blipFill>
        <p:spPr>
          <a:xfrm>
            <a:off x="83763" y="1047404"/>
            <a:ext cx="3296110" cy="5493913"/>
          </a:xfrm>
          <a:prstGeom prst="rect">
            <a:avLst/>
          </a:prstGeom>
        </p:spPr>
      </p:pic>
      <p:pic>
        <p:nvPicPr>
          <p:cNvPr id="9" name="Picture 8"/>
          <p:cNvPicPr>
            <a:picLocks noChangeAspect="1"/>
          </p:cNvPicPr>
          <p:nvPr/>
        </p:nvPicPr>
        <p:blipFill>
          <a:blip r:embed="rId4"/>
          <a:stretch>
            <a:fillRect/>
          </a:stretch>
        </p:blipFill>
        <p:spPr>
          <a:xfrm>
            <a:off x="5689635" y="1981272"/>
            <a:ext cx="3639058" cy="2695951"/>
          </a:xfrm>
          <a:prstGeom prst="rect">
            <a:avLst/>
          </a:prstGeom>
        </p:spPr>
      </p:pic>
    </p:spTree>
    <p:extLst>
      <p:ext uri="{BB962C8B-B14F-4D97-AF65-F5344CB8AC3E}">
        <p14:creationId xmlns:p14="http://schemas.microsoft.com/office/powerpoint/2010/main" val="887476312"/>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646331"/>
          </a:xfrm>
          <a:prstGeom prst="rect">
            <a:avLst/>
          </a:prstGeom>
        </p:spPr>
        <p:txBody>
          <a:bodyPr wrap="square">
            <a:spAutoFit/>
          </a:bodyPr>
          <a:lstStyle/>
          <a:p>
            <a:r>
              <a:rPr lang="en-US" b="1" dirty="0" err="1" smtClean="0">
                <a:solidFill>
                  <a:srgbClr val="FF0000"/>
                </a:solidFill>
              </a:rPr>
              <a:t>Trie</a:t>
            </a:r>
            <a:r>
              <a:rPr lang="en-US" b="1" dirty="0" smtClean="0">
                <a:solidFill>
                  <a:srgbClr val="FF0000"/>
                </a:solidFill>
              </a:rPr>
              <a:t> Tree</a:t>
            </a:r>
            <a:endParaRPr lang="en-US" b="1" dirty="0">
              <a:solidFill>
                <a:srgbClr val="FF0000"/>
              </a:solidFill>
            </a:endParaRPr>
          </a:p>
          <a:p>
            <a:endParaRPr lang="en-US" b="1" dirty="0" smtClean="0">
              <a:solidFill>
                <a:srgbClr val="FF0000"/>
              </a:solidFill>
            </a:endParaRPr>
          </a:p>
        </p:txBody>
      </p:sp>
      <p:pic>
        <p:nvPicPr>
          <p:cNvPr id="7" name="Picture 6"/>
          <p:cNvPicPr>
            <a:picLocks noChangeAspect="1"/>
          </p:cNvPicPr>
          <p:nvPr/>
        </p:nvPicPr>
        <p:blipFill>
          <a:blip r:embed="rId3"/>
          <a:stretch>
            <a:fillRect/>
          </a:stretch>
        </p:blipFill>
        <p:spPr>
          <a:xfrm>
            <a:off x="390698" y="1241275"/>
            <a:ext cx="4467849" cy="4601217"/>
          </a:xfrm>
          <a:prstGeom prst="rect">
            <a:avLst/>
          </a:prstGeom>
        </p:spPr>
      </p:pic>
    </p:spTree>
    <p:extLst>
      <p:ext uri="{BB962C8B-B14F-4D97-AF65-F5344CB8AC3E}">
        <p14:creationId xmlns:p14="http://schemas.microsoft.com/office/powerpoint/2010/main" val="3420409700"/>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3416320"/>
          </a:xfrm>
          <a:prstGeom prst="rect">
            <a:avLst/>
          </a:prstGeom>
        </p:spPr>
        <p:txBody>
          <a:bodyPr wrap="square">
            <a:spAutoFit/>
          </a:bodyPr>
          <a:lstStyle/>
          <a:p>
            <a:r>
              <a:rPr lang="en-US" b="1" dirty="0" err="1" smtClean="0">
                <a:solidFill>
                  <a:srgbClr val="FF0000"/>
                </a:solidFill>
              </a:rPr>
              <a:t>Trie</a:t>
            </a:r>
            <a:r>
              <a:rPr lang="en-US" b="1" dirty="0" smtClean="0">
                <a:solidFill>
                  <a:srgbClr val="FF0000"/>
                </a:solidFill>
              </a:rPr>
              <a:t> Tree</a:t>
            </a:r>
            <a:endParaRPr lang="en-US" b="1" dirty="0">
              <a:solidFill>
                <a:srgbClr val="FF0000"/>
              </a:solidFill>
            </a:endParaRPr>
          </a:p>
          <a:p>
            <a:endParaRPr lang="en-US" b="1" dirty="0" smtClean="0">
              <a:solidFill>
                <a:srgbClr val="FF0000"/>
              </a:solidFill>
            </a:endParaRPr>
          </a:p>
          <a:p>
            <a:r>
              <a:rPr lang="en-IN" b="1" dirty="0"/>
              <a:t>Core </a:t>
            </a:r>
            <a:r>
              <a:rPr lang="en-IN" b="1" dirty="0" smtClean="0"/>
              <a:t>Components</a:t>
            </a:r>
          </a:p>
          <a:p>
            <a:endParaRPr lang="en-IN" b="1" dirty="0"/>
          </a:p>
          <a:p>
            <a:r>
              <a:rPr lang="en-IN" b="1" dirty="0" err="1"/>
              <a:t>TrieNode</a:t>
            </a:r>
            <a:endParaRPr lang="en-IN" b="1" dirty="0"/>
          </a:p>
          <a:p>
            <a:pPr marL="285750" indent="-285750">
              <a:buFont typeface="Arial" panose="020B0604020202020204" pitchFamily="34" charset="0"/>
              <a:buChar char="•"/>
            </a:pPr>
            <a:r>
              <a:rPr lang="en-US" dirty="0"/>
              <a:t>children → an array of 26 references (for each lowercase English letter a–z).</a:t>
            </a:r>
          </a:p>
          <a:p>
            <a:pPr marL="285750" indent="-285750">
              <a:buFont typeface="Arial" panose="020B0604020202020204" pitchFamily="34" charset="0"/>
              <a:buChar char="•"/>
            </a:pPr>
            <a:r>
              <a:rPr lang="en-US" dirty="0" err="1" smtClean="0"/>
              <a:t>isEndOfWord</a:t>
            </a:r>
            <a:r>
              <a:rPr lang="en-US" dirty="0" smtClean="0"/>
              <a:t> </a:t>
            </a:r>
            <a:r>
              <a:rPr lang="en-US" dirty="0"/>
              <a:t>→ a flag that marks whether the path from root to this node forms a complete word.</a:t>
            </a:r>
          </a:p>
          <a:p>
            <a:endParaRPr lang="en-IN" dirty="0"/>
          </a:p>
          <a:p>
            <a:r>
              <a:rPr lang="en-IN" b="1" dirty="0"/>
              <a:t>TrieExample17</a:t>
            </a:r>
          </a:p>
          <a:p>
            <a:pPr marL="285750" indent="-285750">
              <a:buFont typeface="Arial" panose="020B0604020202020204" pitchFamily="34" charset="0"/>
              <a:buChar char="•"/>
            </a:pPr>
            <a:r>
              <a:rPr lang="en-US" dirty="0"/>
              <a:t>root → the root node of the </a:t>
            </a:r>
            <a:r>
              <a:rPr lang="en-US" dirty="0" err="1"/>
              <a:t>Trie</a:t>
            </a:r>
            <a:r>
              <a:rPr lang="en-US" dirty="0"/>
              <a:t>.</a:t>
            </a:r>
          </a:p>
          <a:p>
            <a:pPr marL="285750" indent="-285750">
              <a:buFont typeface="Arial" panose="020B0604020202020204" pitchFamily="34" charset="0"/>
              <a:buChar char="•"/>
            </a:pPr>
            <a:r>
              <a:rPr lang="en-US" dirty="0" smtClean="0"/>
              <a:t>Provides </a:t>
            </a:r>
            <a:r>
              <a:rPr lang="en-US" dirty="0"/>
              <a:t>methods for insert, search, and prefix search.</a:t>
            </a:r>
          </a:p>
          <a:p>
            <a:endParaRPr lang="en-US" b="1" dirty="0" smtClean="0">
              <a:solidFill>
                <a:srgbClr val="FF0000"/>
              </a:solidFill>
            </a:endParaRPr>
          </a:p>
        </p:txBody>
      </p:sp>
    </p:spTree>
    <p:extLst>
      <p:ext uri="{BB962C8B-B14F-4D97-AF65-F5344CB8AC3E}">
        <p14:creationId xmlns:p14="http://schemas.microsoft.com/office/powerpoint/2010/main" val="1723491890"/>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4247317"/>
          </a:xfrm>
          <a:prstGeom prst="rect">
            <a:avLst/>
          </a:prstGeom>
        </p:spPr>
        <p:txBody>
          <a:bodyPr wrap="square">
            <a:spAutoFit/>
          </a:bodyPr>
          <a:lstStyle/>
          <a:p>
            <a:r>
              <a:rPr lang="en-US" b="1" dirty="0" err="1" smtClean="0">
                <a:solidFill>
                  <a:srgbClr val="FF0000"/>
                </a:solidFill>
              </a:rPr>
              <a:t>Trie</a:t>
            </a:r>
            <a:r>
              <a:rPr lang="en-US" b="1" dirty="0" smtClean="0">
                <a:solidFill>
                  <a:srgbClr val="FF0000"/>
                </a:solidFill>
              </a:rPr>
              <a:t> Tree</a:t>
            </a:r>
            <a:endParaRPr lang="en-US" b="1" dirty="0">
              <a:solidFill>
                <a:srgbClr val="FF0000"/>
              </a:solidFill>
            </a:endParaRPr>
          </a:p>
          <a:p>
            <a:endParaRPr lang="en-US" b="1" dirty="0" smtClean="0">
              <a:solidFill>
                <a:srgbClr val="FF0000"/>
              </a:solidFill>
            </a:endParaRPr>
          </a:p>
          <a:p>
            <a:r>
              <a:rPr lang="en-IN" b="1" dirty="0" smtClean="0"/>
              <a:t>Main Operations</a:t>
            </a:r>
          </a:p>
          <a:p>
            <a:endParaRPr lang="en-IN" dirty="0" smtClean="0"/>
          </a:p>
          <a:p>
            <a:r>
              <a:rPr lang="en-IN" b="1" dirty="0" smtClean="0"/>
              <a:t>Insert</a:t>
            </a:r>
          </a:p>
          <a:p>
            <a:endParaRPr lang="en-US" b="1" dirty="0">
              <a:solidFill>
                <a:srgbClr val="FF0000"/>
              </a:solidFill>
            </a:endParaRPr>
          </a:p>
          <a:p>
            <a:pPr marL="285750" indent="-285750">
              <a:buFont typeface="Arial" panose="020B0604020202020204" pitchFamily="34" charset="0"/>
              <a:buChar char="•"/>
            </a:pPr>
            <a:r>
              <a:rPr lang="en-IN" dirty="0"/>
              <a:t>Starts at the root.</a:t>
            </a:r>
          </a:p>
          <a:p>
            <a:pPr marL="285750" indent="-285750">
              <a:buFont typeface="Arial" panose="020B0604020202020204" pitchFamily="34" charset="0"/>
              <a:buChar char="•"/>
            </a:pPr>
            <a:r>
              <a:rPr lang="en-US" dirty="0" smtClean="0"/>
              <a:t>For </a:t>
            </a:r>
            <a:r>
              <a:rPr lang="en-US" dirty="0"/>
              <a:t>each character in the word:</a:t>
            </a:r>
          </a:p>
          <a:p>
            <a:pPr marL="285750" indent="-285750">
              <a:buFont typeface="Arial" panose="020B0604020202020204" pitchFamily="34" charset="0"/>
              <a:buChar char="•"/>
            </a:pPr>
            <a:r>
              <a:rPr lang="en-US" dirty="0" smtClean="0"/>
              <a:t>Computes </a:t>
            </a:r>
            <a:r>
              <a:rPr lang="en-US" dirty="0"/>
              <a:t>its index (</a:t>
            </a:r>
            <a:r>
              <a:rPr lang="en-US" dirty="0" err="1"/>
              <a:t>ch</a:t>
            </a:r>
            <a:r>
              <a:rPr lang="en-US" dirty="0"/>
              <a:t> - 'a').</a:t>
            </a:r>
          </a:p>
          <a:p>
            <a:pPr marL="285750" indent="-285750">
              <a:buFont typeface="Arial" panose="020B0604020202020204" pitchFamily="34" charset="0"/>
              <a:buChar char="•"/>
            </a:pPr>
            <a:r>
              <a:rPr lang="en-US" dirty="0" smtClean="0"/>
              <a:t>Creates </a:t>
            </a:r>
            <a:r>
              <a:rPr lang="en-US" dirty="0"/>
              <a:t>a new node if it doesn’t exist.</a:t>
            </a:r>
          </a:p>
          <a:p>
            <a:pPr marL="285750" indent="-285750">
              <a:buFont typeface="Arial" panose="020B0604020202020204" pitchFamily="34" charset="0"/>
              <a:buChar char="•"/>
            </a:pPr>
            <a:r>
              <a:rPr lang="en-US" dirty="0" smtClean="0"/>
              <a:t>Moves </a:t>
            </a:r>
            <a:r>
              <a:rPr lang="en-US" dirty="0"/>
              <a:t>down to that child.</a:t>
            </a:r>
          </a:p>
          <a:p>
            <a:pPr marL="285750" indent="-285750">
              <a:buFont typeface="Arial" panose="020B0604020202020204" pitchFamily="34" charset="0"/>
              <a:buChar char="•"/>
            </a:pPr>
            <a:r>
              <a:rPr lang="en-US" dirty="0" smtClean="0"/>
              <a:t>Marks </a:t>
            </a:r>
            <a:r>
              <a:rPr lang="en-US" dirty="0"/>
              <a:t>the final node as </a:t>
            </a:r>
            <a:r>
              <a:rPr lang="en-US" dirty="0" err="1"/>
              <a:t>isEndOfWord</a:t>
            </a:r>
            <a:r>
              <a:rPr lang="en-US" dirty="0"/>
              <a:t> = true.</a:t>
            </a:r>
          </a:p>
          <a:p>
            <a:endParaRPr lang="en-IN" dirty="0"/>
          </a:p>
          <a:p>
            <a:r>
              <a:rPr lang="en-US" dirty="0" smtClean="0"/>
              <a:t>Example</a:t>
            </a:r>
            <a:r>
              <a:rPr lang="en-US" dirty="0"/>
              <a:t>: inserting "cat" creates a path c → a → t with the last node marked as end of word.</a:t>
            </a:r>
          </a:p>
          <a:p>
            <a:endParaRPr lang="en-US" b="1" dirty="0" smtClean="0">
              <a:solidFill>
                <a:srgbClr val="FF0000"/>
              </a:solidFill>
            </a:endParaRPr>
          </a:p>
        </p:txBody>
      </p:sp>
    </p:spTree>
    <p:extLst>
      <p:ext uri="{BB962C8B-B14F-4D97-AF65-F5344CB8AC3E}">
        <p14:creationId xmlns:p14="http://schemas.microsoft.com/office/powerpoint/2010/main" val="566121161"/>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4801314"/>
          </a:xfrm>
          <a:prstGeom prst="rect">
            <a:avLst/>
          </a:prstGeom>
        </p:spPr>
        <p:txBody>
          <a:bodyPr wrap="square">
            <a:spAutoFit/>
          </a:bodyPr>
          <a:lstStyle/>
          <a:p>
            <a:r>
              <a:rPr lang="en-US" b="1" dirty="0" err="1" smtClean="0">
                <a:solidFill>
                  <a:srgbClr val="FF0000"/>
                </a:solidFill>
              </a:rPr>
              <a:t>Trie</a:t>
            </a:r>
            <a:r>
              <a:rPr lang="en-US" b="1" dirty="0" smtClean="0">
                <a:solidFill>
                  <a:srgbClr val="FF0000"/>
                </a:solidFill>
              </a:rPr>
              <a:t> Tree</a:t>
            </a:r>
            <a:endParaRPr lang="en-US" b="1" dirty="0">
              <a:solidFill>
                <a:srgbClr val="FF0000"/>
              </a:solidFill>
            </a:endParaRPr>
          </a:p>
          <a:p>
            <a:endParaRPr lang="en-US" b="1" dirty="0" smtClean="0">
              <a:solidFill>
                <a:srgbClr val="FF0000"/>
              </a:solidFill>
            </a:endParaRPr>
          </a:p>
          <a:p>
            <a:r>
              <a:rPr lang="en-IN" b="1" dirty="0" smtClean="0"/>
              <a:t>Main Operations</a:t>
            </a:r>
          </a:p>
          <a:p>
            <a:endParaRPr lang="en-IN" dirty="0" smtClean="0"/>
          </a:p>
          <a:p>
            <a:r>
              <a:rPr lang="en-IN" b="1" dirty="0" smtClean="0"/>
              <a:t>Search</a:t>
            </a:r>
          </a:p>
          <a:p>
            <a:pPr marL="285750" indent="-285750">
              <a:buFont typeface="Arial" panose="020B0604020202020204" pitchFamily="34" charset="0"/>
              <a:buChar char="•"/>
            </a:pPr>
            <a:r>
              <a:rPr lang="en-IN" dirty="0"/>
              <a:t>Traverses character by character.</a:t>
            </a:r>
          </a:p>
          <a:p>
            <a:pPr marL="285750" indent="-285750">
              <a:buFont typeface="Arial" panose="020B0604020202020204" pitchFamily="34" charset="0"/>
              <a:buChar char="•"/>
            </a:pPr>
            <a:r>
              <a:rPr lang="en-US" dirty="0" smtClean="0"/>
              <a:t>If </a:t>
            </a:r>
            <a:r>
              <a:rPr lang="en-US" dirty="0"/>
              <a:t>any required child is missing → returns false.</a:t>
            </a:r>
          </a:p>
          <a:p>
            <a:pPr marL="285750" indent="-285750">
              <a:buFont typeface="Arial" panose="020B0604020202020204" pitchFamily="34" charset="0"/>
              <a:buChar char="•"/>
            </a:pPr>
            <a:r>
              <a:rPr lang="en-US" dirty="0" smtClean="0"/>
              <a:t>At </a:t>
            </a:r>
            <a:r>
              <a:rPr lang="en-US" dirty="0"/>
              <a:t>the end, checks if </a:t>
            </a:r>
            <a:r>
              <a:rPr lang="en-US" dirty="0" err="1"/>
              <a:t>isEndOfWord</a:t>
            </a:r>
            <a:r>
              <a:rPr lang="en-US" dirty="0"/>
              <a:t> is true.</a:t>
            </a:r>
          </a:p>
          <a:p>
            <a:endParaRPr lang="en-US" dirty="0" smtClean="0"/>
          </a:p>
          <a:p>
            <a:r>
              <a:rPr lang="en-US" dirty="0" smtClean="0"/>
              <a:t>"</a:t>
            </a:r>
            <a:r>
              <a:rPr lang="en-US" dirty="0"/>
              <a:t>cat" returns true, "cap" returns false.</a:t>
            </a:r>
          </a:p>
          <a:p>
            <a:endParaRPr lang="en-US" b="1" dirty="0" smtClean="0">
              <a:solidFill>
                <a:srgbClr val="FF0000"/>
              </a:solidFill>
            </a:endParaRPr>
          </a:p>
          <a:p>
            <a:r>
              <a:rPr lang="en-IN" b="1" dirty="0"/>
              <a:t>Prefix Search</a:t>
            </a:r>
          </a:p>
          <a:p>
            <a:pPr marL="285750" indent="-285750">
              <a:buFont typeface="Arial" panose="020B0604020202020204" pitchFamily="34" charset="0"/>
              <a:buChar char="•"/>
            </a:pPr>
            <a:r>
              <a:rPr lang="en-US" dirty="0" smtClean="0"/>
              <a:t>Similar </a:t>
            </a:r>
            <a:r>
              <a:rPr lang="en-US" dirty="0"/>
              <a:t>to search, but doesn’t require </a:t>
            </a:r>
            <a:r>
              <a:rPr lang="en-US" dirty="0" err="1"/>
              <a:t>isEndOfWord</a:t>
            </a:r>
            <a:r>
              <a:rPr lang="en-US" dirty="0"/>
              <a:t>.</a:t>
            </a:r>
          </a:p>
          <a:p>
            <a:pPr marL="285750" indent="-285750">
              <a:buFont typeface="Arial" panose="020B0604020202020204" pitchFamily="34" charset="0"/>
              <a:buChar char="•"/>
            </a:pPr>
            <a:r>
              <a:rPr lang="en-US" dirty="0" smtClean="0"/>
              <a:t>Returns </a:t>
            </a:r>
            <a:r>
              <a:rPr lang="en-US" dirty="0"/>
              <a:t>true if the prefix path exists.</a:t>
            </a:r>
          </a:p>
          <a:p>
            <a:endParaRPr lang="en-IN" dirty="0"/>
          </a:p>
          <a:p>
            <a:r>
              <a:rPr lang="en-US" dirty="0" smtClean="0"/>
              <a:t>"</a:t>
            </a:r>
            <a:r>
              <a:rPr lang="en-US" dirty="0"/>
              <a:t>ca" returns true because both "cat" and "car" share that prefix.</a:t>
            </a:r>
          </a:p>
          <a:p>
            <a:endParaRPr lang="en-US" b="1" dirty="0" smtClean="0">
              <a:solidFill>
                <a:srgbClr val="FF0000"/>
              </a:solidFill>
            </a:endParaRPr>
          </a:p>
        </p:txBody>
      </p:sp>
    </p:spTree>
    <p:extLst>
      <p:ext uri="{BB962C8B-B14F-4D97-AF65-F5344CB8AC3E}">
        <p14:creationId xmlns:p14="http://schemas.microsoft.com/office/powerpoint/2010/main" val="3875789161"/>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6186309"/>
          </a:xfrm>
          <a:prstGeom prst="rect">
            <a:avLst/>
          </a:prstGeom>
        </p:spPr>
        <p:txBody>
          <a:bodyPr wrap="square">
            <a:spAutoFit/>
          </a:bodyPr>
          <a:lstStyle/>
          <a:p>
            <a:r>
              <a:rPr lang="en-US" b="1" dirty="0" err="1" smtClean="0">
                <a:solidFill>
                  <a:srgbClr val="FF0000"/>
                </a:solidFill>
              </a:rPr>
              <a:t>Trie</a:t>
            </a:r>
            <a:r>
              <a:rPr lang="en-US" b="1" dirty="0" smtClean="0">
                <a:solidFill>
                  <a:srgbClr val="FF0000"/>
                </a:solidFill>
              </a:rPr>
              <a:t> Tree</a:t>
            </a:r>
            <a:endParaRPr lang="en-US" b="1" dirty="0">
              <a:solidFill>
                <a:srgbClr val="FF0000"/>
              </a:solidFill>
            </a:endParaRPr>
          </a:p>
          <a:p>
            <a:endParaRPr lang="en-US" b="1" dirty="0" smtClean="0">
              <a:solidFill>
                <a:srgbClr val="FF0000"/>
              </a:solidFill>
            </a:endParaRPr>
          </a:p>
          <a:p>
            <a:r>
              <a:rPr lang="en-IN" b="1" dirty="0"/>
              <a:t>Execution Flow</a:t>
            </a:r>
          </a:p>
          <a:p>
            <a:endParaRPr lang="en-US" dirty="0" smtClean="0"/>
          </a:p>
          <a:p>
            <a:r>
              <a:rPr lang="en-US" dirty="0" smtClean="0"/>
              <a:t>Words </a:t>
            </a:r>
            <a:r>
              <a:rPr lang="en-US" dirty="0"/>
              <a:t>stored in the </a:t>
            </a:r>
            <a:r>
              <a:rPr lang="en-US" dirty="0" err="1"/>
              <a:t>Trie</a:t>
            </a:r>
            <a:r>
              <a:rPr lang="en-US" dirty="0"/>
              <a:t>: "cat", "car", "dog</a:t>
            </a:r>
            <a:r>
              <a:rPr lang="en-US" dirty="0" smtClean="0"/>
              <a:t>".</a:t>
            </a:r>
          </a:p>
          <a:p>
            <a:endParaRPr lang="en-US" dirty="0"/>
          </a:p>
          <a:p>
            <a:endParaRPr lang="en-US" dirty="0" smtClean="0"/>
          </a:p>
          <a:p>
            <a:endParaRPr lang="en-US" dirty="0"/>
          </a:p>
          <a:p>
            <a:endParaRPr lang="en-US" dirty="0" smtClean="0"/>
          </a:p>
          <a:p>
            <a:r>
              <a:rPr lang="en-IN" b="1" dirty="0" smtClean="0"/>
              <a:t>Output</a:t>
            </a:r>
            <a:r>
              <a:rPr lang="en-IN" b="1" dirty="0"/>
              <a:t>:</a:t>
            </a:r>
            <a:endParaRPr lang="en-US" b="1" dirty="0"/>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a:p>
            <a:r>
              <a:rPr lang="en-US" dirty="0"/>
              <a:t>This program builds a </a:t>
            </a:r>
            <a:r>
              <a:rPr lang="en-US" dirty="0" err="1"/>
              <a:t>Trie</a:t>
            </a:r>
            <a:r>
              <a:rPr lang="en-US" dirty="0"/>
              <a:t> Tree for lowercase words.</a:t>
            </a:r>
          </a:p>
          <a:p>
            <a:r>
              <a:rPr lang="en-IN" dirty="0" smtClean="0"/>
              <a:t>It </a:t>
            </a:r>
            <a:r>
              <a:rPr lang="en-IN" dirty="0"/>
              <a:t>supports:</a:t>
            </a:r>
          </a:p>
          <a:p>
            <a:pPr marL="285750" indent="-285750">
              <a:buFont typeface="Arial" panose="020B0604020202020204" pitchFamily="34" charset="0"/>
              <a:buChar char="•"/>
            </a:pPr>
            <a:r>
              <a:rPr lang="en-IN" dirty="0" smtClean="0"/>
              <a:t>Insert </a:t>
            </a:r>
            <a:r>
              <a:rPr lang="en-IN" dirty="0"/>
              <a:t>→ add words.</a:t>
            </a:r>
          </a:p>
          <a:p>
            <a:pPr marL="285750" indent="-285750">
              <a:buFont typeface="Arial" panose="020B0604020202020204" pitchFamily="34" charset="0"/>
              <a:buChar char="•"/>
            </a:pPr>
            <a:r>
              <a:rPr lang="en-US" dirty="0" smtClean="0"/>
              <a:t>Search </a:t>
            </a:r>
            <a:r>
              <a:rPr lang="en-US" dirty="0"/>
              <a:t>→ check if a word exists.</a:t>
            </a:r>
          </a:p>
          <a:p>
            <a:pPr marL="285750" indent="-285750">
              <a:buFont typeface="Arial" panose="020B0604020202020204" pitchFamily="34" charset="0"/>
              <a:buChar char="•"/>
            </a:pPr>
            <a:r>
              <a:rPr lang="en-US" dirty="0" smtClean="0"/>
              <a:t>Prefix </a:t>
            </a:r>
            <a:r>
              <a:rPr lang="en-US" dirty="0"/>
              <a:t>search → check if any word starts with a given prefix.</a:t>
            </a:r>
          </a:p>
          <a:p>
            <a:pPr marL="285750" indent="-285750">
              <a:buFont typeface="Arial" panose="020B0604020202020204" pitchFamily="34" charset="0"/>
              <a:buChar char="•"/>
            </a:pPr>
            <a:endParaRPr lang="en-IN" dirty="0"/>
          </a:p>
          <a:p>
            <a:r>
              <a:rPr lang="en-US" dirty="0"/>
              <a:t>It’s the backbone of autocomplete, spell checkers, and prefix matching</a:t>
            </a:r>
            <a:r>
              <a:rPr lang="en-US" dirty="0" smtClean="0"/>
              <a:t>.</a:t>
            </a:r>
            <a:endParaRPr lang="en-US" b="1" dirty="0" smtClean="0">
              <a:solidFill>
                <a:srgbClr val="FF0000"/>
              </a:solidFill>
            </a:endParaRPr>
          </a:p>
        </p:txBody>
      </p:sp>
      <p:pic>
        <p:nvPicPr>
          <p:cNvPr id="3" name="Picture 2"/>
          <p:cNvPicPr>
            <a:picLocks noChangeAspect="1"/>
          </p:cNvPicPr>
          <p:nvPr/>
        </p:nvPicPr>
        <p:blipFill>
          <a:blip r:embed="rId3"/>
          <a:stretch>
            <a:fillRect/>
          </a:stretch>
        </p:blipFill>
        <p:spPr>
          <a:xfrm>
            <a:off x="719390" y="2052292"/>
            <a:ext cx="1343212" cy="752580"/>
          </a:xfrm>
          <a:prstGeom prst="rect">
            <a:avLst/>
          </a:prstGeom>
        </p:spPr>
      </p:pic>
      <p:pic>
        <p:nvPicPr>
          <p:cNvPr id="7" name="Picture 6"/>
          <p:cNvPicPr>
            <a:picLocks noChangeAspect="1"/>
          </p:cNvPicPr>
          <p:nvPr/>
        </p:nvPicPr>
        <p:blipFill>
          <a:blip r:embed="rId4"/>
          <a:stretch>
            <a:fillRect/>
          </a:stretch>
        </p:blipFill>
        <p:spPr>
          <a:xfrm>
            <a:off x="719390" y="3383262"/>
            <a:ext cx="1838582" cy="905001"/>
          </a:xfrm>
          <a:prstGeom prst="rect">
            <a:avLst/>
          </a:prstGeom>
        </p:spPr>
      </p:pic>
    </p:spTree>
    <p:extLst>
      <p:ext uri="{BB962C8B-B14F-4D97-AF65-F5344CB8AC3E}">
        <p14:creationId xmlns:p14="http://schemas.microsoft.com/office/powerpoint/2010/main" val="1023489740"/>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646331"/>
          </a:xfrm>
          <a:prstGeom prst="rect">
            <a:avLst/>
          </a:prstGeom>
        </p:spPr>
        <p:txBody>
          <a:bodyPr wrap="square">
            <a:spAutoFit/>
          </a:bodyPr>
          <a:lstStyle/>
          <a:p>
            <a:r>
              <a:rPr lang="en-US" b="1" dirty="0" err="1" smtClean="0">
                <a:solidFill>
                  <a:srgbClr val="FF0000"/>
                </a:solidFill>
              </a:rPr>
              <a:t>Trie</a:t>
            </a:r>
            <a:r>
              <a:rPr lang="en-US" b="1" dirty="0" smtClean="0">
                <a:solidFill>
                  <a:srgbClr val="FF0000"/>
                </a:solidFill>
              </a:rPr>
              <a:t> Tree</a:t>
            </a:r>
            <a:endParaRPr lang="en-US" b="1" dirty="0">
              <a:solidFill>
                <a:srgbClr val="FF0000"/>
              </a:solidFill>
            </a:endParaRPr>
          </a:p>
          <a:p>
            <a:endParaRPr lang="en-US" b="1" dirty="0" smtClean="0">
              <a:solidFill>
                <a:srgbClr val="FF0000"/>
              </a:solidFill>
            </a:endParaRPr>
          </a:p>
        </p:txBody>
      </p:sp>
      <p:pic>
        <p:nvPicPr>
          <p:cNvPr id="7" name="Picture 6"/>
          <p:cNvPicPr>
            <a:picLocks noChangeAspect="1"/>
          </p:cNvPicPr>
          <p:nvPr/>
        </p:nvPicPr>
        <p:blipFill>
          <a:blip r:embed="rId3"/>
          <a:stretch>
            <a:fillRect/>
          </a:stretch>
        </p:blipFill>
        <p:spPr>
          <a:xfrm>
            <a:off x="237353" y="1368921"/>
            <a:ext cx="7344800" cy="2391109"/>
          </a:xfrm>
          <a:prstGeom prst="rect">
            <a:avLst/>
          </a:prstGeom>
        </p:spPr>
      </p:pic>
    </p:spTree>
    <p:extLst>
      <p:ext uri="{BB962C8B-B14F-4D97-AF65-F5344CB8AC3E}">
        <p14:creationId xmlns:p14="http://schemas.microsoft.com/office/powerpoint/2010/main" val="348636162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596</TotalTime>
  <Words>4287</Words>
  <Application>Microsoft Office PowerPoint</Application>
  <PresentationFormat>Widescreen</PresentationFormat>
  <Paragraphs>938</Paragraphs>
  <Slides>68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68</vt:i4>
      </vt:variant>
    </vt:vector>
  </HeadingPairs>
  <TitlesOfParts>
    <vt:vector size="72"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Microsoft account</cp:lastModifiedBy>
  <cp:revision>175</cp:revision>
  <dcterms:created xsi:type="dcterms:W3CDTF">2026-04-26T04:16:51Z</dcterms:created>
  <dcterms:modified xsi:type="dcterms:W3CDTF">2026-04-26T15:07:30Z</dcterms:modified>
</cp:coreProperties>
</file>