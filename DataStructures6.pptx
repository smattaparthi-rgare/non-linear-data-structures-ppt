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1" r:id="rId2"/>
    <p:sldId id="332" r:id="rId3"/>
    <p:sldId id="334" r:id="rId4"/>
    <p:sldId id="333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71" r:id="rId42"/>
    <p:sldId id="372" r:id="rId43"/>
    <p:sldId id="373" r:id="rId44"/>
    <p:sldId id="374" r:id="rId45"/>
    <p:sldId id="375" r:id="rId46"/>
    <p:sldId id="376" r:id="rId47"/>
    <p:sldId id="377" r:id="rId48"/>
    <p:sldId id="378" r:id="rId49"/>
    <p:sldId id="379" r:id="rId50"/>
    <p:sldId id="384" r:id="rId51"/>
    <p:sldId id="385" r:id="rId52"/>
    <p:sldId id="380" r:id="rId53"/>
    <p:sldId id="381" r:id="rId54"/>
    <p:sldId id="382" r:id="rId55"/>
    <p:sldId id="383" r:id="rId56"/>
    <p:sldId id="386" r:id="rId57"/>
    <p:sldId id="387" r:id="rId58"/>
    <p:sldId id="388" r:id="rId59"/>
    <p:sldId id="389" r:id="rId60"/>
    <p:sldId id="390" r:id="rId61"/>
    <p:sldId id="391" r:id="rId62"/>
    <p:sldId id="392" r:id="rId63"/>
    <p:sldId id="393" r:id="rId64"/>
    <p:sldId id="394" r:id="rId65"/>
    <p:sldId id="395" r:id="rId66"/>
    <p:sldId id="396" r:id="rId67"/>
    <p:sldId id="397" r:id="rId68"/>
    <p:sldId id="398" r:id="rId69"/>
    <p:sldId id="399" r:id="rId70"/>
    <p:sldId id="400" r:id="rId71"/>
    <p:sldId id="401" r:id="rId72"/>
    <p:sldId id="402" r:id="rId73"/>
    <p:sldId id="403" r:id="rId74"/>
    <p:sldId id="404" r:id="rId75"/>
    <p:sldId id="405" r:id="rId76"/>
    <p:sldId id="406" r:id="rId77"/>
    <p:sldId id="407" r:id="rId78"/>
    <p:sldId id="408" r:id="rId79"/>
    <p:sldId id="409" r:id="rId80"/>
    <p:sldId id="410" r:id="rId81"/>
    <p:sldId id="411" r:id="rId82"/>
    <p:sldId id="413" r:id="rId83"/>
    <p:sldId id="414" r:id="rId84"/>
    <p:sldId id="415" r:id="rId85"/>
    <p:sldId id="416" r:id="rId86"/>
    <p:sldId id="417" r:id="rId87"/>
    <p:sldId id="418" r:id="rId88"/>
    <p:sldId id="419" r:id="rId89"/>
    <p:sldId id="420" r:id="rId90"/>
    <p:sldId id="421" r:id="rId91"/>
    <p:sldId id="422" r:id="rId92"/>
    <p:sldId id="423" r:id="rId93"/>
    <p:sldId id="424" r:id="rId94"/>
    <p:sldId id="425" r:id="rId95"/>
    <p:sldId id="426" r:id="rId96"/>
    <p:sldId id="427" r:id="rId97"/>
    <p:sldId id="428" r:id="rId98"/>
    <p:sldId id="429" r:id="rId99"/>
    <p:sldId id="430" r:id="rId100"/>
    <p:sldId id="431" r:id="rId101"/>
    <p:sldId id="432" r:id="rId102"/>
    <p:sldId id="433" r:id="rId103"/>
    <p:sldId id="434" r:id="rId104"/>
    <p:sldId id="435" r:id="rId105"/>
    <p:sldId id="436" r:id="rId106"/>
    <p:sldId id="437" r:id="rId107"/>
    <p:sldId id="438" r:id="rId108"/>
    <p:sldId id="439" r:id="rId109"/>
    <p:sldId id="440" r:id="rId110"/>
    <p:sldId id="441" r:id="rId111"/>
    <p:sldId id="442" r:id="rId112"/>
    <p:sldId id="443" r:id="rId113"/>
    <p:sldId id="444" r:id="rId114"/>
    <p:sldId id="445" r:id="rId115"/>
    <p:sldId id="446" r:id="rId116"/>
    <p:sldId id="447" r:id="rId117"/>
    <p:sldId id="448" r:id="rId118"/>
    <p:sldId id="449" r:id="rId119"/>
    <p:sldId id="450" r:id="rId120"/>
    <p:sldId id="451" r:id="rId121"/>
    <p:sldId id="452" r:id="rId122"/>
    <p:sldId id="453" r:id="rId123"/>
    <p:sldId id="454" r:id="rId124"/>
    <p:sldId id="455" r:id="rId125"/>
    <p:sldId id="456" r:id="rId126"/>
    <p:sldId id="457" r:id="rId127"/>
    <p:sldId id="458" r:id="rId128"/>
    <p:sldId id="459" r:id="rId129"/>
    <p:sldId id="460" r:id="rId130"/>
    <p:sldId id="461" r:id="rId131"/>
    <p:sldId id="462" r:id="rId132"/>
    <p:sldId id="463" r:id="rId133"/>
    <p:sldId id="464" r:id="rId134"/>
    <p:sldId id="465" r:id="rId135"/>
    <p:sldId id="466" r:id="rId136"/>
    <p:sldId id="467" r:id="rId137"/>
    <p:sldId id="468" r:id="rId138"/>
    <p:sldId id="469" r:id="rId139"/>
    <p:sldId id="470" r:id="rId140"/>
    <p:sldId id="471" r:id="rId141"/>
    <p:sldId id="472" r:id="rId142"/>
    <p:sldId id="473" r:id="rId143"/>
    <p:sldId id="474" r:id="rId1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64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60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7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11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25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27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456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497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762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85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58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99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7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3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8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9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2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5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6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8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/>
              <a:t>A Fenwick Tree (also called a Binary Indexed Tree, BIT) is a compact data structure that efficiently supports prefix sums and point updates in O(log n) time. It’s simpler and lighter than a segment tree, making it ideal for range query problems where you frequently update single elements and query cumulative sums</a:t>
            </a:r>
            <a:r>
              <a:rPr lang="en-US" dirty="0" smtClean="0"/>
              <a:t>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What is a Fenwick Tree?</a:t>
            </a:r>
          </a:p>
          <a:p>
            <a:r>
              <a:rPr lang="en-US" dirty="0"/>
              <a:t>A </a:t>
            </a:r>
            <a:r>
              <a:rPr lang="en-US" b="1" dirty="0"/>
              <a:t>Fenwick Tree</a:t>
            </a:r>
            <a:r>
              <a:rPr lang="en-US" dirty="0"/>
              <a:t> (BIT) is a data structure that helps you: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a single element in O(log 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 prefix sums (sum of first </a:t>
            </a:r>
            <a:r>
              <a:rPr lang="en-US" i="1" dirty="0" err="1"/>
              <a:t>i</a:t>
            </a:r>
            <a:r>
              <a:rPr lang="en-US" dirty="0"/>
              <a:t> elements) in O(log n).</a:t>
            </a:r>
          </a:p>
          <a:p>
            <a:r>
              <a:rPr lang="en-US" dirty="0"/>
              <a:t>It’s essentially an array that cleverly stores partial sums using binary indexing.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10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b="1" dirty="0" smtClean="0"/>
              <a:t>Key </a:t>
            </a:r>
            <a:r>
              <a:rPr lang="en-IN" b="1" dirty="0"/>
              <a:t>Differences vs Segment </a:t>
            </a:r>
            <a:r>
              <a:rPr lang="en-IN" b="1" dirty="0" smtClean="0"/>
              <a:t>Tree</a:t>
            </a:r>
          </a:p>
          <a:p>
            <a:endParaRPr lang="en-IN" b="1" dirty="0"/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Fenwick Tree:</a:t>
            </a:r>
            <a:endParaRPr lang="en-IN" dirty="0"/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Easier to implement.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Uses less memory.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Best for prefix sums and point updates</a:t>
            </a:r>
            <a:r>
              <a:rPr lang="en-IN" dirty="0" smtClean="0"/>
              <a:t>.</a:t>
            </a:r>
          </a:p>
          <a:p>
            <a:pPr lvl="1"/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Segment Tree:</a:t>
            </a:r>
            <a:endParaRPr lang="en-IN" dirty="0"/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More flexible (supports min, max, </a:t>
            </a:r>
            <a:r>
              <a:rPr lang="en-IN" dirty="0" err="1"/>
              <a:t>gcd</a:t>
            </a:r>
            <a:r>
              <a:rPr lang="en-IN" dirty="0"/>
              <a:t>, range updates with lazy propagation).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Slightly heavier in memory and implementation.</a:t>
            </a:r>
          </a:p>
          <a:p>
            <a:endParaRPr lang="en-IN" sz="1600" b="1" dirty="0"/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30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b="1" dirty="0"/>
              <a:t>Comparison with Segment </a:t>
            </a:r>
            <a:r>
              <a:rPr lang="en-IN" b="1" dirty="0" smtClean="0"/>
              <a:t>Tree</a:t>
            </a:r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r>
              <a:rPr lang="en-US" dirty="0"/>
              <a:t>The </a:t>
            </a:r>
            <a:r>
              <a:rPr lang="en-US" b="1" dirty="0"/>
              <a:t>Fenwick Tree</a:t>
            </a:r>
            <a:r>
              <a:rPr lang="en-US" dirty="0"/>
              <a:t> is a compact and efficient alternative to Segment Trees when you mainly need </a:t>
            </a:r>
            <a:r>
              <a:rPr lang="en-US" b="1" dirty="0"/>
              <a:t>prefix sums and range sums with updates</a:t>
            </a:r>
            <a:r>
              <a:rPr lang="en-US" dirty="0"/>
              <a:t>. It’s widely used in competitive programming and scenarios like frequency tables, cumulative sums, and dynamic statistics.</a:t>
            </a:r>
            <a:endParaRPr lang="en-IN" b="1" dirty="0" smtClean="0"/>
          </a:p>
          <a:p>
            <a:endParaRPr lang="en-IN" b="1" dirty="0" smtClean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206454"/>
              </p:ext>
            </p:extLst>
          </p:nvPr>
        </p:nvGraphicFramePr>
        <p:xfrm>
          <a:off x="249381" y="1619698"/>
          <a:ext cx="10515600" cy="2560320"/>
        </p:xfrm>
        <a:graphic>
          <a:graphicData uri="http://schemas.openxmlformats.org/drawingml/2006/table">
            <a:tbl>
              <a:tblPr/>
              <a:tblGrid>
                <a:gridCol w="2751514"/>
                <a:gridCol w="3823854"/>
                <a:gridCol w="394023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Fenwick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Segment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Array-based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Tree-based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Query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Update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Memory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O(4n)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Ease of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Easier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More complex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Best 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Prefix sums, cumulative frequencies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Range </a:t>
                      </a:r>
                      <a:r>
                        <a:rPr lang="fr-FR" dirty="0" err="1"/>
                        <a:t>queries</a:t>
                      </a:r>
                      <a:r>
                        <a:rPr lang="fr-FR" dirty="0"/>
                        <a:t> (</a:t>
                      </a:r>
                      <a:r>
                        <a:rPr lang="fr-FR" dirty="0" err="1"/>
                        <a:t>sum</a:t>
                      </a:r>
                      <a:r>
                        <a:rPr lang="fr-FR" dirty="0"/>
                        <a:t>, min, max,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73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Prefix Sum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lvl="0"/>
            <a:r>
              <a:rPr lang="en-US" sz="1600" b="1" dirty="0"/>
              <a:t>Prefix Sum </a:t>
            </a:r>
            <a:r>
              <a:rPr lang="en-US" sz="1600" b="1" dirty="0" smtClean="0"/>
              <a:t>Concept</a:t>
            </a:r>
          </a:p>
          <a:p>
            <a:pPr lvl="0"/>
            <a:endParaRPr lang="en-US" sz="1600" dirty="0"/>
          </a:p>
          <a:p>
            <a:pPr lvl="0"/>
            <a:r>
              <a:rPr lang="en-US" sz="1600" dirty="0"/>
              <a:t>A prefix sum is the sum of elements from index 1 up to index </a:t>
            </a:r>
            <a:r>
              <a:rPr lang="en-US" sz="1600" dirty="0" err="1"/>
              <a:t>i</a:t>
            </a:r>
            <a:r>
              <a:rPr lang="en-US" sz="1600" dirty="0"/>
              <a:t>.</a:t>
            </a:r>
          </a:p>
          <a:p>
            <a:pPr lvl="0"/>
            <a:endParaRPr lang="en-US" sz="1600" dirty="0"/>
          </a:p>
          <a:p>
            <a:pPr lvl="0"/>
            <a:r>
              <a:rPr lang="en-US" sz="1600" dirty="0"/>
              <a:t>Example: Array [1, 2, 3, 4, 5]</a:t>
            </a:r>
          </a:p>
          <a:p>
            <a:pPr lvl="0"/>
            <a:r>
              <a:rPr lang="en-US" sz="1600" dirty="0" smtClean="0"/>
              <a:t>Prefix(3</a:t>
            </a:r>
            <a:r>
              <a:rPr lang="en-US" sz="1600" dirty="0"/>
              <a:t>) = 1 + 2 + 3 = 6</a:t>
            </a:r>
          </a:p>
          <a:p>
            <a:pPr lvl="0"/>
            <a:r>
              <a:rPr lang="en-US" sz="1600" dirty="0" smtClean="0"/>
              <a:t>Prefix(5</a:t>
            </a:r>
            <a:r>
              <a:rPr lang="en-US" sz="1600" dirty="0"/>
              <a:t>) = 1 + 2 + 3 + 4 + 5 = 15</a:t>
            </a:r>
          </a:p>
          <a:p>
            <a:pPr lvl="0"/>
            <a:endParaRPr lang="en-US" sz="1600" dirty="0"/>
          </a:p>
          <a:p>
            <a:pPr lvl="0"/>
            <a:r>
              <a:rPr lang="en-US" sz="1600" dirty="0"/>
              <a:t>Naively, computing prefix sums takes O(n</a:t>
            </a:r>
            <a:r>
              <a:rPr lang="en-US" sz="1600" dirty="0" smtClean="0"/>
              <a:t>).</a:t>
            </a:r>
          </a:p>
          <a:p>
            <a:pPr lvl="0"/>
            <a:endParaRPr lang="en-US" sz="1600" dirty="0"/>
          </a:p>
          <a:p>
            <a:pPr lvl="0"/>
            <a:r>
              <a:rPr lang="en-US" sz="1600" dirty="0"/>
              <a:t>With a Fenwick Tree, it takes O(log n).</a:t>
            </a:r>
          </a:p>
          <a:p>
            <a:pPr lvl="0"/>
            <a:endParaRPr lang="en-IN" sz="1600" dirty="0"/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64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Prefix Sum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lvl="0"/>
            <a:r>
              <a:rPr lang="en-IN" sz="1600" b="1" dirty="0"/>
              <a:t>Example </a:t>
            </a:r>
            <a:r>
              <a:rPr lang="en-IN" sz="1600" b="1" dirty="0" smtClean="0"/>
              <a:t>Array</a:t>
            </a:r>
          </a:p>
          <a:p>
            <a:pPr lvl="0"/>
            <a:endParaRPr lang="en-IN" sz="1600" b="1" dirty="0" smtClean="0">
              <a:solidFill>
                <a:srgbClr val="FF0000"/>
              </a:solidFill>
            </a:endParaRPr>
          </a:p>
          <a:p>
            <a:pPr lvl="0"/>
            <a:endParaRPr lang="en-IN" sz="1600" b="1" dirty="0">
              <a:solidFill>
                <a:srgbClr val="FF0000"/>
              </a:solidFill>
            </a:endParaRPr>
          </a:p>
          <a:p>
            <a:pPr lvl="0"/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0" y="1591604"/>
            <a:ext cx="520099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Fenwick Tree </a:t>
            </a:r>
            <a:r>
              <a:rPr lang="en-US" b="1" dirty="0" smtClean="0"/>
              <a:t>Values</a:t>
            </a:r>
          </a:p>
          <a:p>
            <a:endParaRPr lang="en-US" b="1" dirty="0"/>
          </a:p>
          <a:p>
            <a:r>
              <a:rPr lang="en-US" dirty="0"/>
              <a:t>Each BIT index stores the sum of a block of elements, determined by the last set bit of the index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r>
              <a:rPr lang="en-US" b="1" dirty="0"/>
              <a:t>BIT[1]</a:t>
            </a:r>
            <a:r>
              <a:rPr lang="en-US" dirty="0"/>
              <a:t> = A[1] = 5</a:t>
            </a:r>
          </a:p>
          <a:p>
            <a:r>
              <a:rPr lang="en-US" b="1" dirty="0"/>
              <a:t>BIT[2]</a:t>
            </a:r>
            <a:r>
              <a:rPr lang="en-US" dirty="0"/>
              <a:t> = A[1..2] = 5+7 = 12</a:t>
            </a:r>
          </a:p>
          <a:p>
            <a:r>
              <a:rPr lang="en-US" b="1" dirty="0"/>
              <a:t>BIT[3]</a:t>
            </a:r>
            <a:r>
              <a:rPr lang="en-US" dirty="0"/>
              <a:t> = A[3] = 2</a:t>
            </a:r>
          </a:p>
          <a:p>
            <a:r>
              <a:rPr lang="en-US" b="1" dirty="0"/>
              <a:t>BIT[4]</a:t>
            </a:r>
            <a:r>
              <a:rPr lang="en-US" dirty="0"/>
              <a:t> = A[1..4] = 5+7+2+6 = 20</a:t>
            </a:r>
          </a:p>
          <a:p>
            <a:r>
              <a:rPr lang="en-US" b="1" dirty="0"/>
              <a:t>BIT[5]</a:t>
            </a:r>
            <a:r>
              <a:rPr lang="en-US" dirty="0"/>
              <a:t> = A[5] = 3</a:t>
            </a:r>
          </a:p>
          <a:p>
            <a:r>
              <a:rPr lang="en-US" b="1" dirty="0"/>
              <a:t>BIT[6]</a:t>
            </a:r>
            <a:r>
              <a:rPr lang="en-US" dirty="0"/>
              <a:t> = A[5..6] = 3+4 = 7</a:t>
            </a:r>
          </a:p>
          <a:p>
            <a:r>
              <a:rPr lang="en-US" b="1" dirty="0"/>
              <a:t>BIT[7]</a:t>
            </a:r>
            <a:r>
              <a:rPr lang="en-US" dirty="0"/>
              <a:t> = A[7] = 8</a:t>
            </a:r>
          </a:p>
          <a:p>
            <a:r>
              <a:rPr lang="en-US" b="1" dirty="0"/>
              <a:t>BIT[8]</a:t>
            </a:r>
            <a:r>
              <a:rPr lang="en-US" dirty="0"/>
              <a:t> = A[1..8] = 5+7+2+6+3+4+8+1 = 36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88" y="1591604"/>
            <a:ext cx="2505425" cy="55252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88" y="2704908"/>
            <a:ext cx="5639587" cy="15146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9788" y="4401136"/>
            <a:ext cx="43092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Query Example: Prefix(6</a:t>
            </a:r>
            <a:r>
              <a:rPr lang="en-US" b="1" dirty="0" smtClean="0"/>
              <a:t>)</a:t>
            </a:r>
          </a:p>
          <a:p>
            <a:endParaRPr lang="en-US" b="1" dirty="0"/>
          </a:p>
          <a:p>
            <a:r>
              <a:rPr lang="en-US" dirty="0"/>
              <a:t>To compute sum of A[1..6]: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BIT[6</a:t>
            </a:r>
            <a:r>
              <a:rPr lang="en-US" dirty="0"/>
              <a:t>] = 7 (covers A[5..6])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BIT[4] = 20 (covers A[1..4])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→ 7 + 20 = </a:t>
            </a:r>
            <a:r>
              <a:rPr lang="en-US" b="1" dirty="0"/>
              <a:t>27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Check </a:t>
            </a:r>
            <a:r>
              <a:rPr lang="en-US" dirty="0"/>
              <a:t>with actual array: 5+7+2+6+3+4 = 27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8981" y="5641354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Each BIT node stores a partial sum of a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Queries </a:t>
            </a:r>
            <a:r>
              <a:rPr lang="en-IN" sz="1600" dirty="0"/>
              <a:t>combine only a few nodes to get the full prefix sum.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Updates </a:t>
            </a:r>
            <a:r>
              <a:rPr lang="en-IN" sz="1600" dirty="0"/>
              <a:t>adjust only the nodes that cover the updated index.</a:t>
            </a:r>
          </a:p>
        </p:txBody>
      </p:sp>
    </p:spTree>
    <p:extLst>
      <p:ext uri="{BB962C8B-B14F-4D97-AF65-F5344CB8AC3E}">
        <p14:creationId xmlns:p14="http://schemas.microsoft.com/office/powerpoint/2010/main" val="260504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Prefix Sum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lvl="0"/>
            <a:r>
              <a:rPr lang="en-US" sz="1600" b="1" dirty="0"/>
              <a:t>Prefix Sum </a:t>
            </a:r>
            <a:r>
              <a:rPr lang="en-US" sz="1600" b="1" dirty="0" smtClean="0"/>
              <a:t>Concept</a:t>
            </a:r>
          </a:p>
          <a:p>
            <a:pPr lvl="0"/>
            <a:endParaRPr lang="en-US" sz="1600" dirty="0"/>
          </a:p>
          <a:p>
            <a:pPr lvl="0"/>
            <a:endParaRPr lang="en-US" sz="1600" dirty="0" smtClean="0"/>
          </a:p>
          <a:p>
            <a:pPr lvl="0"/>
            <a:endParaRPr lang="en-US" sz="1600" dirty="0"/>
          </a:p>
          <a:p>
            <a:pPr lvl="0"/>
            <a:endParaRPr lang="en-US" sz="1600" dirty="0" smtClean="0"/>
          </a:p>
          <a:p>
            <a:pPr lvl="0"/>
            <a:endParaRPr lang="en-US" sz="1600" dirty="0"/>
          </a:p>
          <a:p>
            <a:pPr lvl="0"/>
            <a:endParaRPr lang="en-US" sz="1600" dirty="0" smtClean="0"/>
          </a:p>
          <a:p>
            <a:pPr lvl="0"/>
            <a:endParaRPr lang="en-US" sz="1600" dirty="0"/>
          </a:p>
          <a:p>
            <a:pPr lvl="0"/>
            <a:endParaRPr lang="en-US" sz="1600" dirty="0" smtClean="0"/>
          </a:p>
          <a:p>
            <a:pPr lvl="0"/>
            <a:endParaRPr lang="en-US" sz="1600" dirty="0"/>
          </a:p>
          <a:p>
            <a:pPr lvl="0"/>
            <a:endParaRPr lang="en-US" sz="1600" dirty="0" smtClean="0"/>
          </a:p>
          <a:p>
            <a:pPr lvl="0"/>
            <a:endParaRPr lang="en-US" sz="1600" dirty="0"/>
          </a:p>
          <a:p>
            <a:pPr lvl="0"/>
            <a:endParaRPr lang="en-US" sz="1600" dirty="0" smtClean="0"/>
          </a:p>
          <a:p>
            <a:pPr lvl="0"/>
            <a:endParaRPr lang="en-US" sz="1600" dirty="0"/>
          </a:p>
          <a:p>
            <a:pPr lvl="0"/>
            <a:r>
              <a:rPr lang="en-US" sz="1600" b="1" dirty="0" smtClean="0"/>
              <a:t>How </a:t>
            </a:r>
            <a:r>
              <a:rPr lang="en-US" sz="1600" b="1" dirty="0"/>
              <a:t>It’s </a:t>
            </a:r>
            <a:r>
              <a:rPr lang="en-US" sz="1600" b="1" dirty="0" smtClean="0"/>
              <a:t>Stored ?</a:t>
            </a:r>
            <a:endParaRPr lang="en-US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original array [5,7,2,6,3,4,8,1] is stored in its own array.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The </a:t>
            </a:r>
            <a:r>
              <a:rPr lang="en-US" sz="1600" dirty="0"/>
              <a:t>Fenwick Tree values [5,12,2,20,3,7,8,36] are stored in a separate BIT array.</a:t>
            </a:r>
          </a:p>
          <a:p>
            <a:pPr lvl="0"/>
            <a:r>
              <a:rPr lang="en-US" sz="1600" dirty="0" smtClean="0"/>
              <a:t>Each </a:t>
            </a:r>
            <a:r>
              <a:rPr lang="en-US" sz="1600" dirty="0"/>
              <a:t>BIT entry is formed by summing a block of elements from the input array, determined by the binary indexing rule</a:t>
            </a:r>
            <a:r>
              <a:rPr lang="en-US" sz="1600" dirty="0" smtClean="0"/>
              <a:t>.</a:t>
            </a:r>
          </a:p>
          <a:p>
            <a:pPr lvl="0"/>
            <a:endParaRPr lang="en-US" sz="1600" dirty="0"/>
          </a:p>
          <a:p>
            <a:r>
              <a:rPr lang="en-US" sz="1600" b="1" dirty="0"/>
              <a:t>Key takeaway:</a:t>
            </a:r>
            <a:endParaRPr lang="en-US" sz="1600" dirty="0"/>
          </a:p>
          <a:p>
            <a:r>
              <a:rPr lang="en-US" sz="1600" dirty="0"/>
              <a:t>Input array stores raw values.</a:t>
            </a:r>
          </a:p>
          <a:p>
            <a:r>
              <a:rPr lang="en-US" sz="1600" dirty="0"/>
              <a:t>BIT array stores partial sums.</a:t>
            </a:r>
          </a:p>
          <a:p>
            <a:r>
              <a:rPr lang="en-US" sz="1600" dirty="0"/>
              <a:t>Together, they allow fast prefix queries and updates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559313"/>
              </p:ext>
            </p:extLst>
          </p:nvPr>
        </p:nvGraphicFramePr>
        <p:xfrm>
          <a:off x="364374" y="1479595"/>
          <a:ext cx="10515600" cy="2903984"/>
        </p:xfrm>
        <a:graphic>
          <a:graphicData uri="http://schemas.openxmlformats.org/drawingml/2006/table">
            <a:tbl>
              <a:tblPr/>
              <a:tblGrid>
                <a:gridCol w="1979815"/>
                <a:gridCol w="2169622"/>
                <a:gridCol w="2427316"/>
                <a:gridCol w="3938847"/>
              </a:tblGrid>
              <a:tr h="4655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Array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BIT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BIT Covers (Range of Array)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A[1]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A[1..2]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A[3]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A[1..4]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A[5]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A[5..6]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A[7]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A[1..8]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46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Prefix Sum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" y="864524"/>
            <a:ext cx="5106113" cy="58290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687" y="1241275"/>
            <a:ext cx="4429743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4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Prefix Sum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02" y="1020436"/>
            <a:ext cx="4867954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8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Prefix Sum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42" y="1546262"/>
            <a:ext cx="1876687" cy="6096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43803"/>
            <a:ext cx="34338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program uses a </a:t>
            </a:r>
            <a:r>
              <a:rPr lang="en-US" b="1" dirty="0"/>
              <a:t>1‑based array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2356029" y="1669438"/>
            <a:ext cx="4235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/>
              <a:t>arr</a:t>
            </a:r>
            <a:r>
              <a:rPr lang="en-IN" dirty="0"/>
              <a:t>[0] is just a dummy zero for convenience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2389074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Building the </a:t>
            </a:r>
            <a:r>
              <a:rPr lang="en-IN" b="1" dirty="0" smtClean="0"/>
              <a:t>BIT</a:t>
            </a:r>
          </a:p>
          <a:p>
            <a:endParaRPr lang="en-IN" b="1" dirty="0"/>
          </a:p>
          <a:p>
            <a:r>
              <a:rPr lang="en-IN" dirty="0"/>
              <a:t>The program calls update(</a:t>
            </a:r>
            <a:r>
              <a:rPr lang="en-IN" dirty="0" err="1"/>
              <a:t>i</a:t>
            </a:r>
            <a:r>
              <a:rPr lang="en-IN" dirty="0"/>
              <a:t>, 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]) for each index </a:t>
            </a:r>
            <a:r>
              <a:rPr lang="en-IN" dirty="0" err="1"/>
              <a:t>i</a:t>
            </a:r>
            <a:r>
              <a:rPr lang="en-IN" dirty="0"/>
              <a:t>=1..4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dirty="0"/>
              <a:t>This fills the BIT array step by step.</a:t>
            </a:r>
          </a:p>
          <a:p>
            <a:endParaRPr lang="en-IN" dirty="0"/>
          </a:p>
          <a:p>
            <a:r>
              <a:rPr lang="en-IN" dirty="0"/>
              <a:t>BIT Values After Build</a:t>
            </a:r>
          </a:p>
          <a:p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BIT[1</a:t>
            </a:r>
            <a:r>
              <a:rPr lang="en-IN" dirty="0"/>
              <a:t>] = A[1]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BIT[2</a:t>
            </a:r>
            <a:r>
              <a:rPr lang="en-IN" dirty="0"/>
              <a:t>] = A[1..2] = 1+3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BIT[3</a:t>
            </a:r>
            <a:r>
              <a:rPr lang="en-IN" dirty="0"/>
              <a:t>] = A[3] =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BIT[4</a:t>
            </a:r>
            <a:r>
              <a:rPr lang="en-IN" dirty="0"/>
              <a:t>] = A[1..4] = 1+3+5+7 = 16</a:t>
            </a:r>
          </a:p>
          <a:p>
            <a:endParaRPr lang="en-IN" dirty="0"/>
          </a:p>
          <a:p>
            <a:r>
              <a:rPr lang="en-IN" dirty="0"/>
              <a:t>So the BIT array is: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153" y="5978339"/>
            <a:ext cx="1905266" cy="38105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541972" y="3734785"/>
            <a:ext cx="3153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Tree‑Style Diagram with Values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291" y="4195768"/>
            <a:ext cx="3972479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06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Prefix Sum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Queries in the </a:t>
            </a:r>
            <a:r>
              <a:rPr lang="en-US" b="1" dirty="0" smtClean="0">
                <a:solidFill>
                  <a:srgbClr val="FF0000"/>
                </a:solidFill>
              </a:rPr>
              <a:t>Program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sz="1600" b="1" dirty="0" smtClean="0"/>
              <a:t>Prefix </a:t>
            </a:r>
            <a:r>
              <a:rPr lang="en-US" sz="1600" b="1" dirty="0"/>
              <a:t>Sum (1–3</a:t>
            </a:r>
            <a:r>
              <a:rPr lang="en-US" sz="1600" b="1" dirty="0" smtClean="0"/>
              <a:t>)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b="1" dirty="0" err="1"/>
              <a:t>ft.query</a:t>
            </a:r>
            <a:r>
              <a:rPr lang="en-US" sz="1600" b="1" dirty="0"/>
              <a:t>(3):</a:t>
            </a:r>
          </a:p>
          <a:p>
            <a:endParaRPr lang="en-US" sz="1600" dirty="0"/>
          </a:p>
          <a:p>
            <a:r>
              <a:rPr lang="en-US" sz="1600" dirty="0"/>
              <a:t>Start at BIT[3] = 5 → covers A[3].</a:t>
            </a:r>
          </a:p>
          <a:p>
            <a:r>
              <a:rPr lang="en-US" sz="1600" dirty="0" smtClean="0"/>
              <a:t>Move </a:t>
            </a:r>
            <a:r>
              <a:rPr lang="en-US" sz="1600" dirty="0"/>
              <a:t>to BIT[2] = 4 → covers A[1..2].</a:t>
            </a:r>
          </a:p>
          <a:p>
            <a:r>
              <a:rPr lang="en-US" sz="1600" dirty="0" smtClean="0"/>
              <a:t>Add </a:t>
            </a:r>
            <a:r>
              <a:rPr lang="en-US" sz="1600" dirty="0"/>
              <a:t>them: 5 + 4 = 9.</a:t>
            </a:r>
          </a:p>
          <a:p>
            <a:endParaRPr lang="en-US" sz="1600" dirty="0" smtClean="0"/>
          </a:p>
          <a:p>
            <a:r>
              <a:rPr lang="en-US" sz="1600" dirty="0" smtClean="0"/>
              <a:t>Matches </a:t>
            </a:r>
            <a:r>
              <a:rPr lang="en-US" sz="1600" dirty="0"/>
              <a:t>array sum: 1+3+5 = 9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/>
              <a:t>2. Range Sum (2–4)</a:t>
            </a:r>
          </a:p>
          <a:p>
            <a:endParaRPr lang="en-US" sz="1600" dirty="0" smtClean="0"/>
          </a:p>
          <a:p>
            <a:r>
              <a:rPr lang="en-US" sz="1600" b="1" dirty="0" err="1" smtClean="0"/>
              <a:t>ft.rangeQuery</a:t>
            </a:r>
            <a:r>
              <a:rPr lang="en-US" sz="1600" b="1" dirty="0" smtClean="0"/>
              <a:t>(2,4</a:t>
            </a:r>
            <a:r>
              <a:rPr lang="en-US" sz="1600" b="1" dirty="0"/>
              <a:t>) </a:t>
            </a:r>
            <a:r>
              <a:rPr lang="en-US" sz="1600" dirty="0"/>
              <a:t>= query(4) − query(1).</a:t>
            </a:r>
          </a:p>
          <a:p>
            <a:endParaRPr lang="en-US" sz="1600" dirty="0"/>
          </a:p>
          <a:p>
            <a:r>
              <a:rPr lang="en-US" sz="1600" dirty="0"/>
              <a:t>query(4) = BIT[4] = 16.</a:t>
            </a:r>
          </a:p>
          <a:p>
            <a:r>
              <a:rPr lang="en-US" sz="1600" dirty="0" smtClean="0"/>
              <a:t>query(1</a:t>
            </a:r>
            <a:r>
              <a:rPr lang="en-US" sz="1600" dirty="0"/>
              <a:t>) = BIT[1] = 1.</a:t>
            </a:r>
          </a:p>
          <a:p>
            <a:r>
              <a:rPr lang="en-US" sz="1600" dirty="0" smtClean="0"/>
              <a:t>Difference </a:t>
            </a:r>
            <a:r>
              <a:rPr lang="en-US" sz="1600" dirty="0"/>
              <a:t>= 16 − 1 = 15.</a:t>
            </a:r>
          </a:p>
          <a:p>
            <a:endParaRPr lang="en-US" sz="1600" dirty="0" smtClean="0"/>
          </a:p>
          <a:p>
            <a:r>
              <a:rPr lang="en-US" sz="1600" dirty="0" smtClean="0"/>
              <a:t>Matches </a:t>
            </a:r>
            <a:r>
              <a:rPr lang="en-US" sz="1600" dirty="0"/>
              <a:t>array sum: 3+5+7 = 15.</a:t>
            </a:r>
          </a:p>
          <a:p>
            <a:endParaRPr lang="en-US" sz="16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014" y="2084336"/>
            <a:ext cx="3972479" cy="11431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1123" y="2351073"/>
            <a:ext cx="1876687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7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Prefix Sum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Queries in the </a:t>
            </a:r>
            <a:r>
              <a:rPr lang="en-US" b="1" dirty="0" smtClean="0">
                <a:solidFill>
                  <a:srgbClr val="FF0000"/>
                </a:solidFill>
              </a:rPr>
              <a:t>Program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3. Update Index 2 by +</a:t>
            </a:r>
            <a:r>
              <a:rPr lang="en-US" b="1" dirty="0" smtClean="0"/>
              <a:t>2</a:t>
            </a:r>
          </a:p>
          <a:p>
            <a:endParaRPr lang="en-US" dirty="0"/>
          </a:p>
          <a:p>
            <a:r>
              <a:rPr lang="en-US" dirty="0"/>
              <a:t>Array [1, </a:t>
            </a:r>
            <a:r>
              <a:rPr lang="en-US" dirty="0" smtClean="0"/>
              <a:t>3, </a:t>
            </a:r>
            <a:r>
              <a:rPr lang="en-US" dirty="0"/>
              <a:t>5, 7]. </a:t>
            </a:r>
            <a:r>
              <a:rPr lang="en-US" dirty="0" smtClean="0"/>
              <a:t>becomes </a:t>
            </a:r>
            <a:r>
              <a:rPr lang="en-US" dirty="0"/>
              <a:t>[1, 5, 5, 7</a:t>
            </a:r>
            <a:r>
              <a:rPr lang="en-US" dirty="0" smtClean="0"/>
              <a:t>].</a:t>
            </a:r>
          </a:p>
          <a:p>
            <a:endParaRPr lang="en-US" dirty="0"/>
          </a:p>
          <a:p>
            <a:r>
              <a:rPr lang="en-US" dirty="0"/>
              <a:t>BIT updates propagate:</a:t>
            </a:r>
          </a:p>
          <a:p>
            <a:r>
              <a:rPr lang="en-US" dirty="0" smtClean="0"/>
              <a:t>BIT[2</a:t>
            </a:r>
            <a:r>
              <a:rPr lang="en-US" dirty="0"/>
              <a:t>] = 4 → 6</a:t>
            </a:r>
          </a:p>
          <a:p>
            <a:r>
              <a:rPr lang="en-US" dirty="0" smtClean="0"/>
              <a:t>BIT[4</a:t>
            </a:r>
            <a:r>
              <a:rPr lang="en-US" dirty="0"/>
              <a:t>] = 16 → 18</a:t>
            </a:r>
          </a:p>
          <a:p>
            <a:endParaRPr lang="en-US" dirty="0"/>
          </a:p>
          <a:p>
            <a:r>
              <a:rPr lang="en-US" dirty="0"/>
              <a:t>New BIT array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r>
              <a:rPr lang="en-US" b="1" dirty="0"/>
              <a:t>4. After Update: Prefix Sum (1–3)</a:t>
            </a:r>
          </a:p>
          <a:p>
            <a:endParaRPr lang="en-US" dirty="0" smtClean="0"/>
          </a:p>
          <a:p>
            <a:r>
              <a:rPr lang="en-US" b="1" dirty="0" err="1" smtClean="0"/>
              <a:t>ft.query</a:t>
            </a:r>
            <a:r>
              <a:rPr lang="en-US" b="1" dirty="0" smtClean="0"/>
              <a:t>(3</a:t>
            </a:r>
            <a:r>
              <a:rPr lang="en-US" b="1" dirty="0"/>
              <a:t>):</a:t>
            </a:r>
          </a:p>
          <a:p>
            <a:endParaRPr lang="en-US" dirty="0"/>
          </a:p>
          <a:p>
            <a:r>
              <a:rPr lang="en-US" dirty="0"/>
              <a:t>BIT[3] = 5</a:t>
            </a:r>
          </a:p>
          <a:p>
            <a:r>
              <a:rPr lang="en-US" dirty="0" smtClean="0"/>
              <a:t>BIT[2</a:t>
            </a:r>
            <a:r>
              <a:rPr lang="en-US" dirty="0"/>
              <a:t>] = 6</a:t>
            </a:r>
          </a:p>
          <a:p>
            <a:r>
              <a:rPr lang="en-US" dirty="0" smtClean="0"/>
              <a:t>Add </a:t>
            </a:r>
            <a:r>
              <a:rPr lang="en-US" dirty="0"/>
              <a:t>→ 11</a:t>
            </a:r>
          </a:p>
          <a:p>
            <a:r>
              <a:rPr lang="en-US" dirty="0" smtClean="0"/>
              <a:t>Matches </a:t>
            </a:r>
            <a:r>
              <a:rPr lang="en-US" dirty="0"/>
              <a:t>new array sum: 1+5+5 = 11.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119" y="2093378"/>
            <a:ext cx="1876687" cy="60968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343" y="3746772"/>
            <a:ext cx="1943371" cy="4286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72806" y="2167358"/>
            <a:ext cx="2579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after adding +2 at index 2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130" y="2099576"/>
            <a:ext cx="1848108" cy="50489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803" y="3124981"/>
            <a:ext cx="3982006" cy="108600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775716" y="5247314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Start at BIT[3] = 5 → covers A[3].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Move </a:t>
            </a:r>
            <a:r>
              <a:rPr lang="en-IN" sz="1600" dirty="0"/>
              <a:t>to BIT[2] = 6 → covers A[1..2].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Add </a:t>
            </a:r>
            <a:r>
              <a:rPr lang="en-IN" sz="1600" dirty="0"/>
              <a:t>them: 5 + 6 = 11.</a:t>
            </a:r>
          </a:p>
        </p:txBody>
      </p:sp>
    </p:spTree>
    <p:extLst>
      <p:ext uri="{BB962C8B-B14F-4D97-AF65-F5344CB8AC3E}">
        <p14:creationId xmlns:p14="http://schemas.microsoft.com/office/powerpoint/2010/main" val="164037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Prefix Sum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400" b="1" dirty="0" smtClean="0"/>
              <a:t>Class</a:t>
            </a:r>
            <a:r>
              <a:rPr lang="en-US" sz="1400" b="1" dirty="0"/>
              <a:t>: </a:t>
            </a:r>
            <a:r>
              <a:rPr lang="en-US" sz="1400" b="1" dirty="0" err="1"/>
              <a:t>FenwickTree</a:t>
            </a:r>
            <a:endParaRPr lang="en-US" sz="1400" b="1" dirty="0"/>
          </a:p>
          <a:p>
            <a:r>
              <a:rPr lang="en-US" sz="1400" dirty="0"/>
              <a:t>This class defines the Fenwick Tree (Binary Indexed Tree) structure.</a:t>
            </a:r>
          </a:p>
          <a:p>
            <a:endParaRPr lang="en-US" sz="1400" dirty="0"/>
          </a:p>
          <a:p>
            <a:r>
              <a:rPr lang="en-US" sz="1400" b="1" dirty="0"/>
              <a:t>Fields:</a:t>
            </a:r>
          </a:p>
          <a:p>
            <a:r>
              <a:rPr lang="en-US" sz="1400" dirty="0" err="1" smtClean="0"/>
              <a:t>int</a:t>
            </a:r>
            <a:r>
              <a:rPr lang="en-US" sz="1400" dirty="0"/>
              <a:t>[] bit; → the BIT array that stores partial sums.</a:t>
            </a:r>
          </a:p>
          <a:p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/>
              <a:t>n; → the size of the array (number of elements).</a:t>
            </a:r>
          </a:p>
          <a:p>
            <a:endParaRPr lang="en-US" sz="1400" dirty="0"/>
          </a:p>
          <a:p>
            <a:r>
              <a:rPr lang="en-US" sz="1400" b="1" dirty="0"/>
              <a:t>Constructor:</a:t>
            </a:r>
          </a:p>
          <a:p>
            <a:r>
              <a:rPr lang="en-US" sz="1400" dirty="0" err="1" smtClean="0"/>
              <a:t>FenwickTree</a:t>
            </a:r>
            <a:r>
              <a:rPr lang="en-US" sz="1400" dirty="0" smtClean="0"/>
              <a:t>(</a:t>
            </a:r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/>
              <a:t>n) → initializes the BIT array of size n+1 (because BIT uses 1‑based indexing</a:t>
            </a:r>
            <a:r>
              <a:rPr lang="en-US" sz="1400" dirty="0" smtClean="0"/>
              <a:t>).</a:t>
            </a:r>
          </a:p>
          <a:p>
            <a:endParaRPr lang="en-US" sz="1400" dirty="0"/>
          </a:p>
          <a:p>
            <a:r>
              <a:rPr lang="en-US" sz="1400" b="1" dirty="0"/>
              <a:t>Methods</a:t>
            </a:r>
          </a:p>
          <a:p>
            <a:endParaRPr lang="en-US" sz="1400" dirty="0" smtClean="0"/>
          </a:p>
          <a:p>
            <a:r>
              <a:rPr lang="en-US" sz="1400" b="1" dirty="0" smtClean="0"/>
              <a:t>update(</a:t>
            </a:r>
            <a:r>
              <a:rPr lang="en-US" sz="1400" b="1" dirty="0" err="1" smtClean="0"/>
              <a:t>int</a:t>
            </a:r>
            <a:r>
              <a:rPr lang="en-US" sz="1400" b="1" dirty="0" smtClean="0"/>
              <a:t> </a:t>
            </a:r>
            <a:r>
              <a:rPr lang="en-US" sz="1400" b="1" dirty="0" err="1"/>
              <a:t>i</a:t>
            </a:r>
            <a:r>
              <a:rPr lang="en-US" sz="1400" b="1" dirty="0"/>
              <a:t>, </a:t>
            </a:r>
            <a:r>
              <a:rPr lang="en-US" sz="1400" b="1" dirty="0" err="1"/>
              <a:t>int</a:t>
            </a:r>
            <a:r>
              <a:rPr lang="en-US" sz="1400" b="1" dirty="0"/>
              <a:t> </a:t>
            </a:r>
            <a:r>
              <a:rPr lang="en-US" sz="1400" b="1" dirty="0" err="1"/>
              <a:t>val</a:t>
            </a:r>
            <a:r>
              <a:rPr lang="en-US" sz="1400" b="1" dirty="0"/>
              <a:t>)</a:t>
            </a:r>
          </a:p>
          <a:p>
            <a:r>
              <a:rPr lang="en-US" sz="1400" dirty="0" smtClean="0"/>
              <a:t>Adds </a:t>
            </a:r>
            <a:r>
              <a:rPr lang="en-US" sz="1400" dirty="0" err="1"/>
              <a:t>val</a:t>
            </a:r>
            <a:r>
              <a:rPr lang="en-US" sz="1400" dirty="0"/>
              <a:t> to element at index </a:t>
            </a:r>
            <a:r>
              <a:rPr lang="en-US" sz="1400" dirty="0" err="1"/>
              <a:t>i</a:t>
            </a:r>
            <a:r>
              <a:rPr lang="en-US" sz="1400" dirty="0"/>
              <a:t>.</a:t>
            </a:r>
          </a:p>
          <a:p>
            <a:r>
              <a:rPr lang="en-US" sz="1400" dirty="0" smtClean="0"/>
              <a:t>Propagates </a:t>
            </a:r>
            <a:r>
              <a:rPr lang="en-US" sz="1400" dirty="0"/>
              <a:t>the change to all BIT nodes that cover index </a:t>
            </a:r>
            <a:r>
              <a:rPr lang="en-US" sz="1400" dirty="0" err="1"/>
              <a:t>i</a:t>
            </a:r>
            <a:r>
              <a:rPr lang="en-US" sz="1400" dirty="0"/>
              <a:t>.</a:t>
            </a:r>
          </a:p>
          <a:p>
            <a:r>
              <a:rPr lang="en-US" sz="1400" dirty="0" smtClean="0"/>
              <a:t>Uses </a:t>
            </a:r>
            <a:r>
              <a:rPr lang="en-US" sz="1400" dirty="0" err="1"/>
              <a:t>i</a:t>
            </a:r>
            <a:r>
              <a:rPr lang="en-US" sz="1400" dirty="0"/>
              <a:t> += (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) to move to the next responsible node.</a:t>
            </a:r>
          </a:p>
          <a:p>
            <a:endParaRPr lang="en-US" sz="1400" dirty="0"/>
          </a:p>
          <a:p>
            <a:r>
              <a:rPr lang="en-US" sz="1400" b="1" dirty="0"/>
              <a:t>query(</a:t>
            </a:r>
            <a:r>
              <a:rPr lang="en-US" sz="1400" b="1" dirty="0" err="1"/>
              <a:t>int</a:t>
            </a:r>
            <a:r>
              <a:rPr lang="en-US" sz="1400" b="1" dirty="0"/>
              <a:t> </a:t>
            </a:r>
            <a:r>
              <a:rPr lang="en-US" sz="1400" b="1" dirty="0" err="1"/>
              <a:t>i</a:t>
            </a:r>
            <a:r>
              <a:rPr lang="en-US" sz="1400" b="1" dirty="0"/>
              <a:t>)</a:t>
            </a:r>
          </a:p>
          <a:p>
            <a:r>
              <a:rPr lang="en-US" sz="1400" dirty="0" smtClean="0"/>
              <a:t>Computes </a:t>
            </a:r>
            <a:r>
              <a:rPr lang="en-US" sz="1400" dirty="0"/>
              <a:t>the prefix sum from index 1 to </a:t>
            </a:r>
            <a:r>
              <a:rPr lang="en-US" sz="1400" dirty="0" err="1"/>
              <a:t>i</a:t>
            </a:r>
            <a:r>
              <a:rPr lang="en-US" sz="1400" dirty="0"/>
              <a:t>.</a:t>
            </a:r>
          </a:p>
          <a:p>
            <a:r>
              <a:rPr lang="en-US" sz="1400" dirty="0" smtClean="0"/>
              <a:t>Traverses </a:t>
            </a:r>
            <a:r>
              <a:rPr lang="en-US" sz="1400" dirty="0"/>
              <a:t>BIT nodes backwards using </a:t>
            </a:r>
            <a:r>
              <a:rPr lang="en-US" sz="1400" dirty="0" err="1"/>
              <a:t>i</a:t>
            </a:r>
            <a:r>
              <a:rPr lang="en-US" sz="1400" dirty="0"/>
              <a:t> -= (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).</a:t>
            </a:r>
          </a:p>
          <a:p>
            <a:r>
              <a:rPr lang="en-US" sz="1400" dirty="0" smtClean="0"/>
              <a:t>Adds </a:t>
            </a:r>
            <a:r>
              <a:rPr lang="en-US" sz="1400" dirty="0"/>
              <a:t>up the relevant partial sums.</a:t>
            </a:r>
          </a:p>
          <a:p>
            <a:endParaRPr lang="en-US" sz="1400" dirty="0"/>
          </a:p>
          <a:p>
            <a:r>
              <a:rPr lang="en-US" sz="1400" b="1" dirty="0" err="1"/>
              <a:t>rangeQuery</a:t>
            </a:r>
            <a:r>
              <a:rPr lang="en-US" sz="1400" b="1" dirty="0"/>
              <a:t>(</a:t>
            </a:r>
            <a:r>
              <a:rPr lang="en-US" sz="1400" b="1" dirty="0" err="1"/>
              <a:t>int</a:t>
            </a:r>
            <a:r>
              <a:rPr lang="en-US" sz="1400" b="1" dirty="0"/>
              <a:t> l, </a:t>
            </a:r>
            <a:r>
              <a:rPr lang="en-US" sz="1400" b="1" dirty="0" err="1"/>
              <a:t>int</a:t>
            </a:r>
            <a:r>
              <a:rPr lang="en-US" sz="1400" b="1" dirty="0"/>
              <a:t> r)</a:t>
            </a:r>
          </a:p>
          <a:p>
            <a:r>
              <a:rPr lang="en-US" sz="1400" dirty="0" smtClean="0"/>
              <a:t>Computes </a:t>
            </a:r>
            <a:r>
              <a:rPr lang="en-US" sz="1400" dirty="0"/>
              <a:t>sum of elements in range [l, r].</a:t>
            </a:r>
          </a:p>
          <a:p>
            <a:r>
              <a:rPr lang="en-US" sz="1400" dirty="0" smtClean="0"/>
              <a:t>Uses </a:t>
            </a:r>
            <a:r>
              <a:rPr lang="en-US" sz="1400" dirty="0"/>
              <a:t>the formula: query(r) - query(l-1).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414709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Prefix Sum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class defines the Fenwick Tree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The </a:t>
            </a:r>
            <a:r>
              <a:rPr lang="en-US" sz="1400" dirty="0"/>
              <a:t>methods handle updates, prefix sums, and range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The </a:t>
            </a:r>
            <a:r>
              <a:rPr lang="en-US" sz="1400" dirty="0"/>
              <a:t>main builds the tree, runs queries, performs an update, and shows how the BIT values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Output </a:t>
            </a:r>
            <a:r>
              <a:rPr lang="en-US" sz="1400" dirty="0"/>
              <a:t>comes directly from combining BIT nodes according to the query rules.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132030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Frequency </a:t>
            </a:r>
            <a:r>
              <a:rPr lang="en-US" b="1" dirty="0" smtClean="0">
                <a:solidFill>
                  <a:srgbClr val="FF0000"/>
                </a:solidFill>
              </a:rPr>
              <a:t>Count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A Fenwick Tree (Binary Indexed Tree) can be used not only for prefix sums but also for efficient </a:t>
            </a:r>
            <a:r>
              <a:rPr lang="en-US" i="1" dirty="0"/>
              <a:t>frequency counting</a:t>
            </a:r>
            <a:r>
              <a:rPr lang="en-US" dirty="0"/>
              <a:t> — it stores cumulative frequencies and allows you to quickly find how many elements fall within a given range, or even locate the k‑</a:t>
            </a:r>
            <a:r>
              <a:rPr lang="en-US" dirty="0" err="1"/>
              <a:t>th</a:t>
            </a:r>
            <a:r>
              <a:rPr lang="en-US" dirty="0"/>
              <a:t> element by frequency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Instead of storing sums of array values, the BIT stores frequency counts (how many times each element appears).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Each </a:t>
            </a:r>
            <a:r>
              <a:rPr lang="en-US" dirty="0"/>
              <a:t>update increases the frequency of a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Queries </a:t>
            </a:r>
            <a:r>
              <a:rPr lang="en-US" dirty="0"/>
              <a:t>compute cumulative frequencies (like “how many elements ≤ x?”).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90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Frequency </a:t>
            </a:r>
            <a:r>
              <a:rPr lang="en-US" b="1" dirty="0" smtClean="0">
                <a:solidFill>
                  <a:srgbClr val="FF0000"/>
                </a:solidFill>
              </a:rPr>
              <a:t>Count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76" y="939337"/>
            <a:ext cx="4420217" cy="56900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217" y="1145421"/>
            <a:ext cx="5801535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2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Frequency </a:t>
            </a:r>
            <a:r>
              <a:rPr lang="en-US" b="1" dirty="0" smtClean="0">
                <a:solidFill>
                  <a:srgbClr val="FF0000"/>
                </a:solidFill>
              </a:rPr>
              <a:t>Count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36" y="1055686"/>
            <a:ext cx="5163271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1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Frequency </a:t>
            </a:r>
            <a:r>
              <a:rPr lang="en-US" b="1" dirty="0" smtClean="0">
                <a:solidFill>
                  <a:srgbClr val="FF0000"/>
                </a:solidFill>
              </a:rPr>
              <a:t>Count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918109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means we are inserting these values into the frequency table. We assume values are in the range 1–5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Building </a:t>
            </a:r>
            <a:r>
              <a:rPr lang="en-US" b="1" dirty="0"/>
              <a:t>the Frequency </a:t>
            </a:r>
            <a:r>
              <a:rPr lang="en-US" b="1" dirty="0" smtClean="0"/>
              <a:t>BIT</a:t>
            </a:r>
          </a:p>
          <a:p>
            <a:endParaRPr lang="en-US" dirty="0"/>
          </a:p>
          <a:p>
            <a:r>
              <a:rPr lang="en-US" dirty="0"/>
              <a:t>We call </a:t>
            </a:r>
            <a:r>
              <a:rPr lang="en-US" b="1" dirty="0"/>
              <a:t>update(</a:t>
            </a:r>
            <a:r>
              <a:rPr lang="en-US" b="1" dirty="0" err="1"/>
              <a:t>val</a:t>
            </a:r>
            <a:r>
              <a:rPr lang="en-US" b="1" dirty="0"/>
              <a:t>, 1) </a:t>
            </a:r>
            <a:r>
              <a:rPr lang="en-US" dirty="0"/>
              <a:t>for each element in the array.</a:t>
            </a:r>
          </a:p>
          <a:p>
            <a:r>
              <a:rPr lang="en-US" dirty="0"/>
              <a:t>That means we increase the frequency of each value by 1.</a:t>
            </a:r>
          </a:p>
          <a:p>
            <a:endParaRPr lang="en-US" dirty="0"/>
          </a:p>
          <a:p>
            <a:r>
              <a:rPr lang="en-US" b="1" dirty="0"/>
              <a:t>Frequency Table After </a:t>
            </a:r>
            <a:r>
              <a:rPr lang="en-US" b="1" dirty="0" smtClean="0"/>
              <a:t>Build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 1 → appears 2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Value </a:t>
            </a:r>
            <a:r>
              <a:rPr lang="en-US" dirty="0"/>
              <a:t>2 → appears 1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Value </a:t>
            </a:r>
            <a:r>
              <a:rPr lang="en-US" dirty="0"/>
              <a:t>3 → appears 3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Value </a:t>
            </a:r>
            <a:r>
              <a:rPr lang="en-US" dirty="0"/>
              <a:t>4 → appears 0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Value </a:t>
            </a:r>
            <a:r>
              <a:rPr lang="en-US" dirty="0"/>
              <a:t>5 → appears 0 times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56" y="1378676"/>
            <a:ext cx="2086266" cy="3715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561" y="2728156"/>
            <a:ext cx="2143424" cy="3715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733753" y="4216923"/>
            <a:ext cx="327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So the raw frequency counts are: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487" y="4719023"/>
            <a:ext cx="1381318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Frequency </a:t>
            </a:r>
            <a:r>
              <a:rPr lang="en-US" b="1" dirty="0" smtClean="0">
                <a:solidFill>
                  <a:srgbClr val="FF0000"/>
                </a:solidFill>
              </a:rPr>
              <a:t>Count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918109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means we are inserting these values into the frequency table. We assume values are in the range 1–5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BIT Array Values</a:t>
            </a:r>
          </a:p>
          <a:p>
            <a:r>
              <a:rPr lang="en-US" dirty="0"/>
              <a:t>The BIT array stores </a:t>
            </a:r>
            <a:r>
              <a:rPr lang="en-US" b="1" dirty="0"/>
              <a:t>cumulative frequencies</a:t>
            </a:r>
            <a:r>
              <a:rPr lang="en-US" dirty="0"/>
              <a:t>. After all updates, the BIT looks like this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So the BIT array is: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72" y="2369397"/>
            <a:ext cx="4105848" cy="11050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282" y="3714482"/>
            <a:ext cx="2086266" cy="3429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641" y="4458292"/>
            <a:ext cx="4439270" cy="14861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4202" y="1339613"/>
            <a:ext cx="1381318" cy="29531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159432" y="2149968"/>
            <a:ext cx="709352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Here’s what each entry means:</a:t>
            </a:r>
          </a:p>
          <a:p>
            <a:r>
              <a:rPr lang="en-US" dirty="0"/>
              <a:t>BIT[1] = 2 → frequency of value 1</a:t>
            </a:r>
          </a:p>
          <a:p>
            <a:r>
              <a:rPr lang="en-US" dirty="0" smtClean="0"/>
              <a:t>BIT[2</a:t>
            </a:r>
            <a:r>
              <a:rPr lang="en-US" dirty="0"/>
              <a:t>] = 3 → cumulative frequency of values 1..2 (2 ones + 1 two)</a:t>
            </a:r>
          </a:p>
          <a:p>
            <a:r>
              <a:rPr lang="en-US" dirty="0"/>
              <a:t>BIT[3] = 3 → frequency of value 3</a:t>
            </a:r>
          </a:p>
          <a:p>
            <a:r>
              <a:rPr lang="en-US" dirty="0"/>
              <a:t>BIT[4] = 6 → cumulative frequency of values 1..4 (all 6 elements so far)</a:t>
            </a:r>
          </a:p>
          <a:p>
            <a:r>
              <a:rPr lang="en-US" dirty="0"/>
              <a:t>BIT[5] = 0 → frequency of value </a:t>
            </a:r>
            <a:r>
              <a:rPr lang="en-US" dirty="0" smtClean="0"/>
              <a:t>5</a:t>
            </a:r>
          </a:p>
          <a:p>
            <a:endParaRPr lang="en-US" dirty="0"/>
          </a:p>
          <a:p>
            <a:r>
              <a:rPr lang="en-US" dirty="0"/>
              <a:t>BIT[4] = frequency(1) + frequency(2) + frequency(3) + frequency(4)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= </a:t>
            </a:r>
            <a:r>
              <a:rPr lang="en-US" dirty="0"/>
              <a:t>2 + 1 + 3 + 0 = </a:t>
            </a:r>
            <a:r>
              <a:rPr lang="en-US" b="1" dirty="0"/>
              <a:t>6</a:t>
            </a:r>
            <a:endParaRPr lang="en-US" dirty="0"/>
          </a:p>
          <a:p>
            <a:r>
              <a:rPr lang="en-US" dirty="0"/>
              <a:t>That’s why BIT[4] = 6.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8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Frequency </a:t>
            </a:r>
            <a:r>
              <a:rPr lang="en-US" b="1" dirty="0" smtClean="0">
                <a:solidFill>
                  <a:srgbClr val="FF0000"/>
                </a:solidFill>
              </a:rPr>
              <a:t>Count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918109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Queries in the </a:t>
            </a:r>
            <a:r>
              <a:rPr lang="en-IN" b="1" dirty="0" smtClean="0"/>
              <a:t>Program</a:t>
            </a:r>
          </a:p>
          <a:p>
            <a:endParaRPr lang="en-IN" b="1" dirty="0"/>
          </a:p>
          <a:p>
            <a:r>
              <a:rPr lang="en-IN" b="1" dirty="0"/>
              <a:t>Frequency of </a:t>
            </a:r>
            <a:r>
              <a:rPr lang="en-IN" b="1" dirty="0" smtClean="0"/>
              <a:t>3</a:t>
            </a:r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r>
              <a:rPr lang="en-US" b="1" dirty="0"/>
              <a:t>Output: </a:t>
            </a:r>
            <a:r>
              <a:rPr lang="en-US" dirty="0"/>
              <a:t>Frequency of 3: </a:t>
            </a:r>
            <a:r>
              <a:rPr lang="en-US" b="1" dirty="0" smtClean="0"/>
              <a:t>3</a:t>
            </a:r>
          </a:p>
          <a:p>
            <a:endParaRPr lang="en-US" b="1" dirty="0"/>
          </a:p>
          <a:p>
            <a:r>
              <a:rPr lang="en-US" b="1" dirty="0" smtClean="0"/>
              <a:t>Frequency </a:t>
            </a:r>
            <a:r>
              <a:rPr lang="en-US" b="1" dirty="0"/>
              <a:t>of 1 to </a:t>
            </a:r>
            <a:r>
              <a:rPr lang="en-US" b="1" dirty="0" smtClean="0"/>
              <a:t>3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r>
              <a:rPr lang="en-US" dirty="0"/>
              <a:t>: Frequency of 1 to 3: </a:t>
            </a:r>
            <a:r>
              <a:rPr lang="en-US" b="1" dirty="0" smtClean="0"/>
              <a:t>6</a:t>
            </a:r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After update(2,1) (adding another “2”):</a:t>
            </a:r>
          </a:p>
          <a:p>
            <a:endParaRPr lang="en-US" dirty="0" smtClean="0"/>
          </a:p>
          <a:p>
            <a:r>
              <a:rPr lang="en-US" dirty="0" smtClean="0"/>
              <a:t>BIT[2</a:t>
            </a:r>
            <a:r>
              <a:rPr lang="en-US" dirty="0"/>
              <a:t>] becomes 4, BIT[4] becomes 7</a:t>
            </a:r>
          </a:p>
          <a:p>
            <a:r>
              <a:rPr lang="en-US" dirty="0" smtClean="0"/>
              <a:t>Now </a:t>
            </a:r>
            <a:r>
              <a:rPr lang="en-US" dirty="0"/>
              <a:t>frequency of 2 = </a:t>
            </a:r>
            <a:r>
              <a:rPr lang="en-US" b="1" dirty="0"/>
              <a:t>2</a:t>
            </a: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99" y="1986857"/>
            <a:ext cx="3400900" cy="5811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99" y="3805559"/>
            <a:ext cx="3219899" cy="58110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62401" y="1971624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/>
              <a:t>Look at BIT[3] and BIT[2].</a:t>
            </a:r>
          </a:p>
          <a:p>
            <a:r>
              <a:rPr lang="en-IN" sz="1600" dirty="0" smtClean="0"/>
              <a:t>Result </a:t>
            </a:r>
            <a:r>
              <a:rPr lang="en-IN" sz="1600" dirty="0"/>
              <a:t>= </a:t>
            </a:r>
            <a:r>
              <a:rPr lang="en-IN" sz="1600" b="1" dirty="0"/>
              <a:t>3 </a:t>
            </a:r>
            <a:r>
              <a:rPr lang="en-IN" sz="1600" dirty="0"/>
              <a:t>→ there are 3 threes.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4211" y="3842433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Look at BIT[4] (total 6 numbers up to 4).</a:t>
            </a:r>
          </a:p>
          <a:p>
            <a:r>
              <a:rPr lang="en-US" sz="1600" dirty="0" smtClean="0"/>
              <a:t>That’s </a:t>
            </a:r>
            <a:r>
              <a:rPr lang="en-US" sz="1600" dirty="0"/>
              <a:t>all </a:t>
            </a:r>
            <a:r>
              <a:rPr lang="en-US" sz="1600" b="1" dirty="0"/>
              <a:t>6</a:t>
            </a:r>
            <a:r>
              <a:rPr lang="en-US" sz="1600" dirty="0"/>
              <a:t> numbers → 2 ones + 1 two + 3 threes.</a:t>
            </a:r>
            <a:endParaRPr lang="en-IN" sz="1600" dirty="0"/>
          </a:p>
        </p:txBody>
      </p:sp>
      <p:sp>
        <p:nvSpPr>
          <p:cNvPr id="13" name="Rectangle 12"/>
          <p:cNvSpPr/>
          <p:nvPr/>
        </p:nvSpPr>
        <p:spPr>
          <a:xfrm>
            <a:off x="3904211" y="5763234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/>
              <a:t>Update BIT[2] and BIT[4].</a:t>
            </a:r>
          </a:p>
          <a:p>
            <a:r>
              <a:rPr lang="en-IN" sz="1600" dirty="0" smtClean="0"/>
              <a:t>BIT[2</a:t>
            </a:r>
            <a:r>
              <a:rPr lang="en-IN" sz="1600" dirty="0"/>
              <a:t>] becomes 4, BIT[4] becomes 7.</a:t>
            </a:r>
          </a:p>
          <a:p>
            <a:r>
              <a:rPr lang="en-IN" sz="1600" dirty="0" smtClean="0"/>
              <a:t>Now </a:t>
            </a:r>
            <a:r>
              <a:rPr lang="en-IN" sz="1600" dirty="0"/>
              <a:t>there are </a:t>
            </a:r>
            <a:r>
              <a:rPr lang="en-IN" sz="1600" b="1" dirty="0"/>
              <a:t>2</a:t>
            </a:r>
            <a:r>
              <a:rPr lang="en-IN" sz="1600" dirty="0"/>
              <a:t> twos.</a:t>
            </a:r>
          </a:p>
        </p:txBody>
      </p:sp>
    </p:spTree>
    <p:extLst>
      <p:ext uri="{BB962C8B-B14F-4D97-AF65-F5344CB8AC3E}">
        <p14:creationId xmlns:p14="http://schemas.microsoft.com/office/powerpoint/2010/main" val="181713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Frequency </a:t>
            </a:r>
            <a:r>
              <a:rPr lang="en-US" b="1" dirty="0" smtClean="0">
                <a:solidFill>
                  <a:srgbClr val="FF0000"/>
                </a:solidFill>
              </a:rPr>
              <a:t>Count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918109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Queries in the </a:t>
            </a:r>
            <a:r>
              <a:rPr lang="en-IN" b="1" dirty="0" smtClean="0"/>
              <a:t>Program</a:t>
            </a:r>
          </a:p>
          <a:p>
            <a:endParaRPr lang="en-IN" b="1" dirty="0" smtClean="0"/>
          </a:p>
          <a:p>
            <a:r>
              <a:rPr lang="en-US" b="1" dirty="0"/>
              <a:t>Update Step: Add New Element </a:t>
            </a:r>
            <a:r>
              <a:rPr lang="en-US" b="1" dirty="0" smtClean="0"/>
              <a:t>2</a:t>
            </a:r>
          </a:p>
          <a:p>
            <a:endParaRPr lang="en-US" b="1" dirty="0"/>
          </a:p>
          <a:p>
            <a:r>
              <a:rPr lang="en-US" dirty="0"/>
              <a:t>We call </a:t>
            </a:r>
            <a:r>
              <a:rPr lang="en-US" dirty="0" err="1"/>
              <a:t>ft.update</a:t>
            </a:r>
            <a:r>
              <a:rPr lang="en-US" dirty="0"/>
              <a:t>(2,1) → increases frequency of value 2 by 1.</a:t>
            </a:r>
          </a:p>
          <a:p>
            <a:endParaRPr lang="en-US" dirty="0"/>
          </a:p>
          <a:p>
            <a:r>
              <a:rPr lang="en-US" b="1" dirty="0"/>
              <a:t>Propagation</a:t>
            </a:r>
          </a:p>
          <a:p>
            <a:endParaRPr lang="en-US" dirty="0" smtClean="0"/>
          </a:p>
          <a:p>
            <a:r>
              <a:rPr lang="en-US" dirty="0" smtClean="0"/>
              <a:t>BIT[2</a:t>
            </a:r>
            <a:r>
              <a:rPr lang="en-US" dirty="0"/>
              <a:t>] increases from 3 → 4</a:t>
            </a:r>
          </a:p>
          <a:p>
            <a:r>
              <a:rPr lang="en-US" dirty="0" smtClean="0"/>
              <a:t>BIT[4</a:t>
            </a:r>
            <a:r>
              <a:rPr lang="en-US" dirty="0"/>
              <a:t>] increases from 6 → 7</a:t>
            </a:r>
          </a:p>
          <a:p>
            <a:endParaRPr lang="en-US" dirty="0"/>
          </a:p>
          <a:p>
            <a:r>
              <a:rPr lang="en-US" dirty="0"/>
              <a:t>New BIT array: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788" y="3948696"/>
            <a:ext cx="1981477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0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Frequency </a:t>
            </a:r>
            <a:r>
              <a:rPr lang="en-US" b="1" dirty="0" smtClean="0">
                <a:solidFill>
                  <a:srgbClr val="FF0000"/>
                </a:solidFill>
              </a:rPr>
              <a:t>Count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918109"/>
            <a:ext cx="12192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Queries in the </a:t>
            </a:r>
            <a:r>
              <a:rPr lang="en-IN" b="1" dirty="0" smtClean="0"/>
              <a:t>Program</a:t>
            </a:r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r>
              <a:rPr lang="en-US" b="1" dirty="0"/>
              <a:t>Query After </a:t>
            </a:r>
            <a:r>
              <a:rPr lang="en-US" b="1" dirty="0" smtClean="0"/>
              <a:t>Update</a:t>
            </a:r>
          </a:p>
          <a:p>
            <a:endParaRPr lang="en-US" b="1" dirty="0"/>
          </a:p>
          <a:p>
            <a:r>
              <a:rPr lang="en-US" b="1" dirty="0"/>
              <a:t>Frequency of </a:t>
            </a:r>
            <a:r>
              <a:rPr lang="en-US" b="1" dirty="0" smtClean="0"/>
              <a:t>2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/>
              <a:t>Output: </a:t>
            </a:r>
            <a:r>
              <a:rPr lang="en-US" dirty="0"/>
              <a:t>After update, frequency of 2: </a:t>
            </a:r>
            <a:r>
              <a:rPr lang="en-US" b="1" dirty="0"/>
              <a:t>2</a:t>
            </a:r>
          </a:p>
          <a:p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22" y="1428297"/>
            <a:ext cx="4458322" cy="15242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78" y="4392454"/>
            <a:ext cx="3419952" cy="6001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91757" y="3812746"/>
            <a:ext cx="710261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 array holds the raw values [1,3,3,2,1,3].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 BIT array holds cumulative frequencies [2,3,3,6,0] (then [2,4,3,7,0] after update).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Queries combine BIT nodes to quickly compute frequencies in ranges.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Updates propagate through the BIT so it always reflects the latest counts.</a:t>
            </a:r>
          </a:p>
        </p:txBody>
      </p:sp>
    </p:spTree>
    <p:extLst>
      <p:ext uri="{BB962C8B-B14F-4D97-AF65-F5344CB8AC3E}">
        <p14:creationId xmlns:p14="http://schemas.microsoft.com/office/powerpoint/2010/main" val="63835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Frequency </a:t>
            </a:r>
            <a:r>
              <a:rPr lang="en-US" b="1" dirty="0" smtClean="0">
                <a:solidFill>
                  <a:srgbClr val="FF0000"/>
                </a:solidFill>
              </a:rPr>
              <a:t>Count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400" b="1" dirty="0"/>
              <a:t>Class: </a:t>
            </a:r>
            <a:r>
              <a:rPr lang="en-US" sz="1400" b="1" dirty="0" err="1" smtClean="0"/>
              <a:t>FenwickTree</a:t>
            </a:r>
            <a:endParaRPr lang="en-US" sz="1400" b="1" dirty="0" smtClean="0"/>
          </a:p>
          <a:p>
            <a:endParaRPr lang="en-US" sz="1400" b="1" dirty="0"/>
          </a:p>
          <a:p>
            <a:r>
              <a:rPr lang="en-US" sz="1400" dirty="0"/>
              <a:t>This class is the blueprint for the Fenwick Tree (Binary Indexed Tree).</a:t>
            </a:r>
          </a:p>
          <a:p>
            <a:r>
              <a:rPr lang="en-US" sz="1400" dirty="0" smtClean="0"/>
              <a:t>It </a:t>
            </a:r>
            <a:r>
              <a:rPr lang="en-US" sz="1400" dirty="0"/>
              <a:t>defines: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Data </a:t>
            </a:r>
            <a:r>
              <a:rPr lang="en-US" sz="1400" dirty="0"/>
              <a:t>storage: an array called bit that holds grouped 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Size</a:t>
            </a:r>
            <a:r>
              <a:rPr lang="en-US" sz="1400" dirty="0"/>
              <a:t>: n, the maximum value we want to track.</a:t>
            </a:r>
          </a:p>
          <a:p>
            <a:endParaRPr lang="en-US" sz="1400" dirty="0"/>
          </a:p>
          <a:p>
            <a:r>
              <a:rPr lang="en-US" sz="1400" dirty="0"/>
              <a:t>Think of it as the “machine” that knows how to store and update frequencies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b="1" dirty="0" smtClean="0"/>
              <a:t>Methods</a:t>
            </a:r>
          </a:p>
          <a:p>
            <a:endParaRPr lang="en-US" sz="1400" b="1" dirty="0"/>
          </a:p>
          <a:p>
            <a:r>
              <a:rPr lang="en-US" sz="1400" b="1" dirty="0"/>
              <a:t>update(</a:t>
            </a:r>
            <a:r>
              <a:rPr lang="en-US" sz="1400" b="1" dirty="0" err="1"/>
              <a:t>i</a:t>
            </a:r>
            <a:r>
              <a:rPr lang="en-US" sz="1400" b="1" dirty="0"/>
              <a:t>, </a:t>
            </a:r>
            <a:r>
              <a:rPr lang="en-US" sz="1400" b="1" dirty="0" err="1"/>
              <a:t>val</a:t>
            </a:r>
            <a:r>
              <a:rPr lang="en-US" sz="1400" b="1" dirty="0"/>
              <a:t>)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Purpose: Increase the count of number </a:t>
            </a:r>
            <a:r>
              <a:rPr lang="en-US" sz="1400" dirty="0" err="1"/>
              <a:t>i</a:t>
            </a:r>
            <a:r>
              <a:rPr lang="en-US" sz="1400" dirty="0"/>
              <a:t> by val.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Example</a:t>
            </a:r>
            <a:r>
              <a:rPr lang="en-US" sz="1400" dirty="0"/>
              <a:t>: If you add another “2” into your data, you call update(2,1).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Behind </a:t>
            </a:r>
            <a:r>
              <a:rPr lang="en-US" sz="1400" dirty="0"/>
              <a:t>the scenes: It doesn’t just change one slot; it updates all the grouped totals that include </a:t>
            </a:r>
            <a:r>
              <a:rPr lang="en-US" sz="1400" dirty="0" err="1"/>
              <a:t>i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Analogy</a:t>
            </a:r>
            <a:r>
              <a:rPr lang="en-US" sz="1400" dirty="0"/>
              <a:t>: If you add one candy to jar #2, you also update the bigger jars that summarize jars 1–2 and jars 1–4</a:t>
            </a:r>
            <a:r>
              <a:rPr lang="en-US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query(</a:t>
            </a:r>
            <a:r>
              <a:rPr lang="en-US" sz="1400" b="1" dirty="0" err="1"/>
              <a:t>i</a:t>
            </a:r>
            <a:r>
              <a:rPr lang="en-US" sz="1400" b="1" dirty="0"/>
              <a:t>)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Purpose: Find out how many numbers are ≤ </a:t>
            </a:r>
            <a:r>
              <a:rPr lang="en-US" sz="1400" dirty="0" err="1"/>
              <a:t>i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Example</a:t>
            </a:r>
            <a:r>
              <a:rPr lang="en-US" sz="1400" dirty="0"/>
              <a:t>: query(3) tells you how many numbers are 1, 2, or 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Behind </a:t>
            </a:r>
            <a:r>
              <a:rPr lang="en-US" sz="1400" dirty="0"/>
              <a:t>the scenes: It walks backwards through the grouped totals, adding them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Analogy</a:t>
            </a:r>
            <a:r>
              <a:rPr lang="en-US" sz="1400" dirty="0"/>
              <a:t>: If you want to know how many candies are in jars 1–3, you check jar #3 and jar #2, then add them.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388646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- Frequency </a:t>
            </a:r>
            <a:r>
              <a:rPr lang="en-US" b="1" dirty="0" smtClean="0">
                <a:solidFill>
                  <a:srgbClr val="FF0000"/>
                </a:solidFill>
              </a:rPr>
              <a:t>Count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400" b="1" dirty="0" err="1"/>
              <a:t>rangeQuery</a:t>
            </a:r>
            <a:r>
              <a:rPr lang="en-US" sz="1400" b="1" dirty="0"/>
              <a:t>(l, r)</a:t>
            </a:r>
          </a:p>
          <a:p>
            <a:endParaRPr lang="en-US" sz="1400" b="1" dirty="0"/>
          </a:p>
          <a:p>
            <a:r>
              <a:rPr lang="en-US" sz="1400" dirty="0"/>
              <a:t>Purpose: Find out how many numbers are between l and r.</a:t>
            </a:r>
          </a:p>
          <a:p>
            <a:r>
              <a:rPr lang="en-US" sz="1400" dirty="0" smtClean="0"/>
              <a:t>Example</a:t>
            </a:r>
            <a:r>
              <a:rPr lang="en-US" sz="1400" dirty="0"/>
              <a:t>: </a:t>
            </a:r>
            <a:r>
              <a:rPr lang="en-US" sz="1400" dirty="0" err="1"/>
              <a:t>rangeQuery</a:t>
            </a:r>
            <a:r>
              <a:rPr lang="en-US" sz="1400" dirty="0"/>
              <a:t>(2,4) tells you how many numbers are 2, 3, or 4.</a:t>
            </a:r>
          </a:p>
          <a:p>
            <a:r>
              <a:rPr lang="en-US" sz="1400" dirty="0" smtClean="0"/>
              <a:t>Behind </a:t>
            </a:r>
            <a:r>
              <a:rPr lang="en-US" sz="1400" dirty="0"/>
              <a:t>the scenes: It uses two queries: total up to r minus total up to l-1.</a:t>
            </a:r>
          </a:p>
          <a:p>
            <a:r>
              <a:rPr lang="en-US" sz="1400" dirty="0" smtClean="0"/>
              <a:t>Analogy</a:t>
            </a:r>
            <a:r>
              <a:rPr lang="en-US" sz="1400" dirty="0"/>
              <a:t>: If you want to know how many candies are in jars 2–4, you count jars 1–4 and subtract jars 1</a:t>
            </a:r>
            <a:r>
              <a:rPr lang="en-US" sz="1400" dirty="0" smtClean="0"/>
              <a:t>.</a:t>
            </a:r>
            <a:br>
              <a:rPr lang="en-US" sz="1400" dirty="0" smtClean="0"/>
            </a:br>
            <a:endParaRPr lang="en-US" sz="1400" dirty="0" smtClean="0"/>
          </a:p>
          <a:p>
            <a:r>
              <a:rPr lang="en-US" sz="1400" b="1" dirty="0" smtClean="0"/>
              <a:t>main()</a:t>
            </a:r>
            <a:endParaRPr lang="en-US" sz="1400" b="1" dirty="0"/>
          </a:p>
          <a:p>
            <a:r>
              <a:rPr lang="en-US" sz="1400" dirty="0"/>
              <a:t>The main program is the script that feeds numbers into the machine, asks questions, and shows the answers.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243994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Point Update + Range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/>
              <a:t>What This </a:t>
            </a:r>
            <a:r>
              <a:rPr lang="en-US" sz="1600" b="1" dirty="0" smtClean="0"/>
              <a:t>Means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Point Update → You change the value at a single position (like “add +2 at index 5”).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Range </a:t>
            </a:r>
            <a:r>
              <a:rPr lang="en-US" sz="1600" dirty="0"/>
              <a:t>Query → You ask for the sum (or frequency count) of values between two positions [l, r].</a:t>
            </a:r>
          </a:p>
          <a:p>
            <a:endParaRPr lang="en-US" sz="1600" dirty="0"/>
          </a:p>
          <a:p>
            <a:r>
              <a:rPr lang="en-US" sz="1600" dirty="0"/>
              <a:t>So the Fenwick Tree here is designed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Update </a:t>
            </a:r>
            <a:r>
              <a:rPr lang="en-US" sz="1600" dirty="0"/>
              <a:t>one element quickly.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Answer </a:t>
            </a:r>
            <a:r>
              <a:rPr lang="en-US" sz="1600" dirty="0"/>
              <a:t>range queries quickly.</a:t>
            </a:r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0194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Point Update + Range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/>
              <a:t>How It Works?</a:t>
            </a:r>
          </a:p>
          <a:p>
            <a:endParaRPr lang="en-US" sz="1600" dirty="0"/>
          </a:p>
          <a:p>
            <a:r>
              <a:rPr lang="en-US" sz="1600" b="1" dirty="0" smtClean="0"/>
              <a:t>1</a:t>
            </a:r>
            <a:r>
              <a:rPr lang="en-US" sz="1600" b="1" dirty="0"/>
              <a:t>. Point Update</a:t>
            </a:r>
          </a:p>
          <a:p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Suppose </a:t>
            </a:r>
            <a:r>
              <a:rPr lang="en-US" sz="1600" dirty="0"/>
              <a:t>you have an array [1, 2, 3, 4, 5].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</a:t>
            </a:r>
            <a:r>
              <a:rPr lang="en-US" sz="1600" dirty="0"/>
              <a:t>you add +2 at index 3, the array becomes [1, 2, 5, 4, 5].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The </a:t>
            </a:r>
            <a:r>
              <a:rPr lang="en-US" sz="1600" dirty="0"/>
              <a:t>Fenwick Tree updates only the nodes that are responsible for index 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This </a:t>
            </a:r>
            <a:r>
              <a:rPr lang="en-US" sz="1600" dirty="0"/>
              <a:t>takes O(log n) time, much faster than recalculating everything</a:t>
            </a:r>
            <a:r>
              <a:rPr lang="en-US" sz="1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+mj-lt"/>
              <a:buAutoNum type="arabicPeriod" startAt="2"/>
            </a:pPr>
            <a:r>
              <a:rPr lang="en-US" sz="1600" b="1" dirty="0"/>
              <a:t>Range Query</a:t>
            </a:r>
          </a:p>
          <a:p>
            <a:r>
              <a:rPr lang="en-US" sz="1600" dirty="0"/>
              <a:t>To get the sum of values between [l, r], you use:</a:t>
            </a:r>
          </a:p>
          <a:p>
            <a:r>
              <a:rPr lang="en-US" sz="1600" b="1" dirty="0" err="1"/>
              <a:t>rangeQuery</a:t>
            </a:r>
            <a:r>
              <a:rPr lang="en-US" sz="1600" b="1" dirty="0"/>
              <a:t>(l, r) = </a:t>
            </a:r>
            <a:r>
              <a:rPr lang="en-US" sz="1600" b="1" dirty="0" err="1"/>
              <a:t>prefixSum</a:t>
            </a:r>
            <a:r>
              <a:rPr lang="en-US" sz="1600" b="1" dirty="0"/>
              <a:t>(r) – </a:t>
            </a:r>
            <a:r>
              <a:rPr lang="en-US" sz="1600" b="1" dirty="0" err="1"/>
              <a:t>prefixSum</a:t>
            </a:r>
            <a:r>
              <a:rPr lang="en-US" sz="1600" b="1" dirty="0"/>
              <a:t>(l-1</a:t>
            </a:r>
            <a:r>
              <a:rPr lang="en-US" sz="1600" b="1" dirty="0" smtClean="0"/>
              <a:t>)</a:t>
            </a:r>
          </a:p>
          <a:p>
            <a:endParaRPr lang="en-US" sz="1600" b="1" dirty="0"/>
          </a:p>
          <a:p>
            <a:r>
              <a:rPr lang="en-US" sz="1600" dirty="0" smtClean="0"/>
              <a:t>Example</a:t>
            </a:r>
            <a:r>
              <a:rPr lang="en-US" sz="1600" dirty="0"/>
              <a:t>: sum of [2..4] in [1,2,5,4,5].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prefixSum</a:t>
            </a:r>
            <a:r>
              <a:rPr lang="en-US" sz="1600" dirty="0"/>
              <a:t>(4) = 1+2+5+4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prefixSum</a:t>
            </a:r>
            <a:r>
              <a:rPr lang="en-US" sz="1600" dirty="0"/>
              <a:t>(1)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rangeQuery</a:t>
            </a:r>
            <a:r>
              <a:rPr lang="en-US" sz="1600" dirty="0"/>
              <a:t>(2,4) = 12 – 1 = 11</a:t>
            </a:r>
          </a:p>
        </p:txBody>
      </p:sp>
      <p:sp>
        <p:nvSpPr>
          <p:cNvPr id="2" name="Rectangle 1"/>
          <p:cNvSpPr/>
          <p:nvPr/>
        </p:nvSpPr>
        <p:spPr>
          <a:xfrm>
            <a:off x="3330632" y="4433193"/>
            <a:ext cx="72597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When you update one index, only a few nodes change.</a:t>
            </a:r>
          </a:p>
          <a:p>
            <a:r>
              <a:rPr lang="en-IN" dirty="0" smtClean="0"/>
              <a:t>When </a:t>
            </a:r>
            <a:r>
              <a:rPr lang="en-IN" dirty="0"/>
              <a:t>you query a range, you combine a few nodes to get the answer.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923"/>
            <a:ext cx="1088967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Point Update: </a:t>
            </a:r>
            <a:r>
              <a:rPr lang="en-IN" sz="1600" dirty="0"/>
              <a:t>Change one element → BIT updates only relevant nodes.</a:t>
            </a:r>
          </a:p>
          <a:p>
            <a:r>
              <a:rPr lang="en-IN" sz="1600" b="1" dirty="0" smtClean="0"/>
              <a:t>Range </a:t>
            </a:r>
            <a:r>
              <a:rPr lang="en-IN" sz="1600" b="1" dirty="0"/>
              <a:t>Query: </a:t>
            </a:r>
            <a:r>
              <a:rPr lang="en-IN" sz="1600" dirty="0"/>
              <a:t>Use prefix sums to get [</a:t>
            </a:r>
            <a:r>
              <a:rPr lang="en-IN" sz="1600" dirty="0" err="1"/>
              <a:t>l..r</a:t>
            </a:r>
            <a:r>
              <a:rPr lang="en-IN" sz="1600" dirty="0"/>
              <a:t>] quickly.</a:t>
            </a:r>
          </a:p>
          <a:p>
            <a:endParaRPr lang="en-IN" sz="1600" dirty="0"/>
          </a:p>
          <a:p>
            <a:r>
              <a:rPr lang="en-IN" sz="1600" dirty="0"/>
              <a:t>Both operations run in O(log n) time, making Fenwick Trees very efficient for problems where you need fast updates and fast queries.</a:t>
            </a:r>
          </a:p>
        </p:txBody>
      </p:sp>
    </p:spTree>
    <p:extLst>
      <p:ext uri="{BB962C8B-B14F-4D97-AF65-F5344CB8AC3E}">
        <p14:creationId xmlns:p14="http://schemas.microsoft.com/office/powerpoint/2010/main" val="340597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Point Update + Range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50" y="922713"/>
            <a:ext cx="4439270" cy="58684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77" y="1487732"/>
            <a:ext cx="5029902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1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Point Update + Range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84" y="1017425"/>
            <a:ext cx="4725059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76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Point Update + Range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400" b="1" dirty="0" smtClean="0"/>
              <a:t>Class</a:t>
            </a:r>
            <a:r>
              <a:rPr lang="en-US" sz="1400" b="1" dirty="0"/>
              <a:t>: </a:t>
            </a:r>
            <a:r>
              <a:rPr lang="en-US" sz="1400" b="1" dirty="0" err="1" smtClean="0"/>
              <a:t>FenwickTree</a:t>
            </a:r>
            <a:endParaRPr lang="en-US" sz="1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This </a:t>
            </a:r>
            <a:r>
              <a:rPr lang="en-US" sz="1400" dirty="0"/>
              <a:t>class defines the data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It </a:t>
            </a:r>
            <a:r>
              <a:rPr lang="en-US" sz="1400" dirty="0"/>
              <a:t>has an internal array (bit) that stores partial sums.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It </a:t>
            </a:r>
            <a:r>
              <a:rPr lang="en-US" sz="1400" dirty="0"/>
              <a:t>knows the size (n) of the data it’s managing.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Think </a:t>
            </a:r>
            <a:r>
              <a:rPr lang="en-US" sz="1400" dirty="0"/>
              <a:t>of it as the “engine” that powers updates and queries.</a:t>
            </a:r>
          </a:p>
          <a:p>
            <a:endParaRPr lang="en-US" sz="1400" dirty="0"/>
          </a:p>
          <a:p>
            <a:r>
              <a:rPr lang="en-US" sz="1400" b="1" dirty="0" smtClean="0"/>
              <a:t>Methods</a:t>
            </a:r>
            <a:endParaRPr lang="en-US" sz="1400" b="1" dirty="0"/>
          </a:p>
          <a:p>
            <a:endParaRPr lang="en-US" sz="1400" dirty="0" smtClean="0"/>
          </a:p>
          <a:p>
            <a:r>
              <a:rPr lang="en-US" sz="1400" b="1" dirty="0" smtClean="0"/>
              <a:t>update(</a:t>
            </a:r>
            <a:r>
              <a:rPr lang="en-US" sz="1400" b="1" dirty="0" err="1" smtClean="0"/>
              <a:t>i</a:t>
            </a:r>
            <a:r>
              <a:rPr lang="en-US" sz="1400" b="1" dirty="0"/>
              <a:t>, </a:t>
            </a:r>
            <a:r>
              <a:rPr lang="en-US" sz="1400" b="1" dirty="0" err="1"/>
              <a:t>val</a:t>
            </a:r>
            <a:r>
              <a:rPr lang="en-US" sz="1400" b="1" dirty="0"/>
              <a:t>) – Point Update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Purpose: Add a value at a single index.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Example</a:t>
            </a:r>
            <a:r>
              <a:rPr lang="en-US" sz="1400" dirty="0"/>
              <a:t>: If you add +2 at index 3, it updates the BIT so that all sums covering index 3 are adjusted.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Analogy</a:t>
            </a:r>
            <a:r>
              <a:rPr lang="en-US" sz="1400" dirty="0"/>
              <a:t>: If you add 2 candies to jar #3, you also update the bigger jars that summarize jars 1–3 and jars 1–4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b="1" dirty="0"/>
              <a:t>query(</a:t>
            </a:r>
            <a:r>
              <a:rPr lang="en-US" sz="1400" b="1" dirty="0" err="1"/>
              <a:t>i</a:t>
            </a:r>
            <a:r>
              <a:rPr lang="en-US" sz="1400" b="1" dirty="0"/>
              <a:t>) – Prefix Sum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Purpose: Find the sum of values from index 1 up to index </a:t>
            </a:r>
            <a:r>
              <a:rPr lang="en-US" sz="1400" dirty="0" err="1"/>
              <a:t>i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Example</a:t>
            </a:r>
            <a:r>
              <a:rPr lang="en-US" sz="1400" dirty="0"/>
              <a:t>: query(3) gives the sum of elements at positions 1, 2, and 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Analogy</a:t>
            </a:r>
            <a:r>
              <a:rPr lang="en-US" sz="1400" dirty="0"/>
              <a:t>: If you want to know how many candies are in jars 1–3, you check the grouped totals and add them up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b="1" dirty="0" err="1"/>
              <a:t>rangeQuery</a:t>
            </a:r>
            <a:r>
              <a:rPr lang="en-US" sz="1400" b="1" dirty="0"/>
              <a:t>(l, r) – Range Sum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Purpose: Find the sum of values between l and 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Formula</a:t>
            </a:r>
            <a:r>
              <a:rPr lang="en-US" sz="1400" dirty="0"/>
              <a:t>: query(r) – query(l-1).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Example</a:t>
            </a:r>
            <a:r>
              <a:rPr lang="en-US" sz="1400" dirty="0"/>
              <a:t>: </a:t>
            </a:r>
            <a:r>
              <a:rPr lang="en-US" sz="1400" dirty="0" err="1"/>
              <a:t>rangeQuery</a:t>
            </a:r>
            <a:r>
              <a:rPr lang="en-US" sz="1400" dirty="0"/>
              <a:t>(2,5) gives the sum of elements at positions 2, 3, 4, and 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Analogy</a:t>
            </a:r>
            <a:r>
              <a:rPr lang="en-US" sz="1400" dirty="0"/>
              <a:t>: To count candies in jars 2–5, you count jars 1–5 and subtract jars 1.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375930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Point Update + Range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sz="1400" b="1" dirty="0"/>
              <a:t>Main </a:t>
            </a:r>
            <a:r>
              <a:rPr lang="en-IN" sz="1400" b="1" dirty="0" smtClean="0"/>
              <a:t>Program</a:t>
            </a:r>
          </a:p>
          <a:p>
            <a:endParaRPr lang="en-IN" sz="1400" b="1" dirty="0"/>
          </a:p>
          <a:p>
            <a:r>
              <a:rPr lang="en-US" sz="1400" dirty="0"/>
              <a:t>This is where the program runs step by step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r>
              <a:rPr lang="en-US" sz="1400" b="1" dirty="0"/>
              <a:t>Input Array</a:t>
            </a:r>
            <a:endParaRPr lang="en-US" sz="1400" dirty="0"/>
          </a:p>
          <a:p>
            <a:endParaRPr lang="en-US" sz="1400" b="1" dirty="0" smtClean="0"/>
          </a:p>
          <a:p>
            <a:endParaRPr lang="en-US" sz="1400" dirty="0"/>
          </a:p>
          <a:p>
            <a:r>
              <a:rPr lang="en-IN" sz="1400" b="1" dirty="0"/>
              <a:t>Create Fenwick </a:t>
            </a:r>
            <a:r>
              <a:rPr lang="en-IN" sz="1400" b="1" dirty="0" smtClean="0"/>
              <a:t>Tree</a:t>
            </a:r>
          </a:p>
          <a:p>
            <a:endParaRPr lang="en-IN" sz="1400" b="1" dirty="0"/>
          </a:p>
          <a:p>
            <a:r>
              <a:rPr lang="en-US" sz="1400" dirty="0"/>
              <a:t>Sets up the structure for 5 elements</a:t>
            </a:r>
            <a:r>
              <a:rPr lang="en-US" sz="1400" dirty="0" smtClean="0"/>
              <a:t>.</a:t>
            </a:r>
          </a:p>
          <a:p>
            <a:endParaRPr lang="en-US" sz="1400" b="1" dirty="0"/>
          </a:p>
          <a:p>
            <a:endParaRPr lang="en-US" sz="1400" b="1" dirty="0" smtClean="0"/>
          </a:p>
          <a:p>
            <a:r>
              <a:rPr lang="en-US" sz="1400" b="1" dirty="0"/>
              <a:t>Build the Tree  </a:t>
            </a:r>
            <a:endParaRPr lang="en-US" sz="1400" b="1" dirty="0" smtClean="0"/>
          </a:p>
          <a:p>
            <a:endParaRPr lang="en-US" sz="1400" b="1" dirty="0"/>
          </a:p>
          <a:p>
            <a:r>
              <a:rPr lang="en-US" sz="1400" dirty="0"/>
              <a:t>For each element in the array, call update(</a:t>
            </a:r>
            <a:r>
              <a:rPr lang="en-US" sz="1400" dirty="0" err="1"/>
              <a:t>i</a:t>
            </a:r>
            <a:r>
              <a:rPr lang="en-US" sz="1400" dirty="0"/>
              <a:t>, </a:t>
            </a:r>
            <a:r>
              <a:rPr lang="en-US" sz="1400" dirty="0" err="1"/>
              <a:t>arr</a:t>
            </a:r>
            <a:r>
              <a:rPr lang="en-US" sz="1400" dirty="0"/>
              <a:t>[</a:t>
            </a:r>
            <a:r>
              <a:rPr lang="en-US" sz="1400" dirty="0" err="1"/>
              <a:t>i</a:t>
            </a:r>
            <a:r>
              <a:rPr lang="en-US" sz="1400" dirty="0"/>
              <a:t>]).</a:t>
            </a:r>
          </a:p>
          <a:p>
            <a:r>
              <a:rPr lang="en-US" sz="1400" dirty="0" smtClean="0"/>
              <a:t>This </a:t>
            </a:r>
            <a:r>
              <a:rPr lang="en-US" sz="1400" dirty="0"/>
              <a:t>fills the BIT with partial sums.</a:t>
            </a:r>
          </a:p>
          <a:p>
            <a:endParaRPr lang="en-US" sz="1400" b="1" dirty="0"/>
          </a:p>
          <a:p>
            <a:r>
              <a:rPr lang="en-US" sz="1400" b="1" dirty="0"/>
              <a:t>Query 1: Prefix Sum (1–3)</a:t>
            </a:r>
          </a:p>
          <a:p>
            <a:endParaRPr lang="en-US" sz="1400" b="1" dirty="0"/>
          </a:p>
          <a:p>
            <a:r>
              <a:rPr lang="en-US" sz="1400" dirty="0"/>
              <a:t>query(3) → sum of </a:t>
            </a:r>
            <a:r>
              <a:rPr lang="en-US" sz="1400" dirty="0" err="1"/>
              <a:t>arr</a:t>
            </a:r>
            <a:r>
              <a:rPr lang="en-US" sz="1400" dirty="0"/>
              <a:t>[1..3] = 2+1+3 = 6.</a:t>
            </a:r>
          </a:p>
          <a:p>
            <a:endParaRPr lang="en-US" sz="1400" dirty="0"/>
          </a:p>
          <a:p>
            <a:r>
              <a:rPr lang="en-US" sz="1400" b="1" dirty="0"/>
              <a:t>Output: </a:t>
            </a:r>
            <a:r>
              <a:rPr lang="en-US" sz="1400" dirty="0"/>
              <a:t>Prefix sum (1-3): 6.</a:t>
            </a:r>
            <a:endParaRPr lang="en-US" sz="1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530" y="1914399"/>
            <a:ext cx="2114845" cy="2857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18666" y="1914399"/>
            <a:ext cx="5596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(The 0 at the start is just a dummy so indexing starts at 1.)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795" y="2548464"/>
            <a:ext cx="2981741" cy="31436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393" y="2641709"/>
            <a:ext cx="2067213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0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Point Update + Range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sz="1400" b="1" dirty="0"/>
              <a:t>Main </a:t>
            </a:r>
            <a:r>
              <a:rPr lang="en-IN" sz="1400" b="1" dirty="0" smtClean="0"/>
              <a:t>Program</a:t>
            </a:r>
          </a:p>
          <a:p>
            <a:endParaRPr lang="en-IN" sz="1400" b="1" dirty="0" smtClean="0"/>
          </a:p>
          <a:p>
            <a:r>
              <a:rPr lang="en-IN" sz="1400" b="1" dirty="0"/>
              <a:t>Query 2: Range Sum (2–5)</a:t>
            </a:r>
          </a:p>
          <a:p>
            <a:endParaRPr lang="en-IN" sz="1400" dirty="0"/>
          </a:p>
          <a:p>
            <a:r>
              <a:rPr lang="en-IN" sz="1400" dirty="0" err="1"/>
              <a:t>rangeQuery</a:t>
            </a:r>
            <a:r>
              <a:rPr lang="en-IN" sz="1400" dirty="0"/>
              <a:t>(2,5) → sum of </a:t>
            </a:r>
            <a:r>
              <a:rPr lang="en-IN" sz="1400" dirty="0" err="1"/>
              <a:t>arr</a:t>
            </a:r>
            <a:r>
              <a:rPr lang="en-IN" sz="1400" dirty="0"/>
              <a:t>[2..5] = 1+3+4+5 = 13.</a:t>
            </a:r>
          </a:p>
          <a:p>
            <a:r>
              <a:rPr lang="en-IN" sz="1400" b="1" dirty="0" smtClean="0"/>
              <a:t>Output</a:t>
            </a:r>
            <a:r>
              <a:rPr lang="en-IN" sz="1400" b="1" dirty="0"/>
              <a:t>: </a:t>
            </a:r>
            <a:r>
              <a:rPr lang="en-IN" sz="1400" dirty="0"/>
              <a:t>Range sum (2-5): 13.</a:t>
            </a:r>
          </a:p>
          <a:p>
            <a:endParaRPr lang="en-IN" sz="1400" dirty="0"/>
          </a:p>
          <a:p>
            <a:r>
              <a:rPr lang="en-IN" sz="1400" b="1" dirty="0"/>
              <a:t>Point Update: </a:t>
            </a:r>
            <a:r>
              <a:rPr lang="en-IN" sz="1400" b="1" dirty="0" err="1"/>
              <a:t>arr</a:t>
            </a:r>
            <a:r>
              <a:rPr lang="en-IN" sz="1400" b="1" dirty="0"/>
              <a:t>[3] += 2</a:t>
            </a:r>
          </a:p>
          <a:p>
            <a:endParaRPr lang="en-IN" sz="1400" dirty="0"/>
          </a:p>
          <a:p>
            <a:r>
              <a:rPr lang="en-IN" sz="1400" dirty="0" err="1"/>
              <a:t>arr</a:t>
            </a:r>
            <a:r>
              <a:rPr lang="en-IN" sz="1400" dirty="0"/>
              <a:t>[3] changes from 3 → 5.</a:t>
            </a:r>
          </a:p>
          <a:p>
            <a:r>
              <a:rPr lang="en-IN" sz="1400" dirty="0" smtClean="0"/>
              <a:t>BIT </a:t>
            </a:r>
            <a:r>
              <a:rPr lang="en-IN" sz="1400" dirty="0"/>
              <a:t>updates to reflect this change.</a:t>
            </a:r>
          </a:p>
          <a:p>
            <a:endParaRPr lang="en-IN" sz="1400" dirty="0"/>
          </a:p>
          <a:p>
            <a:r>
              <a:rPr lang="en-IN" sz="1400" b="1" dirty="0"/>
              <a:t>Query 3: After Update Prefix Sum (1–3)</a:t>
            </a:r>
          </a:p>
          <a:p>
            <a:endParaRPr lang="en-IN" sz="1400" dirty="0"/>
          </a:p>
          <a:p>
            <a:r>
              <a:rPr lang="en-IN" sz="1400" dirty="0"/>
              <a:t>query(3) → sum of </a:t>
            </a:r>
            <a:r>
              <a:rPr lang="en-IN" sz="1400" dirty="0" err="1"/>
              <a:t>arr</a:t>
            </a:r>
            <a:r>
              <a:rPr lang="en-IN" sz="1400" dirty="0"/>
              <a:t>[1..3] = 2+1+5 = 8.</a:t>
            </a:r>
          </a:p>
          <a:p>
            <a:r>
              <a:rPr lang="en-IN" sz="1400" b="1" dirty="0" smtClean="0"/>
              <a:t>Output</a:t>
            </a:r>
            <a:r>
              <a:rPr lang="en-IN" sz="1400" b="1" dirty="0"/>
              <a:t>: </a:t>
            </a:r>
            <a:r>
              <a:rPr lang="en-IN" sz="1400" dirty="0"/>
              <a:t>After update (1-3): 8.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104" y="1440574"/>
            <a:ext cx="2114845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8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Point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/>
              <a:t>Range Update </a:t>
            </a:r>
            <a:r>
              <a:rPr lang="en-US" sz="1600" dirty="0"/>
              <a:t>→ Instead of changing just one element, you add a value to an entire range [</a:t>
            </a:r>
            <a:r>
              <a:rPr lang="en-US" sz="1600" dirty="0" err="1"/>
              <a:t>l..r</a:t>
            </a:r>
            <a:r>
              <a:rPr lang="en-US" sz="1600" dirty="0"/>
              <a:t>].</a:t>
            </a:r>
          </a:p>
          <a:p>
            <a:r>
              <a:rPr lang="en-US" sz="1600" dirty="0"/>
              <a:t>Example: “Add +2 to every element between index 2 and 5.”</a:t>
            </a:r>
          </a:p>
          <a:p>
            <a:endParaRPr lang="en-US" sz="1600" dirty="0"/>
          </a:p>
          <a:p>
            <a:r>
              <a:rPr lang="en-US" sz="1600" b="1" dirty="0"/>
              <a:t>Point Query </a:t>
            </a:r>
            <a:r>
              <a:rPr lang="en-US" sz="1600" dirty="0"/>
              <a:t>→ Instead of asking for a sum over a range, you ask for the value at a single index after all updates.</a:t>
            </a:r>
          </a:p>
          <a:p>
            <a:r>
              <a:rPr lang="en-US" sz="1600" dirty="0"/>
              <a:t>Example: “What is the final value at index 4?”</a:t>
            </a:r>
          </a:p>
          <a:p>
            <a:endParaRPr lang="en-US" sz="1600" dirty="0"/>
          </a:p>
          <a:p>
            <a:r>
              <a:rPr lang="en-US" sz="1600" dirty="0"/>
              <a:t>So the tree is designed to apply updates to ranges efficiently and then retrieve the value at a single point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/>
              <a:t>How It Works</a:t>
            </a:r>
          </a:p>
          <a:p>
            <a:r>
              <a:rPr lang="en-US" sz="1600" dirty="0"/>
              <a:t>Normally, a Fenwick Tree is used for point updates + range queries.</a:t>
            </a:r>
          </a:p>
          <a:p>
            <a:r>
              <a:rPr lang="en-US" sz="1600" dirty="0"/>
              <a:t>To flip it (range update + point query), we use a trick:</a:t>
            </a:r>
          </a:p>
          <a:p>
            <a:endParaRPr lang="en-US" sz="1600" dirty="0"/>
          </a:p>
          <a:p>
            <a:r>
              <a:rPr lang="en-US" sz="1600" b="1" dirty="0"/>
              <a:t>Range Update [</a:t>
            </a:r>
            <a:r>
              <a:rPr lang="en-US" sz="1600" b="1" dirty="0" err="1"/>
              <a:t>l..r</a:t>
            </a:r>
            <a:r>
              <a:rPr lang="en-US" sz="1600" b="1" dirty="0"/>
              <a:t>] by +</a:t>
            </a:r>
            <a:r>
              <a:rPr lang="en-US" sz="1600" b="1" dirty="0" err="1"/>
              <a:t>val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Do </a:t>
            </a:r>
            <a:r>
              <a:rPr lang="en-US" sz="1600" dirty="0"/>
              <a:t>update(l, +</a:t>
            </a:r>
            <a:r>
              <a:rPr lang="en-US" sz="1600" dirty="0" err="1"/>
              <a:t>val</a:t>
            </a:r>
            <a:r>
              <a:rPr lang="en-US" sz="1600" dirty="0"/>
              <a:t>) → add </a:t>
            </a:r>
            <a:r>
              <a:rPr lang="en-US" sz="1600" dirty="0" err="1"/>
              <a:t>val</a:t>
            </a:r>
            <a:r>
              <a:rPr lang="en-US" sz="1600" dirty="0"/>
              <a:t> starting at 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Do </a:t>
            </a:r>
            <a:r>
              <a:rPr lang="en-US" sz="1600" dirty="0"/>
              <a:t>update(r+1, -</a:t>
            </a:r>
            <a:r>
              <a:rPr lang="en-US" sz="1600" dirty="0" err="1"/>
              <a:t>val</a:t>
            </a:r>
            <a:r>
              <a:rPr lang="en-US" sz="1600" dirty="0"/>
              <a:t>) → subtract </a:t>
            </a:r>
            <a:r>
              <a:rPr lang="en-US" sz="1600" dirty="0" err="1"/>
              <a:t>val</a:t>
            </a:r>
            <a:r>
              <a:rPr lang="en-US" sz="1600" dirty="0"/>
              <a:t> starting after 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This </a:t>
            </a:r>
            <a:r>
              <a:rPr lang="en-US" sz="1600" dirty="0"/>
              <a:t>way, the effect of +</a:t>
            </a:r>
            <a:r>
              <a:rPr lang="en-US" sz="1600" dirty="0" err="1"/>
              <a:t>val</a:t>
            </a:r>
            <a:r>
              <a:rPr lang="en-US" sz="1600" dirty="0"/>
              <a:t> is applied to all indices between l and r.</a:t>
            </a:r>
          </a:p>
          <a:p>
            <a:endParaRPr lang="en-US" sz="1600" dirty="0"/>
          </a:p>
          <a:p>
            <a:r>
              <a:rPr lang="en-US" sz="1600" b="1" dirty="0"/>
              <a:t>Point Query at index </a:t>
            </a:r>
            <a:r>
              <a:rPr lang="en-US" sz="1600" b="1" dirty="0" err="1"/>
              <a:t>i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Just </a:t>
            </a:r>
            <a:r>
              <a:rPr lang="en-US" sz="1600" dirty="0"/>
              <a:t>call query(</a:t>
            </a:r>
            <a:r>
              <a:rPr lang="en-US" sz="1600" dirty="0" err="1"/>
              <a:t>i</a:t>
            </a:r>
            <a:r>
              <a:rPr lang="en-US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Because </a:t>
            </a:r>
            <a:r>
              <a:rPr lang="en-US" sz="1600" dirty="0"/>
              <a:t>of the way updates were applied, query(</a:t>
            </a:r>
            <a:r>
              <a:rPr lang="en-US" sz="1600" dirty="0" err="1"/>
              <a:t>i</a:t>
            </a:r>
            <a:r>
              <a:rPr lang="en-US" sz="1600" dirty="0"/>
              <a:t>) gives the net effect of all range updates at that index.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67213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Point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/>
              <a:t>Array (initially all </a:t>
            </a:r>
            <a:r>
              <a:rPr lang="en-US" dirty="0" err="1"/>
              <a:t>zeros</a:t>
            </a:r>
            <a:r>
              <a:rPr lang="en-US" dirty="0"/>
              <a:t>, size 5</a:t>
            </a:r>
            <a:r>
              <a:rPr lang="en-US" dirty="0" smtClean="0"/>
              <a:t>):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/>
              <a:t>Step 1: Range Update [2..4] by +3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update(2, +3)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update(5, -3)</a:t>
            </a:r>
          </a:p>
          <a:p>
            <a:r>
              <a:rPr lang="en-US" dirty="0"/>
              <a:t>Now the BIT encodes: “+3 for indices ≥2, and -3 for indices ≥5.”</a:t>
            </a:r>
          </a:p>
          <a:p>
            <a:endParaRPr lang="en-US" dirty="0" smtClean="0"/>
          </a:p>
          <a:p>
            <a:r>
              <a:rPr lang="en-IN" b="1" dirty="0"/>
              <a:t>Step 2: Point Queries</a:t>
            </a:r>
          </a:p>
          <a:p>
            <a:r>
              <a:rPr lang="en-IN" dirty="0"/>
              <a:t>query(1) = 0 → index 1 unchanged</a:t>
            </a:r>
          </a:p>
          <a:p>
            <a:r>
              <a:rPr lang="en-IN" dirty="0"/>
              <a:t>query(2) = 3 → index 2 got +3</a:t>
            </a:r>
          </a:p>
          <a:p>
            <a:r>
              <a:rPr lang="en-IN" dirty="0"/>
              <a:t>query(3) = 3 → index 3 got +3</a:t>
            </a:r>
          </a:p>
          <a:p>
            <a:r>
              <a:rPr lang="en-IN" dirty="0"/>
              <a:t>query(4) = 3 → index 4 got +3</a:t>
            </a:r>
          </a:p>
          <a:p>
            <a:r>
              <a:rPr lang="en-IN" dirty="0"/>
              <a:t>query(5) = 0 → index 5 </a:t>
            </a:r>
            <a:r>
              <a:rPr lang="en-IN" dirty="0" err="1"/>
              <a:t>canceled</a:t>
            </a:r>
            <a:r>
              <a:rPr lang="en-IN" dirty="0"/>
              <a:t> out by -3</a:t>
            </a:r>
          </a:p>
          <a:p>
            <a:r>
              <a:rPr lang="en-IN" dirty="0"/>
              <a:t>Final array values: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37" y="1445044"/>
            <a:ext cx="1781424" cy="5144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08" y="5665202"/>
            <a:ext cx="1781424" cy="5620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80313" y="3633877"/>
            <a:ext cx="70408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Range Update + Point Query</a:t>
            </a:r>
            <a:r>
              <a:rPr lang="en-US" sz="1400" dirty="0"/>
              <a:t> is the “dual” of the usual Fenwick Tree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Instead of storing sums directly, the BIT stores </a:t>
            </a:r>
            <a:r>
              <a:rPr lang="en-US" sz="1400" b="1" dirty="0"/>
              <a:t>difference markers</a:t>
            </a:r>
            <a:r>
              <a:rPr lang="en-US" sz="1400" dirty="0"/>
              <a:t> (start +</a:t>
            </a:r>
            <a:r>
              <a:rPr lang="en-US" sz="1400" dirty="0" err="1"/>
              <a:t>val</a:t>
            </a:r>
            <a:r>
              <a:rPr lang="en-US" sz="1400" dirty="0"/>
              <a:t>, end+1 −</a:t>
            </a:r>
            <a:r>
              <a:rPr lang="en-US" sz="1400" dirty="0" err="1"/>
              <a:t>val</a:t>
            </a:r>
            <a:r>
              <a:rPr lang="en-US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Point queries then accumulate these markers to give the final value at that index.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Both operations are efficient: </a:t>
            </a:r>
            <a:r>
              <a:rPr lang="en-US" sz="1400" b="1" dirty="0"/>
              <a:t>O(log n)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214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Point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0" y="1041770"/>
            <a:ext cx="4210638" cy="56524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538" y="1550387"/>
            <a:ext cx="4429743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3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Point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38" y="1016210"/>
            <a:ext cx="4887007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5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Point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 smtClean="0"/>
              <a:t>Program Explanation</a:t>
            </a:r>
          </a:p>
          <a:p>
            <a:endParaRPr lang="en-US" sz="1600" b="1" dirty="0"/>
          </a:p>
          <a:p>
            <a:r>
              <a:rPr lang="en-US" sz="1600" dirty="0"/>
              <a:t>This version of the Fenwick Tree is set up for Range Update + Point Query:</a:t>
            </a:r>
          </a:p>
          <a:p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Range </a:t>
            </a:r>
            <a:r>
              <a:rPr lang="en-US" sz="1600" dirty="0"/>
              <a:t>Update → add a value to all elements between [</a:t>
            </a:r>
            <a:r>
              <a:rPr lang="en-US" sz="1600" dirty="0" err="1"/>
              <a:t>l..r</a:t>
            </a:r>
            <a:r>
              <a:rPr lang="en-US" sz="1600" dirty="0"/>
              <a:t>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Point </a:t>
            </a:r>
            <a:r>
              <a:rPr lang="en-US" sz="1600" dirty="0"/>
              <a:t>Query → ask for the final value at a single index after all updates</a:t>
            </a:r>
            <a:r>
              <a:rPr lang="en-US" sz="1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IN" sz="1600" b="1" dirty="0"/>
              <a:t>Step 1: Initial Setup</a:t>
            </a:r>
            <a:endParaRPr lang="en-US" sz="1600" b="1" dirty="0" smtClean="0"/>
          </a:p>
          <a:p>
            <a:r>
              <a:rPr lang="en-US" sz="1600" dirty="0"/>
              <a:t>We create a Fenwick Tree of size 10. Initially, all values are 0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 smtClean="0"/>
              <a:t>Step </a:t>
            </a:r>
            <a:r>
              <a:rPr lang="en-US" sz="1600" b="1" dirty="0"/>
              <a:t>2: First Range Update [2..6] by +</a:t>
            </a:r>
            <a:r>
              <a:rPr lang="en-US" sz="1600" b="1" dirty="0" smtClean="0"/>
              <a:t>5</a:t>
            </a:r>
          </a:p>
          <a:p>
            <a:r>
              <a:rPr lang="en-US" sz="1600" dirty="0" smtClean="0"/>
              <a:t>This </a:t>
            </a:r>
            <a:r>
              <a:rPr lang="en-US" sz="1600" dirty="0"/>
              <a:t>means: add 5 to every index from 2 to 6.</a:t>
            </a:r>
          </a:p>
          <a:p>
            <a:r>
              <a:rPr lang="en-US" sz="1600" dirty="0"/>
              <a:t>Resulting values:</a:t>
            </a:r>
          </a:p>
          <a:p>
            <a:endParaRPr lang="en-US" sz="1600" b="1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41" y="3375238"/>
            <a:ext cx="3134162" cy="5144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41" y="5042729"/>
            <a:ext cx="3029373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5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Point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 smtClean="0"/>
              <a:t>Program Explanation</a:t>
            </a:r>
          </a:p>
          <a:p>
            <a:endParaRPr lang="en-US" sz="1600" b="1" dirty="0" smtClean="0"/>
          </a:p>
          <a:p>
            <a:r>
              <a:rPr lang="en-US" sz="1600" b="1" dirty="0"/>
              <a:t>Step 3: Second Range Update [4..8] by +3</a:t>
            </a:r>
          </a:p>
          <a:p>
            <a:r>
              <a:rPr lang="en-US" sz="1600" dirty="0"/>
              <a:t>This means: add 3 to every index from 4 to 8.</a:t>
            </a:r>
          </a:p>
          <a:p>
            <a:r>
              <a:rPr lang="en-US" sz="1600" dirty="0"/>
              <a:t>Resulting values</a:t>
            </a:r>
            <a:r>
              <a:rPr lang="en-US" sz="1600" dirty="0" smtClean="0"/>
              <a:t>:</a:t>
            </a:r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/>
              <a:t>Explanation:</a:t>
            </a:r>
          </a:p>
          <a:p>
            <a:r>
              <a:rPr lang="en-US" sz="1600" dirty="0"/>
              <a:t>Index 4,5,6 already had 5 → now they become 8 (5+3).</a:t>
            </a:r>
          </a:p>
          <a:p>
            <a:r>
              <a:rPr lang="en-US" sz="1600" dirty="0"/>
              <a:t>Index 7,8 were 0 → now they become 3.</a:t>
            </a:r>
          </a:p>
          <a:p>
            <a:endParaRPr lang="en-US" sz="1600" dirty="0"/>
          </a:p>
          <a:p>
            <a:endParaRPr lang="en-US" sz="16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10" y="2484713"/>
            <a:ext cx="3258005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71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Point 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 smtClean="0"/>
              <a:t>Program Explanation</a:t>
            </a:r>
          </a:p>
          <a:p>
            <a:endParaRPr lang="en-US" sz="1600" b="1" dirty="0" smtClean="0"/>
          </a:p>
          <a:p>
            <a:r>
              <a:rPr lang="en-US" sz="1600" b="1" dirty="0"/>
              <a:t>Step 4: Point Queries</a:t>
            </a:r>
          </a:p>
          <a:p>
            <a:endParaRPr lang="en-US" sz="1600" dirty="0"/>
          </a:p>
          <a:p>
            <a:r>
              <a:rPr lang="en-US" sz="1600" dirty="0"/>
              <a:t>Now the program asks for specific values:</a:t>
            </a:r>
          </a:p>
          <a:p>
            <a:endParaRPr lang="en-US" sz="1600" dirty="0"/>
          </a:p>
          <a:p>
            <a:r>
              <a:rPr lang="en-US" sz="1600" b="1" dirty="0"/>
              <a:t>Value at index 3</a:t>
            </a:r>
          </a:p>
          <a:p>
            <a:endParaRPr lang="en-US" sz="1600" dirty="0"/>
          </a:p>
          <a:p>
            <a:r>
              <a:rPr lang="en-US" sz="1600" dirty="0"/>
              <a:t>From the array: 5</a:t>
            </a:r>
          </a:p>
          <a:p>
            <a:r>
              <a:rPr lang="en-US" sz="1600" dirty="0" smtClean="0"/>
              <a:t>Output</a:t>
            </a:r>
            <a:r>
              <a:rPr lang="en-US" sz="1600" dirty="0"/>
              <a:t>: Value at index 3: </a:t>
            </a:r>
            <a:r>
              <a:rPr lang="en-US" sz="1600" b="1" dirty="0"/>
              <a:t>5</a:t>
            </a:r>
          </a:p>
          <a:p>
            <a:endParaRPr lang="en-US" sz="1600" dirty="0"/>
          </a:p>
          <a:p>
            <a:r>
              <a:rPr lang="en-US" sz="1600" b="1" dirty="0"/>
              <a:t>Value at index 5</a:t>
            </a:r>
          </a:p>
          <a:p>
            <a:endParaRPr lang="en-US" sz="1600" dirty="0"/>
          </a:p>
          <a:p>
            <a:r>
              <a:rPr lang="en-US" sz="1600" dirty="0"/>
              <a:t>From the array: 8</a:t>
            </a:r>
          </a:p>
          <a:p>
            <a:r>
              <a:rPr lang="en-US" sz="1600" dirty="0" smtClean="0"/>
              <a:t>Output</a:t>
            </a:r>
            <a:r>
              <a:rPr lang="en-US" sz="1600" dirty="0"/>
              <a:t>: Value at index 5: </a:t>
            </a:r>
            <a:r>
              <a:rPr lang="en-US" sz="1600" b="1" dirty="0"/>
              <a:t>8</a:t>
            </a:r>
          </a:p>
          <a:p>
            <a:endParaRPr lang="en-US" sz="1600" dirty="0"/>
          </a:p>
          <a:p>
            <a:r>
              <a:rPr lang="en-US" sz="1600" b="1" dirty="0"/>
              <a:t>Value at index 7</a:t>
            </a:r>
          </a:p>
          <a:p>
            <a:endParaRPr lang="en-US" sz="1600" dirty="0"/>
          </a:p>
          <a:p>
            <a:r>
              <a:rPr lang="en-US" sz="1600" dirty="0"/>
              <a:t>From the array: 3</a:t>
            </a:r>
          </a:p>
          <a:p>
            <a:r>
              <a:rPr lang="en-US" sz="1600" dirty="0" smtClean="0"/>
              <a:t>Output</a:t>
            </a:r>
            <a:r>
              <a:rPr lang="en-US" sz="1600" dirty="0"/>
              <a:t>: Value at index 7: </a:t>
            </a:r>
            <a:r>
              <a:rPr lang="en-US" sz="1600" b="1" dirty="0"/>
              <a:t>3</a:t>
            </a:r>
          </a:p>
          <a:p>
            <a:endParaRPr lang="en-US" sz="1600" b="1" dirty="0"/>
          </a:p>
        </p:txBody>
      </p:sp>
      <p:sp>
        <p:nvSpPr>
          <p:cNvPr id="3" name="Rectangle 2"/>
          <p:cNvSpPr/>
          <p:nvPr/>
        </p:nvSpPr>
        <p:spPr>
          <a:xfrm>
            <a:off x="4974389" y="3021294"/>
            <a:ext cx="3889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After both updates, the array looks like: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958" y="3507206"/>
            <a:ext cx="2534004" cy="362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80211"/>
            <a:ext cx="1714739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6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</a:t>
            </a:r>
            <a:r>
              <a:rPr lang="en-US" b="1" dirty="0" smtClean="0">
                <a:solidFill>
                  <a:srgbClr val="FF0000"/>
                </a:solidFill>
              </a:rPr>
              <a:t>Range </a:t>
            </a:r>
            <a:r>
              <a:rPr lang="en-US" b="1" dirty="0">
                <a:solidFill>
                  <a:srgbClr val="FF0000"/>
                </a:solidFill>
              </a:rPr>
              <a:t>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400" b="1" dirty="0"/>
              <a:t>Range Update </a:t>
            </a:r>
            <a:r>
              <a:rPr lang="en-US" sz="1400" dirty="0"/>
              <a:t>→ You add a value to every element in a range [</a:t>
            </a:r>
            <a:r>
              <a:rPr lang="en-US" sz="1400" dirty="0" err="1"/>
              <a:t>l..r</a:t>
            </a:r>
            <a:r>
              <a:rPr lang="en-US" sz="1400" dirty="0"/>
              <a:t>].</a:t>
            </a:r>
          </a:p>
          <a:p>
            <a:r>
              <a:rPr lang="en-US" sz="1400" dirty="0"/>
              <a:t>Example: “Add +2 to all elements between index 2 and 5.”</a:t>
            </a:r>
          </a:p>
          <a:p>
            <a:endParaRPr lang="en-US" sz="1400" dirty="0"/>
          </a:p>
          <a:p>
            <a:r>
              <a:rPr lang="en-US" sz="1400" b="1" dirty="0"/>
              <a:t>Range Query </a:t>
            </a:r>
            <a:r>
              <a:rPr lang="en-US" sz="1400" dirty="0"/>
              <a:t>→ You ask for the sum of values in a range [</a:t>
            </a:r>
            <a:r>
              <a:rPr lang="en-US" sz="1400" dirty="0" err="1"/>
              <a:t>l..r</a:t>
            </a:r>
            <a:r>
              <a:rPr lang="en-US" sz="1400" dirty="0"/>
              <a:t>].</a:t>
            </a:r>
          </a:p>
          <a:p>
            <a:r>
              <a:rPr lang="en-US" sz="1400" dirty="0"/>
              <a:t>Example: “What is the total of elements between index 3 and 7?”</a:t>
            </a:r>
          </a:p>
          <a:p>
            <a:endParaRPr lang="en-US" sz="1400" dirty="0"/>
          </a:p>
          <a:p>
            <a:r>
              <a:rPr lang="en-US" sz="1400" dirty="0"/>
              <a:t>So this setup allows you to update multiple elements at once and then query sums over ranges efficiently.</a:t>
            </a:r>
          </a:p>
          <a:p>
            <a:endParaRPr lang="en-US" sz="1400" dirty="0" smtClean="0"/>
          </a:p>
          <a:p>
            <a:endParaRPr lang="en-US" sz="1400" dirty="0"/>
          </a:p>
          <a:p>
            <a:r>
              <a:rPr lang="en-US" sz="1400" b="1" dirty="0"/>
              <a:t>How It </a:t>
            </a:r>
            <a:r>
              <a:rPr lang="en-US" sz="1400" b="1" dirty="0" smtClean="0"/>
              <a:t>Works?</a:t>
            </a:r>
          </a:p>
          <a:p>
            <a:endParaRPr lang="en-US" sz="1400" dirty="0"/>
          </a:p>
          <a:p>
            <a:r>
              <a:rPr lang="en-US" sz="1400" dirty="0"/>
              <a:t>A normal Fenwick Tree supports:</a:t>
            </a:r>
          </a:p>
          <a:p>
            <a:endParaRPr lang="en-US" sz="1400" dirty="0"/>
          </a:p>
          <a:p>
            <a:r>
              <a:rPr lang="en-US" sz="1400" b="1" dirty="0"/>
              <a:t>Point Update + Range Query.</a:t>
            </a:r>
          </a:p>
          <a:p>
            <a:r>
              <a:rPr lang="en-US" sz="1400" dirty="0"/>
              <a:t>To support Range Update + Range Query, we use a trick with two Fenwick Trees:</a:t>
            </a:r>
          </a:p>
          <a:p>
            <a:endParaRPr lang="en-US" sz="1400" dirty="0"/>
          </a:p>
          <a:p>
            <a:r>
              <a:rPr lang="en-US" sz="1400" dirty="0"/>
              <a:t>BIT1 → stores the effect of updates directly.</a:t>
            </a:r>
          </a:p>
          <a:p>
            <a:r>
              <a:rPr lang="en-US" sz="1400" dirty="0" smtClean="0"/>
              <a:t>BIT2 </a:t>
            </a:r>
            <a:r>
              <a:rPr lang="en-US" sz="1400" dirty="0"/>
              <a:t>→ stores correction factors so that range sums come out correctly.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160283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</a:t>
            </a:r>
            <a:r>
              <a:rPr lang="en-US" b="1" dirty="0" smtClean="0">
                <a:solidFill>
                  <a:srgbClr val="FF0000"/>
                </a:solidFill>
              </a:rPr>
              <a:t>Range </a:t>
            </a:r>
            <a:r>
              <a:rPr lang="en-US" b="1" dirty="0">
                <a:solidFill>
                  <a:srgbClr val="FF0000"/>
                </a:solidFill>
              </a:rPr>
              <a:t>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400" b="1" dirty="0"/>
              <a:t>Example</a:t>
            </a:r>
          </a:p>
          <a:p>
            <a:r>
              <a:rPr lang="en-US" sz="1400" dirty="0"/>
              <a:t>Suppose we have an array of size 5, initially all </a:t>
            </a:r>
            <a:r>
              <a:rPr lang="en-US" sz="1400" dirty="0" err="1"/>
              <a:t>zeros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r>
              <a:rPr lang="en-US" sz="1400" b="1" dirty="0"/>
              <a:t>Step 1: Range Update [2..4] by +3</a:t>
            </a:r>
          </a:p>
          <a:p>
            <a:r>
              <a:rPr lang="en-US" sz="1400" dirty="0"/>
              <a:t>Array becomes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b="1" dirty="0"/>
              <a:t>Step 2: Range Update [3..5] by +2</a:t>
            </a:r>
          </a:p>
          <a:p>
            <a:endParaRPr lang="en-US" sz="1400" dirty="0" smtClean="0"/>
          </a:p>
          <a:p>
            <a:r>
              <a:rPr lang="en-US" sz="1400" dirty="0" smtClean="0"/>
              <a:t>Array </a:t>
            </a:r>
            <a:r>
              <a:rPr lang="en-US" sz="1400" dirty="0"/>
              <a:t>becomes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b="1" dirty="0"/>
              <a:t>Step 3: Range Query [2..5]</a:t>
            </a:r>
          </a:p>
          <a:p>
            <a:r>
              <a:rPr lang="en-US" sz="1400" dirty="0"/>
              <a:t>Sum = 3 + 5 + 5 + 2 = </a:t>
            </a:r>
            <a:r>
              <a:rPr lang="en-US" sz="1400" b="1" dirty="0"/>
              <a:t>15</a:t>
            </a:r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Range Update + Range Query is the most powerful Fenwick Tree usage.</a:t>
            </a:r>
          </a:p>
          <a:p>
            <a:r>
              <a:rPr lang="en-US" sz="1400" dirty="0" smtClean="0"/>
              <a:t>It </a:t>
            </a:r>
            <a:r>
              <a:rPr lang="en-US" sz="1400" dirty="0"/>
              <a:t>requires two BITs working together.</a:t>
            </a:r>
          </a:p>
          <a:p>
            <a:r>
              <a:rPr lang="en-US" sz="1400" dirty="0" smtClean="0"/>
              <a:t>Updates </a:t>
            </a:r>
            <a:r>
              <a:rPr lang="en-US" sz="1400" dirty="0"/>
              <a:t>and queries both run in O(log n) time.</a:t>
            </a:r>
          </a:p>
          <a:p>
            <a:r>
              <a:rPr lang="en-US" sz="1400" dirty="0" smtClean="0"/>
              <a:t>This </a:t>
            </a:r>
            <a:r>
              <a:rPr lang="en-US" sz="1400" dirty="0"/>
              <a:t>lets you efficiently handle problems where you frequently add values to ranges and ask for sums over ranges.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865" y="1187829"/>
            <a:ext cx="1609950" cy="37152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20" y="2259182"/>
            <a:ext cx="1324160" cy="3238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4037" y="3366714"/>
            <a:ext cx="1428949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9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</a:t>
            </a:r>
            <a:r>
              <a:rPr lang="en-US" b="1" dirty="0" smtClean="0">
                <a:solidFill>
                  <a:srgbClr val="FF0000"/>
                </a:solidFill>
              </a:rPr>
              <a:t>Range </a:t>
            </a:r>
            <a:r>
              <a:rPr lang="en-US" b="1" dirty="0">
                <a:solidFill>
                  <a:srgbClr val="FF0000"/>
                </a:solidFill>
              </a:rPr>
              <a:t>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16" y="997527"/>
            <a:ext cx="4134427" cy="55118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411" y="1550387"/>
            <a:ext cx="4420217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0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</a:t>
            </a:r>
            <a:r>
              <a:rPr lang="en-US" b="1" dirty="0" smtClean="0">
                <a:solidFill>
                  <a:srgbClr val="FF0000"/>
                </a:solidFill>
              </a:rPr>
              <a:t>Range </a:t>
            </a:r>
            <a:r>
              <a:rPr lang="en-US" b="1" dirty="0">
                <a:solidFill>
                  <a:srgbClr val="FF0000"/>
                </a:solidFill>
              </a:rPr>
              <a:t>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68" y="1241275"/>
            <a:ext cx="4429743" cy="41439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512" y="2682305"/>
            <a:ext cx="5496692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3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</a:t>
            </a:r>
            <a:r>
              <a:rPr lang="en-US" b="1" dirty="0" smtClean="0">
                <a:solidFill>
                  <a:srgbClr val="FF0000"/>
                </a:solidFill>
              </a:rPr>
              <a:t>Range </a:t>
            </a:r>
            <a:r>
              <a:rPr lang="en-US" b="1" dirty="0">
                <a:solidFill>
                  <a:srgbClr val="FF0000"/>
                </a:solidFill>
              </a:rPr>
              <a:t>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/>
              <a:t>This version of the Fenwick Tree uses two internal trees (bit1 and bit2) to support: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Range Update → add a value to all elements in [</a:t>
            </a:r>
            <a:r>
              <a:rPr lang="en-US" dirty="0" err="1"/>
              <a:t>l..r</a:t>
            </a:r>
            <a:r>
              <a:rPr lang="en-US" dirty="0"/>
              <a:t>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Range </a:t>
            </a:r>
            <a:r>
              <a:rPr lang="en-US" dirty="0"/>
              <a:t>Query → ask for the sum of values in [</a:t>
            </a:r>
            <a:r>
              <a:rPr lang="en-US" dirty="0" err="1"/>
              <a:t>l..r</a:t>
            </a:r>
            <a:r>
              <a:rPr lang="en-US" dirty="0" smtClean="0"/>
              <a:t>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Step 1: Initial Setup</a:t>
            </a:r>
          </a:p>
          <a:p>
            <a:r>
              <a:rPr lang="en-US" dirty="0"/>
              <a:t>We create a Fenwick Tree of size 10. Initially, all values are 0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Step </a:t>
            </a:r>
            <a:r>
              <a:rPr lang="en-US" b="1" dirty="0"/>
              <a:t>2: First Range Update [2..6] by +5</a:t>
            </a:r>
          </a:p>
          <a:p>
            <a:r>
              <a:rPr lang="en-US" dirty="0"/>
              <a:t>This means: add 5 to every index between 2 and 6.</a:t>
            </a:r>
          </a:p>
          <a:p>
            <a:r>
              <a:rPr lang="en-US" dirty="0"/>
              <a:t>Resulting values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/>
              <a:t>Step 3: Second Range Update [4..8] by +3</a:t>
            </a:r>
          </a:p>
          <a:p>
            <a:r>
              <a:rPr lang="en-US" dirty="0"/>
              <a:t>This means: add 3 to every index between 4 and 8.</a:t>
            </a:r>
          </a:p>
          <a:p>
            <a:r>
              <a:rPr lang="en-US" dirty="0"/>
              <a:t>Resulting values:</a:t>
            </a:r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31" y="2776908"/>
            <a:ext cx="3105583" cy="5811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632" y="4214323"/>
            <a:ext cx="3019846" cy="5620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774" y="6081335"/>
            <a:ext cx="3077004" cy="44773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11039" y="584353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Explanation: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Indices 4,5,6 already had 5 → now they become 8 (5+3).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Indices 7,8 were 0 → now they become 3.</a:t>
            </a:r>
          </a:p>
        </p:txBody>
      </p:sp>
    </p:spTree>
    <p:extLst>
      <p:ext uri="{BB962C8B-B14F-4D97-AF65-F5344CB8AC3E}">
        <p14:creationId xmlns:p14="http://schemas.microsoft.com/office/powerpoint/2010/main" val="11111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</a:t>
            </a:r>
            <a:r>
              <a:rPr lang="en-US" b="1" dirty="0" smtClean="0">
                <a:solidFill>
                  <a:srgbClr val="FF0000"/>
                </a:solidFill>
              </a:rPr>
              <a:t>Range </a:t>
            </a:r>
            <a:r>
              <a:rPr lang="en-US" b="1" dirty="0">
                <a:solidFill>
                  <a:srgbClr val="FF0000"/>
                </a:solidFill>
              </a:rPr>
              <a:t>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400" b="1" dirty="0"/>
              <a:t>Step 4: Range </a:t>
            </a:r>
            <a:r>
              <a:rPr lang="en-US" sz="1400" b="1" dirty="0" smtClean="0"/>
              <a:t>Queries</a:t>
            </a:r>
          </a:p>
          <a:p>
            <a:endParaRPr lang="en-US" sz="1400" b="1" dirty="0"/>
          </a:p>
          <a:p>
            <a:r>
              <a:rPr lang="en-US" sz="1400" dirty="0"/>
              <a:t>Now the program asks for sums:</a:t>
            </a:r>
          </a:p>
          <a:p>
            <a:endParaRPr lang="en-US" sz="1400" b="1" dirty="0"/>
          </a:p>
          <a:p>
            <a:r>
              <a:rPr lang="en-US" sz="1400" b="1" dirty="0"/>
              <a:t>Sum (1–5)</a:t>
            </a:r>
          </a:p>
          <a:p>
            <a:endParaRPr lang="en-US" sz="1400" b="1" dirty="0"/>
          </a:p>
          <a:p>
            <a:r>
              <a:rPr lang="en-US" sz="1400" dirty="0"/>
              <a:t>Values = 0+5+5+8+8 = 26</a:t>
            </a:r>
          </a:p>
          <a:p>
            <a:r>
              <a:rPr lang="en-US" sz="1400" dirty="0" smtClean="0"/>
              <a:t>Output</a:t>
            </a:r>
            <a:r>
              <a:rPr lang="en-US" sz="1400" dirty="0"/>
              <a:t>: Sum (1-5): 26</a:t>
            </a:r>
          </a:p>
          <a:p>
            <a:endParaRPr lang="en-US" sz="1400" dirty="0"/>
          </a:p>
          <a:p>
            <a:r>
              <a:rPr lang="en-US" sz="1400" b="1" dirty="0"/>
              <a:t>Sum (3–7)</a:t>
            </a:r>
          </a:p>
          <a:p>
            <a:endParaRPr lang="en-US" sz="1400" dirty="0"/>
          </a:p>
          <a:p>
            <a:r>
              <a:rPr lang="en-US" sz="1400" dirty="0"/>
              <a:t>Values = 5+8+8+3+3 = 27</a:t>
            </a:r>
          </a:p>
          <a:p>
            <a:r>
              <a:rPr lang="en-US" sz="1400" dirty="0" smtClean="0"/>
              <a:t>Output</a:t>
            </a:r>
            <a:r>
              <a:rPr lang="en-US" sz="1400" dirty="0"/>
              <a:t>: Sum (3-7): 27</a:t>
            </a:r>
          </a:p>
          <a:p>
            <a:endParaRPr lang="en-US" sz="1400" dirty="0"/>
          </a:p>
          <a:p>
            <a:r>
              <a:rPr lang="en-US" sz="1400" b="1" dirty="0"/>
              <a:t>Sum (6–10)</a:t>
            </a:r>
          </a:p>
          <a:p>
            <a:endParaRPr lang="en-US" sz="1400" dirty="0"/>
          </a:p>
          <a:p>
            <a:r>
              <a:rPr lang="en-US" sz="1400" dirty="0"/>
              <a:t>Values = 8+3+3+0+0 = 14</a:t>
            </a:r>
          </a:p>
          <a:p>
            <a:r>
              <a:rPr lang="en-US" sz="1400" dirty="0" smtClean="0"/>
              <a:t>Output</a:t>
            </a:r>
            <a:r>
              <a:rPr lang="en-US" sz="1400" dirty="0"/>
              <a:t>: Sum (6-10): </a:t>
            </a:r>
            <a:r>
              <a:rPr lang="en-US" sz="1400" dirty="0" smtClean="0"/>
              <a:t>14</a:t>
            </a:r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dirty="0" smtClean="0"/>
              <a:t>bit1 </a:t>
            </a:r>
            <a:r>
              <a:rPr lang="en-US" sz="1400" dirty="0"/>
              <a:t>tracks where updates start and stop.</a:t>
            </a:r>
          </a:p>
          <a:p>
            <a:r>
              <a:rPr lang="en-US" sz="1400" dirty="0" smtClean="0"/>
              <a:t>bit2 </a:t>
            </a:r>
            <a:r>
              <a:rPr lang="en-US" sz="1400" dirty="0"/>
              <a:t>stores correction factors so that when you query, you get the right totals.</a:t>
            </a:r>
          </a:p>
          <a:p>
            <a:endParaRPr lang="en-US" sz="1400" dirty="0"/>
          </a:p>
          <a:p>
            <a:r>
              <a:rPr lang="en-US" sz="1400" dirty="0"/>
              <a:t>Together, they allow both range updates and range queries in O(log n) time.</a:t>
            </a:r>
            <a:endParaRPr lang="en-US" sz="1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690" y="3009573"/>
            <a:ext cx="1314633" cy="76210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31439" y="2629337"/>
            <a:ext cx="8611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387914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601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</a:t>
            </a:r>
            <a:r>
              <a:rPr lang="en-US" b="1" dirty="0" smtClean="0">
                <a:solidFill>
                  <a:srgbClr val="FF0000"/>
                </a:solidFill>
              </a:rPr>
              <a:t>Range </a:t>
            </a:r>
            <a:r>
              <a:rPr lang="en-US" b="1" dirty="0">
                <a:solidFill>
                  <a:srgbClr val="FF0000"/>
                </a:solidFill>
              </a:rPr>
              <a:t>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400" b="1" dirty="0"/>
              <a:t>Class: </a:t>
            </a:r>
            <a:r>
              <a:rPr lang="en-US" sz="1400" b="1" dirty="0" smtClean="0"/>
              <a:t>FenwickTree2</a:t>
            </a:r>
          </a:p>
          <a:p>
            <a:endParaRPr lang="en-US" sz="1400" dirty="0"/>
          </a:p>
          <a:p>
            <a:r>
              <a:rPr lang="en-US" sz="1400" dirty="0"/>
              <a:t>This class defines a Fenwick Tree structure that can handle range updates and range queries.</a:t>
            </a:r>
          </a:p>
          <a:p>
            <a:r>
              <a:rPr lang="en-US" sz="1400" dirty="0" smtClean="0"/>
              <a:t>It </a:t>
            </a:r>
            <a:r>
              <a:rPr lang="en-US" sz="1400" dirty="0"/>
              <a:t>has two internal arrays: bit1 and bit2.</a:t>
            </a:r>
          </a:p>
          <a:p>
            <a:r>
              <a:rPr lang="en-US" sz="1400" dirty="0" smtClean="0"/>
              <a:t>These </a:t>
            </a:r>
            <a:r>
              <a:rPr lang="en-US" sz="1400" dirty="0"/>
              <a:t>two arrays work together to make sure both updates and queries are correct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b="1" dirty="0"/>
              <a:t>Methods</a:t>
            </a:r>
          </a:p>
          <a:p>
            <a:endParaRPr lang="en-US" sz="1400" dirty="0"/>
          </a:p>
          <a:p>
            <a:r>
              <a:rPr lang="en-US" sz="1400" b="1" dirty="0" smtClean="0"/>
              <a:t>update(bit, </a:t>
            </a:r>
            <a:r>
              <a:rPr lang="en-US" sz="1400" b="1" dirty="0" err="1" smtClean="0"/>
              <a:t>i</a:t>
            </a:r>
            <a:r>
              <a:rPr lang="en-US" sz="1400" b="1" dirty="0" smtClean="0"/>
              <a:t>, </a:t>
            </a:r>
            <a:r>
              <a:rPr lang="en-US" sz="1400" b="1" dirty="0" err="1" smtClean="0"/>
              <a:t>val</a:t>
            </a:r>
            <a:r>
              <a:rPr lang="en-US" sz="1400" b="1" dirty="0" smtClean="0"/>
              <a:t>)</a:t>
            </a:r>
          </a:p>
          <a:p>
            <a:endParaRPr lang="en-US" sz="1400" dirty="0" smtClean="0"/>
          </a:p>
          <a:p>
            <a:r>
              <a:rPr lang="en-US" sz="1400" dirty="0" smtClean="0"/>
              <a:t>Internal </a:t>
            </a:r>
            <a:r>
              <a:rPr lang="en-US" sz="1400" dirty="0"/>
              <a:t>helper that adds </a:t>
            </a:r>
            <a:r>
              <a:rPr lang="en-US" sz="1400" dirty="0" err="1"/>
              <a:t>val</a:t>
            </a:r>
            <a:r>
              <a:rPr lang="en-US" sz="1400" dirty="0"/>
              <a:t> at position </a:t>
            </a:r>
            <a:r>
              <a:rPr lang="en-US" sz="1400" dirty="0" err="1"/>
              <a:t>i</a:t>
            </a:r>
            <a:r>
              <a:rPr lang="en-US" sz="1400" dirty="0"/>
              <a:t> in the chosen BIT array.</a:t>
            </a:r>
          </a:p>
          <a:p>
            <a:r>
              <a:rPr lang="en-US" sz="1400" dirty="0" smtClean="0"/>
              <a:t>It </a:t>
            </a:r>
            <a:r>
              <a:rPr lang="en-US" sz="1400" dirty="0"/>
              <a:t>propagates changes to higher indices so grouped totals stay correct.</a:t>
            </a:r>
          </a:p>
          <a:p>
            <a:endParaRPr lang="en-US" sz="1400" dirty="0"/>
          </a:p>
          <a:p>
            <a:r>
              <a:rPr lang="en-US" sz="1400" b="1" dirty="0"/>
              <a:t>query(bit, </a:t>
            </a:r>
            <a:r>
              <a:rPr lang="en-US" sz="1400" b="1" dirty="0" err="1"/>
              <a:t>i</a:t>
            </a:r>
            <a:r>
              <a:rPr lang="en-US" sz="1400" b="1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Internal helper that calculates the prefix sum up to index </a:t>
            </a:r>
            <a:r>
              <a:rPr lang="en-US" sz="1400" dirty="0" err="1"/>
              <a:t>i</a:t>
            </a:r>
            <a:r>
              <a:rPr lang="en-US" sz="1400" dirty="0"/>
              <a:t> from the chosen BIT array.</a:t>
            </a:r>
          </a:p>
          <a:p>
            <a:r>
              <a:rPr lang="en-US" sz="1400" dirty="0" smtClean="0"/>
              <a:t>Used </a:t>
            </a:r>
            <a:r>
              <a:rPr lang="en-US" sz="1400" dirty="0"/>
              <a:t>to build the final prefix sums.</a:t>
            </a:r>
          </a:p>
          <a:p>
            <a:endParaRPr lang="en-US" sz="1400" dirty="0"/>
          </a:p>
          <a:p>
            <a:r>
              <a:rPr lang="en-US" sz="1400" b="1" dirty="0" err="1"/>
              <a:t>rangeUpdate</a:t>
            </a:r>
            <a:r>
              <a:rPr lang="en-US" sz="1400" b="1" dirty="0"/>
              <a:t>(l, r, </a:t>
            </a:r>
            <a:r>
              <a:rPr lang="en-US" sz="1400" b="1" dirty="0" err="1"/>
              <a:t>val</a:t>
            </a:r>
            <a:r>
              <a:rPr lang="en-US" sz="1400" b="1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Adds </a:t>
            </a:r>
            <a:r>
              <a:rPr lang="en-US" sz="1400" dirty="0" err="1"/>
              <a:t>val</a:t>
            </a:r>
            <a:r>
              <a:rPr lang="en-US" sz="1400" dirty="0"/>
              <a:t> to every element between indices l and r.</a:t>
            </a:r>
          </a:p>
          <a:p>
            <a:r>
              <a:rPr lang="en-US" sz="1400" dirty="0" smtClean="0"/>
              <a:t>It </a:t>
            </a:r>
            <a:r>
              <a:rPr lang="en-US" sz="1400" dirty="0"/>
              <a:t>updates both bit1 and bit2 using a clever trick so that later queries reflect the change.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6036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</a:t>
            </a:r>
            <a:r>
              <a:rPr lang="en-US" b="1" dirty="0" smtClean="0">
                <a:solidFill>
                  <a:srgbClr val="FF0000"/>
                </a:solidFill>
              </a:rPr>
              <a:t>Range </a:t>
            </a:r>
            <a:r>
              <a:rPr lang="en-US" b="1" dirty="0">
                <a:solidFill>
                  <a:srgbClr val="FF0000"/>
                </a:solidFill>
              </a:rPr>
              <a:t>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400" b="1" dirty="0" smtClean="0"/>
              <a:t>Methods</a:t>
            </a:r>
            <a:endParaRPr lang="en-US" sz="1400" b="1" dirty="0"/>
          </a:p>
          <a:p>
            <a:endParaRPr lang="en-US" sz="1400" dirty="0"/>
          </a:p>
          <a:p>
            <a:r>
              <a:rPr lang="en-US" sz="1400" b="1" dirty="0" err="1"/>
              <a:t>prefixSum</a:t>
            </a:r>
            <a:r>
              <a:rPr lang="en-US" sz="1400" b="1" dirty="0"/>
              <a:t>(</a:t>
            </a:r>
            <a:r>
              <a:rPr lang="en-US" sz="1400" b="1" dirty="0" err="1"/>
              <a:t>i</a:t>
            </a:r>
            <a:r>
              <a:rPr lang="en-US" sz="1400" b="1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Calculates the sum of elements from index 1 up to </a:t>
            </a:r>
            <a:r>
              <a:rPr lang="en-US" sz="1400" dirty="0" err="1"/>
              <a:t>i</a:t>
            </a:r>
            <a:r>
              <a:rPr lang="en-US" sz="1400" dirty="0"/>
              <a:t>.</a:t>
            </a:r>
          </a:p>
          <a:p>
            <a:r>
              <a:rPr lang="en-US" sz="1400" dirty="0" smtClean="0"/>
              <a:t>Uses </a:t>
            </a:r>
            <a:r>
              <a:rPr lang="en-US" sz="1400" dirty="0"/>
              <a:t>both BIT arrays together: query(bit1,i)*</a:t>
            </a:r>
            <a:r>
              <a:rPr lang="en-US" sz="1400" dirty="0" err="1"/>
              <a:t>i</a:t>
            </a:r>
            <a:r>
              <a:rPr lang="en-US" sz="1400" dirty="0"/>
              <a:t> - query(bit2,i).</a:t>
            </a:r>
          </a:p>
          <a:p>
            <a:endParaRPr lang="en-US" sz="1400" dirty="0"/>
          </a:p>
          <a:p>
            <a:r>
              <a:rPr lang="en-US" sz="1400" b="1" dirty="0" err="1"/>
              <a:t>rangeQuery</a:t>
            </a:r>
            <a:r>
              <a:rPr lang="en-US" sz="1400" b="1" dirty="0"/>
              <a:t>(l, r)</a:t>
            </a:r>
          </a:p>
          <a:p>
            <a:endParaRPr lang="en-US" sz="1400" dirty="0"/>
          </a:p>
          <a:p>
            <a:r>
              <a:rPr lang="en-US" sz="1400" dirty="0"/>
              <a:t>Calculates the sum of elements between indices l and r.</a:t>
            </a:r>
          </a:p>
          <a:p>
            <a:r>
              <a:rPr lang="en-US" sz="1400" dirty="0" smtClean="0"/>
              <a:t>Formula</a:t>
            </a:r>
            <a:r>
              <a:rPr lang="en-US" sz="1400" dirty="0"/>
              <a:t>: </a:t>
            </a:r>
            <a:r>
              <a:rPr lang="en-US" sz="1400" dirty="0" err="1"/>
              <a:t>prefixSum</a:t>
            </a:r>
            <a:r>
              <a:rPr lang="en-US" sz="1400" dirty="0"/>
              <a:t>(r) - </a:t>
            </a:r>
            <a:r>
              <a:rPr lang="en-US" sz="1400" dirty="0" err="1"/>
              <a:t>prefixSum</a:t>
            </a:r>
            <a:r>
              <a:rPr lang="en-US" sz="1400" dirty="0"/>
              <a:t>(l-1).</a:t>
            </a:r>
          </a:p>
        </p:txBody>
      </p:sp>
    </p:spTree>
    <p:extLst>
      <p:ext uri="{BB962C8B-B14F-4D97-AF65-F5344CB8AC3E}">
        <p14:creationId xmlns:p14="http://schemas.microsoft.com/office/powerpoint/2010/main" val="144224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Update Types - Range Update + </a:t>
            </a:r>
            <a:r>
              <a:rPr lang="en-US" b="1" dirty="0" smtClean="0">
                <a:solidFill>
                  <a:srgbClr val="FF0000"/>
                </a:solidFill>
              </a:rPr>
              <a:t>Range </a:t>
            </a:r>
            <a:r>
              <a:rPr lang="en-US" b="1" dirty="0">
                <a:solidFill>
                  <a:srgbClr val="FF0000"/>
                </a:solidFill>
              </a:rPr>
              <a:t>Query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400" b="1" dirty="0"/>
              <a:t>Main </a:t>
            </a:r>
            <a:r>
              <a:rPr lang="en-US" sz="1400" b="1" dirty="0" smtClean="0"/>
              <a:t>Method</a:t>
            </a:r>
          </a:p>
          <a:p>
            <a:endParaRPr lang="en-US" sz="1400" b="1" dirty="0"/>
          </a:p>
          <a:p>
            <a:r>
              <a:rPr lang="en-US" sz="1400" b="1" dirty="0"/>
              <a:t>This is where the program runs:</a:t>
            </a:r>
          </a:p>
          <a:p>
            <a:endParaRPr lang="en-US" sz="1400" b="1" dirty="0"/>
          </a:p>
          <a:p>
            <a:r>
              <a:rPr lang="en-US" sz="1400" dirty="0"/>
              <a:t>Creates a Fenwick Tree of size 10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b="1" dirty="0" smtClean="0"/>
              <a:t>Performs </a:t>
            </a:r>
            <a:r>
              <a:rPr lang="en-US" sz="1400" b="1" dirty="0"/>
              <a:t>two range updates: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Add </a:t>
            </a:r>
            <a:r>
              <a:rPr lang="en-US" sz="1400" dirty="0"/>
              <a:t>5 to indices [2..6].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Add </a:t>
            </a:r>
            <a:r>
              <a:rPr lang="en-US" sz="1400" dirty="0"/>
              <a:t>3 to indices [4..8].</a:t>
            </a:r>
          </a:p>
          <a:p>
            <a:endParaRPr lang="en-US" sz="1400" dirty="0"/>
          </a:p>
          <a:p>
            <a:r>
              <a:rPr lang="en-US" sz="1400" b="1" dirty="0"/>
              <a:t>Runs three range queries: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Sum </a:t>
            </a:r>
            <a:r>
              <a:rPr lang="en-US" sz="1400" dirty="0"/>
              <a:t>of indices [1..5] → 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Sum </a:t>
            </a:r>
            <a:r>
              <a:rPr lang="en-US" sz="1400" dirty="0"/>
              <a:t>of indices [3..7] → 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Sum </a:t>
            </a:r>
            <a:r>
              <a:rPr lang="en-US" sz="1400" dirty="0"/>
              <a:t>of indices [6..10] → 14</a:t>
            </a:r>
          </a:p>
          <a:p>
            <a:endParaRPr lang="en-US" sz="1400" dirty="0"/>
          </a:p>
          <a:p>
            <a:r>
              <a:rPr lang="en-US" sz="1400" dirty="0"/>
              <a:t>Prints these results.</a:t>
            </a:r>
          </a:p>
        </p:txBody>
      </p:sp>
    </p:spTree>
    <p:extLst>
      <p:ext uri="{BB962C8B-B14F-4D97-AF65-F5344CB8AC3E}">
        <p14:creationId xmlns:p14="http://schemas.microsoft.com/office/powerpoint/2010/main" val="231918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Variants – 2D Fenwick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US" sz="1400" b="1" dirty="0"/>
              <a:t>What is a 2D Fenwick Tree</a:t>
            </a:r>
            <a:r>
              <a:rPr lang="en-US" sz="1400" b="1" dirty="0" smtClean="0"/>
              <a:t>?</a:t>
            </a:r>
          </a:p>
          <a:p>
            <a:endParaRPr lang="en-US" sz="1400" b="1" dirty="0"/>
          </a:p>
          <a:p>
            <a:r>
              <a:rPr lang="en-US" sz="1400" dirty="0"/>
              <a:t>A normal Fenwick Tree works on a 1D array: it supports fast updates and queries on ranges of numbers.</a:t>
            </a:r>
          </a:p>
          <a:p>
            <a:r>
              <a:rPr lang="en-US" sz="1400" dirty="0" smtClean="0"/>
              <a:t>A </a:t>
            </a:r>
            <a:r>
              <a:rPr lang="en-US" sz="1400" dirty="0"/>
              <a:t>2D Fenwick Tree extends this idea to a grid (matrix).</a:t>
            </a:r>
          </a:p>
          <a:p>
            <a:endParaRPr lang="en-US" sz="1400" dirty="0"/>
          </a:p>
          <a:p>
            <a:r>
              <a:rPr lang="en-US" sz="1400" dirty="0"/>
              <a:t>It allows you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Update </a:t>
            </a:r>
            <a:r>
              <a:rPr lang="en-US" sz="1400" dirty="0"/>
              <a:t>a single cell in the matrix.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Query </a:t>
            </a:r>
            <a:r>
              <a:rPr lang="en-US" sz="1400" dirty="0"/>
              <a:t>the sum of values inside a rectangular sub‑matrix.</a:t>
            </a:r>
          </a:p>
          <a:p>
            <a:endParaRPr lang="en-US" sz="1400" dirty="0"/>
          </a:p>
          <a:p>
            <a:r>
              <a:rPr lang="en-US" sz="1400" dirty="0"/>
              <a:t>So instead of working with a line of numbers, it works with a table of numbers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b="1" dirty="0"/>
              <a:t>How It </a:t>
            </a:r>
            <a:r>
              <a:rPr lang="en-US" sz="1400" b="1" dirty="0" smtClean="0"/>
              <a:t>Works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structure is a 2D array bit[x][y].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Each </a:t>
            </a:r>
            <a:r>
              <a:rPr lang="en-US" sz="1400" dirty="0"/>
              <a:t>cell in the BIT stores the sum of a block of the original matrix.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The </a:t>
            </a:r>
            <a:r>
              <a:rPr lang="en-US" sz="1400" dirty="0"/>
              <a:t>block size is determined by the binary representation of the indices (just like in 1D BIT, but now in two dimensions).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164080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Variants – 2D Fenwick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US" sz="1400" b="1" dirty="0" smtClean="0"/>
              <a:t>Operations</a:t>
            </a:r>
          </a:p>
          <a:p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Point Update (</a:t>
            </a:r>
            <a:r>
              <a:rPr lang="en-US" sz="1400" b="1" dirty="0" err="1"/>
              <a:t>x,y,val</a:t>
            </a:r>
            <a:r>
              <a:rPr lang="en-US" sz="1400" b="1" dirty="0"/>
              <a:t>)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 </a:t>
            </a:r>
            <a:r>
              <a:rPr lang="en-US" sz="1400" dirty="0" err="1"/>
              <a:t>val</a:t>
            </a:r>
            <a:r>
              <a:rPr lang="en-US" sz="1400" dirty="0"/>
              <a:t> to cell (</a:t>
            </a:r>
            <a:r>
              <a:rPr lang="en-US" sz="1400" dirty="0" err="1"/>
              <a:t>x,y</a:t>
            </a:r>
            <a:r>
              <a:rPr lang="en-US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Propagate </a:t>
            </a:r>
            <a:r>
              <a:rPr lang="en-US" sz="1400" dirty="0"/>
              <a:t>the change to all BIT cells that cover (</a:t>
            </a:r>
            <a:r>
              <a:rPr lang="en-US" sz="1400" dirty="0" err="1"/>
              <a:t>x,y</a:t>
            </a:r>
            <a:r>
              <a:rPr lang="en-US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Complexity</a:t>
            </a:r>
            <a:r>
              <a:rPr lang="en-US" sz="1400" dirty="0"/>
              <a:t>: O(log n * log m).</a:t>
            </a:r>
          </a:p>
          <a:p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Prefix Sum Query (</a:t>
            </a:r>
            <a:r>
              <a:rPr lang="en-US" sz="1400" b="1" dirty="0" err="1"/>
              <a:t>x,y</a:t>
            </a:r>
            <a:r>
              <a:rPr lang="en-US" sz="1400" b="1" dirty="0"/>
              <a:t>)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Get the sum of all cells in the rectangle (1,1) to (</a:t>
            </a:r>
            <a:r>
              <a:rPr lang="en-US" sz="1400" dirty="0" err="1"/>
              <a:t>x,y</a:t>
            </a:r>
            <a:r>
              <a:rPr lang="en-US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Complexity</a:t>
            </a:r>
            <a:r>
              <a:rPr lang="en-US" sz="1400" dirty="0"/>
              <a:t>: O(log n * log m).</a:t>
            </a:r>
          </a:p>
          <a:p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Range Sum Query (x1,y1,x2,y2)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 </a:t>
            </a:r>
            <a:r>
              <a:rPr lang="en-US" sz="1400" dirty="0"/>
              <a:t>inclusion–exclusion with prefix sums:</a:t>
            </a:r>
            <a:endParaRPr lang="en-US" sz="1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17" y="4411373"/>
            <a:ext cx="1819529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4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Variants – 2D Fenwick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US" sz="1400" b="1" dirty="0"/>
              <a:t>Example</a:t>
            </a:r>
          </a:p>
          <a:p>
            <a:r>
              <a:rPr lang="en-US" sz="1400" dirty="0"/>
              <a:t>Suppose we have a 4×4 matrix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dirty="0"/>
              <a:t>If we update cell (2,3) by +2, the BIT updates all blocks that include (2,3).</a:t>
            </a:r>
          </a:p>
          <a:p>
            <a:r>
              <a:rPr lang="en-US" sz="1400" dirty="0" smtClean="0"/>
              <a:t>If </a:t>
            </a:r>
            <a:r>
              <a:rPr lang="en-US" sz="1400" dirty="0"/>
              <a:t>we query the sum of rectangle (2,2) to (3,3), the answer is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r>
              <a:rPr lang="en-US" sz="1400" b="1" dirty="0"/>
              <a:t>Why Use It?</a:t>
            </a:r>
          </a:p>
          <a:p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Useful </a:t>
            </a:r>
            <a:r>
              <a:rPr lang="en-US" sz="1400" dirty="0"/>
              <a:t>in problems involving 2D grids (like images, maps, or game boards).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Much </a:t>
            </a:r>
            <a:r>
              <a:rPr lang="en-US" sz="1400" dirty="0"/>
              <a:t>faster than recalculating sums directly.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Common </a:t>
            </a:r>
            <a:r>
              <a:rPr lang="en-US" sz="1400" dirty="0"/>
              <a:t>in competitive programming and advanced algorithmic tasks.</a:t>
            </a:r>
          </a:p>
          <a:p>
            <a:endParaRPr lang="en-US" sz="1400" b="1" dirty="0" smtClean="0"/>
          </a:p>
          <a:p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 </a:t>
            </a:r>
            <a:r>
              <a:rPr lang="en-US" sz="1400" dirty="0"/>
              <a:t>2D Fenwick Tree is the 2D extension of the BIT.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It </a:t>
            </a:r>
            <a:r>
              <a:rPr lang="en-US" sz="1400" dirty="0"/>
              <a:t>supports point updates and range queries on rectangles in O(log n * log m)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It’s </a:t>
            </a:r>
            <a:r>
              <a:rPr lang="en-US" sz="1400" dirty="0"/>
              <a:t>efficient for matrix problems where you need to frequently update cells and query sub‑matrix sums.</a:t>
            </a:r>
            <a:endParaRPr lang="en-US" sz="14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26" y="1572770"/>
            <a:ext cx="838317" cy="9526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456" y="2941733"/>
            <a:ext cx="1143160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98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Variants – 2D Fenwick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sz="1400" b="1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35" y="939337"/>
            <a:ext cx="4734586" cy="584302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056" y="939337"/>
            <a:ext cx="4982270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Variants – 2D Fenwick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sz="1400" b="1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9" y="1003811"/>
            <a:ext cx="5229955" cy="28007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507" y="1423533"/>
            <a:ext cx="4829849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Variants – 2D Fenwick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US" sz="1400" b="1" dirty="0"/>
              <a:t>Class: </a:t>
            </a:r>
            <a:r>
              <a:rPr lang="en-US" sz="1400" b="1" dirty="0" smtClean="0"/>
              <a:t>Fenwick2D</a:t>
            </a:r>
          </a:p>
          <a:p>
            <a:endParaRPr lang="en-US" sz="1400" b="1" dirty="0"/>
          </a:p>
          <a:p>
            <a:r>
              <a:rPr lang="en-US" sz="1400" dirty="0"/>
              <a:t>This class defines a 2D Fenwick Tree (Binary Indexed Tree) that works on a grid (matrix).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bit → a 2D array storing partial sums.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update(</a:t>
            </a:r>
            <a:r>
              <a:rPr lang="en-US" sz="1400" dirty="0" err="1" smtClean="0"/>
              <a:t>x,y,val</a:t>
            </a:r>
            <a:r>
              <a:rPr lang="en-US" sz="1400" dirty="0"/>
              <a:t>) → adds a value to cell (</a:t>
            </a:r>
            <a:r>
              <a:rPr lang="en-US" sz="1400" dirty="0" err="1"/>
              <a:t>x,y</a:t>
            </a:r>
            <a:r>
              <a:rPr lang="en-US" sz="1400" dirty="0"/>
              <a:t>) and propagates it to all relevant blocks.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query(</a:t>
            </a:r>
            <a:r>
              <a:rPr lang="en-US" sz="1400" dirty="0" err="1" smtClean="0"/>
              <a:t>x,y</a:t>
            </a:r>
            <a:r>
              <a:rPr lang="en-US" sz="1400" dirty="0"/>
              <a:t>) → gives the sum of the rectangle from (1,1) to (</a:t>
            </a:r>
            <a:r>
              <a:rPr lang="en-US" sz="1400" dirty="0" err="1"/>
              <a:t>x,y</a:t>
            </a:r>
            <a:r>
              <a:rPr lang="en-US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rangeQuery</a:t>
            </a:r>
            <a:r>
              <a:rPr lang="en-US" sz="1400" dirty="0" smtClean="0"/>
              <a:t>(x1,y1,x2,y2</a:t>
            </a:r>
            <a:r>
              <a:rPr lang="en-US" sz="1400" dirty="0"/>
              <a:t>) → gives the sum of any rectangular sub‑matrix using inclusion–exclusion</a:t>
            </a:r>
            <a:r>
              <a:rPr lang="en-US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smtClean="0"/>
              <a:t>Step </a:t>
            </a:r>
            <a:r>
              <a:rPr lang="en-US" sz="1400" b="1" dirty="0"/>
              <a:t>1: Input Matrix</a:t>
            </a:r>
          </a:p>
          <a:p>
            <a:r>
              <a:rPr lang="en-US" sz="1400" dirty="0"/>
              <a:t>The program starts with a 4×4 matrix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78" y="3549281"/>
            <a:ext cx="1276528" cy="9145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717" y="3430202"/>
            <a:ext cx="4210638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59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Variants – 2D Fenwick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US" sz="1400" b="1" dirty="0"/>
              <a:t>Step 2: Building the BIT</a:t>
            </a:r>
          </a:p>
          <a:p>
            <a:r>
              <a:rPr lang="en-US" sz="1400" dirty="0"/>
              <a:t>The program loops through each cell (</a:t>
            </a:r>
            <a:r>
              <a:rPr lang="en-US" sz="1400" dirty="0" err="1"/>
              <a:t>i,j</a:t>
            </a:r>
            <a:r>
              <a:rPr lang="en-US" sz="1400" dirty="0"/>
              <a:t>) and calls update(i+1,j+1,matrix[</a:t>
            </a:r>
            <a:r>
              <a:rPr lang="en-US" sz="1400" dirty="0" err="1"/>
              <a:t>i</a:t>
            </a:r>
            <a:r>
              <a:rPr lang="en-US" sz="1400" dirty="0"/>
              <a:t>][j]).</a:t>
            </a:r>
          </a:p>
          <a:p>
            <a:r>
              <a:rPr lang="en-US" sz="1400" dirty="0"/>
              <a:t>This fills the BIT with cumulative sums so queries can be answered quickly.</a:t>
            </a:r>
          </a:p>
          <a:p>
            <a:endParaRPr lang="en-US" sz="1400" dirty="0"/>
          </a:p>
          <a:p>
            <a:r>
              <a:rPr lang="en-US" sz="1400" b="1" dirty="0"/>
              <a:t>Step 3: </a:t>
            </a:r>
            <a:r>
              <a:rPr lang="en-US" sz="1400" b="1" dirty="0" smtClean="0"/>
              <a:t>Queries</a:t>
            </a:r>
          </a:p>
          <a:p>
            <a:endParaRPr lang="en-US" sz="1400" b="1" dirty="0"/>
          </a:p>
          <a:p>
            <a:r>
              <a:rPr lang="en-US" sz="1400" b="1" dirty="0"/>
              <a:t>Sum (1,1)–(2,2)</a:t>
            </a:r>
            <a:r>
              <a:rPr lang="en-US" sz="1400" dirty="0"/>
              <a:t> Sub‑matrix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b="1" dirty="0"/>
              <a:t>Sum</a:t>
            </a:r>
            <a:r>
              <a:rPr lang="en-US" sz="1400" dirty="0"/>
              <a:t> = 1+2+5+6 = </a:t>
            </a:r>
            <a:r>
              <a:rPr lang="en-US" sz="1400" b="1" dirty="0"/>
              <a:t>14  </a:t>
            </a:r>
          </a:p>
          <a:p>
            <a:r>
              <a:rPr lang="en-US" sz="1400" b="1" dirty="0"/>
              <a:t>Output: </a:t>
            </a:r>
            <a:r>
              <a:rPr lang="en-US" sz="1400" dirty="0"/>
              <a:t>Sum (1,1)-(2,2): </a:t>
            </a:r>
            <a:r>
              <a:rPr lang="en-US" sz="1400" b="1" dirty="0" smtClean="0"/>
              <a:t>14</a:t>
            </a:r>
          </a:p>
          <a:p>
            <a:endParaRPr lang="en-US" sz="1400" b="1" dirty="0"/>
          </a:p>
          <a:p>
            <a:endParaRPr lang="en-US" sz="1400" b="1" dirty="0" smtClean="0"/>
          </a:p>
          <a:p>
            <a:r>
              <a:rPr lang="en-US" sz="1400" b="1" dirty="0"/>
              <a:t>Sum (2,2)–(4,4)  </a:t>
            </a:r>
          </a:p>
          <a:p>
            <a:r>
              <a:rPr lang="en-US" sz="1400" b="1" dirty="0"/>
              <a:t>Sub‑matrix: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b="1" dirty="0"/>
              <a:t>Sum</a:t>
            </a:r>
            <a:r>
              <a:rPr lang="en-US" sz="1400" dirty="0"/>
              <a:t> = 6+7+8+10+11+12+14+15+16 = 99  </a:t>
            </a:r>
          </a:p>
          <a:p>
            <a:r>
              <a:rPr lang="en-US" sz="1400" b="1" dirty="0"/>
              <a:t>Output: </a:t>
            </a:r>
            <a:r>
              <a:rPr lang="en-US" sz="1400" dirty="0"/>
              <a:t>Sum (2,2)-(4,4): 99</a:t>
            </a:r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32" y="2630249"/>
            <a:ext cx="504895" cy="5334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90" y="4745048"/>
            <a:ext cx="971686" cy="6763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7819" y="2073898"/>
            <a:ext cx="1276528" cy="9145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448" y="1953985"/>
            <a:ext cx="4210638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44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Variants – 2D Fenwick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IN" sz="1400" b="1" dirty="0"/>
              <a:t>Step 4: </a:t>
            </a:r>
            <a:r>
              <a:rPr lang="en-IN" sz="1400" b="1" dirty="0" smtClean="0"/>
              <a:t>Update</a:t>
            </a:r>
          </a:p>
          <a:p>
            <a:r>
              <a:rPr lang="en-IN" sz="1400" dirty="0"/>
              <a:t>The program then does</a:t>
            </a:r>
            <a:r>
              <a:rPr lang="en-IN" sz="1400" dirty="0" smtClean="0"/>
              <a:t>:</a:t>
            </a:r>
          </a:p>
          <a:p>
            <a:endParaRPr lang="en-IN" sz="1400" b="1" dirty="0"/>
          </a:p>
          <a:p>
            <a:r>
              <a:rPr lang="en-IN" sz="1400" b="1" dirty="0" err="1"/>
              <a:t>ft.update</a:t>
            </a:r>
            <a:r>
              <a:rPr lang="en-IN" sz="1400" b="1" dirty="0"/>
              <a:t>(2,2,5</a:t>
            </a:r>
            <a:r>
              <a:rPr lang="en-IN" sz="1400" b="1" dirty="0" smtClean="0"/>
              <a:t>);</a:t>
            </a:r>
          </a:p>
          <a:p>
            <a:endParaRPr lang="en-IN" sz="1400" b="1" dirty="0"/>
          </a:p>
          <a:p>
            <a:r>
              <a:rPr lang="en-US" sz="1400" dirty="0"/>
              <a:t>This adds +5 to cell (2,2) (which originally had 6).</a:t>
            </a:r>
          </a:p>
          <a:p>
            <a:r>
              <a:rPr lang="en-US" sz="1400" dirty="0"/>
              <a:t>So the matrix becomes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b="1" dirty="0"/>
              <a:t>Step 5: Query After Update</a:t>
            </a:r>
          </a:p>
          <a:p>
            <a:r>
              <a:rPr lang="en-US" sz="1400" dirty="0"/>
              <a:t>Sum (1,1)–(2,2) again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b="1" dirty="0"/>
              <a:t>Sum</a:t>
            </a:r>
            <a:r>
              <a:rPr lang="en-US" sz="1400" dirty="0"/>
              <a:t> = 1+2+5+11 = 19  </a:t>
            </a:r>
          </a:p>
          <a:p>
            <a:r>
              <a:rPr lang="en-US" sz="1400" b="1" dirty="0" smtClean="0"/>
              <a:t>Output</a:t>
            </a:r>
            <a:r>
              <a:rPr lang="en-US" sz="1400" b="1" dirty="0"/>
              <a:t>: </a:t>
            </a:r>
            <a:r>
              <a:rPr lang="en-US" sz="1400" dirty="0"/>
              <a:t>After update (1,1)-(2,2): 19</a:t>
            </a:r>
            <a:endParaRPr lang="en-US" sz="1400" dirty="0" smtClean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IN" sz="1400" dirty="0"/>
          </a:p>
          <a:p>
            <a:endParaRPr lang="en-US" sz="1400" b="1" dirty="0" smtClean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62" y="2614289"/>
            <a:ext cx="1314633" cy="91452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88" y="4307575"/>
            <a:ext cx="571580" cy="50489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765" y="1575134"/>
            <a:ext cx="1276528" cy="91452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4826" y="1461603"/>
            <a:ext cx="4210638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Variants – 2D Fenwick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US" sz="1400" b="1" dirty="0"/>
              <a:t>Final </a:t>
            </a:r>
            <a:r>
              <a:rPr lang="en-US" sz="1400" b="1" dirty="0" smtClean="0"/>
              <a:t>Outputs</a:t>
            </a:r>
          </a:p>
          <a:p>
            <a:endParaRPr lang="en-US" sz="1400" b="1" dirty="0"/>
          </a:p>
          <a:p>
            <a:r>
              <a:rPr lang="en-US" sz="1400" b="1" dirty="0"/>
              <a:t>The program prints:</a:t>
            </a:r>
          </a:p>
          <a:p>
            <a:endParaRPr lang="en-US" sz="1400" b="1" dirty="0"/>
          </a:p>
          <a:p>
            <a:r>
              <a:rPr lang="en-US" sz="1400" dirty="0" smtClean="0"/>
              <a:t>Sum </a:t>
            </a:r>
            <a:r>
              <a:rPr lang="en-US" sz="1400" dirty="0"/>
              <a:t>(1,1)-(2,2): </a:t>
            </a:r>
            <a:r>
              <a:rPr lang="en-US" sz="1400" b="1" dirty="0"/>
              <a:t>14</a:t>
            </a:r>
          </a:p>
          <a:p>
            <a:r>
              <a:rPr lang="en-US" sz="1400" dirty="0"/>
              <a:t>Sum (2,2)-(4,4): </a:t>
            </a:r>
            <a:r>
              <a:rPr lang="en-US" sz="1400" b="1" dirty="0"/>
              <a:t>99</a:t>
            </a:r>
          </a:p>
          <a:p>
            <a:r>
              <a:rPr lang="en-US" sz="1400" dirty="0"/>
              <a:t>After update (1,1)-(2,2): </a:t>
            </a:r>
            <a:r>
              <a:rPr lang="en-US" sz="1400" b="1" dirty="0"/>
              <a:t>19</a:t>
            </a:r>
            <a:endParaRPr lang="en-US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218684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Binary Index Manipulation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US" sz="1400" dirty="0" smtClean="0"/>
              <a:t>Binary </a:t>
            </a:r>
            <a:r>
              <a:rPr lang="en-US" sz="1400" dirty="0"/>
              <a:t>index manipulation in a Fenwick Tree (BIT) is the key trick that makes updates and queries efficient: it uses the lowest set bit (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) of an index to decide how far to move in the tree. This determines parent–child relationships and which ranges each node covers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Fenwick Tree is stored in an array, but it represents a tree implicitly.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Each </a:t>
            </a:r>
            <a:r>
              <a:rPr lang="en-US" sz="1400" dirty="0"/>
              <a:t>index </a:t>
            </a:r>
            <a:r>
              <a:rPr lang="en-US" sz="1400" dirty="0" err="1"/>
              <a:t>i</a:t>
            </a:r>
            <a:r>
              <a:rPr lang="en-US" sz="1400" dirty="0"/>
              <a:t> in the BIT array stores the sum of a range of elements in the original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The </a:t>
            </a:r>
            <a:r>
              <a:rPr lang="en-US" sz="1400" dirty="0"/>
              <a:t>range size is determined by the rightmost set bit of </a:t>
            </a:r>
            <a:r>
              <a:rPr lang="en-US" sz="1400" dirty="0" err="1"/>
              <a:t>i</a:t>
            </a:r>
            <a:r>
              <a:rPr lang="en-US" sz="1400" dirty="0"/>
              <a:t> (binary index manipulation).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400914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Binary Index Manipulation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US" sz="1400" b="1" dirty="0"/>
              <a:t>Binary Index Manipulation </a:t>
            </a:r>
            <a:r>
              <a:rPr lang="en-US" sz="1400" b="1" dirty="0" smtClean="0"/>
              <a:t>Rules</a:t>
            </a:r>
          </a:p>
          <a:p>
            <a:endParaRPr lang="en-US" sz="1400" b="1" dirty="0"/>
          </a:p>
          <a:p>
            <a:r>
              <a:rPr lang="en-US" sz="1400" b="1" dirty="0"/>
              <a:t>Lowest Set Bit (LSB)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Formula</a:t>
            </a:r>
            <a:r>
              <a:rPr lang="en-US" sz="1400" dirty="0"/>
              <a:t>: 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Meaning</a:t>
            </a:r>
            <a:r>
              <a:rPr lang="en-US" sz="1400" dirty="0"/>
              <a:t>: the value of the rightmost 1 in the binary representation of </a:t>
            </a:r>
            <a:r>
              <a:rPr lang="en-US" sz="1400" dirty="0" err="1"/>
              <a:t>i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Example</a:t>
            </a:r>
            <a:r>
              <a:rPr lang="en-US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i</a:t>
            </a:r>
            <a:r>
              <a:rPr lang="en-US" sz="1400" dirty="0" smtClean="0"/>
              <a:t> </a:t>
            </a:r>
            <a:r>
              <a:rPr lang="en-US" sz="1400" dirty="0"/>
              <a:t>= 6 (binary 110) → 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 =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i</a:t>
            </a:r>
            <a:r>
              <a:rPr lang="en-US" sz="1400" dirty="0" smtClean="0"/>
              <a:t> </a:t>
            </a:r>
            <a:r>
              <a:rPr lang="en-US" sz="1400" dirty="0"/>
              <a:t>= 12 (binary 1100) → 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 = 4</a:t>
            </a:r>
          </a:p>
          <a:p>
            <a:endParaRPr lang="en-US" sz="1400" dirty="0"/>
          </a:p>
          <a:p>
            <a:r>
              <a:rPr lang="en-US" sz="1400" b="1" dirty="0"/>
              <a:t>Update Operation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When updating index </a:t>
            </a:r>
            <a:r>
              <a:rPr lang="en-US" sz="1400" dirty="0" err="1"/>
              <a:t>i</a:t>
            </a:r>
            <a:r>
              <a:rPr lang="en-US" sz="1400" dirty="0"/>
              <a:t>, you add the value to BIT[</a:t>
            </a:r>
            <a:r>
              <a:rPr lang="en-US" sz="1400" dirty="0" err="1"/>
              <a:t>i</a:t>
            </a:r>
            <a:r>
              <a:rPr lang="en-US" sz="1400" dirty="0"/>
              <a:t>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Then </a:t>
            </a:r>
            <a:r>
              <a:rPr lang="en-US" sz="1400" dirty="0"/>
              <a:t>move to the next responsible node: </a:t>
            </a:r>
            <a:r>
              <a:rPr lang="en-US" sz="1400" dirty="0" err="1"/>
              <a:t>i</a:t>
            </a:r>
            <a:r>
              <a:rPr lang="en-US" sz="1400" dirty="0"/>
              <a:t> += (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This </a:t>
            </a:r>
            <a:r>
              <a:rPr lang="en-US" sz="1400" dirty="0"/>
              <a:t>jumps to the parent node that covers a larger range.</a:t>
            </a:r>
          </a:p>
          <a:p>
            <a:endParaRPr lang="en-US" sz="1400" dirty="0"/>
          </a:p>
          <a:p>
            <a:r>
              <a:rPr lang="en-US" sz="1400" b="1" dirty="0"/>
              <a:t>Query Operation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When querying prefix sum up to </a:t>
            </a:r>
            <a:r>
              <a:rPr lang="en-US" sz="1400" dirty="0" err="1"/>
              <a:t>i</a:t>
            </a:r>
            <a:r>
              <a:rPr lang="en-US" sz="1400" dirty="0"/>
              <a:t>, you add BIT[</a:t>
            </a:r>
            <a:r>
              <a:rPr lang="en-US" sz="1400" dirty="0" err="1"/>
              <a:t>i</a:t>
            </a:r>
            <a:r>
              <a:rPr lang="en-US" sz="1400" dirty="0"/>
              <a:t>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Then </a:t>
            </a:r>
            <a:r>
              <a:rPr lang="en-US" sz="1400" dirty="0"/>
              <a:t>move to the parent node: </a:t>
            </a:r>
            <a:r>
              <a:rPr lang="en-US" sz="1400" dirty="0" err="1"/>
              <a:t>i</a:t>
            </a:r>
            <a:r>
              <a:rPr lang="en-US" sz="1400" dirty="0"/>
              <a:t> -= (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This </a:t>
            </a:r>
            <a:r>
              <a:rPr lang="en-US" sz="1400" dirty="0"/>
              <a:t>jumps backwards to smaller ranges until you reach 0.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3814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Binary Index Manipulation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US" sz="1400" b="1" dirty="0"/>
              <a:t>Binary Index Manipulation </a:t>
            </a:r>
            <a:r>
              <a:rPr lang="en-US" sz="1400" b="1" dirty="0" smtClean="0"/>
              <a:t>Rules</a:t>
            </a:r>
          </a:p>
          <a:p>
            <a:endParaRPr lang="en-US" sz="1400" b="1" dirty="0"/>
          </a:p>
          <a:p>
            <a:r>
              <a:rPr lang="en-US" sz="1400" b="1" dirty="0" smtClean="0"/>
              <a:t>Example</a:t>
            </a:r>
          </a:p>
          <a:p>
            <a:endParaRPr lang="en-US" sz="1400" b="1" dirty="0"/>
          </a:p>
          <a:p>
            <a:r>
              <a:rPr lang="en-US" sz="1400" dirty="0"/>
              <a:t>Suppose we have an array of size 8.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BIT[1] stores sum of element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BIT[2</a:t>
            </a:r>
            <a:r>
              <a:rPr lang="en-US" sz="1400" dirty="0"/>
              <a:t>] stores sum of elements [1..2].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BIT[4</a:t>
            </a:r>
            <a:r>
              <a:rPr lang="en-US" sz="1400" dirty="0"/>
              <a:t>] stores sum of elements [1..4].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BIT[8</a:t>
            </a:r>
            <a:r>
              <a:rPr lang="en-US" sz="1400" dirty="0"/>
              <a:t>] stores sum of elements [1..8].</a:t>
            </a:r>
          </a:p>
          <a:p>
            <a:endParaRPr lang="en-US" sz="1400" dirty="0"/>
          </a:p>
          <a:p>
            <a:r>
              <a:rPr lang="en-US" sz="1400" dirty="0"/>
              <a:t>Why? Because: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 &amp; -1 = 1 → covers 1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2 </a:t>
            </a:r>
            <a:r>
              <a:rPr lang="en-US" sz="1400" dirty="0"/>
              <a:t>&amp; -2 = 2 → covers 2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4 </a:t>
            </a:r>
            <a:r>
              <a:rPr lang="en-US" sz="1400" dirty="0"/>
              <a:t>&amp; -4 = 4 → covers 4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8 </a:t>
            </a:r>
            <a:r>
              <a:rPr lang="en-US" sz="1400" dirty="0"/>
              <a:t>&amp; -8 = 8 → covers 8 elements.</a:t>
            </a:r>
          </a:p>
          <a:p>
            <a:endParaRPr lang="en-US" sz="1400" dirty="0"/>
          </a:p>
          <a:p>
            <a:r>
              <a:rPr lang="en-US" sz="1400" dirty="0"/>
              <a:t>So each index covers a block of size equal to its lowest set bit.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214568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Binary Index Manipulation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US" sz="1400" b="1" dirty="0" smtClean="0"/>
              <a:t>Parent–Child Relationships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Parent of </a:t>
            </a:r>
            <a:r>
              <a:rPr lang="en-US" sz="1400" dirty="0" err="1"/>
              <a:t>i</a:t>
            </a:r>
            <a:r>
              <a:rPr lang="en-US" sz="1400" dirty="0"/>
              <a:t> = </a:t>
            </a:r>
            <a:r>
              <a:rPr lang="en-US" sz="1400" dirty="0" err="1"/>
              <a:t>i</a:t>
            </a:r>
            <a:r>
              <a:rPr lang="en-US" sz="1400" dirty="0"/>
              <a:t> - (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Child </a:t>
            </a:r>
            <a:r>
              <a:rPr lang="en-US" sz="1400" dirty="0"/>
              <a:t>of </a:t>
            </a:r>
            <a:r>
              <a:rPr lang="en-US" sz="1400" dirty="0" err="1"/>
              <a:t>i</a:t>
            </a:r>
            <a:r>
              <a:rPr lang="en-US" sz="1400" dirty="0"/>
              <a:t> = </a:t>
            </a:r>
            <a:r>
              <a:rPr lang="en-US" sz="1400" dirty="0" err="1"/>
              <a:t>i</a:t>
            </a:r>
            <a:r>
              <a:rPr lang="en-US" sz="1400" dirty="0"/>
              <a:t> + (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b="1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Index 6 (binary 110) → LSB =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Parent </a:t>
            </a:r>
            <a:r>
              <a:rPr lang="en-US" sz="1400" dirty="0"/>
              <a:t>= 6 - 2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Child </a:t>
            </a:r>
            <a:r>
              <a:rPr lang="en-US" sz="1400" dirty="0"/>
              <a:t>= 6 + 2 = 8</a:t>
            </a:r>
          </a:p>
          <a:p>
            <a:endParaRPr lang="en-US" sz="1400" dirty="0"/>
          </a:p>
          <a:p>
            <a:r>
              <a:rPr lang="en-US" sz="1400" dirty="0"/>
              <a:t>This shows how the BIT navigates between nodes</a:t>
            </a:r>
            <a:r>
              <a:rPr lang="en-US" sz="1400" dirty="0" smtClean="0"/>
              <a:t>.</a:t>
            </a:r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r>
              <a:rPr lang="en-US" sz="1400" dirty="0"/>
              <a:t>Binary index manipulation (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) is the heart of Fenwick Tree operations.</a:t>
            </a:r>
          </a:p>
          <a:p>
            <a:r>
              <a:rPr lang="en-US" sz="1400" dirty="0" smtClean="0"/>
              <a:t>It </a:t>
            </a:r>
            <a:r>
              <a:rPr lang="en-US" sz="1400" dirty="0"/>
              <a:t>tells you how big a block each node covers, and how to move between nodes during updates and queries.</a:t>
            </a:r>
          </a:p>
          <a:p>
            <a:r>
              <a:rPr lang="en-US" sz="1400" dirty="0" smtClean="0"/>
              <a:t>That’s </a:t>
            </a:r>
            <a:r>
              <a:rPr lang="en-US" sz="1400" dirty="0"/>
              <a:t>why both updates and queries run in O(log n) time.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335040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Binary Index Manipulation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sz="1400" b="1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44" y="922713"/>
            <a:ext cx="4344006" cy="56209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691" y="1179719"/>
            <a:ext cx="4629796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57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Binary Index Manipulation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sz="1400" b="1" dirty="0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89" y="1179719"/>
            <a:ext cx="5096586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6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Binary Index Manipulation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US" sz="1400" b="1" dirty="0"/>
              <a:t>Class: </a:t>
            </a:r>
            <a:r>
              <a:rPr lang="en-US" sz="1400" b="1" dirty="0" smtClean="0"/>
              <a:t>FenwickTree3</a:t>
            </a:r>
          </a:p>
          <a:p>
            <a:endParaRPr lang="en-US" sz="1400" b="1" dirty="0"/>
          </a:p>
          <a:p>
            <a:r>
              <a:rPr lang="en-US" sz="1400" dirty="0"/>
              <a:t>This class defines a Fenwick Tree (Binary Indexed Tree) using binary index manipulation (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) to move between nodes.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bit[] </a:t>
            </a:r>
            <a:r>
              <a:rPr lang="en-US" sz="1400" dirty="0"/>
              <a:t>→ internal array storing partial sums.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update(</a:t>
            </a:r>
            <a:r>
              <a:rPr lang="en-US" sz="1400" b="1" dirty="0" err="1" smtClean="0"/>
              <a:t>i,val</a:t>
            </a:r>
            <a:r>
              <a:rPr lang="en-US" sz="1400" b="1" dirty="0"/>
              <a:t>) </a:t>
            </a:r>
            <a:r>
              <a:rPr lang="en-US" sz="1400" dirty="0"/>
              <a:t>→ adds </a:t>
            </a:r>
            <a:r>
              <a:rPr lang="en-US" sz="1400" dirty="0" err="1"/>
              <a:t>val</a:t>
            </a:r>
            <a:r>
              <a:rPr lang="en-US" sz="1400" dirty="0"/>
              <a:t> at index </a:t>
            </a:r>
            <a:r>
              <a:rPr lang="en-US" sz="1400" dirty="0" err="1"/>
              <a:t>i</a:t>
            </a:r>
            <a:r>
              <a:rPr lang="en-US" sz="1400" dirty="0"/>
              <a:t> and propagates forward (</a:t>
            </a:r>
            <a:r>
              <a:rPr lang="en-US" sz="1400" dirty="0" err="1"/>
              <a:t>i</a:t>
            </a:r>
            <a:r>
              <a:rPr lang="en-US" sz="1400" dirty="0"/>
              <a:t> += (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)).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query(</a:t>
            </a:r>
            <a:r>
              <a:rPr lang="en-US" sz="1400" b="1" dirty="0" err="1" smtClean="0"/>
              <a:t>i</a:t>
            </a:r>
            <a:r>
              <a:rPr lang="en-US" sz="1400" b="1" dirty="0"/>
              <a:t>) </a:t>
            </a:r>
            <a:r>
              <a:rPr lang="en-US" sz="1400" dirty="0"/>
              <a:t>→ computes prefix sum up to </a:t>
            </a:r>
            <a:r>
              <a:rPr lang="en-US" sz="1400" dirty="0" err="1"/>
              <a:t>i</a:t>
            </a:r>
            <a:r>
              <a:rPr lang="en-US" sz="1400" dirty="0"/>
              <a:t> by backtracking (</a:t>
            </a:r>
            <a:r>
              <a:rPr lang="en-US" sz="1400" dirty="0" err="1"/>
              <a:t>i</a:t>
            </a:r>
            <a:r>
              <a:rPr lang="en-US" sz="1400" dirty="0"/>
              <a:t> -= (</a:t>
            </a:r>
            <a:r>
              <a:rPr lang="en-US" sz="1400" dirty="0" err="1"/>
              <a:t>i</a:t>
            </a:r>
            <a:r>
              <a:rPr lang="en-US" sz="1400" dirty="0"/>
              <a:t> &amp; -</a:t>
            </a:r>
            <a:r>
              <a:rPr lang="en-US" sz="1400" dirty="0" err="1"/>
              <a:t>i</a:t>
            </a:r>
            <a:r>
              <a:rPr lang="en-US" sz="1400" dirty="0"/>
              <a:t>)).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rangeQuery</a:t>
            </a:r>
            <a:r>
              <a:rPr lang="en-US" sz="1400" b="1" dirty="0" smtClean="0"/>
              <a:t>(</a:t>
            </a:r>
            <a:r>
              <a:rPr lang="en-US" sz="1400" b="1" dirty="0" err="1" smtClean="0"/>
              <a:t>l,r</a:t>
            </a:r>
            <a:r>
              <a:rPr lang="en-US" sz="1400" b="1" dirty="0"/>
              <a:t>) </a:t>
            </a:r>
            <a:r>
              <a:rPr lang="en-US" sz="1400" dirty="0"/>
              <a:t>→ computes sum of [</a:t>
            </a:r>
            <a:r>
              <a:rPr lang="en-US" sz="1400" dirty="0" err="1"/>
              <a:t>l..r</a:t>
            </a:r>
            <a:r>
              <a:rPr lang="en-US" sz="1400" dirty="0"/>
              <a:t>] using query(r) - query(l-1</a:t>
            </a:r>
            <a:r>
              <a:rPr lang="en-US" sz="1400" dirty="0" smtClean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The program builds values into the Fenwick Tree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dirty="0"/>
              <a:t>So the logical array becomes:</a:t>
            </a:r>
            <a:endParaRPr lang="en-US" sz="1400" dirty="0" smtClean="0"/>
          </a:p>
          <a:p>
            <a:endParaRPr lang="en-US" sz="1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90" y="3256797"/>
            <a:ext cx="2753109" cy="8764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90" y="4847758"/>
            <a:ext cx="2524477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16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Binary Index Manipulation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US" sz="1400" b="1" dirty="0"/>
              <a:t>Step 2: Queries</a:t>
            </a:r>
          </a:p>
          <a:p>
            <a:endParaRPr lang="en-US" sz="1400" b="1" dirty="0"/>
          </a:p>
          <a:p>
            <a:r>
              <a:rPr lang="en-US" sz="1400" b="1" dirty="0"/>
              <a:t>Prefix Sum (1–4)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query(4) = 2+3+5+7 = 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Output</a:t>
            </a:r>
            <a:r>
              <a:rPr lang="en-US" sz="1400" dirty="0"/>
              <a:t>: Prefix Sum (1-4): </a:t>
            </a:r>
            <a:r>
              <a:rPr lang="en-US" sz="1400" b="1" dirty="0"/>
              <a:t>17</a:t>
            </a:r>
          </a:p>
          <a:p>
            <a:endParaRPr lang="en-US" sz="1400" b="1" dirty="0"/>
          </a:p>
          <a:p>
            <a:r>
              <a:rPr lang="en-US" sz="1400" b="1" dirty="0"/>
              <a:t>Range Sum (2–4)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rangeQuery</a:t>
            </a:r>
            <a:r>
              <a:rPr lang="en-US" sz="1400" dirty="0"/>
              <a:t>(2,4) = query(4) – query(1)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query(4</a:t>
            </a:r>
            <a:r>
              <a:rPr lang="en-US" sz="1400" dirty="0"/>
              <a:t>)=17, query(1)=2 → 17–2 =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Output</a:t>
            </a:r>
            <a:r>
              <a:rPr lang="en-US" sz="1400" dirty="0"/>
              <a:t>: Range Sum (2-4): </a:t>
            </a:r>
            <a:r>
              <a:rPr lang="en-US" sz="1400" b="1" dirty="0"/>
              <a:t>15</a:t>
            </a:r>
            <a:endParaRPr lang="en-US" sz="1400" b="1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921" y="1913366"/>
            <a:ext cx="2524477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0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Fenwick Tree (Binary Indexed Tree</a:t>
            </a:r>
            <a:r>
              <a:rPr lang="en-US" b="1" dirty="0">
                <a:solidFill>
                  <a:srgbClr val="FF0000"/>
                </a:solidFill>
              </a:rPr>
              <a:t>) – Binary Index Manipulation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sz="1400" b="1" dirty="0" smtClean="0"/>
          </a:p>
          <a:p>
            <a:r>
              <a:rPr lang="en-IN" sz="1400" b="1" dirty="0"/>
              <a:t>Step 3: </a:t>
            </a:r>
            <a:r>
              <a:rPr lang="en-IN" sz="1400" b="1" dirty="0" smtClean="0"/>
              <a:t>Update</a:t>
            </a:r>
          </a:p>
          <a:p>
            <a:endParaRPr lang="en-IN" sz="1400" dirty="0"/>
          </a:p>
          <a:p>
            <a:r>
              <a:rPr lang="en-US" sz="1400" b="1" dirty="0" err="1"/>
              <a:t>ft.update</a:t>
            </a:r>
            <a:r>
              <a:rPr lang="en-US" sz="1400" b="1" dirty="0"/>
              <a:t>(3, 2</a:t>
            </a:r>
            <a:r>
              <a:rPr lang="en-US" sz="1400" b="1" dirty="0" smtClean="0"/>
              <a:t>);</a:t>
            </a:r>
          </a:p>
          <a:p>
            <a:endParaRPr lang="en-US" sz="1400" dirty="0"/>
          </a:p>
          <a:p>
            <a:r>
              <a:rPr lang="en-US" sz="1400" dirty="0"/>
              <a:t>This adds +2 at index 3. </a:t>
            </a:r>
            <a:endParaRPr lang="en-US" sz="1400" dirty="0" smtClean="0"/>
          </a:p>
          <a:p>
            <a:r>
              <a:rPr lang="en-US" sz="1400" dirty="0" smtClean="0"/>
              <a:t>So </a:t>
            </a:r>
            <a:r>
              <a:rPr lang="en-US" sz="1400" dirty="0" err="1"/>
              <a:t>arr</a:t>
            </a:r>
            <a:r>
              <a:rPr lang="en-US" sz="1400" dirty="0"/>
              <a:t>[3] changes from 5 → 7.</a:t>
            </a:r>
          </a:p>
          <a:p>
            <a:endParaRPr lang="en-US" sz="1400" dirty="0" smtClean="0"/>
          </a:p>
          <a:p>
            <a:r>
              <a:rPr lang="en-US" sz="1400" dirty="0" smtClean="0"/>
              <a:t>New </a:t>
            </a:r>
            <a:r>
              <a:rPr lang="en-US" sz="1400" dirty="0"/>
              <a:t>array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r>
              <a:rPr lang="en-US" sz="1400" b="1" dirty="0"/>
              <a:t>Step 4: Query After </a:t>
            </a:r>
            <a:r>
              <a:rPr lang="en-US" sz="1400" b="1" dirty="0" smtClean="0"/>
              <a:t>Update</a:t>
            </a:r>
          </a:p>
          <a:p>
            <a:endParaRPr lang="en-US" sz="1400" b="1" dirty="0"/>
          </a:p>
          <a:p>
            <a:r>
              <a:rPr lang="en-US" sz="1400" b="1" dirty="0" smtClean="0"/>
              <a:t>Prefix Sum (1–4)</a:t>
            </a:r>
          </a:p>
          <a:p>
            <a:endParaRPr lang="en-US" sz="1400" dirty="0" smtClean="0"/>
          </a:p>
          <a:p>
            <a:r>
              <a:rPr lang="en-US" sz="1400" dirty="0" smtClean="0"/>
              <a:t>query(4</a:t>
            </a:r>
            <a:r>
              <a:rPr lang="en-US" sz="1400" dirty="0"/>
              <a:t>) = 2+3+7+7 = 19</a:t>
            </a:r>
          </a:p>
          <a:p>
            <a:endParaRPr lang="en-US" sz="1400" dirty="0"/>
          </a:p>
          <a:p>
            <a:r>
              <a:rPr lang="en-US" sz="1400" dirty="0"/>
              <a:t>Output: After update (1-4): </a:t>
            </a:r>
            <a:r>
              <a:rPr lang="en-US" sz="1400" b="1" dirty="0"/>
              <a:t>19</a:t>
            </a:r>
          </a:p>
          <a:p>
            <a:endParaRPr lang="en-US" sz="14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70" y="2402255"/>
            <a:ext cx="1848108" cy="5239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496" y="3257214"/>
            <a:ext cx="1952898" cy="7144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937808" y="2775076"/>
            <a:ext cx="1470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Final Outputs</a:t>
            </a:r>
            <a:endParaRPr lang="en-US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364" y="1181846"/>
            <a:ext cx="2524477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7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Minimum 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r>
              <a:rPr lang="en-US" sz="1400" dirty="0" smtClean="0"/>
              <a:t>A </a:t>
            </a:r>
            <a:r>
              <a:rPr lang="en-US" sz="1400" dirty="0"/>
              <a:t>Sparse Table is a non-linear data structure designed for fast range queries like Range Minimum Query (RMQ): it preprocesses an array in O(</a:t>
            </a:r>
            <a:r>
              <a:rPr lang="en-US" sz="1400" dirty="0" err="1"/>
              <a:t>nlog⁡n</a:t>
            </a:r>
            <a:r>
              <a:rPr lang="en-US" sz="1400" dirty="0"/>
              <a:t>) time and answers queries </a:t>
            </a:r>
            <a:r>
              <a:rPr lang="en-US" sz="1400" dirty="0" smtClean="0"/>
              <a:t>in </a:t>
            </a:r>
            <a:r>
              <a:rPr lang="en-US" sz="1400" dirty="0"/>
              <a:t>O(1)</a:t>
            </a:r>
            <a:r>
              <a:rPr lang="en-US" sz="1400" b="1" dirty="0"/>
              <a:t> time, but it only works on static arrays (no updates).</a:t>
            </a:r>
            <a:r>
              <a:rPr lang="en-US" sz="1400" dirty="0"/>
              <a:t> This makes it ideal when you need to repeatedly query minimums (or maximums) over ranges without modifying the data.</a:t>
            </a:r>
          </a:p>
          <a:p>
            <a:endParaRPr lang="en-US" sz="1400" b="1" dirty="0" smtClean="0"/>
          </a:p>
          <a:p>
            <a:r>
              <a:rPr lang="en-US" sz="1400" b="1" dirty="0"/>
              <a:t>Non-Linear Data Structures – Range Query Trees</a:t>
            </a:r>
          </a:p>
          <a:p>
            <a:r>
              <a:rPr lang="en-US" sz="1400" b="1" dirty="0"/>
              <a:t>1. Range Query Trees</a:t>
            </a:r>
          </a:p>
          <a:p>
            <a:r>
              <a:rPr lang="en-US" sz="1400" dirty="0"/>
              <a:t>These are hierarchical structures (like Segment Trees, Fenwick Trees, Sparse Tables) that allow efficient queries over </a:t>
            </a:r>
            <a:r>
              <a:rPr lang="en-US" sz="1400" dirty="0" err="1"/>
              <a:t>subranges</a:t>
            </a:r>
            <a:r>
              <a:rPr lang="en-US" sz="1400" dirty="0"/>
              <a:t> of an array.</a:t>
            </a:r>
          </a:p>
          <a:p>
            <a:r>
              <a:rPr lang="en-US" sz="1400" dirty="0"/>
              <a:t>They are </a:t>
            </a:r>
            <a:r>
              <a:rPr lang="en-US" sz="1400" b="1" dirty="0"/>
              <a:t>non-linear</a:t>
            </a:r>
            <a:r>
              <a:rPr lang="en-US" sz="1400" dirty="0"/>
              <a:t> because they organize data in tree-like or layered structures rather than sequentially.</a:t>
            </a:r>
          </a:p>
          <a:p>
            <a:endParaRPr lang="en-US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360011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Minimum 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r>
              <a:rPr lang="en-IN" sz="1400" b="1" dirty="0" smtClean="0"/>
              <a:t>Sparse Table</a:t>
            </a:r>
            <a:endParaRPr lang="en-US" sz="1400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80" y="1456718"/>
            <a:ext cx="6563641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6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Minimum 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r>
              <a:rPr lang="en-IN" sz="1400" b="1" dirty="0" smtClean="0"/>
              <a:t>Range Minimum Query (RMQ)</a:t>
            </a:r>
          </a:p>
          <a:p>
            <a:endParaRPr lang="en-US" sz="1400" b="1" dirty="0"/>
          </a:p>
          <a:p>
            <a:r>
              <a:rPr lang="en-US" sz="1400" b="1" dirty="0"/>
              <a:t>Definition</a:t>
            </a:r>
            <a:r>
              <a:rPr lang="en-US" sz="1400" dirty="0"/>
              <a:t>: Given an array and a </a:t>
            </a:r>
            <a:r>
              <a:rPr lang="en-US" sz="1400" dirty="0" smtClean="0"/>
              <a:t>range </a:t>
            </a:r>
            <a:r>
              <a:rPr lang="en-IN" sz="1400" dirty="0"/>
              <a:t>[L,R</a:t>
            </a:r>
            <a:r>
              <a:rPr lang="en-IN" sz="1400" dirty="0" smtClean="0"/>
              <a:t>], </a:t>
            </a:r>
            <a:r>
              <a:rPr lang="en-US" sz="1400" dirty="0"/>
              <a:t>find the minimum element in that </a:t>
            </a:r>
            <a:r>
              <a:rPr lang="en-US" sz="1400" dirty="0" err="1"/>
              <a:t>subarray</a:t>
            </a:r>
            <a:r>
              <a:rPr lang="en-US" sz="1400" dirty="0" smtClean="0"/>
              <a:t>.</a:t>
            </a:r>
          </a:p>
          <a:p>
            <a:endParaRPr lang="en-US" sz="1400" dirty="0" smtClean="0"/>
          </a:p>
          <a:p>
            <a:r>
              <a:rPr lang="en-IN" sz="1400" b="1" dirty="0"/>
              <a:t>Example</a:t>
            </a:r>
            <a:r>
              <a:rPr lang="en-IN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b="1" dirty="0"/>
              <a:t>Use Cases</a:t>
            </a:r>
            <a:r>
              <a:rPr lang="en-US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Competitive programming (fast queries on static arrays).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Applications in </a:t>
            </a:r>
            <a:r>
              <a:rPr lang="en-US" sz="1400" b="1" dirty="0"/>
              <a:t>LCA (Lowest Common Ancestor)</a:t>
            </a:r>
            <a:r>
              <a:rPr lang="en-US" sz="1400" dirty="0"/>
              <a:t> problems, </a:t>
            </a:r>
            <a:r>
              <a:rPr lang="en-US" sz="1400" b="1" dirty="0"/>
              <a:t>string matching</a:t>
            </a:r>
            <a:r>
              <a:rPr lang="en-US" sz="1400" dirty="0"/>
              <a:t>, and </a:t>
            </a:r>
            <a:r>
              <a:rPr lang="en-US" sz="1400" b="1" dirty="0"/>
              <a:t>range analysis</a:t>
            </a:r>
            <a:endParaRPr lang="en-US" sz="1400" dirty="0"/>
          </a:p>
          <a:p>
            <a:endParaRPr lang="en-IN" sz="1400" dirty="0" smtClean="0"/>
          </a:p>
          <a:p>
            <a:endParaRPr lang="en-US" sz="1400" b="1" dirty="0"/>
          </a:p>
          <a:p>
            <a:endParaRPr lang="en-US" sz="1400" b="1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81" y="2284490"/>
            <a:ext cx="2991267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8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Minimum 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sz="1400" dirty="0" smtClean="0"/>
          </a:p>
          <a:p>
            <a:endParaRPr lang="en-US" sz="1400" b="1" dirty="0"/>
          </a:p>
          <a:p>
            <a:endParaRPr lang="en-US" sz="1400" b="1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80" y="881149"/>
            <a:ext cx="4648849" cy="58976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732" y="1014966"/>
            <a:ext cx="4210638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6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Minimum 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sz="1400" dirty="0" smtClean="0"/>
          </a:p>
          <a:p>
            <a:endParaRPr lang="en-US" sz="1400" b="1" dirty="0"/>
          </a:p>
          <a:p>
            <a:endParaRPr lang="en-US" sz="1400" b="1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" y="1130263"/>
            <a:ext cx="4991797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9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Minimum 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r>
              <a:rPr lang="en-US" sz="1400" b="1" dirty="0"/>
              <a:t>Inputs</a:t>
            </a:r>
          </a:p>
          <a:p>
            <a:r>
              <a:rPr lang="en-US" sz="1400" dirty="0"/>
              <a:t>The program takes an integer array as input.</a:t>
            </a:r>
          </a:p>
          <a:p>
            <a:r>
              <a:rPr lang="en-US" sz="1400" dirty="0"/>
              <a:t>Example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r>
              <a:rPr lang="en-US" sz="1400" dirty="0"/>
              <a:t>This array is passed to the </a:t>
            </a:r>
            <a:r>
              <a:rPr lang="en-US" sz="1400" dirty="0" err="1"/>
              <a:t>SparseTable</a:t>
            </a:r>
            <a:r>
              <a:rPr lang="en-US" sz="1400" dirty="0"/>
              <a:t> constructor, which builds the data structure for answering Range Minimum Queries (RMQ).</a:t>
            </a:r>
            <a:endParaRPr lang="en-IN" sz="1400" dirty="0" smtClean="0"/>
          </a:p>
          <a:p>
            <a:endParaRPr lang="en-US" sz="1400" b="1" dirty="0" smtClean="0"/>
          </a:p>
          <a:p>
            <a:r>
              <a:rPr lang="en-IN" sz="1400" b="1" dirty="0" smtClean="0"/>
              <a:t>Processing</a:t>
            </a:r>
          </a:p>
          <a:p>
            <a:r>
              <a:rPr lang="en-IN" sz="1400" dirty="0" smtClean="0"/>
              <a:t>The </a:t>
            </a:r>
            <a:r>
              <a:rPr lang="en-IN" sz="1400" dirty="0"/>
              <a:t>program builds a Sparse Table in two main steps:</a:t>
            </a:r>
          </a:p>
          <a:p>
            <a:pPr lvl="0"/>
            <a:r>
              <a:rPr lang="en-IN" sz="1400" b="1" dirty="0" err="1"/>
              <a:t>Precompute</a:t>
            </a:r>
            <a:r>
              <a:rPr lang="en-IN" sz="1400" b="1" dirty="0"/>
              <a:t> Logs (</a:t>
            </a:r>
            <a:r>
              <a:rPr lang="en-IN" sz="1400" b="1" dirty="0" err="1"/>
              <a:t>buildLog</a:t>
            </a:r>
            <a:r>
              <a:rPr lang="en-IN" sz="1400" b="1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Creates an array log[] where log[</a:t>
            </a:r>
            <a:r>
              <a:rPr lang="en-IN" sz="1400" dirty="0" err="1"/>
              <a:t>i</a:t>
            </a:r>
            <a:r>
              <a:rPr lang="en-IN" sz="1400" dirty="0"/>
              <a:t>] stores ⌊log⁡2(</a:t>
            </a:r>
            <a:r>
              <a:rPr lang="en-IN" sz="1400" dirty="0" err="1"/>
              <a:t>i</a:t>
            </a:r>
            <a:r>
              <a:rPr lang="en-IN" sz="1400" dirty="0"/>
              <a:t>)⌋.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This helps quickly determine the largest power of 2 that fits in a query range.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Example: log[7] = 2 because 22=4≤7.</a:t>
            </a:r>
          </a:p>
          <a:p>
            <a:pPr lvl="0"/>
            <a:r>
              <a:rPr lang="en-IN" sz="1400" b="1" dirty="0"/>
              <a:t>Build Sparse Table (build)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Initializes </a:t>
            </a:r>
            <a:r>
              <a:rPr lang="en-IN" sz="1400" dirty="0" err="1"/>
              <a:t>st</a:t>
            </a:r>
            <a:r>
              <a:rPr lang="en-IN" sz="1400" dirty="0"/>
              <a:t>[</a:t>
            </a:r>
            <a:r>
              <a:rPr lang="en-IN" sz="1400" dirty="0" err="1"/>
              <a:t>i</a:t>
            </a:r>
            <a:r>
              <a:rPr lang="en-IN" sz="1400" dirty="0"/>
              <a:t>][0] = </a:t>
            </a:r>
            <a:r>
              <a:rPr lang="en-IN" sz="1400" dirty="0" err="1"/>
              <a:t>arr</a:t>
            </a:r>
            <a:r>
              <a:rPr lang="en-IN" sz="1400" dirty="0"/>
              <a:t>[</a:t>
            </a:r>
            <a:r>
              <a:rPr lang="en-IN" sz="1400" dirty="0" err="1"/>
              <a:t>i</a:t>
            </a:r>
            <a:r>
              <a:rPr lang="en-IN" sz="1400" dirty="0"/>
              <a:t>] (intervals of length 1).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Then fills higher powers of 2: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st</a:t>
            </a:r>
            <a:r>
              <a:rPr lang="en-IN" sz="1400" dirty="0"/>
              <a:t>[</a:t>
            </a:r>
            <a:r>
              <a:rPr lang="en-IN" sz="1400" dirty="0" err="1"/>
              <a:t>i</a:t>
            </a:r>
            <a:r>
              <a:rPr lang="en-IN" sz="1400" dirty="0"/>
              <a:t>][1] = min of 2 elements starting at </a:t>
            </a:r>
            <a:r>
              <a:rPr lang="en-IN" sz="1400" dirty="0" err="1"/>
              <a:t>i</a:t>
            </a:r>
            <a:r>
              <a:rPr lang="en-IN" sz="1400" dirty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st</a:t>
            </a:r>
            <a:r>
              <a:rPr lang="en-IN" sz="1400" dirty="0"/>
              <a:t>[</a:t>
            </a:r>
            <a:r>
              <a:rPr lang="en-IN" sz="1400" dirty="0" err="1"/>
              <a:t>i</a:t>
            </a:r>
            <a:r>
              <a:rPr lang="en-IN" sz="1400" dirty="0"/>
              <a:t>][2] = min of 4 elements starting at </a:t>
            </a:r>
            <a:r>
              <a:rPr lang="en-IN" sz="1400" dirty="0" err="1"/>
              <a:t>i</a:t>
            </a:r>
            <a:r>
              <a:rPr lang="en-IN" sz="1400" dirty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400" dirty="0"/>
              <a:t>And so 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This </a:t>
            </a:r>
            <a:r>
              <a:rPr lang="en-IN" sz="1400" dirty="0" err="1"/>
              <a:t>preprocessing</a:t>
            </a:r>
            <a:r>
              <a:rPr lang="en-IN" sz="1400" dirty="0"/>
              <a:t> takes O(</a:t>
            </a:r>
            <a:r>
              <a:rPr lang="en-IN" sz="1400" dirty="0" err="1"/>
              <a:t>nlog⁡n</a:t>
            </a:r>
            <a:r>
              <a:rPr lang="en-IN" sz="1400" dirty="0"/>
              <a:t>).</a:t>
            </a:r>
          </a:p>
          <a:p>
            <a:pPr lvl="0"/>
            <a:r>
              <a:rPr lang="en-IN" sz="1400" b="1" dirty="0"/>
              <a:t>Query (query(l, r))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To answer RMQ, it finds the largest interval length 2j that fits inside [</a:t>
            </a:r>
            <a:r>
              <a:rPr lang="en-IN" sz="1400" dirty="0" err="1"/>
              <a:t>l,r</a:t>
            </a:r>
            <a:r>
              <a:rPr lang="en-IN" sz="1400" dirty="0"/>
              <a:t>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Splits the range into two overlapping intervals of length 2j.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Returns the minimum of those two </a:t>
            </a:r>
            <a:r>
              <a:rPr lang="en-IN" sz="1400" dirty="0" err="1"/>
              <a:t>precomputed</a:t>
            </a:r>
            <a:r>
              <a:rPr lang="en-IN" sz="1400" dirty="0"/>
              <a:t>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Query time is O(1</a:t>
            </a:r>
            <a:r>
              <a:rPr lang="en-IN" sz="1400" dirty="0" smtClean="0"/>
              <a:t>).</a:t>
            </a:r>
            <a:endParaRPr lang="en-US" sz="1400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34" y="1862739"/>
            <a:ext cx="2981741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195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Minimum 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Outputs</a:t>
            </a:r>
          </a:p>
          <a:p>
            <a:endParaRPr lang="en-US" b="1" dirty="0"/>
          </a:p>
          <a:p>
            <a:r>
              <a:rPr lang="en-US" dirty="0"/>
              <a:t>The program prints the results of RMQ queries:</a:t>
            </a:r>
          </a:p>
          <a:p>
            <a:endParaRPr lang="en-US" dirty="0"/>
          </a:p>
          <a:p>
            <a:r>
              <a:rPr lang="en-US" dirty="0"/>
              <a:t>RMQ(1,4) → minimum of </a:t>
            </a:r>
            <a:r>
              <a:rPr lang="en-US" dirty="0" err="1"/>
              <a:t>arr</a:t>
            </a:r>
            <a:r>
              <a:rPr lang="en-US" dirty="0"/>
              <a:t>[1..4] = min(5,1,4,9) = 1</a:t>
            </a:r>
          </a:p>
          <a:p>
            <a:r>
              <a:rPr lang="en-US" dirty="0" smtClean="0"/>
              <a:t>RMQ(0,3</a:t>
            </a:r>
            <a:r>
              <a:rPr lang="en-US" dirty="0"/>
              <a:t>) → minimum of </a:t>
            </a:r>
            <a:r>
              <a:rPr lang="en-US" dirty="0" err="1"/>
              <a:t>arr</a:t>
            </a:r>
            <a:r>
              <a:rPr lang="en-US" dirty="0"/>
              <a:t>[0..3] = min(2,5,1,4) = 1</a:t>
            </a:r>
          </a:p>
          <a:p>
            <a:r>
              <a:rPr lang="en-US" dirty="0" smtClean="0"/>
              <a:t>RMQ(2,6</a:t>
            </a:r>
            <a:r>
              <a:rPr lang="en-US" dirty="0"/>
              <a:t>) → minimum of </a:t>
            </a:r>
            <a:r>
              <a:rPr lang="en-US" dirty="0" err="1"/>
              <a:t>arr</a:t>
            </a:r>
            <a:r>
              <a:rPr lang="en-US" dirty="0"/>
              <a:t>[2..6] = min(1,4,9,3,6) = 1</a:t>
            </a:r>
          </a:p>
          <a:p>
            <a:endParaRPr lang="en-US" dirty="0"/>
          </a:p>
          <a:p>
            <a:r>
              <a:rPr lang="en-US" dirty="0"/>
              <a:t>So the output is: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10" y="3681376"/>
            <a:ext cx="1200318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7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Minimum 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400" b="1" dirty="0"/>
              <a:t>B</a:t>
            </a:r>
            <a:r>
              <a:rPr lang="en-US" sz="1400" b="1" dirty="0" smtClean="0"/>
              <a:t>uilding </a:t>
            </a:r>
            <a:r>
              <a:rPr lang="en-US" sz="1400" b="1" dirty="0"/>
              <a:t>the Sparse </a:t>
            </a:r>
            <a:r>
              <a:rPr lang="en-US" sz="1400" b="1" dirty="0" smtClean="0"/>
              <a:t>Table</a:t>
            </a:r>
          </a:p>
          <a:p>
            <a:endParaRPr lang="en-US" sz="1400" b="1" dirty="0"/>
          </a:p>
          <a:p>
            <a:r>
              <a:rPr lang="en-US" sz="1400" dirty="0"/>
              <a:t>We construct </a:t>
            </a:r>
            <a:r>
              <a:rPr lang="en-US" sz="1400" dirty="0" err="1"/>
              <a:t>st</a:t>
            </a:r>
            <a:r>
              <a:rPr lang="en-US" sz="1400" dirty="0"/>
              <a:t>[</a:t>
            </a:r>
            <a:r>
              <a:rPr lang="en-US" sz="1400" dirty="0" err="1"/>
              <a:t>i</a:t>
            </a:r>
            <a:r>
              <a:rPr lang="en-US" sz="1400" dirty="0"/>
              <a:t>][j] where: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i</a:t>
            </a:r>
            <a:r>
              <a:rPr lang="en-US" sz="1400" dirty="0" smtClean="0"/>
              <a:t> </a:t>
            </a:r>
            <a:r>
              <a:rPr lang="en-US" sz="1400" dirty="0"/>
              <a:t>= starting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j </a:t>
            </a:r>
            <a:r>
              <a:rPr lang="en-US" sz="1400" dirty="0"/>
              <a:t>= interval length </a:t>
            </a:r>
            <a:r>
              <a:rPr lang="en-US" sz="1400" dirty="0" smtClean="0"/>
              <a:t>2</a:t>
            </a:r>
            <a:r>
              <a:rPr lang="en-US" sz="1400" baseline="30000" dirty="0" smtClean="0"/>
              <a:t>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Step 1: Intervals of length 1 (</a:t>
            </a:r>
            <a:r>
              <a:rPr lang="en-US" sz="1400" b="1" dirty="0" smtClean="0"/>
              <a:t>2</a:t>
            </a:r>
            <a:r>
              <a:rPr lang="en-US" sz="1400" b="1" baseline="30000" dirty="0" smtClean="0"/>
              <a:t>0</a:t>
            </a:r>
            <a:r>
              <a:rPr lang="en-US" sz="1400" b="1" dirty="0" smtClean="0"/>
              <a:t>)</a:t>
            </a:r>
            <a:endParaRPr lang="en-US" sz="1400" b="1" dirty="0"/>
          </a:p>
          <a:p>
            <a:r>
              <a:rPr lang="en-US" sz="1400" dirty="0"/>
              <a:t>Directly copy the array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r>
              <a:rPr lang="en-IN" sz="1400" b="1" dirty="0"/>
              <a:t>Step 2: Intervals of length 2 (2</a:t>
            </a:r>
            <a:r>
              <a:rPr lang="en-IN" sz="1400" b="1" baseline="30000" dirty="0"/>
              <a:t>1</a:t>
            </a:r>
            <a:r>
              <a:rPr lang="en-IN" sz="1400" b="1" dirty="0"/>
              <a:t>)</a:t>
            </a:r>
          </a:p>
          <a:p>
            <a:r>
              <a:rPr lang="en-IN" sz="1400" dirty="0"/>
              <a:t>Take min of consecutive pairs:</a:t>
            </a:r>
          </a:p>
          <a:p>
            <a:r>
              <a:rPr lang="en-IN" sz="1400" dirty="0"/>
              <a:t> </a:t>
            </a:r>
          </a:p>
          <a:p>
            <a:endParaRPr lang="en-US" sz="1400" dirty="0"/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95" y="2901119"/>
            <a:ext cx="2333951" cy="10097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16" y="4889759"/>
            <a:ext cx="3029373" cy="16671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468" y="5556602"/>
            <a:ext cx="5725324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Minimum 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sz="1600" b="1" dirty="0"/>
              <a:t>Step 3: Intervals of length 4 (2</a:t>
            </a:r>
            <a:r>
              <a:rPr lang="en-IN" sz="1600" b="1" baseline="30000" dirty="0"/>
              <a:t>2</a:t>
            </a:r>
            <a:r>
              <a:rPr lang="en-IN" sz="1600" b="1" dirty="0"/>
              <a:t>)</a:t>
            </a:r>
          </a:p>
          <a:p>
            <a:r>
              <a:rPr lang="en-IN" sz="1600" dirty="0"/>
              <a:t>Take min of two blocks of length 2</a:t>
            </a:r>
            <a:r>
              <a:rPr lang="en-IN" sz="1600" dirty="0" smtClean="0"/>
              <a:t>:</a:t>
            </a:r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 smtClean="0"/>
              <a:t>Step 4: Intervals of length 8 (2</a:t>
            </a:r>
            <a:r>
              <a:rPr lang="en-US" sz="1600" b="1" baseline="30000" dirty="0" smtClean="0"/>
              <a:t>3</a:t>
            </a:r>
            <a:r>
              <a:rPr lang="en-US" sz="1600" b="1" dirty="0" smtClean="0"/>
              <a:t>)</a:t>
            </a:r>
          </a:p>
          <a:p>
            <a:r>
              <a:rPr lang="en-US" sz="1600" dirty="0" smtClean="0"/>
              <a:t>Not </a:t>
            </a:r>
            <a:r>
              <a:rPr lang="en-US" sz="1600" dirty="0"/>
              <a:t>possible here since array length = 7.</a:t>
            </a:r>
          </a:p>
          <a:p>
            <a:endParaRPr lang="en-US" sz="1600" dirty="0"/>
          </a:p>
          <a:p>
            <a:endParaRPr lang="en-IN" sz="1400" dirty="0"/>
          </a:p>
          <a:p>
            <a:r>
              <a:rPr lang="en-US" sz="1600" b="1" dirty="0" smtClean="0"/>
              <a:t>Query </a:t>
            </a:r>
            <a:r>
              <a:rPr lang="en-US" sz="1600" b="1" dirty="0"/>
              <a:t>Examples</a:t>
            </a:r>
          </a:p>
          <a:p>
            <a:endParaRPr lang="en-US" sz="1600" dirty="0" smtClean="0"/>
          </a:p>
          <a:p>
            <a:r>
              <a:rPr lang="en-US" sz="1600" b="1" dirty="0" smtClean="0"/>
              <a:t>Query </a:t>
            </a:r>
            <a:r>
              <a:rPr lang="en-US" sz="1600" b="1" dirty="0"/>
              <a:t>RMQ(1,4</a:t>
            </a:r>
            <a:r>
              <a:rPr lang="en-US" sz="1600" b="1" dirty="0" smtClean="0"/>
              <a:t>)</a:t>
            </a:r>
          </a:p>
          <a:p>
            <a:endParaRPr lang="en-US" b="1" dirty="0"/>
          </a:p>
          <a:p>
            <a:r>
              <a:rPr lang="en-US" dirty="0"/>
              <a:t>Range length = 4 → largest power of 2 ≤ 4 is 2</a:t>
            </a:r>
            <a:r>
              <a:rPr lang="en-US" baseline="30000" dirty="0"/>
              <a:t>2</a:t>
            </a:r>
            <a:r>
              <a:rPr lang="en-US" dirty="0"/>
              <a:t>=4. Split into one block of length 4:</a:t>
            </a:r>
          </a:p>
          <a:p>
            <a:endParaRPr lang="en-US" dirty="0"/>
          </a:p>
          <a:p>
            <a:endParaRPr lang="en-IN" dirty="0"/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72" y="1720532"/>
            <a:ext cx="3000794" cy="12574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138" y="2015847"/>
            <a:ext cx="3801005" cy="3334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672" y="5874820"/>
            <a:ext cx="1124107" cy="3620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329523"/>
            <a:ext cx="1225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Answer = </a:t>
            </a:r>
            <a:r>
              <a:rPr lang="en-IN" b="1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39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Minimum 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b="1" dirty="0"/>
              <a:t>Query RMQ(2,6)</a:t>
            </a:r>
          </a:p>
          <a:p>
            <a:r>
              <a:rPr lang="en-IN" dirty="0"/>
              <a:t>Range length = 5 → largest power of 2 ≤ 5 is 2</a:t>
            </a:r>
            <a:r>
              <a:rPr lang="en-IN" baseline="30000" dirty="0"/>
              <a:t>2</a:t>
            </a:r>
            <a:r>
              <a:rPr lang="en-IN" dirty="0"/>
              <a:t>=4. </a:t>
            </a:r>
            <a:endParaRPr lang="en-IN" dirty="0" smtClean="0"/>
          </a:p>
          <a:p>
            <a:r>
              <a:rPr lang="en-IN" dirty="0" smtClean="0"/>
              <a:t>Split </a:t>
            </a:r>
            <a:r>
              <a:rPr lang="en-IN" dirty="0"/>
              <a:t>into two overlapping blocks of length 4:</a:t>
            </a:r>
          </a:p>
          <a:p>
            <a:r>
              <a:rPr lang="en-IN" dirty="0"/>
              <a:t> 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03" y="2126356"/>
            <a:ext cx="1962424" cy="80973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852802"/>
              </p:ext>
            </p:extLst>
          </p:nvPr>
        </p:nvGraphicFramePr>
        <p:xfrm>
          <a:off x="213360" y="3685411"/>
          <a:ext cx="5803669" cy="1463040"/>
        </p:xfrm>
        <a:graphic>
          <a:graphicData uri="http://schemas.openxmlformats.org/drawingml/2006/table">
            <a:tbl>
              <a:tblPr/>
              <a:tblGrid>
                <a:gridCol w="2586643"/>
                <a:gridCol w="321702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Interval 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Example Values Stored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1 (2^0)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[2, 5, 1, 4, 9, 3, 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2 (2^1)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[2, 1, 1, 4, 3, 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4 (2^2)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[1, 1, 1, 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61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</a:t>
            </a:r>
            <a:r>
              <a:rPr lang="en-US" b="1" dirty="0" smtClean="0">
                <a:solidFill>
                  <a:srgbClr val="FF0000"/>
                </a:solidFill>
              </a:rPr>
              <a:t>Maximum </a:t>
            </a:r>
            <a:r>
              <a:rPr lang="en-US" b="1" dirty="0">
                <a:solidFill>
                  <a:srgbClr val="FF0000"/>
                </a:solidFill>
              </a:rPr>
              <a:t>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dirty="0" smtClean="0"/>
              <a:t>A </a:t>
            </a:r>
            <a:r>
              <a:rPr lang="en-IN" dirty="0"/>
              <a:t>Sparse Table for Range Maximum Query (RMQ) is a non-linear data structure that </a:t>
            </a:r>
            <a:r>
              <a:rPr lang="en-IN" dirty="0" err="1"/>
              <a:t>preprocesses</a:t>
            </a:r>
            <a:r>
              <a:rPr lang="en-IN" dirty="0"/>
              <a:t> an array in O(</a:t>
            </a:r>
            <a:r>
              <a:rPr lang="en-IN" dirty="0" err="1"/>
              <a:t>nlog⁡n</a:t>
            </a:r>
            <a:r>
              <a:rPr lang="en-IN" dirty="0"/>
              <a:t>) time and answers maximum queries over any </a:t>
            </a:r>
            <a:r>
              <a:rPr lang="en-IN" dirty="0" err="1"/>
              <a:t>subarray</a:t>
            </a:r>
            <a:r>
              <a:rPr lang="en-IN" dirty="0"/>
              <a:t> in O(1) time, but it only works for static arrays (no updates). It is ideal when you need repeated maximum lookups on immutable data.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Range Query </a:t>
            </a:r>
            <a:r>
              <a:rPr lang="en-US" b="1" dirty="0" smtClean="0"/>
              <a:t>Trees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Hierarchical structures (Segment Trees, Fenwick Trees, Sparse Tables).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Allow </a:t>
            </a:r>
            <a:r>
              <a:rPr lang="en-US" dirty="0"/>
              <a:t>efficient queries over </a:t>
            </a:r>
            <a:r>
              <a:rPr lang="en-US" dirty="0" err="1"/>
              <a:t>subranges</a:t>
            </a:r>
            <a:r>
              <a:rPr lang="en-US" dirty="0"/>
              <a:t> of an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Non-linear </a:t>
            </a:r>
            <a:r>
              <a:rPr lang="en-US" dirty="0"/>
              <a:t>because they organize data in tree-like or layered structures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280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</a:t>
            </a:r>
            <a:r>
              <a:rPr lang="en-US" b="1" dirty="0" smtClean="0">
                <a:solidFill>
                  <a:srgbClr val="FF0000"/>
                </a:solidFill>
              </a:rPr>
              <a:t>Maximum </a:t>
            </a:r>
            <a:r>
              <a:rPr lang="en-US" b="1" dirty="0">
                <a:solidFill>
                  <a:srgbClr val="FF0000"/>
                </a:solidFill>
              </a:rPr>
              <a:t>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dirty="0"/>
          </a:p>
          <a:p>
            <a:r>
              <a:rPr lang="en-IN" b="1" dirty="0"/>
              <a:t>Sparse </a:t>
            </a:r>
            <a:r>
              <a:rPr lang="en-IN" b="1" dirty="0" smtClean="0"/>
              <a:t>Table</a:t>
            </a:r>
          </a:p>
          <a:p>
            <a:endParaRPr lang="en-IN" b="1" dirty="0"/>
          </a:p>
          <a:p>
            <a:r>
              <a:rPr lang="en-IN" b="1" dirty="0" smtClean="0"/>
              <a:t>Purpose</a:t>
            </a:r>
            <a:r>
              <a:rPr lang="en-IN" b="1" dirty="0"/>
              <a:t>: </a:t>
            </a:r>
            <a:r>
              <a:rPr lang="en-IN" dirty="0" err="1"/>
              <a:t>Precompute</a:t>
            </a:r>
            <a:r>
              <a:rPr lang="en-IN" dirty="0"/>
              <a:t> answers for overlapping intervals of power-of-two lengths.</a:t>
            </a:r>
          </a:p>
          <a:p>
            <a:endParaRPr lang="en-IN" b="1" dirty="0" smtClean="0"/>
          </a:p>
          <a:p>
            <a:r>
              <a:rPr lang="en-IN" b="1" dirty="0" smtClean="0"/>
              <a:t>Construction:</a:t>
            </a:r>
          </a:p>
          <a:p>
            <a:endParaRPr lang="en-IN" b="1" dirty="0"/>
          </a:p>
          <a:p>
            <a:r>
              <a:rPr lang="en-IN" dirty="0" err="1" smtClean="0"/>
              <a:t>st</a:t>
            </a:r>
            <a:r>
              <a:rPr lang="en-IN" dirty="0" smtClean="0"/>
              <a:t>[</a:t>
            </a:r>
            <a:r>
              <a:rPr lang="en-IN" dirty="0" err="1" smtClean="0"/>
              <a:t>i</a:t>
            </a:r>
            <a:r>
              <a:rPr lang="en-IN" dirty="0"/>
              <a:t>][0] = 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 (base case</a:t>
            </a:r>
            <a:r>
              <a:rPr lang="en-IN" dirty="0" smtClean="0"/>
              <a:t>).</a:t>
            </a:r>
          </a:p>
          <a:p>
            <a:endParaRPr lang="en-IN" dirty="0"/>
          </a:p>
          <a:p>
            <a:r>
              <a:rPr lang="en-IN" dirty="0" smtClean="0"/>
              <a:t>For </a:t>
            </a:r>
            <a:r>
              <a:rPr lang="en-IN" dirty="0"/>
              <a:t>j&gt;0:</a:t>
            </a:r>
          </a:p>
          <a:p>
            <a:endParaRPr lang="en-IN" b="1" dirty="0" smtClean="0"/>
          </a:p>
          <a:p>
            <a:r>
              <a:rPr lang="en-IN" b="1" dirty="0" smtClean="0"/>
              <a:t>Querying</a:t>
            </a:r>
            <a:r>
              <a:rPr lang="en-IN" b="1" dirty="0"/>
              <a:t>:</a:t>
            </a:r>
          </a:p>
          <a:p>
            <a:endParaRPr lang="en-IN" b="1" dirty="0" smtClean="0"/>
          </a:p>
          <a:p>
            <a:endParaRPr lang="en-IN" b="1" dirty="0" smtClean="0"/>
          </a:p>
          <a:p>
            <a:endParaRPr lang="en-IN" b="1" dirty="0" smtClean="0"/>
          </a:p>
          <a:p>
            <a:endParaRPr lang="en-IN" b="1" dirty="0" smtClean="0"/>
          </a:p>
          <a:p>
            <a:r>
              <a:rPr lang="en-IN" b="1" dirty="0" smtClean="0"/>
              <a:t>Complexity: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 smtClean="0"/>
              <a:t>Preprocessing</a:t>
            </a:r>
            <a:r>
              <a:rPr lang="en-IN" dirty="0"/>
              <a:t>: O(</a:t>
            </a:r>
            <a:r>
              <a:rPr lang="en-IN" dirty="0" err="1"/>
              <a:t>nlog⁡n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Query</a:t>
            </a:r>
            <a:r>
              <a:rPr lang="en-IN" dirty="0"/>
              <a:t>: O(1)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Updates</a:t>
            </a:r>
            <a:r>
              <a:rPr lang="en-IN" dirty="0"/>
              <a:t>: ❌ Not supported.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98" y="3272937"/>
            <a:ext cx="3296110" cy="3620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61802"/>
            <a:ext cx="3429479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</a:t>
            </a:r>
            <a:r>
              <a:rPr lang="en-US" b="1" dirty="0" smtClean="0">
                <a:solidFill>
                  <a:srgbClr val="FF0000"/>
                </a:solidFill>
              </a:rPr>
              <a:t>Maximum </a:t>
            </a:r>
            <a:r>
              <a:rPr lang="en-US" b="1" dirty="0">
                <a:solidFill>
                  <a:srgbClr val="FF0000"/>
                </a:solidFill>
              </a:rPr>
              <a:t>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Range Maximum Query (RMQ)</a:t>
            </a:r>
          </a:p>
          <a:p>
            <a:r>
              <a:rPr lang="en-US" b="1" dirty="0"/>
              <a:t>Definition</a:t>
            </a:r>
            <a:r>
              <a:rPr lang="en-US" dirty="0"/>
              <a:t>: Find the maximum element in a </a:t>
            </a:r>
            <a:r>
              <a:rPr lang="en-US" dirty="0" err="1"/>
              <a:t>subarray</a:t>
            </a:r>
            <a:r>
              <a:rPr lang="en-US" dirty="0"/>
              <a:t> [L,R</a:t>
            </a:r>
            <a:r>
              <a:rPr lang="en-US" dirty="0" smtClean="0"/>
              <a:t>].</a:t>
            </a:r>
          </a:p>
          <a:p>
            <a:endParaRPr lang="en-US" dirty="0"/>
          </a:p>
          <a:p>
            <a:r>
              <a:rPr lang="en-US" b="1" dirty="0"/>
              <a:t>Example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b="1" dirty="0"/>
              <a:t>Use Cases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Competitive programming (fast queries on static arrays).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Applications in </a:t>
            </a:r>
            <a:r>
              <a:rPr lang="en-US" b="1" dirty="0"/>
              <a:t>LCA (Lowest Common Ancestor)</a:t>
            </a:r>
            <a:r>
              <a:rPr lang="en-US" dirty="0"/>
              <a:t>, </a:t>
            </a:r>
            <a:r>
              <a:rPr lang="en-US" b="1" dirty="0"/>
              <a:t>string matching</a:t>
            </a:r>
            <a:r>
              <a:rPr lang="en-US" dirty="0"/>
              <a:t>, and </a:t>
            </a:r>
            <a:r>
              <a:rPr lang="en-US" b="1" dirty="0"/>
              <a:t>range analysis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61" y="2305028"/>
            <a:ext cx="3210373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8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</a:t>
            </a:r>
            <a:r>
              <a:rPr lang="en-US" b="1" dirty="0" smtClean="0">
                <a:solidFill>
                  <a:srgbClr val="FF0000"/>
                </a:solidFill>
              </a:rPr>
              <a:t>Maximum </a:t>
            </a:r>
            <a:r>
              <a:rPr lang="en-US" b="1" dirty="0">
                <a:solidFill>
                  <a:srgbClr val="FF0000"/>
                </a:solidFill>
              </a:rPr>
              <a:t>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Comparison of Range Query </a:t>
            </a:r>
            <a:r>
              <a:rPr lang="en-US" b="1" dirty="0" smtClean="0"/>
              <a:t>Structures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410441"/>
              </p:ext>
            </p:extLst>
          </p:nvPr>
        </p:nvGraphicFramePr>
        <p:xfrm>
          <a:off x="322811" y="1694513"/>
          <a:ext cx="10515600" cy="22860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Preprocessing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Query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Best 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Naive Loop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Small arrays, few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Segment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Dynamic arrays with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Sparse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O(nlog⁡n)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Static arrays, many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41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</a:t>
            </a:r>
            <a:r>
              <a:rPr lang="en-US" b="1" dirty="0" smtClean="0">
                <a:solidFill>
                  <a:srgbClr val="FF0000"/>
                </a:solidFill>
              </a:rPr>
              <a:t>Maximum </a:t>
            </a:r>
            <a:r>
              <a:rPr lang="en-US" b="1" dirty="0">
                <a:solidFill>
                  <a:srgbClr val="FF0000"/>
                </a:solidFill>
              </a:rPr>
              <a:t>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75" y="1005839"/>
            <a:ext cx="4706007" cy="57250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662" y="1005839"/>
            <a:ext cx="4477375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1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</a:t>
            </a:r>
            <a:r>
              <a:rPr lang="en-US" b="1" dirty="0" smtClean="0">
                <a:solidFill>
                  <a:srgbClr val="FF0000"/>
                </a:solidFill>
              </a:rPr>
              <a:t>Maximum </a:t>
            </a:r>
            <a:r>
              <a:rPr lang="en-US" b="1" dirty="0">
                <a:solidFill>
                  <a:srgbClr val="FF0000"/>
                </a:solidFill>
              </a:rPr>
              <a:t>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09" y="1053102"/>
            <a:ext cx="4753638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0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Range </a:t>
            </a:r>
            <a:r>
              <a:rPr lang="en-US" b="1" dirty="0" smtClean="0">
                <a:solidFill>
                  <a:srgbClr val="FF0000"/>
                </a:solidFill>
              </a:rPr>
              <a:t>Maximum </a:t>
            </a:r>
            <a:r>
              <a:rPr lang="en-US" b="1" dirty="0">
                <a:solidFill>
                  <a:srgbClr val="FF0000"/>
                </a:solidFill>
              </a:rPr>
              <a:t>Query (RMQ)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/>
              <a:t>The program takes an </a:t>
            </a:r>
            <a:r>
              <a:rPr lang="en-US" b="1" dirty="0"/>
              <a:t>integer array</a:t>
            </a:r>
            <a:r>
              <a:rPr lang="en-US" dirty="0"/>
              <a:t> as input</a:t>
            </a:r>
            <a:r>
              <a:rPr lang="en-US" dirty="0" smtClean="0"/>
              <a:t>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This array is passed to the </a:t>
            </a:r>
            <a:r>
              <a:rPr lang="en-US" dirty="0" err="1"/>
              <a:t>SparseTableMax</a:t>
            </a:r>
            <a:r>
              <a:rPr lang="en-US" dirty="0"/>
              <a:t> constructor, which builds the data structure for answering Range Maximum Queries (RMQ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b="1" dirty="0" smtClean="0"/>
              <a:t>Outputs</a:t>
            </a:r>
          </a:p>
          <a:p>
            <a:endParaRPr lang="en-US" b="1" dirty="0"/>
          </a:p>
          <a:p>
            <a:r>
              <a:rPr lang="en-US" dirty="0"/>
              <a:t>The program prints the results of RMQ queries:</a:t>
            </a:r>
          </a:p>
          <a:p>
            <a:r>
              <a:rPr lang="en-US" b="1" dirty="0"/>
              <a:t>RMQ(1,4)</a:t>
            </a:r>
            <a:r>
              <a:rPr lang="en-US" dirty="0"/>
              <a:t> → maximum of </a:t>
            </a:r>
            <a:r>
              <a:rPr lang="en-US" dirty="0" err="1"/>
              <a:t>arr</a:t>
            </a:r>
            <a:r>
              <a:rPr lang="en-US" dirty="0"/>
              <a:t>[1..4] = max(5,1,4,9) = </a:t>
            </a:r>
            <a:r>
              <a:rPr lang="en-US" b="1" dirty="0"/>
              <a:t>9</a:t>
            </a:r>
            <a:endParaRPr lang="en-US" dirty="0"/>
          </a:p>
          <a:p>
            <a:r>
              <a:rPr lang="en-US" b="1" dirty="0"/>
              <a:t>RMQ(0,3)</a:t>
            </a:r>
            <a:r>
              <a:rPr lang="en-US" dirty="0"/>
              <a:t> → maximum of </a:t>
            </a:r>
            <a:r>
              <a:rPr lang="en-US" dirty="0" err="1"/>
              <a:t>arr</a:t>
            </a:r>
            <a:r>
              <a:rPr lang="en-US" dirty="0"/>
              <a:t>[0..3] = max(2,5,1,4) = </a:t>
            </a:r>
            <a:r>
              <a:rPr lang="en-US" b="1" dirty="0"/>
              <a:t>5</a:t>
            </a:r>
            <a:endParaRPr lang="en-US" dirty="0"/>
          </a:p>
          <a:p>
            <a:r>
              <a:rPr lang="en-US" b="1" dirty="0"/>
              <a:t>RMQ(2,7)</a:t>
            </a:r>
            <a:r>
              <a:rPr lang="en-US" dirty="0"/>
              <a:t> → maximum of </a:t>
            </a:r>
            <a:r>
              <a:rPr lang="en-US" dirty="0" err="1"/>
              <a:t>arr</a:t>
            </a:r>
            <a:r>
              <a:rPr lang="en-US" dirty="0"/>
              <a:t>[2..7] = max(1,4,9,3,6,8) = </a:t>
            </a:r>
            <a:r>
              <a:rPr lang="en-US" b="1" dirty="0"/>
              <a:t>9</a:t>
            </a:r>
            <a:endParaRPr lang="en-US" dirty="0"/>
          </a:p>
          <a:p>
            <a:endParaRPr lang="en-US" dirty="0"/>
          </a:p>
          <a:p>
            <a:r>
              <a:rPr lang="en-US" dirty="0"/>
              <a:t>So the output is:</a:t>
            </a:r>
          </a:p>
          <a:p>
            <a:endParaRPr lang="en-US" b="1" dirty="0"/>
          </a:p>
          <a:p>
            <a:endParaRPr lang="en-US" dirty="0"/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0" y="1486809"/>
            <a:ext cx="3029373" cy="4001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16" y="5411586"/>
            <a:ext cx="2041466" cy="81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3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GCD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dirty="0"/>
              <a:t>A Sparse Table for GCD is a non-linear range query data structure that preprocesses an array in O(</a:t>
            </a:r>
            <a:r>
              <a:rPr lang="en-US" sz="1600" dirty="0" err="1"/>
              <a:t>nlog⁡n</a:t>
            </a:r>
            <a:r>
              <a:rPr lang="en-US" sz="1600" dirty="0"/>
              <a:t>) and answers Range GCD queries in O(1). It is efficient for static arrays where updates are not required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IN" sz="1600" b="1" dirty="0"/>
              <a:t>Range Query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Organize data hierarchically for efficient </a:t>
            </a:r>
            <a:r>
              <a:rPr lang="en-IN" sz="1600" dirty="0" err="1"/>
              <a:t>subarray</a:t>
            </a:r>
            <a:r>
              <a:rPr lang="en-IN" sz="1600" dirty="0"/>
              <a:t>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Examples: Segment Trees, Fenwick Trees, Sparse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Non-linear because they store overlapping intervals in tree-like structures.</a:t>
            </a:r>
          </a:p>
          <a:p>
            <a:endParaRPr lang="en-US" sz="1600" dirty="0" smtClean="0"/>
          </a:p>
          <a:p>
            <a:r>
              <a:rPr lang="en-IN" sz="1600" b="1" dirty="0"/>
              <a:t>Sparse Table</a:t>
            </a:r>
            <a:endParaRPr lang="en-US" sz="1600" b="1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17" y="3375238"/>
            <a:ext cx="6363588" cy="336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9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GCD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sz="1600" b="1" dirty="0"/>
              <a:t>Range GCD </a:t>
            </a:r>
            <a:r>
              <a:rPr lang="en-IN" sz="1600" b="1" dirty="0" smtClean="0"/>
              <a:t>Query</a:t>
            </a:r>
          </a:p>
          <a:p>
            <a:endParaRPr lang="en-IN" sz="1600" b="1" dirty="0"/>
          </a:p>
          <a:p>
            <a:pPr lvl="0"/>
            <a:r>
              <a:rPr lang="en-IN" sz="1600" b="1" dirty="0"/>
              <a:t>Definition</a:t>
            </a:r>
            <a:r>
              <a:rPr lang="en-IN" sz="1600" dirty="0"/>
              <a:t>: Find the greatest common divisor of all elements in a </a:t>
            </a:r>
            <a:r>
              <a:rPr lang="en-IN" sz="1600" dirty="0" err="1"/>
              <a:t>subarray</a:t>
            </a:r>
            <a:r>
              <a:rPr lang="en-IN" sz="1600" dirty="0"/>
              <a:t> [L,R].</a:t>
            </a:r>
          </a:p>
          <a:p>
            <a:pPr lvl="0"/>
            <a:r>
              <a:rPr lang="en-IN" sz="1600" b="1" dirty="0"/>
              <a:t>Example</a:t>
            </a:r>
            <a:r>
              <a:rPr lang="en-IN" sz="1600" dirty="0" smtClean="0"/>
              <a:t>:</a:t>
            </a:r>
          </a:p>
          <a:p>
            <a:pPr lvl="0"/>
            <a:endParaRPr lang="en-IN" sz="1600" dirty="0"/>
          </a:p>
          <a:p>
            <a:pPr lvl="0"/>
            <a:endParaRPr lang="en-IN" sz="1600" dirty="0" smtClean="0"/>
          </a:p>
          <a:p>
            <a:pPr lvl="0"/>
            <a:endParaRPr lang="en-IN" sz="1600" dirty="0"/>
          </a:p>
          <a:p>
            <a:pPr lvl="0"/>
            <a:endParaRPr lang="en-IN" sz="1600" dirty="0" smtClean="0"/>
          </a:p>
          <a:p>
            <a:pPr lvl="0"/>
            <a:endParaRPr lang="en-IN" sz="1600" dirty="0"/>
          </a:p>
          <a:p>
            <a:pPr lvl="0"/>
            <a:endParaRPr lang="en-IN" sz="1600" dirty="0" smtClean="0"/>
          </a:p>
          <a:p>
            <a:pPr lvl="0"/>
            <a:endParaRPr lang="en-IN" sz="1600" dirty="0"/>
          </a:p>
          <a:p>
            <a:r>
              <a:rPr lang="en-US" sz="1600" b="1" dirty="0"/>
              <a:t>Use Cases</a:t>
            </a:r>
            <a:r>
              <a:rPr lang="en-US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Number theory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Cryptography and modular arithmetic.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Signal/image processing where divisibility patterns matter.</a:t>
            </a:r>
          </a:p>
          <a:p>
            <a:pPr lvl="0"/>
            <a:endParaRPr lang="en-IN" sz="1600" dirty="0"/>
          </a:p>
          <a:p>
            <a:r>
              <a:rPr lang="en-IN" sz="1600" dirty="0"/>
              <a:t> 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2" y="2239615"/>
            <a:ext cx="3419952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GCD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5" y="947651"/>
            <a:ext cx="4286848" cy="57956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538" y="943803"/>
            <a:ext cx="4525006" cy="570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2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GCD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8" y="1012123"/>
            <a:ext cx="5534797" cy="477269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18559"/>
            <a:ext cx="4829849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608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GCD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b="1" dirty="0" smtClean="0"/>
              <a:t>Inputs</a:t>
            </a:r>
          </a:p>
          <a:p>
            <a:endParaRPr lang="en-IN" b="1" dirty="0"/>
          </a:p>
          <a:p>
            <a:r>
              <a:rPr lang="en-IN" sz="1600" b="1" dirty="0"/>
              <a:t>Array of </a:t>
            </a:r>
            <a:r>
              <a:rPr lang="en-IN" sz="1600" b="1" dirty="0" smtClean="0"/>
              <a:t>integers</a:t>
            </a:r>
          </a:p>
          <a:p>
            <a:endParaRPr lang="en-IN" sz="1600" b="1" dirty="0"/>
          </a:p>
          <a:p>
            <a:endParaRPr lang="en-IN" sz="1600" b="1" dirty="0" smtClean="0"/>
          </a:p>
          <a:p>
            <a:endParaRPr lang="en-IN" sz="1600" b="1" dirty="0"/>
          </a:p>
          <a:p>
            <a:r>
              <a:rPr lang="en-US" sz="1600" dirty="0"/>
              <a:t>This is the dataset on which range queries will be performed.</a:t>
            </a:r>
            <a:endParaRPr lang="en-IN" sz="1600" dirty="0"/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/>
              <a:t>Operation type ("</a:t>
            </a:r>
            <a:r>
              <a:rPr lang="en-US" sz="1600" b="1" dirty="0" err="1"/>
              <a:t>gcd</a:t>
            </a:r>
            <a:r>
              <a:rPr lang="en-US" sz="1600" b="1" dirty="0"/>
              <a:t>", "or", "and")</a:t>
            </a:r>
          </a:p>
          <a:p>
            <a:endParaRPr lang="en-US" sz="1600" dirty="0"/>
          </a:p>
          <a:p>
            <a:r>
              <a:rPr lang="en-US" sz="1600" dirty="0"/>
              <a:t>"</a:t>
            </a:r>
            <a:r>
              <a:rPr lang="en-US" sz="1600" dirty="0" err="1"/>
              <a:t>gcd</a:t>
            </a:r>
            <a:r>
              <a:rPr lang="en-US" sz="1600" dirty="0"/>
              <a:t>" → Range Greatest Common Divisor</a:t>
            </a:r>
          </a:p>
          <a:p>
            <a:endParaRPr lang="en-US" sz="1600" dirty="0"/>
          </a:p>
          <a:p>
            <a:r>
              <a:rPr lang="en-US" sz="1600" dirty="0"/>
              <a:t>"or" → Range Bitwise OR</a:t>
            </a:r>
          </a:p>
          <a:p>
            <a:endParaRPr lang="en-US" sz="1600" dirty="0"/>
          </a:p>
          <a:p>
            <a:r>
              <a:rPr lang="en-US" sz="1600" dirty="0"/>
              <a:t>"and" → Range Bitwise AND</a:t>
            </a:r>
          </a:p>
          <a:p>
            <a:endParaRPr lang="en-US" sz="1600" dirty="0"/>
          </a:p>
          <a:p>
            <a:r>
              <a:rPr lang="en-US" sz="1600" dirty="0"/>
              <a:t>So the same Sparse Table logic is reused for different operations depending on the type.</a:t>
            </a:r>
            <a:endParaRPr 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6" y="2055463"/>
            <a:ext cx="3010320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7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GCD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Processing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7" y="1405468"/>
            <a:ext cx="6335009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2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GCD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Outputs</a:t>
            </a:r>
          </a:p>
          <a:p>
            <a:endParaRPr lang="en-US" b="1" dirty="0"/>
          </a:p>
          <a:p>
            <a:r>
              <a:rPr lang="en-US" dirty="0"/>
              <a:t>The program runs three queries on the range [1,4] (indices inclusive):</a:t>
            </a:r>
          </a:p>
          <a:p>
            <a:endParaRPr lang="en-US" b="1" dirty="0" smtClean="0"/>
          </a:p>
          <a:p>
            <a:r>
              <a:rPr lang="en-US" sz="1600" b="1" dirty="0" smtClean="0"/>
              <a:t>GCD </a:t>
            </a:r>
            <a:r>
              <a:rPr lang="en-US" sz="1600" b="1" dirty="0"/>
              <a:t>Table</a:t>
            </a:r>
          </a:p>
          <a:p>
            <a:r>
              <a:rPr lang="en-US" sz="1600" dirty="0" err="1" smtClean="0"/>
              <a:t>Subarray</a:t>
            </a:r>
            <a:r>
              <a:rPr lang="en-US" sz="1600" dirty="0"/>
              <a:t>: {36, 12, 6, 18}</a:t>
            </a:r>
          </a:p>
          <a:p>
            <a:r>
              <a:rPr lang="en-US" sz="1600" dirty="0" smtClean="0"/>
              <a:t>GCD </a:t>
            </a:r>
            <a:r>
              <a:rPr lang="en-US" sz="1600" dirty="0"/>
              <a:t>= 6</a:t>
            </a:r>
          </a:p>
          <a:p>
            <a:r>
              <a:rPr lang="en-US" sz="1600" dirty="0" smtClean="0"/>
              <a:t>Output</a:t>
            </a:r>
            <a:r>
              <a:rPr lang="en-US" sz="1600" dirty="0"/>
              <a:t>:</a:t>
            </a:r>
          </a:p>
          <a:p>
            <a:endParaRPr lang="en-US" sz="1600" b="1" dirty="0" smtClean="0"/>
          </a:p>
          <a:p>
            <a:r>
              <a:rPr lang="en-US" sz="1600" b="1" dirty="0"/>
              <a:t>OR Table</a:t>
            </a:r>
          </a:p>
          <a:p>
            <a:endParaRPr lang="en-US" sz="1600" b="1" dirty="0"/>
          </a:p>
          <a:p>
            <a:r>
              <a:rPr lang="en-US" sz="1600" dirty="0" err="1"/>
              <a:t>Subarray</a:t>
            </a:r>
            <a:r>
              <a:rPr lang="en-US" sz="1600" dirty="0"/>
              <a:t>: {36, 12, 6, 18}</a:t>
            </a:r>
          </a:p>
          <a:p>
            <a:r>
              <a:rPr lang="en-US" sz="1600" dirty="0" smtClean="0"/>
              <a:t>Bitwise </a:t>
            </a:r>
            <a:r>
              <a:rPr lang="en-US" sz="1600" dirty="0"/>
              <a:t>OR = 36 | 12 | 6 | 18 = 62</a:t>
            </a:r>
          </a:p>
          <a:p>
            <a:r>
              <a:rPr lang="en-US" sz="1600" dirty="0" smtClean="0"/>
              <a:t>Output</a:t>
            </a:r>
            <a:r>
              <a:rPr lang="en-US" sz="1600" dirty="0"/>
              <a:t>:</a:t>
            </a:r>
          </a:p>
          <a:p>
            <a:endParaRPr lang="en-US" sz="1600" b="1" dirty="0" smtClean="0"/>
          </a:p>
          <a:p>
            <a:endParaRPr lang="en-US" sz="1600" b="1" dirty="0" smtClean="0"/>
          </a:p>
          <a:p>
            <a:r>
              <a:rPr lang="en-US" sz="1600" b="1" dirty="0"/>
              <a:t>AND Table</a:t>
            </a:r>
          </a:p>
          <a:p>
            <a:endParaRPr lang="en-US" sz="1600" b="1" dirty="0"/>
          </a:p>
          <a:p>
            <a:r>
              <a:rPr lang="en-US" sz="1600" dirty="0" err="1"/>
              <a:t>Subarray</a:t>
            </a:r>
            <a:r>
              <a:rPr lang="en-US" sz="1600" dirty="0"/>
              <a:t>: {36, 12, 6, 18}</a:t>
            </a:r>
          </a:p>
          <a:p>
            <a:r>
              <a:rPr lang="en-US" sz="1600" dirty="0" smtClean="0"/>
              <a:t>Bitwise </a:t>
            </a:r>
            <a:r>
              <a:rPr lang="en-US" sz="1600" dirty="0"/>
              <a:t>AND = 36 &amp; 12 &amp; 6 &amp; 18 = 0</a:t>
            </a:r>
          </a:p>
          <a:p>
            <a:r>
              <a:rPr lang="en-US" sz="1600" dirty="0" smtClean="0"/>
              <a:t>Output</a:t>
            </a:r>
            <a:r>
              <a:rPr lang="en-US" sz="1600" dirty="0"/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37" y="2892979"/>
            <a:ext cx="1152686" cy="3238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37" y="4429701"/>
            <a:ext cx="1086002" cy="2667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042" y="6119642"/>
            <a:ext cx="1076475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9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Properties - Static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1. Static Nature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Sparse Table is </a:t>
            </a:r>
            <a:r>
              <a:rPr lang="en-US" b="1" dirty="0"/>
              <a:t>static</a:t>
            </a:r>
            <a:r>
              <a:rPr lang="en-US" dirty="0"/>
              <a:t>, meaning once built, the underlying array cannot be updated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Preprocessing is done in O(</a:t>
            </a:r>
            <a:r>
              <a:rPr lang="en-US" dirty="0" err="1"/>
              <a:t>nlog⁡n</a:t>
            </a:r>
            <a:r>
              <a:rPr lang="en-US" dirty="0"/>
              <a:t>), and queries are answered in O(1).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if you change even one element in the array, you would need to rebuild the entire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makes it ideal for </a:t>
            </a:r>
            <a:r>
              <a:rPr lang="en-US" b="1" dirty="0"/>
              <a:t>immutable datasets</a:t>
            </a:r>
            <a:r>
              <a:rPr lang="en-US" dirty="0"/>
              <a:t> where queries are frequent but updates are rare or nonexistent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2. Associative Operations</a:t>
            </a:r>
          </a:p>
          <a:p>
            <a:r>
              <a:rPr lang="en-US" dirty="0"/>
              <a:t>Works only with </a:t>
            </a:r>
            <a:r>
              <a:rPr lang="en-US" b="1" dirty="0"/>
              <a:t>idempotent and associative functions</a:t>
            </a:r>
            <a:r>
              <a:rPr lang="en-US" dirty="0"/>
              <a:t>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Minimum (RMQ)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Maximum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GCD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Bitwise AND / OR</a:t>
            </a:r>
          </a:p>
          <a:p>
            <a:r>
              <a:rPr lang="en-US" dirty="0"/>
              <a:t>These operations allow overlapping intervals to be combined consistently.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3. Preprocessing vs Query Trade-off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Preprocessing</a:t>
            </a:r>
            <a:r>
              <a:rPr lang="en-US" dirty="0"/>
              <a:t>: O(</a:t>
            </a:r>
            <a:r>
              <a:rPr lang="en-US" dirty="0" err="1"/>
              <a:t>nlog⁡n</a:t>
            </a:r>
            <a:r>
              <a:rPr lang="en-US" dirty="0"/>
              <a:t>) time and 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Query</a:t>
            </a:r>
            <a:r>
              <a:rPr lang="en-US" dirty="0"/>
              <a:t>: O(1).</a:t>
            </a:r>
          </a:p>
          <a:p>
            <a:r>
              <a:rPr lang="en-US" dirty="0"/>
              <a:t>This trade-off is beneficial when the number of queries is very large compared to the preprocessing cost.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93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Properties - Static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4. Memory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O(</a:t>
            </a:r>
            <a:r>
              <a:rPr lang="en-US" dirty="0" err="1"/>
              <a:t>nlog⁡n</a:t>
            </a:r>
            <a:r>
              <a:rPr lang="en-US" dirty="0"/>
              <a:t>)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element is stored multiple times (for intervals of length 1, 2, 4, …).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memory-heavy than Segment Trees (O(n</a:t>
            </a:r>
            <a:r>
              <a:rPr lang="en-US" dirty="0" smtClean="0"/>
              <a:t>)).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683282"/>
              </p:ext>
            </p:extLst>
          </p:nvPr>
        </p:nvGraphicFramePr>
        <p:xfrm>
          <a:off x="231371" y="2790462"/>
          <a:ext cx="11306695" cy="146304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1614055"/>
                <a:gridCol w="338328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Preprocessing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Query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Best 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Segment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Dynamic arrays with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Fenwick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Prefix sums, frequency tables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Sparse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O(nlog⁡n)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Static arrays, many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42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Properties - Static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9" y="947651"/>
            <a:ext cx="4658375" cy="574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2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Properties - Static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94" y="980902"/>
            <a:ext cx="7240010" cy="565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9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Properties - Static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39" y="1028748"/>
            <a:ext cx="5068007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4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Properties - Static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Inputs</a:t>
            </a:r>
          </a:p>
          <a:p>
            <a:r>
              <a:rPr lang="en-US" dirty="0"/>
              <a:t>The program takes an </a:t>
            </a:r>
            <a:r>
              <a:rPr lang="en-US" b="1" dirty="0"/>
              <a:t>integer array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This array is passed to the SparseTable4 constructor.</a:t>
            </a:r>
          </a:p>
          <a:p>
            <a:r>
              <a:rPr lang="en-US" dirty="0" smtClean="0"/>
              <a:t>The </a:t>
            </a:r>
            <a:r>
              <a:rPr lang="en-US" dirty="0"/>
              <a:t>goal is to answer Range Minimum Queries (RMQ) efficiently.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97" y="1796857"/>
            <a:ext cx="2772162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4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Properties - Static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b="1" dirty="0" smtClean="0"/>
              <a:t>Processing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82" y="1518274"/>
            <a:ext cx="6325483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9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Properties - Static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b="1" dirty="0" smtClean="0"/>
              <a:t>Processing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57" y="1518274"/>
            <a:ext cx="5430008" cy="21624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93557"/>
            <a:ext cx="5630061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2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smtClean="0">
                <a:solidFill>
                  <a:srgbClr val="FF0000"/>
                </a:solidFill>
              </a:rPr>
              <a:t>Properties - Static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Outputs</a:t>
            </a:r>
          </a:p>
          <a:p>
            <a:r>
              <a:rPr lang="en-US" dirty="0"/>
              <a:t>The program runs two queries and one update attempt:</a:t>
            </a:r>
          </a:p>
          <a:p>
            <a:r>
              <a:rPr lang="en-US" b="1" dirty="0"/>
              <a:t>RMQ(0,3)</a:t>
            </a:r>
            <a:r>
              <a:rPr lang="en-US" dirty="0"/>
              <a:t> → minimum of </a:t>
            </a:r>
            <a:r>
              <a:rPr lang="en-US" dirty="0" err="1"/>
              <a:t>arr</a:t>
            </a:r>
            <a:r>
              <a:rPr lang="en-US" dirty="0"/>
              <a:t>[0..3] = min(7,2,5,3) = </a:t>
            </a:r>
            <a:r>
              <a:rPr lang="en-US" b="1" dirty="0"/>
              <a:t>2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Output: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b="1" dirty="0"/>
              <a:t>RMQ(2,5)</a:t>
            </a:r>
            <a:r>
              <a:rPr lang="en-US" dirty="0"/>
              <a:t> → minimum of </a:t>
            </a:r>
            <a:r>
              <a:rPr lang="en-US" dirty="0" err="1"/>
              <a:t>arr</a:t>
            </a:r>
            <a:r>
              <a:rPr lang="en-US" dirty="0"/>
              <a:t>[2..5] = min(5,3,1,6) = </a:t>
            </a:r>
            <a:r>
              <a:rPr lang="en-US" b="1" dirty="0"/>
              <a:t>1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Output: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IN" b="1" dirty="0"/>
              <a:t>Update attempt</a:t>
            </a:r>
            <a:r>
              <a:rPr lang="en-IN" dirty="0"/>
              <a:t> → prints: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5" y="1999219"/>
            <a:ext cx="1379907" cy="4945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5" y="3068468"/>
            <a:ext cx="1389432" cy="5323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2973" y="3822983"/>
            <a:ext cx="4382112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1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>
                <a:solidFill>
                  <a:srgbClr val="FF0000"/>
                </a:solidFill>
              </a:rPr>
              <a:t>Idempotent Functions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Idempotent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 </a:t>
            </a:r>
            <a:r>
              <a:rPr lang="en-US" sz="1600" dirty="0"/>
              <a:t>function f is idempotent if applying it multiple times doesn’t change the result beyond the first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Formally:    f(f(</a:t>
            </a:r>
            <a:r>
              <a:rPr lang="en-US" sz="1600" dirty="0" err="1" smtClean="0"/>
              <a:t>x,y</a:t>
            </a:r>
            <a:r>
              <a:rPr lang="en-US" sz="1600" dirty="0"/>
              <a:t>),z</a:t>
            </a:r>
            <a:r>
              <a:rPr lang="en-US" sz="1600" dirty="0" smtClean="0"/>
              <a:t>) = f(</a:t>
            </a:r>
            <a:r>
              <a:rPr lang="en-US" sz="1600" dirty="0" err="1" smtClean="0"/>
              <a:t>x,y,z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In </a:t>
            </a:r>
            <a:r>
              <a:rPr lang="en-US" sz="1600" dirty="0"/>
              <a:t>the context of Sparse Tables, this means overlapping intervals can be combined without affecting correctness.</a:t>
            </a:r>
          </a:p>
          <a:p>
            <a:endParaRPr lang="en-US" sz="1600" dirty="0" smtClean="0"/>
          </a:p>
          <a:p>
            <a:r>
              <a:rPr lang="en-US" sz="1600" b="1" dirty="0"/>
              <a:t>Examples of Idempotent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Minimum</a:t>
            </a:r>
            <a:r>
              <a:rPr lang="en-US" sz="1600" b="1" dirty="0"/>
              <a:t>: </a:t>
            </a:r>
            <a:r>
              <a:rPr lang="en-US" sz="1600" dirty="0"/>
              <a:t>min⁡(min⁡(</a:t>
            </a:r>
            <a:r>
              <a:rPr lang="en-US" sz="1600" dirty="0" err="1"/>
              <a:t>a,b</a:t>
            </a:r>
            <a:r>
              <a:rPr lang="en-US" sz="1600" dirty="0"/>
              <a:t>),c)=min⁡(</a:t>
            </a:r>
            <a:r>
              <a:rPr lang="en-US" sz="1600" dirty="0" err="1"/>
              <a:t>a,b,c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Maximum</a:t>
            </a:r>
            <a:r>
              <a:rPr lang="en-US" sz="1600" b="1" dirty="0"/>
              <a:t>: </a:t>
            </a:r>
            <a:r>
              <a:rPr lang="en-US" sz="1600" dirty="0"/>
              <a:t>max⁡(max⁡(</a:t>
            </a:r>
            <a:r>
              <a:rPr lang="en-US" sz="1600" dirty="0" err="1"/>
              <a:t>a,b</a:t>
            </a:r>
            <a:r>
              <a:rPr lang="en-US" sz="1600" dirty="0"/>
              <a:t>),c)=max⁡(</a:t>
            </a:r>
            <a:r>
              <a:rPr lang="en-US" sz="1600" dirty="0" err="1"/>
              <a:t>a,b,c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GCD</a:t>
            </a:r>
            <a:r>
              <a:rPr lang="en-US" sz="1600" b="1" dirty="0"/>
              <a:t>: </a:t>
            </a:r>
            <a:r>
              <a:rPr lang="en-US" sz="1600" dirty="0" err="1"/>
              <a:t>gcd</a:t>
            </a:r>
            <a:r>
              <a:rPr lang="en-US" sz="1600" dirty="0"/>
              <a:t>⁡(</a:t>
            </a:r>
            <a:r>
              <a:rPr lang="en-US" sz="1600" dirty="0" err="1"/>
              <a:t>gcd</a:t>
            </a:r>
            <a:r>
              <a:rPr lang="en-US" sz="1600" dirty="0"/>
              <a:t>⁡(</a:t>
            </a:r>
            <a:r>
              <a:rPr lang="en-US" sz="1600" dirty="0" err="1"/>
              <a:t>a,b</a:t>
            </a:r>
            <a:r>
              <a:rPr lang="en-US" sz="1600" dirty="0"/>
              <a:t>),c)=</a:t>
            </a:r>
            <a:r>
              <a:rPr lang="en-US" sz="1600" dirty="0" err="1"/>
              <a:t>gcd</a:t>
            </a:r>
            <a:r>
              <a:rPr lang="en-US" sz="1600" dirty="0"/>
              <a:t>⁡(</a:t>
            </a:r>
            <a:r>
              <a:rPr lang="en-US" sz="1600" dirty="0" err="1"/>
              <a:t>a,b,c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Bitwise </a:t>
            </a:r>
            <a:r>
              <a:rPr lang="en-US" sz="1600" b="1" dirty="0"/>
              <a:t>AND / 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(</a:t>
            </a:r>
            <a:r>
              <a:rPr lang="en-US" sz="1600" dirty="0" err="1"/>
              <a:t>a&amp;b</a:t>
            </a:r>
            <a:r>
              <a:rPr lang="en-US" sz="1600" dirty="0"/>
              <a:t>)&amp;c=</a:t>
            </a:r>
            <a:r>
              <a:rPr lang="en-US" sz="1600" dirty="0" err="1"/>
              <a:t>a&amp;b&amp;c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(</a:t>
            </a:r>
            <a:r>
              <a:rPr lang="en-US" sz="1600" dirty="0" err="1"/>
              <a:t>a∣b</a:t>
            </a:r>
            <a:r>
              <a:rPr lang="en-US" sz="1600" dirty="0"/>
              <a:t>)∣c=</a:t>
            </a:r>
            <a:r>
              <a:rPr lang="en-US" sz="1600" dirty="0" err="1"/>
              <a:t>a∣b∣</a:t>
            </a:r>
            <a:r>
              <a:rPr lang="en-US" sz="1600" dirty="0" err="1" smtClean="0"/>
              <a:t>c</a:t>
            </a:r>
            <a:r>
              <a:rPr lang="en-US" sz="1600" dirty="0" smtClean="0"/>
              <a:t>	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These are all idempotent and associative, which is why Sparse Tables can use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4848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>
                <a:solidFill>
                  <a:srgbClr val="FF0000"/>
                </a:solidFill>
              </a:rPr>
              <a:t>Idempotent Functions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Why </a:t>
            </a:r>
            <a:r>
              <a:rPr lang="en-US" b="1" dirty="0" err="1"/>
              <a:t>Idempotence</a:t>
            </a:r>
            <a:r>
              <a:rPr lang="en-US" b="1" dirty="0"/>
              <a:t> Matters in Sparse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Sparse </a:t>
            </a:r>
            <a:r>
              <a:rPr lang="en-US" sz="1600" dirty="0"/>
              <a:t>Table answers queries by splitting a range [L,R] into two overlapping intervals of length 2</a:t>
            </a:r>
            <a:r>
              <a:rPr lang="en-US" sz="1600" baseline="30000" dirty="0"/>
              <a:t>k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</a:t>
            </a:r>
            <a:r>
              <a:rPr lang="en-US" sz="1600" dirty="0"/>
              <a:t>the function is idempotent, combining overlapping results still gives the correct answer.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Example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Query </a:t>
            </a:r>
            <a:r>
              <a:rPr lang="en-US" sz="1600" dirty="0"/>
              <a:t>[2,7] → split into intervals of length 4: [2,5] and [4,7].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Even </a:t>
            </a:r>
            <a:r>
              <a:rPr lang="en-US" sz="1600" dirty="0"/>
              <a:t>though they overlap at index 4–5, </a:t>
            </a:r>
            <a:r>
              <a:rPr lang="en-US" sz="1600" dirty="0" err="1"/>
              <a:t>idempotence</a:t>
            </a:r>
            <a:r>
              <a:rPr lang="en-US" sz="1600" dirty="0"/>
              <a:t> ensures correctness.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Properties of Sparse Table with Idempotent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Static</a:t>
            </a:r>
            <a:r>
              <a:rPr lang="en-US" sz="1600" dirty="0"/>
              <a:t>: Works only on immutable arrays (updates not supported).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Preprocessing</a:t>
            </a:r>
            <a:r>
              <a:rPr lang="en-US" sz="1600" dirty="0"/>
              <a:t>: O(</a:t>
            </a:r>
            <a:r>
              <a:rPr lang="en-US" sz="1600" dirty="0" err="1"/>
              <a:t>nlog⁡n</a:t>
            </a:r>
            <a:r>
              <a:rPr lang="en-US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Query</a:t>
            </a:r>
            <a:r>
              <a:rPr lang="en-US" sz="1600" dirty="0"/>
              <a:t>: O(1).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Memory</a:t>
            </a:r>
            <a:r>
              <a:rPr lang="en-US" sz="1600" dirty="0"/>
              <a:t>: O(</a:t>
            </a:r>
            <a:r>
              <a:rPr lang="en-US" sz="1600" dirty="0" err="1"/>
              <a:t>nlog⁡n</a:t>
            </a:r>
            <a:r>
              <a:rPr lang="en-US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Operations supported</a:t>
            </a:r>
            <a:r>
              <a:rPr lang="en-US" sz="1600" dirty="0"/>
              <a:t>: Only idempotent ones (min, max, </a:t>
            </a:r>
            <a:r>
              <a:rPr lang="en-US" sz="1600" dirty="0" err="1"/>
              <a:t>gcd</a:t>
            </a:r>
            <a:r>
              <a:rPr lang="en-US" sz="1600" dirty="0"/>
              <a:t>, AND, 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Not supported</a:t>
            </a:r>
            <a:r>
              <a:rPr lang="en-US" sz="1600" dirty="0"/>
              <a:t>: Non-idempotent operations like sum or XOR (because overlapping intervals would double-count).</a:t>
            </a:r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113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>
                <a:solidFill>
                  <a:srgbClr val="FF0000"/>
                </a:solidFill>
              </a:rPr>
              <a:t>Idempotent Functions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8" y="980901"/>
            <a:ext cx="4401164" cy="577734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820" y="980901"/>
            <a:ext cx="4534533" cy="57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2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>
                <a:solidFill>
                  <a:srgbClr val="FF0000"/>
                </a:solidFill>
              </a:rPr>
              <a:t>Idempotent Functions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3" y="942025"/>
            <a:ext cx="5525271" cy="36771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029" y="1980578"/>
            <a:ext cx="5096586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1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>
                <a:solidFill>
                  <a:srgbClr val="FF0000"/>
                </a:solidFill>
              </a:rPr>
              <a:t>Idempotent Functions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b="1" dirty="0" smtClean="0"/>
              <a:t>Inputs</a:t>
            </a:r>
          </a:p>
          <a:p>
            <a:endParaRPr lang="en-IN" b="1" dirty="0"/>
          </a:p>
          <a:p>
            <a:r>
              <a:rPr lang="en-IN" sz="1600" dirty="0"/>
              <a:t>Array of </a:t>
            </a:r>
            <a:r>
              <a:rPr lang="en-IN" sz="1600" dirty="0" smtClean="0"/>
              <a:t>integers</a:t>
            </a:r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r>
              <a:rPr lang="en-IN" sz="1600" dirty="0"/>
              <a:t>This is the dataset on which range queries will be performed.</a:t>
            </a:r>
          </a:p>
          <a:p>
            <a:endParaRPr lang="en-IN" sz="1600" dirty="0"/>
          </a:p>
          <a:p>
            <a:r>
              <a:rPr lang="en-IN" sz="1600" dirty="0"/>
              <a:t>Operation type ("min", "max", "and", "</a:t>
            </a:r>
            <a:r>
              <a:rPr lang="en-IN" sz="1600" dirty="0" err="1"/>
              <a:t>gcd</a:t>
            </a:r>
            <a:r>
              <a:rPr lang="en-IN" sz="1600" dirty="0"/>
              <a:t>")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"min" → Range Minimum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"</a:t>
            </a:r>
            <a:r>
              <a:rPr lang="en-IN" sz="1600" dirty="0"/>
              <a:t>max" → Range Maximum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"</a:t>
            </a:r>
            <a:r>
              <a:rPr lang="en-IN" sz="1600" dirty="0"/>
              <a:t>and" → Range Bitwise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"</a:t>
            </a:r>
            <a:r>
              <a:rPr lang="en-IN" sz="1600" dirty="0" err="1"/>
              <a:t>gcd</a:t>
            </a:r>
            <a:r>
              <a:rPr lang="en-IN" sz="1600" dirty="0"/>
              <a:t>" → Range Greatest Common Divisor</a:t>
            </a:r>
          </a:p>
          <a:p>
            <a:endParaRPr lang="en-IN" sz="1600" dirty="0"/>
          </a:p>
          <a:p>
            <a:r>
              <a:rPr lang="en-IN" sz="1600" dirty="0"/>
              <a:t>So the same Sparse Table framework is reused for different idempotent functions.</a:t>
            </a:r>
            <a:endParaRPr lang="en-IN" sz="1600" dirty="0" smtClean="0"/>
          </a:p>
          <a:p>
            <a:endParaRPr lang="en-IN" sz="1600" dirty="0"/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7" y="2015985"/>
            <a:ext cx="240063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>
                <a:solidFill>
                  <a:srgbClr val="FF0000"/>
                </a:solidFill>
              </a:rPr>
              <a:t>Idempotent Functions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b="1" dirty="0" smtClean="0"/>
              <a:t>Processing</a:t>
            </a: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79" y="1405468"/>
            <a:ext cx="6382641" cy="514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86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>
                <a:solidFill>
                  <a:srgbClr val="FF0000"/>
                </a:solidFill>
              </a:rPr>
              <a:t>Idempotent Functions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b="1" dirty="0"/>
              <a:t>Outputs</a:t>
            </a:r>
          </a:p>
          <a:p>
            <a:endParaRPr lang="en-IN" b="1" dirty="0" smtClean="0"/>
          </a:p>
          <a:p>
            <a:r>
              <a:rPr lang="en-IN" sz="1600" dirty="0" smtClean="0"/>
              <a:t>The </a:t>
            </a:r>
            <a:r>
              <a:rPr lang="en-IN" sz="1600" dirty="0"/>
              <a:t>program runs three queries:</a:t>
            </a:r>
          </a:p>
          <a:p>
            <a:endParaRPr lang="en-IN" sz="1600" dirty="0"/>
          </a:p>
          <a:p>
            <a:r>
              <a:rPr lang="en-IN" sz="1600" b="1" dirty="0"/>
              <a:t>MIN (1–4)</a:t>
            </a:r>
          </a:p>
          <a:p>
            <a:r>
              <a:rPr lang="en-IN" sz="1600" dirty="0" err="1" smtClean="0"/>
              <a:t>Subarray</a:t>
            </a:r>
            <a:r>
              <a:rPr lang="en-IN" sz="1600" dirty="0"/>
              <a:t>: {2, 8, 1, 3}</a:t>
            </a:r>
          </a:p>
          <a:p>
            <a:r>
              <a:rPr lang="en-IN" sz="1600" dirty="0" smtClean="0"/>
              <a:t>Minimum </a:t>
            </a:r>
            <a:r>
              <a:rPr lang="en-IN" sz="1600" dirty="0"/>
              <a:t>= 1</a:t>
            </a:r>
          </a:p>
          <a:p>
            <a:r>
              <a:rPr lang="en-IN" sz="1600" dirty="0" smtClean="0"/>
              <a:t>Output</a:t>
            </a:r>
            <a:r>
              <a:rPr lang="en-IN" sz="1600" dirty="0"/>
              <a:t>:</a:t>
            </a:r>
          </a:p>
          <a:p>
            <a:endParaRPr lang="en-IN" sz="1600" dirty="0" smtClean="0"/>
          </a:p>
          <a:p>
            <a:endParaRPr lang="en-IN" sz="1600" dirty="0"/>
          </a:p>
          <a:p>
            <a:r>
              <a:rPr lang="en-IN" sz="1600" b="1" dirty="0"/>
              <a:t>MAX (0–3)</a:t>
            </a:r>
          </a:p>
          <a:p>
            <a:r>
              <a:rPr lang="en-IN" sz="1600" dirty="0" err="1" smtClean="0"/>
              <a:t>Subarray</a:t>
            </a:r>
            <a:r>
              <a:rPr lang="en-IN" sz="1600" dirty="0"/>
              <a:t>: {5, 2, 8, 1}</a:t>
            </a:r>
          </a:p>
          <a:p>
            <a:r>
              <a:rPr lang="en-IN" sz="1600" dirty="0" smtClean="0"/>
              <a:t>Maximum </a:t>
            </a:r>
            <a:r>
              <a:rPr lang="en-IN" sz="1600" dirty="0"/>
              <a:t>= 8</a:t>
            </a:r>
          </a:p>
          <a:p>
            <a:r>
              <a:rPr lang="en-IN" sz="1600" dirty="0" smtClean="0"/>
              <a:t>Output</a:t>
            </a:r>
            <a:r>
              <a:rPr lang="en-IN" sz="1600" dirty="0"/>
              <a:t>:</a:t>
            </a:r>
          </a:p>
          <a:p>
            <a:endParaRPr lang="en-IN" sz="1600" dirty="0" smtClean="0"/>
          </a:p>
          <a:p>
            <a:endParaRPr lang="en-IN" sz="1600" dirty="0" smtClean="0"/>
          </a:p>
          <a:p>
            <a:r>
              <a:rPr lang="en-IN" sz="1600" b="1" dirty="0" smtClean="0"/>
              <a:t>AND </a:t>
            </a:r>
            <a:r>
              <a:rPr lang="en-IN" sz="1600" b="1" dirty="0"/>
              <a:t>(0–2)</a:t>
            </a:r>
          </a:p>
          <a:p>
            <a:r>
              <a:rPr lang="en-IN" sz="1600" dirty="0" err="1" smtClean="0"/>
              <a:t>Subarray</a:t>
            </a:r>
            <a:r>
              <a:rPr lang="en-IN" sz="1600" dirty="0"/>
              <a:t>: {5, 2, 8}</a:t>
            </a:r>
          </a:p>
          <a:p>
            <a:r>
              <a:rPr lang="en-IN" sz="1600" dirty="0" smtClean="0"/>
              <a:t>Bitwise </a:t>
            </a:r>
            <a:r>
              <a:rPr lang="en-IN" sz="1600" dirty="0"/>
              <a:t>AND = 5 &amp; 2 &amp; 8 = 0</a:t>
            </a:r>
          </a:p>
          <a:p>
            <a:endParaRPr lang="en-IN" sz="1600" dirty="0"/>
          </a:p>
          <a:p>
            <a:r>
              <a:rPr lang="en-IN" sz="1600" dirty="0"/>
              <a:t>Output: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62" y="2860851"/>
            <a:ext cx="1190791" cy="371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62" y="4323890"/>
            <a:ext cx="1200318" cy="37152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241" y="5968689"/>
            <a:ext cx="1171739" cy="39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5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err="1">
                <a:solidFill>
                  <a:srgbClr val="FF0000"/>
                </a:solidFill>
              </a:rPr>
              <a:t>Preprocessing</a:t>
            </a:r>
            <a:r>
              <a:rPr lang="en-IN" b="1" dirty="0">
                <a:solidFill>
                  <a:srgbClr val="FF0000"/>
                </a:solidFill>
              </a:rPr>
              <a:t> O(n log n)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Range Query Trees – Sparse Table – </a:t>
            </a:r>
            <a:r>
              <a:rPr lang="en-US" b="1" dirty="0" smtClean="0"/>
              <a:t>Preprocessing</a:t>
            </a:r>
          </a:p>
          <a:p>
            <a:endParaRPr lang="en-US" b="1" dirty="0"/>
          </a:p>
          <a:p>
            <a:r>
              <a:rPr lang="en-US" b="1" dirty="0"/>
              <a:t>1. Sparse Table Basics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Sparse Table is a </a:t>
            </a:r>
            <a:r>
              <a:rPr lang="en-US" b="1" dirty="0"/>
              <a:t>static range query structure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</a:t>
            </a:r>
            <a:r>
              <a:rPr lang="en-US" dirty="0" err="1"/>
              <a:t>precomputes</a:t>
            </a:r>
            <a:r>
              <a:rPr lang="en-US" dirty="0"/>
              <a:t> answers for intervals of length 2j.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built, queries are answered in O(1).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building the table requires </a:t>
            </a:r>
            <a:r>
              <a:rPr lang="en-US" b="1" dirty="0"/>
              <a:t>preprocessing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671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err="1">
                <a:solidFill>
                  <a:srgbClr val="FF0000"/>
                </a:solidFill>
              </a:rPr>
              <a:t>Preprocessing</a:t>
            </a:r>
            <a:r>
              <a:rPr lang="en-IN" b="1" dirty="0">
                <a:solidFill>
                  <a:srgbClr val="FF0000"/>
                </a:solidFill>
              </a:rPr>
              <a:t> O(n log n)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Range Query Trees – Sparse Table – </a:t>
            </a:r>
            <a:r>
              <a:rPr lang="en-US" b="1" dirty="0" smtClean="0"/>
              <a:t>Preprocessing</a:t>
            </a:r>
          </a:p>
          <a:p>
            <a:endParaRPr lang="en-US" b="1" dirty="0"/>
          </a:p>
          <a:p>
            <a:r>
              <a:rPr lang="en-IN" dirty="0"/>
              <a:t>2. </a:t>
            </a:r>
            <a:r>
              <a:rPr lang="en-IN" b="1" dirty="0" err="1"/>
              <a:t>Preprocessing</a:t>
            </a:r>
            <a:r>
              <a:rPr lang="en-IN" b="1" dirty="0"/>
              <a:t> Complexity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68" y="2072272"/>
            <a:ext cx="5020376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8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err="1">
                <a:solidFill>
                  <a:srgbClr val="FF0000"/>
                </a:solidFill>
              </a:rPr>
              <a:t>Preprocessing</a:t>
            </a:r>
            <a:r>
              <a:rPr lang="en-IN" b="1" dirty="0">
                <a:solidFill>
                  <a:srgbClr val="FF0000"/>
                </a:solidFill>
              </a:rPr>
              <a:t> O(n log n)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Range Query Trees – Sparse Table – </a:t>
            </a:r>
            <a:r>
              <a:rPr lang="en-US" b="1" dirty="0" smtClean="0"/>
              <a:t>Preprocessing</a:t>
            </a:r>
          </a:p>
          <a:p>
            <a:endParaRPr lang="en-US" b="1" dirty="0"/>
          </a:p>
          <a:p>
            <a:r>
              <a:rPr lang="pt-BR" dirty="0"/>
              <a:t>3. </a:t>
            </a:r>
            <a:r>
              <a:rPr lang="pt-BR" b="1" dirty="0"/>
              <a:t>Why O(n log n)?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60" y="2072272"/>
            <a:ext cx="4801270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07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err="1">
                <a:solidFill>
                  <a:srgbClr val="FF0000"/>
                </a:solidFill>
              </a:rPr>
              <a:t>Preprocessing</a:t>
            </a:r>
            <a:r>
              <a:rPr lang="en-IN" b="1" dirty="0">
                <a:solidFill>
                  <a:srgbClr val="FF0000"/>
                </a:solidFill>
              </a:rPr>
              <a:t> O(n log n)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Range Query Trees – Sparse Table – </a:t>
            </a:r>
            <a:r>
              <a:rPr lang="en-US" b="1" dirty="0" smtClean="0"/>
              <a:t>Preprocessing</a:t>
            </a:r>
          </a:p>
          <a:p>
            <a:endParaRPr lang="en-US" b="1" dirty="0"/>
          </a:p>
          <a:p>
            <a:r>
              <a:rPr lang="en-US" b="1" dirty="0"/>
              <a:t>Properties of </a:t>
            </a:r>
            <a:r>
              <a:rPr lang="en-US" b="1" dirty="0" smtClean="0"/>
              <a:t>Preprocessing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Static</a:t>
            </a:r>
            <a:r>
              <a:rPr lang="en-US" dirty="0"/>
              <a:t>: Once built, queries are fast but updates are not supported.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Memory</a:t>
            </a:r>
            <a:r>
              <a:rPr lang="en-US" dirty="0"/>
              <a:t>: O(</a:t>
            </a:r>
            <a:r>
              <a:rPr lang="en-US" dirty="0" err="1"/>
              <a:t>nlog⁡n</a:t>
            </a:r>
            <a:r>
              <a:rPr lang="en-US" dirty="0"/>
              <a:t>) space to store all intervals.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Query</a:t>
            </a:r>
            <a:r>
              <a:rPr lang="en-US" dirty="0"/>
              <a:t>: O(1) because only two </a:t>
            </a:r>
            <a:r>
              <a:rPr lang="en-US" dirty="0" err="1"/>
              <a:t>precomputed</a:t>
            </a:r>
            <a:r>
              <a:rPr lang="en-US" dirty="0"/>
              <a:t> intervals are combined.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Trade-off</a:t>
            </a:r>
            <a:r>
              <a:rPr lang="en-US" dirty="0"/>
              <a:t>: Heavy preprocessing upfront, but lightning-fast queries later.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441298"/>
              </p:ext>
            </p:extLst>
          </p:nvPr>
        </p:nvGraphicFramePr>
        <p:xfrm>
          <a:off x="249381" y="3781007"/>
          <a:ext cx="10515600" cy="1463040"/>
        </p:xfrm>
        <a:graphic>
          <a:graphicData uri="http://schemas.openxmlformats.org/drawingml/2006/table">
            <a:tbl>
              <a:tblPr/>
              <a:tblGrid>
                <a:gridCol w="1679172"/>
                <a:gridCol w="2053243"/>
                <a:gridCol w="2019993"/>
                <a:gridCol w="1820487"/>
                <a:gridCol w="2942705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Preprocessing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Query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Best 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Segment Tree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O(log⁡n)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Dynamic arrays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Fenwick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Prefix sums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Sparse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</a:t>
                      </a:r>
                      <a:r>
                        <a:rPr lang="en-IN" dirty="0" err="1"/>
                        <a:t>nlog⁡n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Static arrays, many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49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err="1">
                <a:solidFill>
                  <a:srgbClr val="FF0000"/>
                </a:solidFill>
              </a:rPr>
              <a:t>Preprocessing</a:t>
            </a:r>
            <a:r>
              <a:rPr lang="en-IN" b="1" dirty="0">
                <a:solidFill>
                  <a:srgbClr val="FF0000"/>
                </a:solidFill>
              </a:rPr>
              <a:t> O(n log n)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82" y="997527"/>
            <a:ext cx="4639322" cy="57856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143" y="997527"/>
            <a:ext cx="4486901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9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err="1">
                <a:solidFill>
                  <a:srgbClr val="FF0000"/>
                </a:solidFill>
              </a:rPr>
              <a:t>Preprocessing</a:t>
            </a:r>
            <a:r>
              <a:rPr lang="en-IN" b="1" dirty="0">
                <a:solidFill>
                  <a:srgbClr val="FF0000"/>
                </a:solidFill>
              </a:rPr>
              <a:t> O(n log n)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0" y="1128469"/>
            <a:ext cx="5801594" cy="171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6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err="1">
                <a:solidFill>
                  <a:srgbClr val="FF0000"/>
                </a:solidFill>
              </a:rPr>
              <a:t>Preprocessing</a:t>
            </a:r>
            <a:r>
              <a:rPr lang="en-IN" b="1" dirty="0">
                <a:solidFill>
                  <a:srgbClr val="FF0000"/>
                </a:solidFill>
              </a:rPr>
              <a:t> O(n log n)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Inputs</a:t>
            </a:r>
            <a:endParaRPr lang="en-US" b="1" dirty="0"/>
          </a:p>
          <a:p>
            <a:r>
              <a:rPr lang="en-US" dirty="0"/>
              <a:t>The program takes an integer array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This array is passed to the SparseTable6 constructor.</a:t>
            </a:r>
          </a:p>
          <a:p>
            <a:endParaRPr lang="en-US" dirty="0"/>
          </a:p>
          <a:p>
            <a:r>
              <a:rPr lang="en-US" dirty="0"/>
              <a:t>The goal is to answer Range Minimum Queries (RMQ) efficiently.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18" y="1776955"/>
            <a:ext cx="3068184" cy="4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13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err="1">
                <a:solidFill>
                  <a:srgbClr val="FF0000"/>
                </a:solidFill>
              </a:rPr>
              <a:t>Preprocessing</a:t>
            </a:r>
            <a:r>
              <a:rPr lang="en-IN" b="1" dirty="0">
                <a:solidFill>
                  <a:srgbClr val="FF0000"/>
                </a:solidFill>
              </a:rPr>
              <a:t> O(n log n)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b="1" dirty="0"/>
              <a:t>Processing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08" y="1518274"/>
            <a:ext cx="6087325" cy="509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61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IN" b="1" dirty="0" err="1">
                <a:solidFill>
                  <a:srgbClr val="FF0000"/>
                </a:solidFill>
              </a:rPr>
              <a:t>Preprocessing</a:t>
            </a:r>
            <a:r>
              <a:rPr lang="en-IN" b="1" dirty="0">
                <a:solidFill>
                  <a:srgbClr val="FF0000"/>
                </a:solidFill>
              </a:rPr>
              <a:t> O(n log n)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Outputs</a:t>
            </a:r>
          </a:p>
          <a:p>
            <a:endParaRPr lang="en-US" b="1" dirty="0"/>
          </a:p>
          <a:p>
            <a:r>
              <a:rPr lang="en-US" sz="1600" dirty="0"/>
              <a:t>The program runs three queries:</a:t>
            </a:r>
          </a:p>
          <a:p>
            <a:endParaRPr lang="en-US" sz="1600" dirty="0"/>
          </a:p>
          <a:p>
            <a:r>
              <a:rPr lang="en-US" sz="1600" b="1" dirty="0"/>
              <a:t>RMQ(1,4) </a:t>
            </a:r>
            <a:r>
              <a:rPr lang="en-US" sz="1600" dirty="0"/>
              <a:t>→ minimum of </a:t>
            </a:r>
            <a:r>
              <a:rPr lang="en-US" sz="1600" dirty="0" err="1"/>
              <a:t>arr</a:t>
            </a:r>
            <a:r>
              <a:rPr lang="en-US" sz="1600" dirty="0"/>
              <a:t>[1..4] = min(2,8,3,1) = 1  </a:t>
            </a:r>
          </a:p>
          <a:p>
            <a:endParaRPr lang="en-US" sz="1600" dirty="0" smtClean="0"/>
          </a:p>
          <a:p>
            <a:r>
              <a:rPr lang="en-US" sz="1600" dirty="0" smtClean="0"/>
              <a:t>Output:</a:t>
            </a:r>
          </a:p>
          <a:p>
            <a:endParaRPr lang="en-US" sz="1600" dirty="0">
              <a:solidFill>
                <a:srgbClr val="FF0000"/>
              </a:solidFill>
            </a:endParaRPr>
          </a:p>
          <a:p>
            <a:endParaRPr lang="en-US" sz="1600" dirty="0" smtClean="0">
              <a:solidFill>
                <a:srgbClr val="FF0000"/>
              </a:solidFill>
            </a:endParaRPr>
          </a:p>
          <a:p>
            <a:r>
              <a:rPr lang="en-US" sz="1600" b="1" dirty="0" smtClean="0"/>
              <a:t>RMQ(0,5</a:t>
            </a:r>
            <a:r>
              <a:rPr lang="en-US" sz="1600" b="1" dirty="0"/>
              <a:t>)</a:t>
            </a:r>
            <a:r>
              <a:rPr lang="en-US" sz="1600" dirty="0"/>
              <a:t> → minimum of </a:t>
            </a:r>
            <a:r>
              <a:rPr lang="en-US" sz="1600" dirty="0" err="1"/>
              <a:t>arr</a:t>
            </a:r>
            <a:r>
              <a:rPr lang="en-US" sz="1600" dirty="0"/>
              <a:t>[0..5] = min(6,2,8,3,1,7) = </a:t>
            </a:r>
            <a:r>
              <a:rPr lang="en-US" sz="1600" b="1" dirty="0"/>
              <a:t>1</a:t>
            </a:r>
            <a:r>
              <a:rPr lang="en-US" sz="1600" dirty="0"/>
              <a:t> 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Output:</a:t>
            </a:r>
          </a:p>
          <a:p>
            <a:endParaRPr lang="en-US" sz="1600" dirty="0" smtClean="0">
              <a:solidFill>
                <a:srgbClr val="FF0000"/>
              </a:solidFill>
            </a:endParaRP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b="1" dirty="0"/>
              <a:t>RMQ(2,3)</a:t>
            </a:r>
            <a:r>
              <a:rPr lang="en-US" sz="1600" dirty="0"/>
              <a:t> → minimum of </a:t>
            </a:r>
            <a:r>
              <a:rPr lang="en-US" sz="1600" dirty="0" err="1"/>
              <a:t>arr</a:t>
            </a:r>
            <a:r>
              <a:rPr lang="en-US" sz="1600" dirty="0"/>
              <a:t>[2..3] = min(8,3) = </a:t>
            </a:r>
            <a:r>
              <a:rPr lang="en-US" sz="1600" b="1" dirty="0"/>
              <a:t>3</a:t>
            </a:r>
            <a:r>
              <a:rPr lang="en-US" sz="1600" dirty="0"/>
              <a:t> 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Output</a:t>
            </a:r>
            <a:r>
              <a:rPr lang="en-US" sz="1600" dirty="0"/>
              <a:t>:</a:t>
            </a:r>
            <a:endParaRPr lang="en-US" sz="1600" dirty="0" smtClean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5" y="2561210"/>
            <a:ext cx="1095528" cy="3429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6" y="3810929"/>
            <a:ext cx="1124107" cy="3334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6" y="5032837"/>
            <a:ext cx="1152686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865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– 2D Sparse Table</a:t>
            </a:r>
          </a:p>
          <a:p>
            <a:endParaRPr lang="en-IN" b="1" dirty="0" smtClean="0"/>
          </a:p>
          <a:p>
            <a:r>
              <a:rPr lang="en-US" dirty="0"/>
              <a:t>A 2D Sparse Table is a variant of the Sparse Table designed for matrices, allowing fast range queries (like minimum, maximum, or GCD) over </a:t>
            </a:r>
            <a:r>
              <a:rPr lang="en-US" dirty="0" err="1"/>
              <a:t>subrectangles</a:t>
            </a:r>
            <a:r>
              <a:rPr lang="en-US" dirty="0"/>
              <a:t> in constant time after heavy preprocessing. It is static, meaning updates are not supported, but queries are extremely efficient</a:t>
            </a:r>
            <a:r>
              <a:rPr lang="en-US" dirty="0" smtClean="0"/>
              <a:t>.</a:t>
            </a:r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4" y="2626269"/>
            <a:ext cx="7020905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9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– 2D Sparse Table</a:t>
            </a:r>
          </a:p>
          <a:p>
            <a:endParaRPr lang="en-IN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1" y="1324566"/>
            <a:ext cx="5620534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8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– 2D Sparse Table</a:t>
            </a:r>
          </a:p>
          <a:p>
            <a:endParaRPr lang="en-IN" b="1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2" y="1241275"/>
            <a:ext cx="6315956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2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– 2D Sparse Table</a:t>
            </a:r>
          </a:p>
          <a:p>
            <a:endParaRPr lang="en-IN" b="1" dirty="0" smtClean="0"/>
          </a:p>
          <a:p>
            <a:r>
              <a:rPr lang="en-IN" b="1" dirty="0"/>
              <a:t>4. Example</a:t>
            </a:r>
          </a:p>
          <a:p>
            <a:endParaRPr lang="en-IN" dirty="0" smtClean="0"/>
          </a:p>
          <a:p>
            <a:r>
              <a:rPr lang="en-IN" dirty="0" smtClean="0"/>
              <a:t>Matrix: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dirty="0"/>
              <a:t>Queries</a:t>
            </a:r>
            <a:r>
              <a:rPr lang="en-IN" dirty="0" smtClean="0"/>
              <a:t>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Min(0,0 → 3,3)</a:t>
            </a:r>
            <a:r>
              <a:rPr lang="en-IN" dirty="0"/>
              <a:t> → minimum of entire matrix = </a:t>
            </a:r>
            <a:r>
              <a:rPr lang="en-IN" b="1" dirty="0"/>
              <a:t>1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Min(1,1 → 2,2)</a:t>
            </a:r>
            <a:r>
              <a:rPr lang="en-IN" dirty="0"/>
              <a:t> → </a:t>
            </a:r>
            <a:r>
              <a:rPr lang="en-IN" dirty="0" err="1"/>
              <a:t>submatrix</a:t>
            </a:r>
            <a:r>
              <a:rPr lang="en-IN" dirty="0"/>
              <a:t> = {2,9,4,7} → minimum = </a:t>
            </a:r>
            <a:r>
              <a:rPr lang="en-IN" b="1" dirty="0"/>
              <a:t>2</a:t>
            </a:r>
            <a:endParaRPr lang="en-IN" dirty="0"/>
          </a:p>
          <a:p>
            <a:endParaRPr lang="en-IN" dirty="0"/>
          </a:p>
          <a:p>
            <a:endParaRPr lang="en-IN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01" y="2114311"/>
            <a:ext cx="1066949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47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– 2D Sparse Table</a:t>
            </a:r>
          </a:p>
          <a:p>
            <a:endParaRPr lang="en-IN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49" y="1128469"/>
            <a:ext cx="6906589" cy="2048161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702011"/>
              </p:ext>
            </p:extLst>
          </p:nvPr>
        </p:nvGraphicFramePr>
        <p:xfrm>
          <a:off x="123949" y="3751912"/>
          <a:ext cx="10515600" cy="146304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Variant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Preprocessing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Query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Best 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1D Sparse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nlog⁡n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Static arrays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2D Sparse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O(nmlog⁡nlog⁡m)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Static matrices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Segment Tree 2D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log⁡nlog⁡m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Dynamic matrices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73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– 2D Sparse Table</a:t>
            </a:r>
          </a:p>
          <a:p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74" y="1006064"/>
            <a:ext cx="4686954" cy="54776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949" y="943803"/>
            <a:ext cx="5039428" cy="573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9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– 2D Sparse Table</a:t>
            </a:r>
          </a:p>
          <a:p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73" y="922713"/>
            <a:ext cx="7163800" cy="582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2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– 2D Sparse Table</a:t>
            </a:r>
          </a:p>
          <a:p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63" y="1110058"/>
            <a:ext cx="4648849" cy="36581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410" y="1934836"/>
            <a:ext cx="5898709" cy="163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3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– 2D Sparse Table</a:t>
            </a:r>
          </a:p>
          <a:p>
            <a:endParaRPr lang="en-IN" b="1" dirty="0" smtClean="0"/>
          </a:p>
          <a:p>
            <a:r>
              <a:rPr lang="en-US" b="1" dirty="0"/>
              <a:t>Inputs</a:t>
            </a:r>
          </a:p>
          <a:p>
            <a:r>
              <a:rPr lang="en-US" sz="1600" dirty="0"/>
              <a:t>The program takes a </a:t>
            </a:r>
            <a:r>
              <a:rPr lang="en-US" sz="1600" b="1" dirty="0"/>
              <a:t>2D integer matrix</a:t>
            </a:r>
            <a:r>
              <a:rPr lang="en-US" sz="1600" dirty="0"/>
              <a:t>:</a:t>
            </a:r>
          </a:p>
          <a:p>
            <a:endParaRPr lang="en-IN" sz="1600" b="1" dirty="0" smtClean="0"/>
          </a:p>
          <a:p>
            <a:endParaRPr lang="en-IN" sz="1600" b="1" dirty="0"/>
          </a:p>
          <a:p>
            <a:endParaRPr lang="en-IN" sz="1600" b="1" dirty="0" smtClean="0"/>
          </a:p>
          <a:p>
            <a:endParaRPr lang="en-IN" sz="1600" b="1" dirty="0"/>
          </a:p>
          <a:p>
            <a:endParaRPr lang="en-IN" sz="1600" b="1" dirty="0" smtClean="0"/>
          </a:p>
          <a:p>
            <a:endParaRPr lang="en-IN" sz="1600" b="1" dirty="0"/>
          </a:p>
          <a:p>
            <a:r>
              <a:rPr lang="en-US" sz="1600" dirty="0"/>
              <a:t>This matrix is passed to the SparseTable2D constructor.</a:t>
            </a:r>
          </a:p>
          <a:p>
            <a:r>
              <a:rPr lang="en-US" sz="1600" dirty="0" smtClean="0"/>
              <a:t>The </a:t>
            </a:r>
            <a:r>
              <a:rPr lang="en-US" sz="1600" dirty="0"/>
              <a:t>goal is to answer 2D Range Minimum Queries efficiently</a:t>
            </a:r>
            <a:r>
              <a:rPr lang="en-US" sz="1600" dirty="0" smtClean="0"/>
              <a:t>.</a:t>
            </a:r>
          </a:p>
          <a:p>
            <a:endParaRPr lang="en-US" sz="1600" b="1" dirty="0"/>
          </a:p>
          <a:p>
            <a:endParaRPr lang="en-IN" sz="1600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31" y="1737417"/>
            <a:ext cx="1640700" cy="103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04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– 2D Sparse Table</a:t>
            </a:r>
          </a:p>
          <a:p>
            <a:endParaRPr lang="en-IN" b="1" dirty="0" smtClean="0"/>
          </a:p>
          <a:p>
            <a:r>
              <a:rPr lang="en-IN" b="1" dirty="0"/>
              <a:t>Processing</a:t>
            </a:r>
            <a:endParaRPr lang="en-US" sz="1600" b="1" dirty="0"/>
          </a:p>
          <a:p>
            <a:endParaRPr lang="en-IN" sz="1600" b="1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8" y="1463041"/>
            <a:ext cx="7230484" cy="513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11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– 2D Sparse Table</a:t>
            </a:r>
          </a:p>
          <a:p>
            <a:endParaRPr lang="en-IN" b="1" dirty="0" smtClean="0"/>
          </a:p>
          <a:p>
            <a:r>
              <a:rPr lang="en-IN" b="1" dirty="0" smtClean="0"/>
              <a:t>Outputs</a:t>
            </a:r>
          </a:p>
          <a:p>
            <a:endParaRPr lang="en-IN" b="1" dirty="0"/>
          </a:p>
          <a:p>
            <a:r>
              <a:rPr lang="en-IN" dirty="0"/>
              <a:t>The program runs two queries:</a:t>
            </a:r>
          </a:p>
          <a:p>
            <a:endParaRPr lang="en-IN" dirty="0"/>
          </a:p>
          <a:p>
            <a:r>
              <a:rPr lang="en-IN" b="1" dirty="0" smtClean="0"/>
              <a:t>1. Min(0,0 </a:t>
            </a:r>
            <a:r>
              <a:rPr lang="en-IN" b="1" dirty="0"/>
              <a:t>→ 2,2)</a:t>
            </a:r>
          </a:p>
          <a:p>
            <a:endParaRPr lang="en-IN" dirty="0"/>
          </a:p>
          <a:p>
            <a:r>
              <a:rPr lang="en-IN" dirty="0" err="1"/>
              <a:t>Submatrix</a:t>
            </a:r>
            <a:r>
              <a:rPr lang="en-IN" dirty="0"/>
              <a:t> = entire 3×3 matrix</a:t>
            </a:r>
          </a:p>
          <a:p>
            <a:r>
              <a:rPr lang="en-IN" dirty="0" smtClean="0"/>
              <a:t>Minimum </a:t>
            </a:r>
            <a:r>
              <a:rPr lang="en-IN" dirty="0"/>
              <a:t>= 1  </a:t>
            </a:r>
          </a:p>
          <a:p>
            <a:r>
              <a:rPr lang="en-IN" dirty="0"/>
              <a:t>Output: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 smtClean="0"/>
              <a:t>2. Min(0,1 </a:t>
            </a:r>
            <a:r>
              <a:rPr lang="en-IN" b="1" dirty="0"/>
              <a:t>→ 2,2</a:t>
            </a:r>
            <a:r>
              <a:rPr lang="en-IN" b="1" dirty="0" smtClean="0"/>
              <a:t>)</a:t>
            </a:r>
          </a:p>
          <a:p>
            <a:endParaRPr lang="en-IN" b="1" dirty="0"/>
          </a:p>
          <a:p>
            <a:r>
              <a:rPr lang="en-IN" dirty="0" err="1"/>
              <a:t>Submatrix</a:t>
            </a:r>
            <a:r>
              <a:rPr lang="en-IN" dirty="0"/>
              <a:t> =</a:t>
            </a:r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Minimum </a:t>
            </a:r>
            <a:r>
              <a:rPr lang="en-IN" dirty="0"/>
              <a:t>= 2  </a:t>
            </a:r>
          </a:p>
          <a:p>
            <a:r>
              <a:rPr lang="en-IN" dirty="0"/>
              <a:t>Output:</a:t>
            </a:r>
            <a:endParaRPr lang="en-IN" sz="16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784" y="2545713"/>
            <a:ext cx="762106" cy="752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003" y="3302448"/>
            <a:ext cx="1676634" cy="37152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991" y="4522685"/>
            <a:ext cx="504895" cy="7430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003" y="5781027"/>
            <a:ext cx="1676634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6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Disjoint Sparse Table</a:t>
            </a:r>
            <a:endParaRPr lang="en-IN" b="1" dirty="0" smtClean="0"/>
          </a:p>
          <a:p>
            <a:endParaRPr lang="en-IN" b="1" dirty="0" smtClean="0"/>
          </a:p>
          <a:p>
            <a:r>
              <a:rPr lang="en-US" sz="1600" dirty="0"/>
              <a:t>A Disjoint Sparse Table is a variant of the Sparse Table that supports a wider range of operations (like sum, min, max, </a:t>
            </a:r>
            <a:r>
              <a:rPr lang="en-US" sz="1600" dirty="0" err="1"/>
              <a:t>gcd</a:t>
            </a:r>
            <a:r>
              <a:rPr lang="en-US" sz="1600" dirty="0"/>
              <a:t>) in O(1) query time with O(</a:t>
            </a:r>
            <a:r>
              <a:rPr lang="en-US" sz="1600" dirty="0" err="1"/>
              <a:t>nlog⁡n</a:t>
            </a:r>
            <a:r>
              <a:rPr lang="en-US" sz="1600" dirty="0"/>
              <a:t>) preprocessing, by storing </a:t>
            </a:r>
            <a:r>
              <a:rPr lang="en-US" sz="1600" dirty="0" err="1"/>
              <a:t>precomputed</a:t>
            </a:r>
            <a:r>
              <a:rPr lang="en-US" sz="1600" dirty="0"/>
              <a:t> results in disjoint blocks rather than overlapping intervals. It is still static (no updates), but more flexible than the classic Sparse Table.</a:t>
            </a:r>
            <a:endParaRPr lang="en-IN" sz="1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04" y="1979939"/>
            <a:ext cx="7049484" cy="468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1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Disjoint Sparse Table</a:t>
            </a:r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91" y="1047810"/>
            <a:ext cx="6630325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3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Disjoint Sparse Table</a:t>
            </a:r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54" y="993363"/>
            <a:ext cx="6830378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9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Disjoint Sparse Table</a:t>
            </a:r>
            <a:endParaRPr lang="en-IN" b="1" dirty="0" smtClean="0"/>
          </a:p>
          <a:p>
            <a:endParaRPr lang="en-IN" b="1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753338"/>
              </p:ext>
            </p:extLst>
          </p:nvPr>
        </p:nvGraphicFramePr>
        <p:xfrm>
          <a:off x="249381" y="1295501"/>
          <a:ext cx="11197244" cy="1463040"/>
        </p:xfrm>
        <a:graphic>
          <a:graphicData uri="http://schemas.openxmlformats.org/drawingml/2006/table">
            <a:tbl>
              <a:tblPr/>
              <a:tblGrid>
                <a:gridCol w="2344190"/>
                <a:gridCol w="1862050"/>
                <a:gridCol w="1363288"/>
                <a:gridCol w="1180407"/>
                <a:gridCol w="4447309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Variant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Pre-processing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Query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Supported 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Classic Sparse Table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nlog⁡n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Idempotent (min, max, gcd, AND, 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Disjoint Sparse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nlog⁡n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associative (sum, min, max, </a:t>
                      </a:r>
                      <a:r>
                        <a:rPr lang="en-US" dirty="0" err="1"/>
                        <a:t>gcd</a:t>
                      </a:r>
                      <a:r>
                        <a:rPr lang="en-US" dirty="0"/>
                        <a:t>, XOR)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Segment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O(log⁡n)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Any associative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5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Disjoint Sparse Table</a:t>
            </a:r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71" y="1074903"/>
            <a:ext cx="4944165" cy="55062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307" y="1128469"/>
            <a:ext cx="5582429" cy="545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24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Disjoint Sparse Table</a:t>
            </a:r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40" y="911832"/>
            <a:ext cx="5077534" cy="57824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187" y="911832"/>
            <a:ext cx="5753871" cy="170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2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Disjoint Sparse Table</a:t>
            </a:r>
            <a:endParaRPr lang="en-IN" b="1" dirty="0" smtClean="0"/>
          </a:p>
          <a:p>
            <a:endParaRPr lang="en-IN" b="1" dirty="0" smtClean="0"/>
          </a:p>
          <a:p>
            <a:r>
              <a:rPr lang="en-US" b="1" dirty="0" smtClean="0"/>
              <a:t>Inputs</a:t>
            </a:r>
          </a:p>
          <a:p>
            <a:endParaRPr lang="en-US" b="1" dirty="0"/>
          </a:p>
          <a:p>
            <a:r>
              <a:rPr lang="en-US" sz="1600" dirty="0"/>
              <a:t>The program takes an integer array: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This array is passed to the </a:t>
            </a:r>
            <a:r>
              <a:rPr lang="en-US" sz="1600" dirty="0" err="1"/>
              <a:t>DisjointSparseTable</a:t>
            </a:r>
            <a:r>
              <a:rPr lang="en-US" sz="1600" dirty="0"/>
              <a:t> constructor.</a:t>
            </a:r>
          </a:p>
          <a:p>
            <a:endParaRPr lang="en-US" sz="1600" dirty="0"/>
          </a:p>
          <a:p>
            <a:r>
              <a:rPr lang="en-US" sz="1600" dirty="0"/>
              <a:t>The goal is to answer range sum queries efficiently using the Disjoint Sparse Table.</a:t>
            </a:r>
            <a:endParaRPr lang="en-IN" sz="16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41" y="1944115"/>
            <a:ext cx="2610214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254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Disjoint Sparse Table</a:t>
            </a:r>
            <a:endParaRPr lang="en-IN" b="1" dirty="0" smtClean="0"/>
          </a:p>
          <a:p>
            <a:endParaRPr lang="en-IN" b="1" dirty="0" smtClean="0"/>
          </a:p>
          <a:p>
            <a:r>
              <a:rPr lang="en-IN" b="1" dirty="0" smtClean="0"/>
              <a:t>Processing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49" y="1518274"/>
            <a:ext cx="6897063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1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Disjoint Sparse Table</a:t>
            </a:r>
            <a:endParaRPr lang="en-IN" b="1" dirty="0" smtClean="0"/>
          </a:p>
          <a:p>
            <a:endParaRPr lang="en-IN" b="1" dirty="0" smtClean="0"/>
          </a:p>
          <a:p>
            <a:r>
              <a:rPr lang="en-IN" b="1" dirty="0" smtClean="0"/>
              <a:t>Processing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93" y="1592242"/>
            <a:ext cx="6335009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0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Disjoint Sparse Table</a:t>
            </a:r>
            <a:endParaRPr lang="en-IN" b="1" dirty="0" smtClean="0"/>
          </a:p>
          <a:p>
            <a:endParaRPr lang="en-IN" b="1" dirty="0" smtClean="0"/>
          </a:p>
          <a:p>
            <a:r>
              <a:rPr lang="en-US" b="1" dirty="0" smtClean="0"/>
              <a:t>Outputs</a:t>
            </a:r>
          </a:p>
          <a:p>
            <a:endParaRPr lang="en-US" b="1" dirty="0"/>
          </a:p>
          <a:p>
            <a:r>
              <a:rPr lang="en-US" sz="1400" dirty="0"/>
              <a:t>The program runs three queries:</a:t>
            </a:r>
          </a:p>
          <a:p>
            <a:endParaRPr lang="en-US" sz="1400" dirty="0"/>
          </a:p>
          <a:p>
            <a:r>
              <a:rPr lang="en-US" sz="1400" b="1" dirty="0"/>
              <a:t>Sum(1–4)</a:t>
            </a:r>
          </a:p>
          <a:p>
            <a:endParaRPr lang="en-US" sz="1400" dirty="0"/>
          </a:p>
          <a:p>
            <a:r>
              <a:rPr lang="en-US" sz="1400" dirty="0" err="1"/>
              <a:t>Subarray</a:t>
            </a:r>
            <a:r>
              <a:rPr lang="en-US" sz="1400" dirty="0"/>
              <a:t>: {2, 3, 4, 5}</a:t>
            </a:r>
          </a:p>
          <a:p>
            <a:r>
              <a:rPr lang="en-US" sz="1400" dirty="0" smtClean="0"/>
              <a:t>Sum </a:t>
            </a:r>
            <a:r>
              <a:rPr lang="en-US" sz="1400" dirty="0"/>
              <a:t>= 14  </a:t>
            </a:r>
          </a:p>
          <a:p>
            <a:r>
              <a:rPr lang="en-US" sz="1400" dirty="0"/>
              <a:t>Output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b="1" dirty="0"/>
              <a:t>Sum(0–5)</a:t>
            </a:r>
          </a:p>
          <a:p>
            <a:endParaRPr lang="en-US" sz="1400" dirty="0"/>
          </a:p>
          <a:p>
            <a:r>
              <a:rPr lang="en-US" sz="1400" dirty="0" err="1"/>
              <a:t>Subarray</a:t>
            </a:r>
            <a:r>
              <a:rPr lang="en-US" sz="1400" dirty="0"/>
              <a:t>: {1, 2, 3, 4, 5, 6}</a:t>
            </a:r>
          </a:p>
          <a:p>
            <a:r>
              <a:rPr lang="en-US" sz="1400" dirty="0" smtClean="0"/>
              <a:t>Sum </a:t>
            </a:r>
            <a:r>
              <a:rPr lang="en-US" sz="1400" dirty="0"/>
              <a:t>= 21  </a:t>
            </a:r>
          </a:p>
          <a:p>
            <a:r>
              <a:rPr lang="en-US" sz="1400" dirty="0"/>
              <a:t>Output</a:t>
            </a:r>
            <a:r>
              <a:rPr lang="en-US" sz="1400" dirty="0" smtClean="0"/>
              <a:t>:</a:t>
            </a:r>
          </a:p>
          <a:p>
            <a:endParaRPr lang="en-US" sz="1400" dirty="0" smtClean="0"/>
          </a:p>
          <a:p>
            <a:endParaRPr lang="en-US" sz="1400" dirty="0"/>
          </a:p>
          <a:p>
            <a:r>
              <a:rPr lang="en-US" sz="1400" b="1" dirty="0"/>
              <a:t>Sum(2–3)</a:t>
            </a:r>
          </a:p>
          <a:p>
            <a:endParaRPr lang="en-US" sz="1400" dirty="0"/>
          </a:p>
          <a:p>
            <a:r>
              <a:rPr lang="en-US" sz="1400" dirty="0" err="1"/>
              <a:t>Subarray</a:t>
            </a:r>
            <a:r>
              <a:rPr lang="en-US" sz="1400" dirty="0"/>
              <a:t>: {3, 4}</a:t>
            </a:r>
          </a:p>
          <a:p>
            <a:r>
              <a:rPr lang="en-US" sz="1400" dirty="0" smtClean="0"/>
              <a:t>Sum </a:t>
            </a:r>
            <a:r>
              <a:rPr lang="en-US" sz="1400" dirty="0"/>
              <a:t>= 7  </a:t>
            </a:r>
          </a:p>
          <a:p>
            <a:endParaRPr lang="en-US" sz="1400" dirty="0" smtClean="0"/>
          </a:p>
          <a:p>
            <a:r>
              <a:rPr lang="en-US" sz="1400" dirty="0" smtClean="0"/>
              <a:t>Output</a:t>
            </a:r>
            <a:r>
              <a:rPr lang="en-US" sz="1400" dirty="0"/>
              <a:t>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92" y="2914277"/>
            <a:ext cx="1314633" cy="3810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23" y="4386935"/>
            <a:ext cx="1219370" cy="2953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202" y="6060225"/>
            <a:ext cx="1238423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1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US" b="1" dirty="0" err="1">
                <a:solidFill>
                  <a:srgbClr val="FF0000"/>
                </a:solidFill>
              </a:rPr>
              <a:t>Precompute</a:t>
            </a:r>
            <a:r>
              <a:rPr lang="en-US" b="1" dirty="0">
                <a:solidFill>
                  <a:srgbClr val="FF0000"/>
                </a:solidFill>
              </a:rPr>
              <a:t> Powers of 2</a:t>
            </a:r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5" y="1128469"/>
            <a:ext cx="6935168" cy="22863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" y="3717234"/>
            <a:ext cx="7049484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9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US" b="1" dirty="0" err="1">
                <a:solidFill>
                  <a:srgbClr val="FF0000"/>
                </a:solidFill>
              </a:rPr>
              <a:t>Precompute</a:t>
            </a:r>
            <a:r>
              <a:rPr lang="en-US" b="1" dirty="0">
                <a:solidFill>
                  <a:srgbClr val="FF0000"/>
                </a:solidFill>
              </a:rPr>
              <a:t> Powers of 2</a:t>
            </a:r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46" y="1048787"/>
            <a:ext cx="6296904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2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US" b="1" dirty="0" err="1">
                <a:solidFill>
                  <a:srgbClr val="FF0000"/>
                </a:solidFill>
              </a:rPr>
              <a:t>Precompute</a:t>
            </a:r>
            <a:r>
              <a:rPr lang="en-US" b="1" dirty="0">
                <a:solidFill>
                  <a:srgbClr val="FF0000"/>
                </a:solidFill>
              </a:rPr>
              <a:t> Powers of 2</a:t>
            </a:r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6" y="1023967"/>
            <a:ext cx="7030431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4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US" b="1" dirty="0" err="1">
                <a:solidFill>
                  <a:srgbClr val="FF0000"/>
                </a:solidFill>
              </a:rPr>
              <a:t>Precompute</a:t>
            </a:r>
            <a:r>
              <a:rPr lang="en-US" b="1" dirty="0">
                <a:solidFill>
                  <a:srgbClr val="FF0000"/>
                </a:solidFill>
              </a:rPr>
              <a:t> Powers of 2</a:t>
            </a:r>
            <a:endParaRPr lang="en-IN" b="1" dirty="0" smtClean="0"/>
          </a:p>
          <a:p>
            <a:endParaRPr lang="en-IN" b="1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760099"/>
              </p:ext>
            </p:extLst>
          </p:nvPr>
        </p:nvGraphicFramePr>
        <p:xfrm>
          <a:off x="256310" y="1321723"/>
          <a:ext cx="11556075" cy="1371600"/>
        </p:xfrm>
        <a:graphic>
          <a:graphicData uri="http://schemas.openxmlformats.org/drawingml/2006/table">
            <a:tbl>
              <a:tblPr/>
              <a:tblGrid>
                <a:gridCol w="2619894"/>
                <a:gridCol w="2002536"/>
                <a:gridCol w="1364118"/>
                <a:gridCol w="997528"/>
                <a:gridCol w="4571999"/>
              </a:tblGrid>
              <a:tr h="335381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Variant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Preprocessing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Query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Classic Sparse Table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</a:t>
                      </a:r>
                      <a:r>
                        <a:rPr lang="en-IN" dirty="0" err="1"/>
                        <a:t>nlog⁡n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Computes logs/powers on the fly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Precompute Powers of 2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</a:t>
                      </a:r>
                      <a:r>
                        <a:rPr lang="en-IN" dirty="0" err="1"/>
                        <a:t>nlog⁡n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Faster queries due to </a:t>
                      </a:r>
                      <a:r>
                        <a:rPr lang="en-US" dirty="0" err="1"/>
                        <a:t>precomputed</a:t>
                      </a:r>
                      <a:r>
                        <a:rPr lang="en-US" dirty="0"/>
                        <a:t> logs/powers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21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US" b="1" dirty="0" err="1">
                <a:solidFill>
                  <a:srgbClr val="FF0000"/>
                </a:solidFill>
              </a:rPr>
              <a:t>Precompute</a:t>
            </a:r>
            <a:r>
              <a:rPr lang="en-US" b="1" dirty="0">
                <a:solidFill>
                  <a:srgbClr val="FF0000"/>
                </a:solidFill>
              </a:rPr>
              <a:t> Powers of 2</a:t>
            </a:r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26" y="1005840"/>
            <a:ext cx="4667901" cy="57607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553" y="1052117"/>
            <a:ext cx="4134427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6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US" b="1" dirty="0" err="1">
                <a:solidFill>
                  <a:srgbClr val="FF0000"/>
                </a:solidFill>
              </a:rPr>
              <a:t>Precompute</a:t>
            </a:r>
            <a:r>
              <a:rPr lang="en-US" b="1" dirty="0">
                <a:solidFill>
                  <a:srgbClr val="FF0000"/>
                </a:solidFill>
              </a:rPr>
              <a:t> Powers of 2</a:t>
            </a:r>
            <a:endParaRPr lang="en-IN" b="1" dirty="0" smtClean="0"/>
          </a:p>
          <a:p>
            <a:endParaRPr lang="en-IN" b="1" dirty="0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4" y="953934"/>
            <a:ext cx="6209457" cy="180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8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US" b="1" dirty="0" err="1">
                <a:solidFill>
                  <a:srgbClr val="FF0000"/>
                </a:solidFill>
              </a:rPr>
              <a:t>Precompute</a:t>
            </a:r>
            <a:r>
              <a:rPr lang="en-US" b="1" dirty="0">
                <a:solidFill>
                  <a:srgbClr val="FF0000"/>
                </a:solidFill>
              </a:rPr>
              <a:t> Powers of 2</a:t>
            </a:r>
            <a:endParaRPr lang="en-IN" b="1" dirty="0" smtClean="0"/>
          </a:p>
          <a:p>
            <a:endParaRPr lang="en-IN" b="1" dirty="0" smtClean="0"/>
          </a:p>
          <a:p>
            <a:r>
              <a:rPr lang="en-US" b="1" dirty="0" smtClean="0"/>
              <a:t>Inputs</a:t>
            </a:r>
          </a:p>
          <a:p>
            <a:endParaRPr lang="en-US" b="1" dirty="0"/>
          </a:p>
          <a:p>
            <a:r>
              <a:rPr lang="en-US" sz="1600" dirty="0"/>
              <a:t>The program takes an integer array:</a:t>
            </a:r>
          </a:p>
          <a:p>
            <a:endParaRPr lang="en-US" sz="1600" dirty="0"/>
          </a:p>
          <a:p>
            <a:r>
              <a:rPr lang="en-US" sz="1600" dirty="0"/>
              <a:t>This array is passed to the SparseTable4 constructor.</a:t>
            </a:r>
          </a:p>
          <a:p>
            <a:endParaRPr lang="en-US" sz="1600" dirty="0"/>
          </a:p>
          <a:p>
            <a:r>
              <a:rPr lang="en-US" sz="1600" dirty="0"/>
              <a:t>The goal is to answer Range Minimum Queries (RMQ) efficiently.</a:t>
            </a:r>
          </a:p>
          <a:p>
            <a:endParaRPr lang="en-IN" sz="16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958" y="1527173"/>
            <a:ext cx="2619741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1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US" b="1" dirty="0" err="1">
                <a:solidFill>
                  <a:srgbClr val="FF0000"/>
                </a:solidFill>
              </a:rPr>
              <a:t>Precompute</a:t>
            </a:r>
            <a:r>
              <a:rPr lang="en-US" b="1" dirty="0">
                <a:solidFill>
                  <a:srgbClr val="FF0000"/>
                </a:solidFill>
              </a:rPr>
              <a:t> Powers of 2</a:t>
            </a:r>
            <a:endParaRPr lang="en-IN" b="1" dirty="0" smtClean="0"/>
          </a:p>
          <a:p>
            <a:endParaRPr lang="en-IN" b="1" dirty="0" smtClean="0"/>
          </a:p>
          <a:p>
            <a:r>
              <a:rPr lang="en-US" b="1" dirty="0" smtClean="0"/>
              <a:t>Processing</a:t>
            </a:r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30" y="1471352"/>
            <a:ext cx="6344535" cy="515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2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Sparse Table – </a:t>
            </a:r>
            <a:r>
              <a:rPr lang="en-US" b="1" dirty="0" smtClean="0">
                <a:solidFill>
                  <a:srgbClr val="FF0000"/>
                </a:solidFill>
              </a:rPr>
              <a:t>Variants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US" b="1" dirty="0" err="1">
                <a:solidFill>
                  <a:srgbClr val="FF0000"/>
                </a:solidFill>
              </a:rPr>
              <a:t>Precompute</a:t>
            </a:r>
            <a:r>
              <a:rPr lang="en-US" b="1" dirty="0">
                <a:solidFill>
                  <a:srgbClr val="FF0000"/>
                </a:solidFill>
              </a:rPr>
              <a:t> Powers of 2</a:t>
            </a:r>
            <a:endParaRPr lang="en-IN" b="1" dirty="0" smtClean="0"/>
          </a:p>
          <a:p>
            <a:endParaRPr lang="en-IN" b="1" dirty="0" smtClean="0"/>
          </a:p>
          <a:p>
            <a:r>
              <a:rPr lang="en-US" b="1" dirty="0" smtClean="0"/>
              <a:t>Outputs</a:t>
            </a:r>
          </a:p>
          <a:p>
            <a:endParaRPr lang="en-US" b="1" dirty="0"/>
          </a:p>
          <a:p>
            <a:r>
              <a:rPr lang="en-US" sz="1600" dirty="0"/>
              <a:t>The program runs three queries:</a:t>
            </a:r>
          </a:p>
          <a:p>
            <a:endParaRPr lang="en-US" sz="1600" dirty="0"/>
          </a:p>
          <a:p>
            <a:r>
              <a:rPr lang="en-US" sz="1600" b="1" dirty="0"/>
              <a:t>RMQ(1,4) </a:t>
            </a:r>
            <a:r>
              <a:rPr lang="en-US" sz="1600" dirty="0"/>
              <a:t>→ minimum of </a:t>
            </a:r>
            <a:r>
              <a:rPr lang="en-US" sz="1600" dirty="0" err="1"/>
              <a:t>arr</a:t>
            </a:r>
            <a:r>
              <a:rPr lang="en-US" sz="1600" dirty="0"/>
              <a:t>[1..4] = min(2,5,3,1) = 1  </a:t>
            </a:r>
          </a:p>
          <a:p>
            <a:endParaRPr lang="en-US" sz="1600" dirty="0" smtClean="0"/>
          </a:p>
          <a:p>
            <a:r>
              <a:rPr lang="en-US" sz="1600" dirty="0" smtClean="0"/>
              <a:t>Output</a:t>
            </a:r>
            <a:r>
              <a:rPr lang="en-US" sz="1600" dirty="0"/>
              <a:t>:</a:t>
            </a:r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/>
              <a:t>RMQ(0,5) </a:t>
            </a:r>
            <a:r>
              <a:rPr lang="en-US" sz="1600" dirty="0"/>
              <a:t>→ minimum of </a:t>
            </a:r>
            <a:r>
              <a:rPr lang="en-US" sz="1600" dirty="0" err="1"/>
              <a:t>arr</a:t>
            </a:r>
            <a:r>
              <a:rPr lang="en-US" sz="1600" dirty="0"/>
              <a:t>[0..5] = min(7,2,5,3,1,6) = 1  </a:t>
            </a:r>
          </a:p>
          <a:p>
            <a:endParaRPr lang="en-US" sz="1600" dirty="0" smtClean="0"/>
          </a:p>
          <a:p>
            <a:r>
              <a:rPr lang="en-US" sz="1600" dirty="0" smtClean="0"/>
              <a:t>Output</a:t>
            </a:r>
            <a:r>
              <a:rPr lang="en-US" sz="1600" dirty="0"/>
              <a:t>:</a:t>
            </a:r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 smtClean="0"/>
              <a:t>RMQ(2,3</a:t>
            </a:r>
            <a:r>
              <a:rPr lang="en-US" sz="1600" b="1" dirty="0"/>
              <a:t>) </a:t>
            </a:r>
            <a:r>
              <a:rPr lang="en-US" sz="1600" dirty="0"/>
              <a:t>→ minimum of </a:t>
            </a:r>
            <a:r>
              <a:rPr lang="en-US" sz="1600" dirty="0" err="1"/>
              <a:t>arr</a:t>
            </a:r>
            <a:r>
              <a:rPr lang="en-US" sz="1600" dirty="0"/>
              <a:t>[2..3] = min(5,3) = 3  </a:t>
            </a:r>
          </a:p>
          <a:p>
            <a:endParaRPr lang="en-US" sz="1600" dirty="0" smtClean="0"/>
          </a:p>
          <a:p>
            <a:r>
              <a:rPr lang="en-US" sz="1600" dirty="0" smtClean="0"/>
              <a:t>Output</a:t>
            </a:r>
            <a:r>
              <a:rPr lang="en-US" sz="1600" dirty="0"/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14" y="2559630"/>
            <a:ext cx="1152686" cy="3334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14" y="3794303"/>
            <a:ext cx="1162212" cy="3334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814" y="5028976"/>
            <a:ext cx="1200318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42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2764</TotalTime>
  <Words>11289</Words>
  <Application>Microsoft Office PowerPoint</Application>
  <PresentationFormat>Widescreen</PresentationFormat>
  <Paragraphs>1925</Paragraphs>
  <Slides>143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143</vt:i4>
      </vt:variant>
    </vt:vector>
  </HeadingPairs>
  <TitlesOfParts>
    <vt:vector size="14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566</cp:revision>
  <dcterms:created xsi:type="dcterms:W3CDTF">2026-04-26T04:16:51Z</dcterms:created>
  <dcterms:modified xsi:type="dcterms:W3CDTF">2026-05-10T14:53:47Z</dcterms:modified>
</cp:coreProperties>
</file>