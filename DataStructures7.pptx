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68" r:id="rId39"/>
    <p:sldId id="369" r:id="rId40"/>
    <p:sldId id="370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380" r:id="rId51"/>
    <p:sldId id="381" r:id="rId52"/>
    <p:sldId id="382" r:id="rId53"/>
    <p:sldId id="383" r:id="rId54"/>
    <p:sldId id="384" r:id="rId55"/>
    <p:sldId id="385" r:id="rId56"/>
    <p:sldId id="386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64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0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7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11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25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27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56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49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6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85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58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BA90E-DD96-458D-ACE7-89A0584897C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6182D-1858-435D-A8BA-618F8D491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99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A 1D Range Tree is essentially a balanced binary search tree built on a set of points along a single dimension, designed to efficiently answer range queries (finding all points within an interval). It supports queries in O(</a:t>
            </a:r>
            <a:r>
              <a:rPr lang="en-US" dirty="0" err="1"/>
              <a:t>log⁡n+k</a:t>
            </a:r>
            <a:r>
              <a:rPr lang="en-US" dirty="0"/>
              <a:t>) time, where n is the number of points and k is the number of reported results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What is a Range Tree?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Range queries: Retrieve all points that lie within a given interval (e.g., all values between 10 and 30).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Range </a:t>
            </a:r>
            <a:r>
              <a:rPr lang="en-US" dirty="0"/>
              <a:t>tree: A hierarchical data structure that organizes points to answer these queries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Dimensions</a:t>
            </a:r>
            <a:r>
              <a:rPr lang="en-US" dirty="0"/>
              <a:t>: A range tree can be extended to multiple dimensions (2D, 3D, etc.), but the simplest case is 1D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1D Range Tree –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Balanced </a:t>
            </a:r>
            <a:r>
              <a:rPr lang="en-US" dirty="0"/>
              <a:t>BST: A 1D range tree is a balanced binary search tree (like AVL or Red-Black Tree).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Leaves</a:t>
            </a:r>
            <a:r>
              <a:rPr lang="en-US" dirty="0"/>
              <a:t>: Store the actual data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Internal </a:t>
            </a:r>
            <a:r>
              <a:rPr lang="en-US" dirty="0"/>
              <a:t>nodes: Each node stores the largest value in its left </a:t>
            </a:r>
            <a:r>
              <a:rPr lang="en-US" dirty="0" err="1"/>
              <a:t>subtree</a:t>
            </a:r>
            <a:r>
              <a:rPr lang="en-US" dirty="0"/>
              <a:t>, which helps in efficient traversal.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Construction</a:t>
            </a:r>
            <a:r>
              <a:rPr lang="en-US" dirty="0"/>
              <a:t>: Built in O(</a:t>
            </a:r>
            <a:r>
              <a:rPr lang="en-US" dirty="0" err="1"/>
              <a:t>nlog⁡n</a:t>
            </a:r>
            <a:r>
              <a:rPr lang="en-US" dirty="0"/>
              <a:t>) time for n points.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310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Querying in 1D Range </a:t>
            </a:r>
            <a:r>
              <a:rPr lang="en-US" b="1" dirty="0" smtClean="0"/>
              <a:t>Tree</a:t>
            </a:r>
          </a:p>
          <a:p>
            <a:endParaRPr lang="en-US" b="1" dirty="0"/>
          </a:p>
          <a:p>
            <a:r>
              <a:rPr lang="en-US" b="1" dirty="0" smtClean="0"/>
              <a:t>Process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Compare </a:t>
            </a:r>
            <a:r>
              <a:rPr lang="en-US" dirty="0"/>
              <a:t>query interval with node 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Traverse </a:t>
            </a:r>
            <a:r>
              <a:rPr lang="en-US" dirty="0"/>
              <a:t>left or right depending on overlap.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Collect </a:t>
            </a:r>
            <a:r>
              <a:rPr lang="en-US" dirty="0"/>
              <a:t>points that fall within the interval.</a:t>
            </a:r>
          </a:p>
          <a:p>
            <a:endParaRPr lang="en-US" b="1" dirty="0" smtClean="0"/>
          </a:p>
          <a:p>
            <a:r>
              <a:rPr lang="en-US" b="1" dirty="0" smtClean="0"/>
              <a:t>Complexity</a:t>
            </a:r>
            <a:r>
              <a:rPr lang="en-US" b="1" dirty="0"/>
              <a:t>: </a:t>
            </a:r>
            <a:r>
              <a:rPr lang="en-US" dirty="0"/>
              <a:t>O(</a:t>
            </a:r>
            <a:r>
              <a:rPr lang="en-US" dirty="0" err="1"/>
              <a:t>log⁡n+k</a:t>
            </a:r>
            <a:r>
              <a:rPr lang="en-US" dirty="0"/>
              <a:t>), 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log</a:t>
            </a:r>
            <a:r>
              <a:rPr lang="en-US" dirty="0" err="1"/>
              <a:t>⁡n</a:t>
            </a:r>
            <a:r>
              <a:rPr lang="en-US" dirty="0"/>
              <a:t> is the search overhead.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k </a:t>
            </a:r>
            <a:r>
              <a:rPr lang="en-US" dirty="0"/>
              <a:t>is the number of points </a:t>
            </a:r>
            <a:r>
              <a:rPr lang="en-US" dirty="0" smtClean="0"/>
              <a:t>reported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8935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410115"/>
              </p:ext>
            </p:extLst>
          </p:nvPr>
        </p:nvGraphicFramePr>
        <p:xfrm>
          <a:off x="131619" y="1249781"/>
          <a:ext cx="11522825" cy="1706880"/>
        </p:xfrm>
        <a:graphic>
          <a:graphicData uri="http://schemas.openxmlformats.org/drawingml/2006/table">
            <a:tbl>
              <a:tblPr/>
              <a:tblGrid>
                <a:gridCol w="1397923"/>
                <a:gridCol w="4006734"/>
                <a:gridCol w="3142211"/>
                <a:gridCol w="2975957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Concept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Definition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Complexity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Use Case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1D Range Tree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Balanced BST storing points in one 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Query: O(log⁡n+k), Space: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Interval queries on a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2D Range Tree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Recursive BST: first on x, then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Query: O(log</a:t>
                      </a:r>
                      <a:r>
                        <a:rPr lang="pt-BR" sz="1600" baseline="30000" dirty="0"/>
                        <a:t>⁡2</a:t>
                      </a:r>
                      <a:r>
                        <a:rPr lang="pt-BR" sz="1600" dirty="0"/>
                        <a:t>n+k), Space: O(nlog⁡n)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Rectangular queries in a plane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Segment Tree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Tree storing aggregate info over ranges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Query: O(log⁡n), Space: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Range sums, min/max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Fenwick Tree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Binary Indexed Tree for prefix sums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Query: O(log⁡n), Space: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Dynamic cumulative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3607" y="3771128"/>
            <a:ext cx="115325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1D Range Tree = BST: It’s essentially a binary search tree with extra stored info for efficient range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Trade-off</a:t>
            </a:r>
            <a:r>
              <a:rPr lang="en-IN" dirty="0"/>
              <a:t>: Faster queries than naive search, but higher space usage compared to simpler structures.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Extension</a:t>
            </a:r>
            <a:r>
              <a:rPr lang="en-IN" dirty="0"/>
              <a:t>: In higher dimensions, each node stores an associated range tree for the remaining dimensions.</a:t>
            </a:r>
          </a:p>
        </p:txBody>
      </p:sp>
    </p:spTree>
    <p:extLst>
      <p:ext uri="{BB962C8B-B14F-4D97-AF65-F5344CB8AC3E}">
        <p14:creationId xmlns:p14="http://schemas.microsoft.com/office/powerpoint/2010/main" val="21805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51" y="889462"/>
            <a:ext cx="4639322" cy="58521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24" y="889462"/>
            <a:ext cx="4191585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7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9" y="995498"/>
            <a:ext cx="5860905" cy="153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4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Inputs</a:t>
            </a:r>
          </a:p>
          <a:p>
            <a:endParaRPr lang="en-US" b="1" dirty="0"/>
          </a:p>
          <a:p>
            <a:r>
              <a:rPr lang="en-US" b="1" dirty="0"/>
              <a:t>Array</a:t>
            </a:r>
            <a:r>
              <a:rPr lang="en-US" dirty="0"/>
              <a:t> </a:t>
            </a:r>
            <a:r>
              <a:rPr lang="en-US" dirty="0" err="1"/>
              <a:t>arr</a:t>
            </a:r>
            <a:r>
              <a:rPr lang="en-US" dirty="0"/>
              <a:t>: {2, 4, 6, 8, 10}  </a:t>
            </a:r>
          </a:p>
          <a:p>
            <a:r>
              <a:rPr lang="en-US" dirty="0"/>
              <a:t>This is the dataset we want to query sums over.</a:t>
            </a:r>
          </a:p>
          <a:p>
            <a:endParaRPr lang="en-US" dirty="0"/>
          </a:p>
          <a:p>
            <a:r>
              <a:rPr lang="en-US" b="1" dirty="0"/>
              <a:t>Queries: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tree.query</a:t>
            </a:r>
            <a:r>
              <a:rPr lang="en-US" dirty="0" smtClean="0"/>
              <a:t>(</a:t>
            </a:r>
            <a:r>
              <a:rPr lang="en-US" dirty="0" err="1" smtClean="0"/>
              <a:t>tree.root</a:t>
            </a:r>
            <a:r>
              <a:rPr lang="en-US" dirty="0"/>
              <a:t>, 1, 3) → sum of elements from index 1 to 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tree.query</a:t>
            </a:r>
            <a:r>
              <a:rPr lang="en-US" dirty="0" smtClean="0"/>
              <a:t>(</a:t>
            </a:r>
            <a:r>
              <a:rPr lang="en-US" dirty="0" err="1" smtClean="0"/>
              <a:t>tree.root</a:t>
            </a:r>
            <a:r>
              <a:rPr lang="en-US" dirty="0"/>
              <a:t>, 0, 4) → sum of elements from index 0 to 4.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1756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Processing – Building the </a:t>
            </a:r>
            <a:r>
              <a:rPr lang="en-US" b="1" dirty="0" smtClean="0"/>
              <a:t>Tree</a:t>
            </a:r>
          </a:p>
          <a:p>
            <a:endParaRPr lang="en-US" b="1" dirty="0"/>
          </a:p>
          <a:p>
            <a:r>
              <a:rPr lang="en-US" sz="1600" dirty="0"/>
              <a:t>The program builds a segment tree (called </a:t>
            </a:r>
            <a:r>
              <a:rPr lang="en-US" sz="1600" dirty="0" err="1"/>
              <a:t>RangeTree</a:t>
            </a:r>
            <a:r>
              <a:rPr lang="en-US" sz="1600" dirty="0"/>
              <a:t> here).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Recursive Build </a:t>
            </a:r>
            <a:r>
              <a:rPr lang="en-US" sz="1600" dirty="0"/>
              <a:t>(build(l, r)):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Each </a:t>
            </a:r>
            <a:r>
              <a:rPr lang="en-US" sz="1600" dirty="0"/>
              <a:t>node represents a segment [l, r] of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l == r → leaf node, stores </a:t>
            </a:r>
            <a:r>
              <a:rPr lang="en-US" sz="1600" dirty="0" err="1"/>
              <a:t>arr</a:t>
            </a:r>
            <a:r>
              <a:rPr lang="en-US" sz="1600" dirty="0"/>
              <a:t>[l].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Otherwise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Split </a:t>
            </a:r>
            <a:r>
              <a:rPr lang="en-US" sz="1600" dirty="0"/>
              <a:t>into two halves: [l, mid] and [mid+1, r].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Recursively </a:t>
            </a:r>
            <a:r>
              <a:rPr lang="en-US" sz="1600" dirty="0"/>
              <a:t>build left and right children.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Store </a:t>
            </a:r>
            <a:r>
              <a:rPr lang="en-US" sz="1600" dirty="0"/>
              <a:t>sum = </a:t>
            </a:r>
            <a:r>
              <a:rPr lang="en-US" sz="1600" dirty="0" err="1"/>
              <a:t>left.sum</a:t>
            </a:r>
            <a:r>
              <a:rPr lang="en-US" sz="1600" dirty="0"/>
              <a:t> + </a:t>
            </a:r>
            <a:r>
              <a:rPr lang="en-US" sz="1600" dirty="0" err="1"/>
              <a:t>right.sum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So the tree structure for {2,4,6,8,10} looks like:</a:t>
            </a:r>
          </a:p>
          <a:p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58" y="4537166"/>
            <a:ext cx="4522766" cy="18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9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1D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Querying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query(node, l, r) function finds the sum of values in the interval [l, r].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Case </a:t>
            </a:r>
            <a:r>
              <a:rPr lang="en-US" sz="1600" dirty="0"/>
              <a:t>1: No overlap → return 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Case </a:t>
            </a:r>
            <a:r>
              <a:rPr lang="en-US" sz="1600" dirty="0"/>
              <a:t>2: Full overlap → return </a:t>
            </a:r>
            <a:r>
              <a:rPr lang="en-US" sz="1600" dirty="0" err="1"/>
              <a:t>node.sum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Case </a:t>
            </a:r>
            <a:r>
              <a:rPr lang="en-US" sz="1600" dirty="0"/>
              <a:t>3: Partial overlap → </a:t>
            </a:r>
            <a:r>
              <a:rPr lang="en-US" sz="1600" dirty="0" err="1"/>
              <a:t>recurse</a:t>
            </a:r>
            <a:r>
              <a:rPr lang="en-US" sz="1600" dirty="0"/>
              <a:t> into left and right children, add results</a:t>
            </a:r>
            <a:r>
              <a:rPr lang="en-US" sz="1600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IN" b="1" dirty="0"/>
              <a:t>Outputs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79" y="3303378"/>
            <a:ext cx="5706271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4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A 2D Range Tree is a multi-level binary search tree that efficiently answers rectangular range queries in the plane. It organizes points first by their x-coordinates, and at each node stores a secondary tree on y-coordinates, enabling queries in O(log⁡</a:t>
            </a:r>
            <a:r>
              <a:rPr lang="en-US" sz="1600" baseline="30000" dirty="0"/>
              <a:t>2</a:t>
            </a:r>
            <a:r>
              <a:rPr lang="en-US" sz="1600" dirty="0"/>
              <a:t>n+k) time with O(</a:t>
            </a:r>
            <a:r>
              <a:rPr lang="en-US" sz="1600" dirty="0" err="1"/>
              <a:t>nlog⁡n</a:t>
            </a:r>
            <a:r>
              <a:rPr lang="en-US" sz="1600" dirty="0"/>
              <a:t>) space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What is a 2D Range Tree?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Range </a:t>
            </a:r>
            <a:r>
              <a:rPr lang="en-US" sz="1600" b="1" dirty="0"/>
              <a:t>queries: </a:t>
            </a:r>
            <a:r>
              <a:rPr lang="en-US" sz="1600" dirty="0"/>
              <a:t>Retrieve all points within a rectangular region [x</a:t>
            </a:r>
            <a:r>
              <a:rPr lang="en-US" sz="1600" baseline="-25000" dirty="0"/>
              <a:t>1</a:t>
            </a:r>
            <a:r>
              <a:rPr lang="en-US" sz="1600" dirty="0"/>
              <a:t>,x</a:t>
            </a:r>
            <a:r>
              <a:rPr lang="en-US" sz="1600" baseline="-25000" dirty="0"/>
              <a:t>2</a:t>
            </a:r>
            <a:r>
              <a:rPr lang="en-US" sz="1600" dirty="0"/>
              <a:t>]×[y</a:t>
            </a:r>
            <a:r>
              <a:rPr lang="en-US" sz="1600" baseline="-25000" dirty="0"/>
              <a:t>1</a:t>
            </a:r>
            <a:r>
              <a:rPr lang="en-US" sz="1600" dirty="0"/>
              <a:t>,y</a:t>
            </a:r>
            <a:r>
              <a:rPr lang="en-US" sz="1600" baseline="-25000" dirty="0"/>
              <a:t>2</a:t>
            </a:r>
            <a:r>
              <a:rPr lang="en-US" sz="1600" dirty="0"/>
              <a:t>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Range </a:t>
            </a:r>
            <a:r>
              <a:rPr lang="en-US" sz="1600" b="1" dirty="0"/>
              <a:t>tree: </a:t>
            </a:r>
            <a:r>
              <a:rPr lang="en-US" sz="1600" dirty="0"/>
              <a:t>A recursive structure where each level indexes one dimension.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2D </a:t>
            </a:r>
            <a:r>
              <a:rPr lang="en-US" sz="1600" b="1" dirty="0"/>
              <a:t>case: </a:t>
            </a:r>
            <a:r>
              <a:rPr lang="en-US" sz="1600" dirty="0"/>
              <a:t>First level is a balanced BST on x-coordinates. Each node stores an associated 1D range tree on y-coordinates for points in its </a:t>
            </a:r>
            <a:r>
              <a:rPr lang="en-US" sz="1600" dirty="0" err="1"/>
              <a:t>subtree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b="1" dirty="0"/>
              <a:t>Structure of a 2D Range </a:t>
            </a:r>
            <a:r>
              <a:rPr lang="en-US" b="1" dirty="0" smtClean="0"/>
              <a:t>Tree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Primary tree (X-axis)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Balanced BST built on x-coordinates.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Each node splits points into left (≤ median x) and right (&gt; median x</a:t>
            </a:r>
            <a:r>
              <a:rPr lang="en-US" sz="1600" dirty="0" smtClean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Secondary tree (Y-axis)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At each node, build a 1D range tree on y-coordinates of points in that node’s </a:t>
            </a:r>
            <a:r>
              <a:rPr lang="en-US" sz="1600" dirty="0" err="1"/>
              <a:t>subtree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Enables efficient filtering by y-range once x-range is narrowed.</a:t>
            </a:r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65216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b="1" dirty="0"/>
              <a:t>Querying in 2D Range </a:t>
            </a:r>
            <a:r>
              <a:rPr lang="en-IN" b="1" dirty="0" smtClean="0"/>
              <a:t>Tree</a:t>
            </a:r>
          </a:p>
          <a:p>
            <a:endParaRPr lang="en-IN" b="1" dirty="0"/>
          </a:p>
          <a:p>
            <a:pPr lvl="0"/>
            <a:r>
              <a:rPr lang="en-IN" b="1" dirty="0"/>
              <a:t>Input</a:t>
            </a:r>
            <a:r>
              <a:rPr lang="en-IN" dirty="0"/>
              <a:t>: Rectangle [x</a:t>
            </a:r>
            <a:r>
              <a:rPr lang="en-IN" baseline="-25000" dirty="0"/>
              <a:t>1</a:t>
            </a:r>
            <a:r>
              <a:rPr lang="en-IN" dirty="0"/>
              <a:t>,x</a:t>
            </a:r>
            <a:r>
              <a:rPr lang="en-IN" baseline="-25000" dirty="0"/>
              <a:t>2</a:t>
            </a:r>
            <a:r>
              <a:rPr lang="en-IN" dirty="0"/>
              <a:t>]×[y</a:t>
            </a:r>
            <a:r>
              <a:rPr lang="en-IN" baseline="-25000" dirty="0"/>
              <a:t>1</a:t>
            </a:r>
            <a:r>
              <a:rPr lang="en-IN" dirty="0"/>
              <a:t>,y</a:t>
            </a:r>
            <a:r>
              <a:rPr lang="en-IN" baseline="-25000" dirty="0"/>
              <a:t>2</a:t>
            </a:r>
            <a:r>
              <a:rPr lang="en-IN" dirty="0" smtClean="0"/>
              <a:t>].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Process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Search primary tree to find nodes covering [x</a:t>
            </a:r>
            <a:r>
              <a:rPr lang="en-IN" baseline="-25000" dirty="0"/>
              <a:t>1</a:t>
            </a:r>
            <a:r>
              <a:rPr lang="en-IN" dirty="0"/>
              <a:t>,x</a:t>
            </a:r>
            <a:r>
              <a:rPr lang="en-IN" baseline="-25000" dirty="0"/>
              <a:t>2</a:t>
            </a:r>
            <a:r>
              <a:rPr lang="en-IN" dirty="0"/>
              <a:t>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For each relevant node, query its secondary y-tree for [y</a:t>
            </a:r>
            <a:r>
              <a:rPr lang="en-IN" baseline="-25000" dirty="0"/>
              <a:t>1</a:t>
            </a:r>
            <a:r>
              <a:rPr lang="en-IN" dirty="0"/>
              <a:t>,y</a:t>
            </a:r>
            <a:r>
              <a:rPr lang="en-IN" baseline="-25000" dirty="0"/>
              <a:t>2</a:t>
            </a:r>
            <a:r>
              <a:rPr lang="en-IN" dirty="0"/>
              <a:t>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Collect all points satisfying both conditions.</a:t>
            </a:r>
          </a:p>
          <a:p>
            <a:pPr lvl="0"/>
            <a:endParaRPr lang="en-IN" b="1" dirty="0" smtClean="0"/>
          </a:p>
          <a:p>
            <a:pPr lvl="0"/>
            <a:r>
              <a:rPr lang="en-IN" b="1" dirty="0" smtClean="0"/>
              <a:t>Complexity</a:t>
            </a:r>
            <a:r>
              <a:rPr lang="en-IN" dirty="0"/>
              <a:t>: O(log</a:t>
            </a:r>
            <a:r>
              <a:rPr lang="en-IN" baseline="30000" dirty="0"/>
              <a:t>⁡2</a:t>
            </a:r>
            <a:r>
              <a:rPr lang="en-IN" dirty="0"/>
              <a:t>n+k), where: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log⁡</a:t>
            </a:r>
            <a:r>
              <a:rPr lang="en-IN" baseline="30000" dirty="0"/>
              <a:t>2</a:t>
            </a:r>
            <a:r>
              <a:rPr lang="en-IN" dirty="0"/>
              <a:t>n is search overhead.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 is number of reported points.</a:t>
            </a:r>
          </a:p>
          <a:p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4243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87753"/>
              </p:ext>
            </p:extLst>
          </p:nvPr>
        </p:nvGraphicFramePr>
        <p:xfrm>
          <a:off x="90055" y="1241468"/>
          <a:ext cx="11913523" cy="2103120"/>
        </p:xfrm>
        <a:graphic>
          <a:graphicData uri="http://schemas.openxmlformats.org/drawingml/2006/table">
            <a:tbl>
              <a:tblPr/>
              <a:tblGrid>
                <a:gridCol w="1697181"/>
                <a:gridCol w="3657600"/>
                <a:gridCol w="1862051"/>
                <a:gridCol w="1296786"/>
                <a:gridCol w="3399905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Concept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Definition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Complexity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Space Complexity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Use Case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1D Range Tree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BST on one 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Interval queries on a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2D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BST on x, with y-tree at each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O(log⁡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n+k)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Rectangular queries in plane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Segment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Tree storing aggregates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Range sums/min/max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Fenwick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Binary Indexed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O(log⁡n)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Prefix sums, frequency counts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50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68" y="1128469"/>
            <a:ext cx="4553585" cy="41820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921" y="1128469"/>
            <a:ext cx="5201376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5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82" y="1020390"/>
            <a:ext cx="4867954" cy="36866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387" y="1020390"/>
            <a:ext cx="5182323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49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7" y="1212561"/>
            <a:ext cx="6432119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2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Inputs</a:t>
            </a:r>
          </a:p>
          <a:p>
            <a:endParaRPr lang="en-US" sz="1600" dirty="0" smtClean="0"/>
          </a:p>
          <a:p>
            <a:r>
              <a:rPr lang="en-US" sz="1600" dirty="0" smtClean="0"/>
              <a:t>Points </a:t>
            </a:r>
            <a:r>
              <a:rPr lang="en-US" sz="1600" dirty="0"/>
              <a:t>list:</a:t>
            </a:r>
          </a:p>
          <a:p>
            <a:endParaRPr lang="en-US" sz="1600" dirty="0" smtClean="0"/>
          </a:p>
          <a:p>
            <a:r>
              <a:rPr lang="en-US" sz="1600" dirty="0" smtClean="0"/>
              <a:t>Query </a:t>
            </a:r>
            <a:r>
              <a:rPr lang="en-US" sz="1600" dirty="0"/>
              <a:t>rectangle: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X </a:t>
            </a:r>
            <a:r>
              <a:rPr lang="en-US" sz="1600" dirty="0"/>
              <a:t>range: [2, 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Y </a:t>
            </a:r>
            <a:r>
              <a:rPr lang="en-US" sz="1600" dirty="0"/>
              <a:t>range: [2, 6]</a:t>
            </a:r>
          </a:p>
          <a:p>
            <a:endParaRPr lang="en-US" sz="1600" dirty="0"/>
          </a:p>
          <a:p>
            <a:r>
              <a:rPr lang="en-US" sz="1600" dirty="0"/>
              <a:t>So the query is asking: How many points lie inside the rectangle defined by x between 2 and 5, and y between 2 and 6?</a:t>
            </a:r>
          </a:p>
          <a:p>
            <a:endParaRPr lang="en-US" sz="1600" dirty="0"/>
          </a:p>
          <a:p>
            <a:r>
              <a:rPr lang="en-US" sz="1600" b="1" dirty="0"/>
              <a:t>Processing – Building the Tree</a:t>
            </a:r>
          </a:p>
          <a:p>
            <a:endParaRPr lang="en-US" sz="1600" dirty="0" smtClean="0"/>
          </a:p>
          <a:p>
            <a:r>
              <a:rPr lang="en-US" sz="1600" b="1" dirty="0" smtClean="0"/>
              <a:t>Sorting</a:t>
            </a:r>
            <a:r>
              <a:rPr lang="en-US" sz="1600" b="1" dirty="0"/>
              <a:t>:</a:t>
            </a:r>
          </a:p>
          <a:p>
            <a:r>
              <a:rPr lang="en-US" sz="1600" dirty="0" smtClean="0"/>
              <a:t>Points </a:t>
            </a:r>
            <a:r>
              <a:rPr lang="en-US" sz="1600" dirty="0"/>
              <a:t>are sorted by x-coordinate:</a:t>
            </a:r>
          </a:p>
          <a:p>
            <a:r>
              <a:rPr lang="en-US" sz="1600" dirty="0"/>
              <a:t>→ (1,2), (3,5), (4,7), (5,4), (6,1)</a:t>
            </a:r>
          </a:p>
          <a:p>
            <a:endParaRPr lang="en-US" sz="1600" dirty="0"/>
          </a:p>
          <a:p>
            <a:r>
              <a:rPr lang="en-US" sz="1600" b="1" dirty="0"/>
              <a:t>Tree construction (build(l, r)):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Recursively </a:t>
            </a:r>
            <a:r>
              <a:rPr lang="en-US" sz="1600" dirty="0"/>
              <a:t>pick the middle point as the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Left </a:t>
            </a:r>
            <a:r>
              <a:rPr lang="en-US" sz="1600" dirty="0" err="1"/>
              <a:t>subtree</a:t>
            </a:r>
            <a:r>
              <a:rPr lang="en-US" sz="1600" dirty="0"/>
              <a:t> = points left of mid.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Right </a:t>
            </a:r>
            <a:r>
              <a:rPr lang="en-US" sz="1600" dirty="0" err="1"/>
              <a:t>subtree</a:t>
            </a:r>
            <a:r>
              <a:rPr lang="en-US" sz="1600" dirty="0"/>
              <a:t> = points right of mid.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This </a:t>
            </a:r>
            <a:r>
              <a:rPr lang="en-US" sz="1600" dirty="0"/>
              <a:t>creates a balanced BST on x-coordinates.</a:t>
            </a:r>
          </a:p>
          <a:p>
            <a:endParaRPr lang="en-US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03" y="1532029"/>
            <a:ext cx="2829320" cy="3524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97477" y="3734785"/>
            <a:ext cx="3057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 structure (simplified):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016" y="4216923"/>
            <a:ext cx="2143424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0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2D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Querying</a:t>
            </a:r>
          </a:p>
          <a:p>
            <a:endParaRPr lang="en-US" sz="1600" dirty="0"/>
          </a:p>
          <a:p>
            <a:r>
              <a:rPr lang="en-US" sz="1600" dirty="0"/>
              <a:t>The query(node, x1, x2, y1, y2) function: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Checks </a:t>
            </a:r>
            <a:r>
              <a:rPr lang="en-US" sz="1600" dirty="0"/>
              <a:t>if the current node’s point lies inside the rectangle.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yes → count =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Recursively </a:t>
            </a:r>
            <a:r>
              <a:rPr lang="en-US" sz="1600" dirty="0"/>
              <a:t>checks left and right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Adds </a:t>
            </a:r>
            <a:r>
              <a:rPr lang="en-US" sz="1600" dirty="0"/>
              <a:t>up counts.</a:t>
            </a:r>
          </a:p>
          <a:p>
            <a:endParaRPr lang="en-US" sz="1600" dirty="0" smtClean="0"/>
          </a:p>
          <a:p>
            <a:r>
              <a:rPr lang="en-US" sz="1600" b="1" dirty="0" smtClean="0"/>
              <a:t>Outputs</a:t>
            </a:r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Query rectangle: x ∈ [2,5], y ∈ [2,6].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Points </a:t>
            </a:r>
            <a:r>
              <a:rPr lang="en-US" sz="1600" dirty="0"/>
              <a:t>inside: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(</a:t>
            </a:r>
            <a:r>
              <a:rPr lang="en-US" sz="1600" dirty="0"/>
              <a:t>3,5) ✅ (x=3, y=5)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(</a:t>
            </a:r>
            <a:r>
              <a:rPr lang="en-US" sz="1600" dirty="0"/>
              <a:t>5,4) ✅ (x=5, y=4)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Other points are outside either x or y range.</a:t>
            </a:r>
          </a:p>
          <a:p>
            <a:endParaRPr lang="en-US" sz="1600" dirty="0"/>
          </a:p>
          <a:p>
            <a:r>
              <a:rPr lang="en-US" sz="1600" dirty="0"/>
              <a:t>So total count = 2.</a:t>
            </a:r>
          </a:p>
          <a:p>
            <a:endParaRPr lang="en-US" sz="1600" dirty="0"/>
          </a:p>
          <a:p>
            <a:r>
              <a:rPr lang="en-US" sz="1600" dirty="0"/>
              <a:t>Output:</a:t>
            </a:r>
            <a:endParaRPr lang="en-US" sz="16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06" y="5633736"/>
            <a:ext cx="2019582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08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A KD Range Tree (or KD-tree) is a space-partitioning data structure that organizes points in </a:t>
            </a:r>
            <a:r>
              <a:rPr lang="en-US" i="1" dirty="0"/>
              <a:t>k</a:t>
            </a:r>
            <a:r>
              <a:rPr lang="en-US" dirty="0"/>
              <a:t>-dimensional space by recursively splitting along coordinate axes. It is widely used for efficient multidimensional range queries and nearest-neighbor searches, with average query time around O(</a:t>
            </a:r>
            <a:r>
              <a:rPr lang="en-US" dirty="0" err="1"/>
              <a:t>log⁡n+k</a:t>
            </a:r>
            <a:r>
              <a:rPr lang="en-US" dirty="0" smtClean="0"/>
              <a:t>).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/>
              <a:t>What is a KD Range Tree?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KD-tree: </a:t>
            </a:r>
            <a:r>
              <a:rPr lang="en-US" dirty="0"/>
              <a:t>A binary tree where each node represents a point in k-dimensional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Splitting </a:t>
            </a:r>
            <a:r>
              <a:rPr lang="en-US" b="1" dirty="0"/>
              <a:t>rule: </a:t>
            </a:r>
            <a:r>
              <a:rPr lang="en-US" dirty="0"/>
              <a:t>At each level, the dataset is split by a </a:t>
            </a:r>
            <a:r>
              <a:rPr lang="en-US" dirty="0" err="1"/>
              <a:t>hyperplane</a:t>
            </a:r>
            <a:r>
              <a:rPr lang="en-US" dirty="0"/>
              <a:t> perpendicular to one coordinate 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Recursive </a:t>
            </a:r>
            <a:r>
              <a:rPr lang="en-US" b="1" dirty="0"/>
              <a:t>structure: </a:t>
            </a:r>
            <a:r>
              <a:rPr lang="en-US" dirty="0"/>
              <a:t>The splitting axis cycles through dimensions (x, y, z, …).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Purpose</a:t>
            </a:r>
            <a:r>
              <a:rPr lang="en-US" b="1" dirty="0"/>
              <a:t>: </a:t>
            </a:r>
            <a:r>
              <a:rPr lang="en-US" dirty="0"/>
              <a:t>Efficiently answer range queries (points inside a multidimensional box) and nearest-neighbor searches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Construction of KD Range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Choose </a:t>
            </a:r>
            <a:r>
              <a:rPr lang="en-US" b="1" dirty="0"/>
              <a:t>axis: </a:t>
            </a:r>
            <a:r>
              <a:rPr lang="en-US" dirty="0"/>
              <a:t>At depth d, split along axis </a:t>
            </a:r>
            <a:r>
              <a:rPr lang="en-US" dirty="0" err="1"/>
              <a:t>dmod</a:t>
            </a:r>
            <a:r>
              <a:rPr lang="en-US" dirty="0"/>
              <a:t>  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Find </a:t>
            </a:r>
            <a:r>
              <a:rPr lang="en-US" b="1" dirty="0"/>
              <a:t>median: </a:t>
            </a:r>
            <a:r>
              <a:rPr lang="en-US" dirty="0"/>
              <a:t>Select the median point along that 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Partition </a:t>
            </a:r>
            <a:r>
              <a:rPr lang="en-US" b="1" dirty="0"/>
              <a:t>points: </a:t>
            </a:r>
            <a:r>
              <a:rPr lang="en-US" dirty="0"/>
              <a:t>Left child = points left of median, right child = points right of median.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Repeat </a:t>
            </a:r>
            <a:r>
              <a:rPr lang="en-US" dirty="0"/>
              <a:t>recursively until each node has 1 point or a small subset.</a:t>
            </a:r>
          </a:p>
          <a:p>
            <a:r>
              <a:rPr lang="en-US" dirty="0"/>
              <a:t>This ensures the tree is balanced, with depth about </a:t>
            </a:r>
            <a:r>
              <a:rPr lang="en-US" dirty="0" err="1"/>
              <a:t>log⁡n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7583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Querying in KD Range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Range </a:t>
            </a:r>
            <a:r>
              <a:rPr lang="en-US" b="1" dirty="0"/>
              <a:t>query: </a:t>
            </a:r>
            <a:r>
              <a:rPr lang="en-US" dirty="0"/>
              <a:t>Given a hyper-rectangle [x</a:t>
            </a:r>
            <a:r>
              <a:rPr lang="en-US" baseline="-25000" dirty="0"/>
              <a:t>1</a:t>
            </a:r>
            <a:r>
              <a:rPr lang="en-US" dirty="0"/>
              <a:t>,x</a:t>
            </a:r>
            <a:r>
              <a:rPr lang="en-US" baseline="-25000" dirty="0"/>
              <a:t>2</a:t>
            </a:r>
            <a:r>
              <a:rPr lang="en-US" dirty="0"/>
              <a:t>]×[y</a:t>
            </a:r>
            <a:r>
              <a:rPr lang="en-US" baseline="-25000" dirty="0"/>
              <a:t>1</a:t>
            </a:r>
            <a:r>
              <a:rPr lang="en-US" dirty="0"/>
              <a:t>,y</a:t>
            </a:r>
            <a:r>
              <a:rPr lang="en-US" baseline="-25000" dirty="0"/>
              <a:t>2</a:t>
            </a:r>
            <a:r>
              <a:rPr lang="en-US" dirty="0"/>
              <a:t>]×…, traverse the tree: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the splitting </a:t>
            </a:r>
            <a:r>
              <a:rPr lang="en-US" dirty="0" err="1"/>
              <a:t>hyperplane</a:t>
            </a:r>
            <a:r>
              <a:rPr lang="en-US" dirty="0"/>
              <a:t> lies outside the query range, prune that branch.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inside, </a:t>
            </a:r>
            <a:r>
              <a:rPr lang="en-US" dirty="0" err="1"/>
              <a:t>recurse</a:t>
            </a:r>
            <a:r>
              <a:rPr lang="en-US" dirty="0"/>
              <a:t> into both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Collect </a:t>
            </a:r>
            <a:r>
              <a:rPr lang="en-US" dirty="0"/>
              <a:t>points that lie within the query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Complexity</a:t>
            </a:r>
            <a:r>
              <a:rPr lang="en-US" dirty="0"/>
              <a:t>: O(</a:t>
            </a:r>
            <a:r>
              <a:rPr lang="en-US" dirty="0" err="1"/>
              <a:t>log⁡n+k</a:t>
            </a:r>
            <a:r>
              <a:rPr lang="en-US" dirty="0"/>
              <a:t>) average, but worst-case can be O(n) if query covers most of the space.</a:t>
            </a:r>
          </a:p>
          <a:p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02142"/>
              </p:ext>
            </p:extLst>
          </p:nvPr>
        </p:nvGraphicFramePr>
        <p:xfrm>
          <a:off x="249381" y="3067461"/>
          <a:ext cx="10515600" cy="256032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Structure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Split Rule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Query Complexity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Space Complexity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Use Case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1D Range Tree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Balanced BST on one 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Interval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2D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BST on x, y-tree at each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O(log⁡2n+k)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nlog⁡n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Rectangular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KD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Axis-aligned hyperplane splits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O(log⁡n+k) 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Multidimensional queries, nearest </a:t>
                      </a:r>
                      <a:r>
                        <a:rPr lang="en-IN" dirty="0" err="1"/>
                        <a:t>neighbors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598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19" y="1003811"/>
            <a:ext cx="3010320" cy="40772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758" y="1003811"/>
            <a:ext cx="636358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1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" y="983580"/>
            <a:ext cx="6239746" cy="569325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615" y="983580"/>
            <a:ext cx="4848902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7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38" y="983580"/>
            <a:ext cx="6332577" cy="15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4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Inputs</a:t>
            </a:r>
          </a:p>
          <a:p>
            <a:endParaRPr lang="en-US" sz="1600" dirty="0" smtClean="0"/>
          </a:p>
          <a:p>
            <a:r>
              <a:rPr lang="en-US" sz="1600" dirty="0" smtClean="0"/>
              <a:t>Points </a:t>
            </a:r>
            <a:r>
              <a:rPr lang="en-US" sz="1600" dirty="0"/>
              <a:t>list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r>
              <a:rPr lang="en-US" sz="1600" dirty="0" smtClean="0"/>
              <a:t>Query </a:t>
            </a:r>
            <a:r>
              <a:rPr lang="en-US" sz="1600" dirty="0"/>
              <a:t>rectangle: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X </a:t>
            </a:r>
            <a:r>
              <a:rPr lang="en-US" sz="1600" dirty="0"/>
              <a:t>range: [3, 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Y </a:t>
            </a:r>
            <a:r>
              <a:rPr lang="en-US" sz="1600" dirty="0"/>
              <a:t>range: [2, 6]</a:t>
            </a:r>
          </a:p>
          <a:p>
            <a:endParaRPr lang="en-US" sz="1600" dirty="0"/>
          </a:p>
          <a:p>
            <a:r>
              <a:rPr lang="en-US" sz="1600" dirty="0"/>
              <a:t>So the query is asking: How many points lie inside the rectangle defined by x between 3 and 8, and y between 2 and 6?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69" y="1534364"/>
            <a:ext cx="3429479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1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Processing </a:t>
            </a:r>
            <a:r>
              <a:rPr lang="en-US" sz="1600" b="1" dirty="0"/>
              <a:t>– Building the </a:t>
            </a:r>
            <a:r>
              <a:rPr lang="en-US" sz="1600" b="1" dirty="0" smtClean="0"/>
              <a:t>KD-tree</a:t>
            </a:r>
          </a:p>
          <a:p>
            <a:endParaRPr lang="en-US" sz="1600" dirty="0"/>
          </a:p>
          <a:p>
            <a:r>
              <a:rPr lang="en-US" sz="1600" b="1" dirty="0"/>
              <a:t>Recursive build </a:t>
            </a:r>
            <a:r>
              <a:rPr lang="en-US" sz="1600" dirty="0"/>
              <a:t>(build(points, depth)):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At each depth, choose an axis: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Depth </a:t>
            </a:r>
            <a:r>
              <a:rPr lang="en-US" sz="1600" dirty="0"/>
              <a:t>% 2 = 0 → split by x.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Depth </a:t>
            </a:r>
            <a:r>
              <a:rPr lang="en-US" sz="1600" dirty="0"/>
              <a:t>% 2 = 1 → split by 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Sort </a:t>
            </a:r>
            <a:r>
              <a:rPr lang="en-US" sz="1600" dirty="0"/>
              <a:t>points by that 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Pick </a:t>
            </a:r>
            <a:r>
              <a:rPr lang="en-US" sz="1600" dirty="0"/>
              <a:t>the median as the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Recursively </a:t>
            </a:r>
            <a:r>
              <a:rPr lang="en-US" sz="1600" dirty="0"/>
              <a:t>build left and right </a:t>
            </a:r>
            <a:r>
              <a:rPr lang="en-US" sz="1600" dirty="0" err="1"/>
              <a:t>subtrees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This produces a balanced KD-tree where each level alternates between x and y splits.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84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Querying</a:t>
            </a:r>
          </a:p>
          <a:p>
            <a:endParaRPr lang="en-US" sz="1600" b="1" dirty="0"/>
          </a:p>
          <a:p>
            <a:r>
              <a:rPr lang="en-US" sz="1600" dirty="0"/>
              <a:t>The </a:t>
            </a:r>
            <a:r>
              <a:rPr lang="en-US" sz="1600" dirty="0" err="1"/>
              <a:t>rangeQuery</a:t>
            </a:r>
            <a:r>
              <a:rPr lang="en-US" sz="1600" dirty="0"/>
              <a:t>(node, x1, x2, y1, y2, depth) function: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Checks </a:t>
            </a:r>
            <a:r>
              <a:rPr lang="en-US" sz="1600" dirty="0"/>
              <a:t>if the current node’s point lies inside the rectangle.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yes → count++.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Decides </a:t>
            </a:r>
            <a:r>
              <a:rPr lang="en-US" sz="1600" dirty="0"/>
              <a:t>which </a:t>
            </a:r>
            <a:r>
              <a:rPr lang="en-US" sz="1600" dirty="0" err="1"/>
              <a:t>subtree</a:t>
            </a:r>
            <a:r>
              <a:rPr lang="en-US" sz="1600" dirty="0"/>
              <a:t>(s) to explore based on the splitting axis: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splitting by x: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Explore </a:t>
            </a:r>
            <a:r>
              <a:rPr lang="en-US" sz="1600" dirty="0"/>
              <a:t>left if x1 &lt;= </a:t>
            </a:r>
            <a:r>
              <a:rPr lang="en-US" sz="1600" dirty="0" err="1"/>
              <a:t>node.x</a:t>
            </a:r>
            <a:r>
              <a:rPr lang="en-US" sz="16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Explore </a:t>
            </a:r>
            <a:r>
              <a:rPr lang="en-US" sz="1600" dirty="0"/>
              <a:t>right if x2 &gt;= </a:t>
            </a:r>
            <a:r>
              <a:rPr lang="en-US" sz="1600" dirty="0" err="1"/>
              <a:t>node.x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splitting by y: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Explore </a:t>
            </a:r>
            <a:r>
              <a:rPr lang="en-US" sz="1600" dirty="0"/>
              <a:t>left if y1 &lt;= </a:t>
            </a:r>
            <a:r>
              <a:rPr lang="en-US" sz="1600" dirty="0" err="1"/>
              <a:t>node.y</a:t>
            </a:r>
            <a:r>
              <a:rPr lang="en-US" sz="1600" dirty="0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Explore </a:t>
            </a:r>
            <a:r>
              <a:rPr lang="en-US" sz="1600" dirty="0"/>
              <a:t>right if y2 &gt;= </a:t>
            </a:r>
            <a:r>
              <a:rPr lang="en-US" sz="1600" dirty="0" err="1"/>
              <a:t>node.y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This </a:t>
            </a:r>
            <a:r>
              <a:rPr lang="en-US" sz="1600" dirty="0"/>
              <a:t>pruning avoids searching irrelevant branches.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17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Dimensions – KD Range Tree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Outputs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Query rectangle: x ∈ [3,8], y ∈ [2,6].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Points </a:t>
            </a:r>
            <a:r>
              <a:rPr lang="en-US" sz="1600" dirty="0"/>
              <a:t>inside: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(</a:t>
            </a:r>
            <a:r>
              <a:rPr lang="en-US" sz="1600" dirty="0"/>
              <a:t>5,4</a:t>
            </a:r>
            <a:r>
              <a:rPr lang="en-US" sz="1600" dirty="0" smtClean="0"/>
              <a:t>)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(</a:t>
            </a:r>
            <a:r>
              <a:rPr lang="en-US" sz="1600" dirty="0"/>
              <a:t>7,2</a:t>
            </a:r>
            <a:r>
              <a:rPr lang="en-US" sz="1600" dirty="0" smtClean="0"/>
              <a:t>)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Other </a:t>
            </a:r>
            <a:r>
              <a:rPr lang="en-US" sz="1600" dirty="0"/>
              <a:t>points are outside either x or y range.</a:t>
            </a:r>
          </a:p>
          <a:p>
            <a:endParaRPr lang="en-US" sz="1600" dirty="0"/>
          </a:p>
          <a:p>
            <a:r>
              <a:rPr lang="en-US" sz="1600" dirty="0"/>
              <a:t>So total count = 2.</a:t>
            </a:r>
          </a:p>
          <a:p>
            <a:r>
              <a:rPr lang="en-US" sz="1600" dirty="0" smtClean="0"/>
              <a:t>Output</a:t>
            </a:r>
            <a:r>
              <a:rPr lang="en-US" sz="1600" dirty="0"/>
              <a:t>:</a:t>
            </a:r>
          </a:p>
          <a:p>
            <a:endParaRPr lang="en-US" sz="1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58" y="3749656"/>
            <a:ext cx="1714739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8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Fractional Cascading is an optimization technique for Range Trees that reduces query time by avoiding repeated binary searches across multiple sorted lists. It improves multidimensional range queries from O(</a:t>
            </a:r>
            <a:r>
              <a:rPr lang="en-US" sz="1600" dirty="0" err="1"/>
              <a:t>log⁡</a:t>
            </a:r>
            <a:r>
              <a:rPr lang="en-US" sz="1600" baseline="30000" dirty="0" err="1"/>
              <a:t>d</a:t>
            </a:r>
            <a:r>
              <a:rPr lang="en-US" sz="1600" dirty="0" err="1"/>
              <a:t>n+k</a:t>
            </a:r>
            <a:r>
              <a:rPr lang="en-US" sz="1600" dirty="0"/>
              <a:t>) to O(log⁡</a:t>
            </a:r>
            <a:r>
              <a:rPr lang="en-US" sz="1600" baseline="30000" dirty="0"/>
              <a:t>d−1</a:t>
            </a:r>
            <a:r>
              <a:rPr lang="en-US" sz="1600" dirty="0"/>
              <a:t>n+k), making Range Trees significantly faster in practice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Range Trees and the Bottleneck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Range </a:t>
            </a:r>
            <a:r>
              <a:rPr lang="en-US" sz="1600" dirty="0"/>
              <a:t>Trees: Used for orthogonal range searching in d-dimensions.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Query </a:t>
            </a:r>
            <a:r>
              <a:rPr lang="en-US" sz="1600" dirty="0"/>
              <a:t>complexity without optimization: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O(</a:t>
            </a:r>
            <a:r>
              <a:rPr lang="en-US" sz="1600" dirty="0" err="1" smtClean="0"/>
              <a:t>log</a:t>
            </a:r>
            <a:r>
              <a:rPr lang="en-US" sz="1600" dirty="0" err="1"/>
              <a:t>⁡</a:t>
            </a:r>
            <a:r>
              <a:rPr lang="en-US" sz="1600" baseline="30000" dirty="0" err="1"/>
              <a:t>d</a:t>
            </a:r>
            <a:r>
              <a:rPr lang="en-US" sz="1600" dirty="0" err="1"/>
              <a:t>n+k</a:t>
            </a:r>
            <a:r>
              <a:rPr lang="en-US" sz="1600" dirty="0"/>
              <a:t>), where n = number of points, k = number of reported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Problem</a:t>
            </a:r>
            <a:r>
              <a:rPr lang="en-US" sz="1600" dirty="0"/>
              <a:t>: At each level of the tree, we perform a binary search in an associated sorted list (e.g., y-coordinates at nodes in a 2D tree). This repetition costs extra </a:t>
            </a:r>
            <a:r>
              <a:rPr lang="en-US" sz="1600" dirty="0" err="1"/>
              <a:t>log⁡n</a:t>
            </a:r>
            <a:r>
              <a:rPr lang="en-US" sz="1600" dirty="0"/>
              <a:t> factors.</a:t>
            </a:r>
          </a:p>
          <a:p>
            <a:endParaRPr lang="en-US" sz="1600" dirty="0"/>
          </a:p>
          <a:p>
            <a:r>
              <a:rPr lang="en-US" sz="1600" b="1" dirty="0"/>
              <a:t>Fractional Cascading – The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Repeated search problem: We need to search for the same key across multiple sorted lists.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Naïve </a:t>
            </a:r>
            <a:r>
              <a:rPr lang="en-US" sz="1600" dirty="0"/>
              <a:t>approach: Perform binary search independently in each list → costly.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Fractional </a:t>
            </a:r>
            <a:r>
              <a:rPr lang="en-US" sz="1600" dirty="0"/>
              <a:t>Cascading: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Merge </a:t>
            </a:r>
            <a:r>
              <a:rPr lang="en-US" sz="1600" dirty="0"/>
              <a:t>lists by duplicating every other element from one list into the previous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Add </a:t>
            </a:r>
            <a:r>
              <a:rPr lang="en-US" sz="1600" dirty="0"/>
              <a:t>bridges (pointers) between elements in adjacent lists.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After </a:t>
            </a:r>
            <a:r>
              <a:rPr lang="en-US" sz="1600" dirty="0"/>
              <a:t>one binary search in the first list, subsequent searches in other lists can be done in constant time by following these bridges.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427666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How It Works in Range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Build </a:t>
            </a:r>
            <a:r>
              <a:rPr lang="en-US" sz="1600" dirty="0"/>
              <a:t>layered range tree: At each node, store a sorted list of points by the secondary coordinate (e.g., 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Apply </a:t>
            </a:r>
            <a:r>
              <a:rPr lang="en-US" sz="1600" dirty="0"/>
              <a:t>fractional cascading: Link these lists across levels with bridges.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Query </a:t>
            </a:r>
            <a:r>
              <a:rPr lang="en-US" sz="1600" dirty="0"/>
              <a:t>process: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Perform </a:t>
            </a:r>
            <a:r>
              <a:rPr lang="en-US" sz="1600" dirty="0"/>
              <a:t>one binary search at the top level.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Use </a:t>
            </a:r>
            <a:r>
              <a:rPr lang="en-US" sz="1600" dirty="0"/>
              <a:t>bridges to cascade results down to child lists in O(1) per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Resulting </a:t>
            </a:r>
            <a:r>
              <a:rPr lang="en-US" sz="1600" dirty="0"/>
              <a:t>complexity: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Query </a:t>
            </a:r>
            <a:r>
              <a:rPr lang="en-US" sz="1600" dirty="0"/>
              <a:t>time improves to O(log⁡</a:t>
            </a:r>
            <a:r>
              <a:rPr lang="en-US" sz="1600" baseline="30000" dirty="0"/>
              <a:t>d−1</a:t>
            </a:r>
            <a:r>
              <a:rPr lang="en-US" sz="1600" dirty="0"/>
              <a:t>n+k).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Space </a:t>
            </a:r>
            <a:r>
              <a:rPr lang="en-US" sz="1600" dirty="0"/>
              <a:t>complexity remains O(nlog⁡</a:t>
            </a:r>
            <a:r>
              <a:rPr lang="en-US" sz="1600" baseline="30000" dirty="0"/>
              <a:t>d−1</a:t>
            </a:r>
            <a:r>
              <a:rPr lang="en-US" sz="1600" dirty="0"/>
              <a:t>n).</a:t>
            </a:r>
          </a:p>
          <a:p>
            <a:endParaRPr lang="en-US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295938"/>
              </p:ext>
            </p:extLst>
          </p:nvPr>
        </p:nvGraphicFramePr>
        <p:xfrm>
          <a:off x="314498" y="3689567"/>
          <a:ext cx="10515600" cy="22860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Structure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Space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Notes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Range Tree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</a:t>
                      </a:r>
                      <a:r>
                        <a:rPr lang="en-IN" baseline="30000" dirty="0" err="1"/>
                        <a:t>d</a:t>
                      </a:r>
                      <a:r>
                        <a:rPr lang="en-IN" dirty="0" err="1"/>
                        <a:t>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binary searches per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Range Tree + Fractional Cascading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n+k)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binary search + constant-time cascades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KD-tree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Avg O(log⁡n+k), worst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Simpler, but weaker worst-case guarantees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93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44" y="931024"/>
            <a:ext cx="5639587" cy="57982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029" y="1241275"/>
            <a:ext cx="5334744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4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32" y="1053687"/>
            <a:ext cx="6341646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2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This program is a </a:t>
            </a:r>
            <a:r>
              <a:rPr lang="en-US" b="1" dirty="0"/>
              <a:t>simulation of fractional cascading</a:t>
            </a:r>
            <a:r>
              <a:rPr lang="en-US" dirty="0"/>
              <a:t> — it shows how links between multiple sorted lists can reduce repeated binary searches when answering range queries</a:t>
            </a:r>
            <a:r>
              <a:rPr lang="en-US" dirty="0" smtClean="0"/>
              <a:t>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Inputs</a:t>
            </a:r>
          </a:p>
          <a:p>
            <a:r>
              <a:rPr lang="en-US" sz="1600" dirty="0"/>
              <a:t>Levels of sorted lists:</a:t>
            </a:r>
          </a:p>
          <a:p>
            <a:endParaRPr lang="en-US" sz="1600" b="1" dirty="0" smtClean="0">
              <a:solidFill>
                <a:srgbClr val="FF0000"/>
              </a:solidFill>
            </a:endParaRP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dirty="0" smtClean="0"/>
              <a:t>These </a:t>
            </a:r>
            <a:r>
              <a:rPr lang="en-US" sz="1600" dirty="0"/>
              <a:t>represent different “layers” of data (like y-coordinate lists stored at nodes in a range tree).</a:t>
            </a:r>
            <a:endParaRPr lang="en-US" sz="1600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4" y="2645478"/>
            <a:ext cx="2057687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5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Processing</a:t>
            </a:r>
          </a:p>
          <a:p>
            <a:endParaRPr lang="en-US" b="1" dirty="0"/>
          </a:p>
          <a:p>
            <a:r>
              <a:rPr lang="en-US" b="1" dirty="0"/>
              <a:t>Build links (</a:t>
            </a:r>
            <a:r>
              <a:rPr lang="en-US" b="1" dirty="0" err="1"/>
              <a:t>buildLinks</a:t>
            </a:r>
            <a:r>
              <a:rPr lang="en-US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For </a:t>
            </a:r>
            <a:r>
              <a:rPr lang="en-US" dirty="0"/>
              <a:t>each level after the first, it compares elements of the current list with the previous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</a:t>
            </a:r>
            <a:r>
              <a:rPr lang="en-US" dirty="0"/>
              <a:t>records the index position in the previous list where each current element would 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simulates the </a:t>
            </a:r>
            <a:r>
              <a:rPr lang="en-US" b="1" dirty="0"/>
              <a:t>bridge pointers </a:t>
            </a:r>
            <a:r>
              <a:rPr lang="en-US" dirty="0"/>
              <a:t>of fractional cascading.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For </a:t>
            </a:r>
            <a:r>
              <a:rPr lang="en-US" dirty="0"/>
              <a:t>Level 1 [2,3,6,8] against Level 0 [1,3,5,7,9]: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2 </a:t>
            </a:r>
            <a:r>
              <a:rPr lang="en-US" dirty="0"/>
              <a:t>fits after index 1 → link =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3 </a:t>
            </a:r>
            <a:r>
              <a:rPr lang="en-US" dirty="0"/>
              <a:t>fits at index 1 → link =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6 </a:t>
            </a:r>
            <a:r>
              <a:rPr lang="en-US" dirty="0"/>
              <a:t>fits after index 3 → link =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8 </a:t>
            </a:r>
            <a:r>
              <a:rPr lang="en-US" dirty="0"/>
              <a:t>fits after index 4 → link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→ Output: Level 1 links: [1, 1, 3, 4</a:t>
            </a:r>
            <a:r>
              <a:rPr lang="en-US" dirty="0" smtClean="0"/>
              <a:t>]</a:t>
            </a:r>
            <a:endParaRPr lang="en-US" sz="1600" b="1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Query (query):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Performs </a:t>
            </a:r>
            <a:r>
              <a:rPr lang="en-US" dirty="0"/>
              <a:t>a binary search in one list for a given value 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a full fractional cascading setup, you’d only do this once, then reuse the linked indices to cascade down other lists in constant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Here</a:t>
            </a:r>
            <a:r>
              <a:rPr lang="en-US" dirty="0"/>
              <a:t>, it just demonstrates the binary search part.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799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Optimization – Fractional Cascading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Outputs</a:t>
            </a:r>
          </a:p>
          <a:p>
            <a:r>
              <a:rPr lang="en-US" sz="1600" dirty="0"/>
              <a:t>During construction, it prints the link arrays for each level: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IN" sz="1600" dirty="0"/>
              <a:t>Finally, it prints</a:t>
            </a:r>
            <a:r>
              <a:rPr lang="en-IN" sz="1600" dirty="0" smtClean="0"/>
              <a:t>:</a:t>
            </a:r>
          </a:p>
          <a:p>
            <a:endParaRPr lang="en-IN" sz="1600" dirty="0"/>
          </a:p>
          <a:p>
            <a:endParaRPr lang="en-IN" sz="1600" dirty="0" smtClean="0"/>
          </a:p>
          <a:p>
            <a:endParaRPr lang="en-IN" sz="1600" dirty="0"/>
          </a:p>
          <a:p>
            <a:r>
              <a:rPr lang="en-US" sz="1600" dirty="0"/>
              <a:t>(No actual query results are shown in main, but the query method is available to test searching with cascading.)</a:t>
            </a:r>
            <a:endParaRPr lang="en-US" sz="16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10" y="1768060"/>
            <a:ext cx="2505425" cy="5620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10" y="2917896"/>
            <a:ext cx="1867161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9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A Static Range Tree is a type of range tree built once from a fixed set of points and never updated. It is optimized for fast queries, not for dynamic insertions or deletions, making it ideal when the dataset is immutable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What is a Static Range Tree?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Range tree: </a:t>
            </a:r>
            <a:r>
              <a:rPr lang="en-US" sz="1600" dirty="0"/>
              <a:t>A multi-level binary search tree used for efficient multidimensional range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Static </a:t>
            </a:r>
            <a:r>
              <a:rPr lang="en-US" sz="1600" b="1" dirty="0"/>
              <a:t>variant: </a:t>
            </a:r>
            <a:r>
              <a:rPr lang="en-US" sz="1600" dirty="0"/>
              <a:t>Constructed from a fixed dataset; no updates allowed.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Key </a:t>
            </a:r>
            <a:r>
              <a:rPr lang="en-US" sz="1600" b="1" dirty="0"/>
              <a:t>property: </a:t>
            </a:r>
            <a:r>
              <a:rPr lang="en-US" sz="1600" dirty="0"/>
              <a:t>Since the structure doesn’t change, it can be heavily optimized for query speed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 smtClean="0"/>
              <a:t>Construction</a:t>
            </a:r>
          </a:p>
          <a:p>
            <a:endParaRPr lang="en-US" sz="1600" b="1" dirty="0"/>
          </a:p>
          <a:p>
            <a:r>
              <a:rPr lang="en-US" sz="1600" b="1" dirty="0" smtClean="0"/>
              <a:t>Process</a:t>
            </a:r>
            <a:r>
              <a:rPr lang="en-US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Build </a:t>
            </a:r>
            <a:r>
              <a:rPr lang="en-US" sz="1600" dirty="0"/>
              <a:t>a balanced BST on the first dimension (e.g., x-coordinates).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At </a:t>
            </a:r>
            <a:r>
              <a:rPr lang="en-US" sz="1600" dirty="0"/>
              <a:t>each node, store an associated range tree for the remaining dimensions (e.g., y-coordinates).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Continue </a:t>
            </a:r>
            <a:r>
              <a:rPr lang="en-US" sz="1600" dirty="0"/>
              <a:t>recursively until all dimensions are covered.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Time </a:t>
            </a:r>
            <a:r>
              <a:rPr lang="en-US" sz="1600" dirty="0"/>
              <a:t>complexity: O(nlog</a:t>
            </a:r>
            <a:r>
              <a:rPr lang="en-US" sz="1600" baseline="30000" dirty="0"/>
              <a:t>⁡d−1</a:t>
            </a:r>
            <a:r>
              <a:rPr lang="en-US" sz="1600" dirty="0"/>
              <a:t>n) for n points in d-dimensions.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Space </a:t>
            </a:r>
            <a:r>
              <a:rPr lang="en-US" sz="1600" dirty="0"/>
              <a:t>complexity: O(nlog⁡</a:t>
            </a:r>
            <a:r>
              <a:rPr lang="en-US" sz="1600" baseline="30000" dirty="0"/>
              <a:t>d−1</a:t>
            </a:r>
            <a:r>
              <a:rPr lang="en-US" sz="1600" dirty="0"/>
              <a:t>n).</a:t>
            </a:r>
          </a:p>
          <a:p>
            <a:endParaRPr lang="en-US" sz="1600" dirty="0"/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97941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Querying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Input</a:t>
            </a:r>
            <a:r>
              <a:rPr lang="en-US" sz="1600" b="1" dirty="0"/>
              <a:t>: </a:t>
            </a:r>
            <a:r>
              <a:rPr lang="en-US" sz="1600" dirty="0"/>
              <a:t>A query rectangle (or hyper-rectangle in higher dimensions).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Process</a:t>
            </a:r>
            <a:r>
              <a:rPr lang="en-US" sz="16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Traverse </a:t>
            </a:r>
            <a:r>
              <a:rPr lang="en-US" sz="1600" dirty="0"/>
              <a:t>the primary tree to find nodes overlapping the query interval.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Use </a:t>
            </a:r>
            <a:r>
              <a:rPr lang="en-US" sz="1600" dirty="0"/>
              <a:t>associated secondary trees to filter points in other 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Complexity</a:t>
            </a:r>
            <a:r>
              <a:rPr lang="en-US" sz="16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Without </a:t>
            </a:r>
            <a:r>
              <a:rPr lang="en-US" sz="1600" dirty="0"/>
              <a:t>optimization: O(</a:t>
            </a:r>
            <a:r>
              <a:rPr lang="en-US" sz="1600" dirty="0" err="1"/>
              <a:t>log⁡</a:t>
            </a:r>
            <a:r>
              <a:rPr lang="en-US" sz="1600" baseline="30000" dirty="0" err="1"/>
              <a:t>d</a:t>
            </a:r>
            <a:r>
              <a:rPr lang="en-US" sz="1600" dirty="0" err="1"/>
              <a:t>n+k</a:t>
            </a:r>
            <a:r>
              <a:rPr lang="en-US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With </a:t>
            </a:r>
            <a:r>
              <a:rPr lang="en-US" sz="1600" dirty="0"/>
              <a:t>fractional cascading: O(log⁡</a:t>
            </a:r>
            <a:r>
              <a:rPr lang="en-US" sz="1600" baseline="30000" dirty="0"/>
              <a:t>d−1</a:t>
            </a:r>
            <a:r>
              <a:rPr lang="en-US" sz="1600" dirty="0"/>
              <a:t>n+k).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k </a:t>
            </a:r>
            <a:r>
              <a:rPr lang="en-US" sz="1600" dirty="0"/>
              <a:t>= number of reported points.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89267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260369"/>
              </p:ext>
            </p:extLst>
          </p:nvPr>
        </p:nvGraphicFramePr>
        <p:xfrm>
          <a:off x="181494" y="1478382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Updates Allowed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Query 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Space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Best Use Case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Static Range Tree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</a:t>
                      </a:r>
                      <a:r>
                        <a:rPr lang="en-IN" baseline="30000" dirty="0" err="1"/>
                        <a:t>d</a:t>
                      </a:r>
                      <a:r>
                        <a:rPr lang="en-IN" dirty="0" err="1"/>
                        <a:t>n+k</a:t>
                      </a:r>
                      <a:r>
                        <a:rPr lang="en-IN" dirty="0"/>
                        <a:t>) (or O(log</a:t>
                      </a:r>
                      <a:r>
                        <a:rPr lang="en-IN" baseline="30000" dirty="0"/>
                        <a:t>⁡d−1</a:t>
                      </a:r>
                      <a:r>
                        <a:rPr lang="en-IN" dirty="0"/>
                        <a:t>n+k) with cascading)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Immutable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Dynamic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 (insert/delete)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Slower due to rebalancing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Databases with frequent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KD-tree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Avg O(log⁡n+k), worst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Nearest </a:t>
                      </a:r>
                      <a:r>
                        <a:rPr lang="en-IN" dirty="0" err="1"/>
                        <a:t>neighbor</a:t>
                      </a:r>
                      <a:r>
                        <a:rPr lang="en-IN" dirty="0"/>
                        <a:t> + range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Segment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1D range sums/min/max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5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1" y="1030778"/>
            <a:ext cx="5277587" cy="57102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381" y="2239331"/>
            <a:ext cx="5563376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9" y="1174635"/>
            <a:ext cx="4867954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7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sz="1600" dirty="0"/>
          </a:p>
          <a:p>
            <a:r>
              <a:rPr lang="en-US" sz="1600" dirty="0"/>
              <a:t>This program is implementing a Static Range Tree (in practice, a segment tree) for efficient range sum queries on a fixed </a:t>
            </a:r>
            <a:r>
              <a:rPr lang="en-US" sz="1600" dirty="0" smtClean="0"/>
              <a:t>array</a:t>
            </a:r>
          </a:p>
          <a:p>
            <a:endParaRPr lang="en-US" sz="1600" dirty="0"/>
          </a:p>
          <a:p>
            <a:r>
              <a:rPr lang="en-US" sz="1600" b="1" dirty="0"/>
              <a:t>Inputs</a:t>
            </a:r>
          </a:p>
          <a:p>
            <a:r>
              <a:rPr lang="en-US" sz="1600" b="1" dirty="0"/>
              <a:t>Array: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Query: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→ asking for the sum of elements from index 1 to 3.</a:t>
            </a:r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4" y="2362087"/>
            <a:ext cx="2467319" cy="3715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34" y="3104137"/>
            <a:ext cx="3343742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6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Processing</a:t>
            </a:r>
          </a:p>
          <a:p>
            <a:endParaRPr lang="en-US" sz="1600" b="1" dirty="0"/>
          </a:p>
          <a:p>
            <a:r>
              <a:rPr lang="en-US" sz="1600" b="1" dirty="0"/>
              <a:t>Build phase (build):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Constructs a segment tree from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node represents a range [l, r].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l == r → leaf node stores </a:t>
            </a:r>
            <a:r>
              <a:rPr lang="en-US" sz="1600" dirty="0" err="1"/>
              <a:t>arr</a:t>
            </a:r>
            <a:r>
              <a:rPr lang="en-US" sz="1600" dirty="0"/>
              <a:t>[l].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Otherwise: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Recursively build left child [l, mid] and right child [mid+1, r].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Store sum of children in the current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tree array (tree[]) is sized 4 * n to safely hold all nodes.</a:t>
            </a:r>
          </a:p>
          <a:p>
            <a:r>
              <a:rPr lang="en-US" sz="1600" b="1" dirty="0"/>
              <a:t>Example structure for {2,4,6,8,10</a:t>
            </a:r>
            <a:r>
              <a:rPr lang="en-US" sz="1600" b="1" dirty="0" smtClean="0"/>
              <a:t>}:</a:t>
            </a:r>
          </a:p>
          <a:p>
            <a:endParaRPr lang="en-US" sz="1600" b="1" dirty="0"/>
          </a:p>
          <a:p>
            <a:endParaRPr lang="en-US" sz="1600" b="1" dirty="0" smtClean="0"/>
          </a:p>
          <a:p>
            <a:endParaRPr lang="en-US" sz="1600" b="1" dirty="0"/>
          </a:p>
          <a:p>
            <a:endParaRPr lang="en-US" sz="1600" b="1" dirty="0" smtClean="0"/>
          </a:p>
          <a:p>
            <a:endParaRPr lang="en-US" sz="1600" b="1" dirty="0"/>
          </a:p>
          <a:p>
            <a:endParaRPr lang="en-US" sz="1600" b="1" dirty="0" smtClean="0"/>
          </a:p>
          <a:p>
            <a:r>
              <a:rPr lang="en-US" sz="1600" b="1" dirty="0"/>
              <a:t>Query phase (query):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Checks </a:t>
            </a:r>
            <a:r>
              <a:rPr lang="en-US" sz="1600" dirty="0"/>
              <a:t>overlap between query range [</a:t>
            </a:r>
            <a:r>
              <a:rPr lang="en-US" sz="1600" dirty="0" err="1"/>
              <a:t>ql</a:t>
            </a:r>
            <a:r>
              <a:rPr lang="en-US" sz="1600" dirty="0"/>
              <a:t>, </a:t>
            </a:r>
            <a:r>
              <a:rPr lang="en-US" sz="1600" dirty="0" err="1"/>
              <a:t>qr</a:t>
            </a:r>
            <a:r>
              <a:rPr lang="en-US" sz="1600" dirty="0"/>
              <a:t>] and node range [l, r].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No </a:t>
            </a:r>
            <a:r>
              <a:rPr lang="en-US" sz="1600" dirty="0"/>
              <a:t>overlap → return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Full </a:t>
            </a:r>
            <a:r>
              <a:rPr lang="en-US" sz="1600" dirty="0"/>
              <a:t>overlap → return node’s stored sum.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Partial </a:t>
            </a:r>
            <a:r>
              <a:rPr lang="en-US" sz="1600" dirty="0"/>
              <a:t>overlap → </a:t>
            </a:r>
            <a:r>
              <a:rPr lang="en-US" sz="1600" dirty="0" err="1"/>
              <a:t>recurse</a:t>
            </a:r>
            <a:r>
              <a:rPr lang="en-US" sz="1600" dirty="0"/>
              <a:t> into children and add results</a:t>
            </a:r>
            <a:r>
              <a:rPr lang="en-US" sz="1600" dirty="0" smtClean="0"/>
              <a:t>.</a:t>
            </a:r>
            <a:endParaRPr lang="en-US" sz="16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87" y="3943960"/>
            <a:ext cx="3277057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Static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Query</a:t>
            </a:r>
            <a:r>
              <a:rPr lang="en-US" sz="1600" dirty="0"/>
              <a:t>: Sum (1-3) → elements {4,6,8}.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Computation</a:t>
            </a:r>
            <a:r>
              <a:rPr lang="en-US" sz="1600" dirty="0"/>
              <a:t>: 4+6+8=18.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r>
              <a:rPr lang="en-US" sz="1600" b="1" dirty="0"/>
              <a:t>Input:</a:t>
            </a:r>
            <a:r>
              <a:rPr lang="en-US" sz="1600" dirty="0"/>
              <a:t> Fixed array {2,4,6,8,10}.</a:t>
            </a:r>
          </a:p>
          <a:p>
            <a:r>
              <a:rPr lang="en-US" sz="1600" b="1" dirty="0" smtClean="0"/>
              <a:t>Processing</a:t>
            </a:r>
            <a:r>
              <a:rPr lang="en-US" sz="1600" b="1" dirty="0"/>
              <a:t>: </a:t>
            </a:r>
            <a:r>
              <a:rPr lang="en-US" sz="1600" dirty="0"/>
              <a:t>Build a static segment tree (no updates allowed).</a:t>
            </a:r>
          </a:p>
          <a:p>
            <a:r>
              <a:rPr lang="en-US" sz="1600" b="1" dirty="0" smtClean="0"/>
              <a:t>Query</a:t>
            </a:r>
            <a:r>
              <a:rPr lang="en-US" sz="1600" b="1" dirty="0"/>
              <a:t>: </a:t>
            </a:r>
            <a:r>
              <a:rPr lang="en-US" sz="1600" dirty="0"/>
              <a:t>Efficiently compute sum over [1,3].</a:t>
            </a:r>
          </a:p>
          <a:p>
            <a:r>
              <a:rPr lang="en-US" sz="1600" b="1" dirty="0" smtClean="0"/>
              <a:t>Output</a:t>
            </a:r>
            <a:r>
              <a:rPr lang="en-US" sz="1600" b="1" dirty="0"/>
              <a:t>: </a:t>
            </a:r>
            <a:r>
              <a:rPr lang="en-US" sz="1600" dirty="0"/>
              <a:t>18.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445" y="1875277"/>
            <a:ext cx="1267002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65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A Dynamic Range Tree is a type of range tree that supports not only queries but also updates (insertions and deletions of points). Unlike a Static Range Tree, which is built once and fixed, the dynamic version maintains balance and auxiliary structures to handle changes in the dataset while still answering range queries efficiently.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What </a:t>
            </a:r>
            <a:r>
              <a:rPr lang="en-US" sz="1600" b="1" dirty="0"/>
              <a:t>is a Dynamic Range Tree</a:t>
            </a:r>
            <a:r>
              <a:rPr lang="en-US" sz="1600" b="1" dirty="0" smtClean="0"/>
              <a:t>?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Range tree: </a:t>
            </a:r>
            <a:r>
              <a:rPr lang="en-US" sz="1600" dirty="0"/>
              <a:t>A hierarchical structure for multidimensional range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Dynamic </a:t>
            </a:r>
            <a:r>
              <a:rPr lang="en-US" sz="1600" b="1" dirty="0"/>
              <a:t>variant: </a:t>
            </a:r>
            <a:r>
              <a:rPr lang="en-US" sz="1600" dirty="0"/>
              <a:t>Allows the dataset to grow or shrink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Key </a:t>
            </a:r>
            <a:r>
              <a:rPr lang="en-US" sz="1600" b="1" dirty="0"/>
              <a:t>property: </a:t>
            </a:r>
            <a:r>
              <a:rPr lang="en-US" sz="1600" dirty="0"/>
              <a:t>Supports both queries and updates (insert/delete</a:t>
            </a:r>
            <a:r>
              <a:rPr lang="en-US" sz="1600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Similar to static range trees: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Build </a:t>
            </a:r>
            <a:r>
              <a:rPr lang="en-US" sz="1600" dirty="0"/>
              <a:t>a balanced BST on the first dimension.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At </a:t>
            </a:r>
            <a:r>
              <a:rPr lang="en-US" sz="1600" dirty="0"/>
              <a:t>each node, store an associated range tree for the remaining 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Dynamic </a:t>
            </a:r>
            <a:r>
              <a:rPr lang="en-US" sz="1600" b="1" dirty="0"/>
              <a:t>twist: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When </a:t>
            </a:r>
            <a:r>
              <a:rPr lang="en-US" sz="1600" dirty="0"/>
              <a:t>a point is inserted or deleted, the tree must update both the primary BST and the associated secondary trees.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Balancing </a:t>
            </a:r>
            <a:r>
              <a:rPr lang="en-US" sz="1600" dirty="0"/>
              <a:t>operations (like rotations in AVL/Red-Black trees) may be required to maintain efficiency.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08610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Input</a:t>
            </a:r>
            <a:r>
              <a:rPr lang="en-US" sz="1600" b="1" dirty="0"/>
              <a:t>: </a:t>
            </a:r>
            <a:r>
              <a:rPr lang="en-US" sz="1600" dirty="0"/>
              <a:t>A query rectangle (e.g., [x</a:t>
            </a:r>
            <a:r>
              <a:rPr lang="en-US" sz="1600" baseline="-25000" dirty="0"/>
              <a:t>1</a:t>
            </a:r>
            <a:r>
              <a:rPr lang="en-US" sz="1600" dirty="0"/>
              <a:t>,x</a:t>
            </a:r>
            <a:r>
              <a:rPr lang="en-US" sz="1600" baseline="-25000" dirty="0"/>
              <a:t>2</a:t>
            </a:r>
            <a:r>
              <a:rPr lang="en-US" sz="1600" dirty="0"/>
              <a:t>]×[y</a:t>
            </a:r>
            <a:r>
              <a:rPr lang="en-US" sz="1600" baseline="-25000" dirty="0"/>
              <a:t>1</a:t>
            </a:r>
            <a:r>
              <a:rPr lang="en-US" sz="1600" dirty="0"/>
              <a:t>,y</a:t>
            </a:r>
            <a:r>
              <a:rPr lang="en-US" sz="1600" baseline="-25000" dirty="0"/>
              <a:t>2</a:t>
            </a:r>
            <a:r>
              <a:rPr lang="en-US" sz="1600" dirty="0"/>
              <a:t>]).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Process</a:t>
            </a:r>
            <a:r>
              <a:rPr lang="en-US" sz="1600" b="1" dirty="0"/>
              <a:t>: </a:t>
            </a:r>
            <a:r>
              <a:rPr lang="en-US" sz="1600" dirty="0"/>
              <a:t>Same as static trees — traverse primary tree, then query secondary trees.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Complexity</a:t>
            </a:r>
            <a:r>
              <a:rPr lang="en-US" sz="16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Query</a:t>
            </a:r>
            <a:r>
              <a:rPr lang="en-US" sz="1600" b="1" dirty="0"/>
              <a:t>: </a:t>
            </a:r>
            <a:r>
              <a:rPr lang="en-US" sz="1600" dirty="0"/>
              <a:t>O(</a:t>
            </a:r>
            <a:r>
              <a:rPr lang="en-US" sz="1600" dirty="0" err="1"/>
              <a:t>log⁡</a:t>
            </a:r>
            <a:r>
              <a:rPr lang="en-US" sz="1600" baseline="30000" dirty="0" err="1"/>
              <a:t>d</a:t>
            </a:r>
            <a:r>
              <a:rPr lang="en-US" sz="1600" dirty="0" err="1"/>
              <a:t>n+k</a:t>
            </a:r>
            <a:r>
              <a:rPr lang="en-US" sz="1600" dirty="0"/>
              <a:t>) (or O(log⁡</a:t>
            </a:r>
            <a:r>
              <a:rPr lang="en-US" sz="1600" baseline="30000" dirty="0"/>
              <a:t>d−1</a:t>
            </a:r>
            <a:r>
              <a:rPr lang="en-US" sz="1600" dirty="0"/>
              <a:t>n+k) with fractional cascading).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Update </a:t>
            </a:r>
            <a:r>
              <a:rPr lang="en-US" sz="1600" b="1" dirty="0"/>
              <a:t>(insert/delete): </a:t>
            </a:r>
            <a:r>
              <a:rPr lang="en-US" sz="1600" dirty="0"/>
              <a:t>O(</a:t>
            </a:r>
            <a:r>
              <a:rPr lang="en-US" sz="1600" dirty="0" err="1"/>
              <a:t>log⁡</a:t>
            </a:r>
            <a:r>
              <a:rPr lang="en-US" sz="1600" baseline="30000" dirty="0" err="1"/>
              <a:t>d</a:t>
            </a:r>
            <a:r>
              <a:rPr lang="en-US" sz="1600" dirty="0" err="1"/>
              <a:t>n</a:t>
            </a:r>
            <a:r>
              <a:rPr lang="en-US" sz="1600" dirty="0"/>
              <a:t>).</a:t>
            </a:r>
          </a:p>
          <a:p>
            <a:pPr lvl="1"/>
            <a:endParaRPr lang="en-US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73500"/>
              </p:ext>
            </p:extLst>
          </p:nvPr>
        </p:nvGraphicFramePr>
        <p:xfrm>
          <a:off x="322811" y="2852018"/>
          <a:ext cx="10515600" cy="3108960"/>
        </p:xfrm>
        <a:graphic>
          <a:graphicData uri="http://schemas.openxmlformats.org/drawingml/2006/table">
            <a:tbl>
              <a:tblPr/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Type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Updates Allowed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Query 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Update 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Space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Best Use Case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Static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</a:t>
                      </a:r>
                      <a:r>
                        <a:rPr lang="en-IN" baseline="30000" dirty="0" err="1"/>
                        <a:t>d</a:t>
                      </a:r>
                      <a:r>
                        <a:rPr lang="en-IN" dirty="0" err="1"/>
                        <a:t>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Immutable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Dynamic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</a:t>
                      </a:r>
                      <a:r>
                        <a:rPr lang="en-IN" baseline="30000" dirty="0" err="1"/>
                        <a:t>d</a:t>
                      </a:r>
                      <a:r>
                        <a:rPr lang="en-IN" dirty="0" err="1"/>
                        <a:t>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</a:t>
                      </a:r>
                      <a:r>
                        <a:rPr lang="en-IN" baseline="30000" dirty="0" err="1"/>
                        <a:t>d</a:t>
                      </a:r>
                      <a:r>
                        <a:rPr lang="en-IN" dirty="0" err="1"/>
                        <a:t>n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Databases with frequent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KD-tree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✅ 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Avg O(log⁡n+k), worst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Nearest </a:t>
                      </a:r>
                      <a:r>
                        <a:rPr lang="en-IN" dirty="0" err="1"/>
                        <a:t>neighbor</a:t>
                      </a:r>
                      <a:r>
                        <a:rPr lang="en-IN" dirty="0"/>
                        <a:t> + dynamic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51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Dynamic = Flexibility: Can handle insertions and deletions without rebuilding.</a:t>
            </a:r>
          </a:p>
          <a:p>
            <a:r>
              <a:rPr lang="en-US" sz="1600" dirty="0" smtClean="0"/>
              <a:t>Trade-off</a:t>
            </a:r>
            <a:r>
              <a:rPr lang="en-US" sz="1600" dirty="0"/>
              <a:t>: Updates add complexity; queries may be slightly slower than static trees.</a:t>
            </a:r>
          </a:p>
          <a:p>
            <a:endParaRPr lang="en-US" sz="1600" dirty="0"/>
          </a:p>
          <a:p>
            <a:r>
              <a:rPr lang="en-US" sz="1600" b="1" dirty="0"/>
              <a:t>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Dynamic </a:t>
            </a:r>
            <a:r>
              <a:rPr lang="en-US" sz="1600" dirty="0"/>
              <a:t>databases (e.g., user records, geographic data that changes).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Real-time </a:t>
            </a:r>
            <a:r>
              <a:rPr lang="en-US" sz="1600" dirty="0"/>
              <a:t>systems where points are added/removed continuously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Example 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GIS systems: Adding/removing locations dynamically.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Stock </a:t>
            </a:r>
            <a:r>
              <a:rPr lang="en-US" sz="1600" dirty="0"/>
              <a:t>market data: Points (time, price) updated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Interactive </a:t>
            </a:r>
            <a:r>
              <a:rPr lang="en-US" sz="1600" dirty="0"/>
              <a:t>applications: User-driven datasets where queries and updates coexist.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87951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Dynamic = Flexibility: Can handle insertions and deletions without rebuilding.</a:t>
            </a:r>
          </a:p>
          <a:p>
            <a:r>
              <a:rPr lang="en-US" sz="1600" dirty="0" smtClean="0"/>
              <a:t>Trade-off</a:t>
            </a:r>
            <a:r>
              <a:rPr lang="en-US" sz="1600" dirty="0"/>
              <a:t>: Updates add complexity; queries may be slightly slower than static trees.</a:t>
            </a:r>
          </a:p>
          <a:p>
            <a:endParaRPr lang="en-US" sz="1600" dirty="0"/>
          </a:p>
          <a:p>
            <a:r>
              <a:rPr lang="en-US" sz="1600" b="1" dirty="0"/>
              <a:t>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Dynamic </a:t>
            </a:r>
            <a:r>
              <a:rPr lang="en-US" sz="1600" dirty="0"/>
              <a:t>databases (e.g., user records, geographic data that changes).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Real-time </a:t>
            </a:r>
            <a:r>
              <a:rPr lang="en-US" sz="1600" dirty="0"/>
              <a:t>systems where points are added/removed continuously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Example Use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GIS systems: Adding/removing locations dynamically.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Stock </a:t>
            </a:r>
            <a:r>
              <a:rPr lang="en-US" sz="1600" dirty="0"/>
              <a:t>market data: Points (time, price) updated continuously.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Interactive </a:t>
            </a:r>
            <a:r>
              <a:rPr lang="en-US" sz="1600" dirty="0"/>
              <a:t>applications: User-driven datasets where queries and updates coexist.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320643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0" y="972589"/>
            <a:ext cx="4648849" cy="57620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243" y="942628"/>
            <a:ext cx="4915586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91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74" y="1128469"/>
            <a:ext cx="5750862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78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This program is a </a:t>
            </a:r>
            <a:r>
              <a:rPr lang="en-US" b="1" dirty="0"/>
              <a:t>Dynamic Range Tree</a:t>
            </a:r>
            <a:r>
              <a:rPr lang="en-US" dirty="0"/>
              <a:t> implementation in Java — essentially a binary search tree that supports </a:t>
            </a:r>
            <a:r>
              <a:rPr lang="en-US" b="1" dirty="0"/>
              <a:t>dynamic updates (insertions)</a:t>
            </a:r>
            <a:r>
              <a:rPr lang="en-US" dirty="0"/>
              <a:t> and </a:t>
            </a:r>
            <a:r>
              <a:rPr lang="en-US" b="1" dirty="0"/>
              <a:t>range queries</a:t>
            </a:r>
            <a:r>
              <a:rPr lang="en-US" dirty="0" smtClean="0"/>
              <a:t>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Inputs</a:t>
            </a:r>
          </a:p>
          <a:p>
            <a:r>
              <a:rPr lang="en-US" dirty="0"/>
              <a:t>The program inserts values into the tree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Then it performs a query</a:t>
            </a:r>
            <a:r>
              <a:rPr lang="en-US" dirty="0" smtClean="0"/>
              <a:t>: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→ asking: </a:t>
            </a:r>
            <a:r>
              <a:rPr lang="en-US" i="1" dirty="0"/>
              <a:t>How many values lie between 3 and 9 (inclusive)?</a:t>
            </a:r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8" y="2509682"/>
            <a:ext cx="1467055" cy="9907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19" y="4288395"/>
            <a:ext cx="2886478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4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Processing</a:t>
            </a:r>
          </a:p>
          <a:p>
            <a:r>
              <a:rPr lang="en-US" sz="1600" b="1" dirty="0" smtClean="0"/>
              <a:t>Insertion </a:t>
            </a:r>
            <a:r>
              <a:rPr lang="en-US" sz="1600" b="1" dirty="0"/>
              <a:t>(insert):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Standard </a:t>
            </a:r>
            <a:r>
              <a:rPr lang="en-US" sz="1600" dirty="0"/>
              <a:t>binary search tree insertion.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/>
              <a:t>the tree is empty → create a new node.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 err="1"/>
              <a:t>val</a:t>
            </a:r>
            <a:r>
              <a:rPr lang="en-US" sz="1600" dirty="0"/>
              <a:t> &lt; </a:t>
            </a:r>
            <a:r>
              <a:rPr lang="en-US" sz="1600" dirty="0" err="1"/>
              <a:t>node.val</a:t>
            </a:r>
            <a:r>
              <a:rPr lang="en-US" sz="1600" dirty="0"/>
              <a:t> → go left.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Else </a:t>
            </a:r>
            <a:r>
              <a:rPr lang="en-US" sz="1600" dirty="0"/>
              <a:t>→ go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This </a:t>
            </a:r>
            <a:r>
              <a:rPr lang="en-US" sz="1600" dirty="0"/>
              <a:t>builds a BST dynamically as values are added.</a:t>
            </a:r>
          </a:p>
          <a:p>
            <a:endParaRPr lang="en-US" sz="1600" dirty="0" smtClean="0"/>
          </a:p>
          <a:p>
            <a:r>
              <a:rPr lang="en-US" sz="1600" dirty="0" smtClean="0"/>
              <a:t>After </a:t>
            </a:r>
            <a:r>
              <a:rPr lang="en-US" sz="1600" dirty="0"/>
              <a:t>inserting {5,2,8,10}, the tree looks like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b="1" dirty="0"/>
              <a:t>Range Query (</a:t>
            </a:r>
            <a:r>
              <a:rPr lang="en-US" sz="1600" b="1" dirty="0" err="1"/>
              <a:t>countInRange</a:t>
            </a:r>
            <a:r>
              <a:rPr lang="en-US" sz="1600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Traverses </a:t>
            </a:r>
            <a:r>
              <a:rPr lang="en-US" sz="1600" dirty="0"/>
              <a:t>the tree recursively.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For </a:t>
            </a:r>
            <a:r>
              <a:rPr lang="en-US" sz="1600" dirty="0"/>
              <a:t>each node: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If </a:t>
            </a:r>
            <a:r>
              <a:rPr lang="en-US" sz="1600" dirty="0" err="1"/>
              <a:t>node.val</a:t>
            </a:r>
            <a:r>
              <a:rPr lang="en-US" sz="1600" dirty="0"/>
              <a:t> is within [l, r] → count = 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Recursively </a:t>
            </a:r>
            <a:r>
              <a:rPr lang="en-US" sz="1600" dirty="0"/>
              <a:t>check left and right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Adds </a:t>
            </a:r>
            <a:r>
              <a:rPr lang="en-US" sz="1600" dirty="0"/>
              <a:t>up counts from all </a:t>
            </a:r>
            <a:r>
              <a:rPr lang="en-US" sz="1600" dirty="0" err="1"/>
              <a:t>subtrees</a:t>
            </a:r>
            <a:r>
              <a:rPr lang="en-US" sz="1600" dirty="0"/>
              <a:t>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614" y="3434921"/>
            <a:ext cx="85737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9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Types - Dynamic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range: [3,9].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 in tree: {5,2,8,10}.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Values within [3,9]: {5,8}.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 = 2.</a:t>
            </a:r>
          </a:p>
          <a:p>
            <a:endParaRPr lang="en-US" dirty="0" smtClean="0"/>
          </a:p>
          <a:p>
            <a:r>
              <a:rPr lang="en-US" dirty="0" smtClean="0"/>
              <a:t>Output</a:t>
            </a:r>
            <a:r>
              <a:rPr lang="en-US" dirty="0"/>
              <a:t>: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57" y="3114318"/>
            <a:ext cx="129558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2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dirty="0"/>
              <a:t>Multi-dimensional searching with Range Trees means efficiently retrieving all points inside a rectangular (or hyper-rectangular) region across several dimensions. A Range Tree is built recursively: the first level indexes one dimension, and each node stores a secondary tree for the remaining dimensions. This allows queries in O(</a:t>
            </a:r>
            <a:r>
              <a:rPr lang="en-US" sz="1600" dirty="0" err="1"/>
              <a:t>log⁡</a:t>
            </a:r>
            <a:r>
              <a:rPr lang="en-US" sz="1600" baseline="30000" dirty="0" err="1"/>
              <a:t>d</a:t>
            </a:r>
            <a:r>
              <a:rPr lang="en-US" sz="1600" dirty="0" err="1"/>
              <a:t>n+k</a:t>
            </a:r>
            <a:r>
              <a:rPr lang="en-US" sz="1600" dirty="0"/>
              <a:t>) time, or O(log⁡</a:t>
            </a:r>
            <a:r>
              <a:rPr lang="en-US" sz="1600" baseline="30000" dirty="0"/>
              <a:t>d−1</a:t>
            </a:r>
            <a:r>
              <a:rPr lang="en-US" sz="1600" dirty="0"/>
              <a:t>n+k) with fractional cascading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How Multi-Dimensional Range Trees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Range queries: </a:t>
            </a:r>
            <a:r>
              <a:rPr lang="en-US" sz="1600" dirty="0"/>
              <a:t>Retrieve all points inside a given interval or box.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Recursive </a:t>
            </a:r>
            <a:r>
              <a:rPr lang="en-US" sz="1600" b="1" dirty="0"/>
              <a:t>structure: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Level </a:t>
            </a:r>
            <a:r>
              <a:rPr lang="en-US" sz="1600" dirty="0"/>
              <a:t>1: Balanced BST on the first coordinate (e.g., x).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Each </a:t>
            </a:r>
            <a:r>
              <a:rPr lang="en-US" sz="1600" dirty="0"/>
              <a:t>node: Stores a secondary range tree on the remaining coordinates (e.g., y, z).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Continue </a:t>
            </a:r>
            <a:r>
              <a:rPr lang="en-US" sz="1600" dirty="0"/>
              <a:t>until all dimensions are covered.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Querying</a:t>
            </a:r>
            <a:r>
              <a:rPr lang="en-US" sz="16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Traverse </a:t>
            </a:r>
            <a:r>
              <a:rPr lang="en-US" sz="1600" dirty="0"/>
              <a:t>the primary tree to find nodes overlapping the query interval.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Use </a:t>
            </a:r>
            <a:r>
              <a:rPr lang="en-US" sz="1600" dirty="0"/>
              <a:t>associated secondary trees to filter points in other dimensions.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Collect </a:t>
            </a:r>
            <a:r>
              <a:rPr lang="en-US" sz="1600" dirty="0"/>
              <a:t>results that satisfy all dimensions.</a:t>
            </a: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113904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sz="1600" b="1" dirty="0"/>
              <a:t>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Construction</a:t>
            </a:r>
            <a:r>
              <a:rPr lang="en-US" sz="1600" b="1" dirty="0"/>
              <a:t>: </a:t>
            </a:r>
            <a:r>
              <a:rPr lang="en-US" sz="1600" dirty="0"/>
              <a:t>O(nlog⁡</a:t>
            </a:r>
            <a:r>
              <a:rPr lang="en-US" sz="1600" baseline="30000" dirty="0"/>
              <a:t>d−1</a:t>
            </a:r>
            <a:r>
              <a:rPr lang="en-US" sz="1600" dirty="0"/>
              <a:t>n) for n points in d-dimensions.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Query</a:t>
            </a:r>
            <a:r>
              <a:rPr lang="en-US" sz="16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Without </a:t>
            </a:r>
            <a:r>
              <a:rPr lang="en-US" sz="1600" dirty="0"/>
              <a:t>optimization: O(</a:t>
            </a:r>
            <a:r>
              <a:rPr lang="en-US" sz="1600" dirty="0" err="1"/>
              <a:t>log⁡</a:t>
            </a:r>
            <a:r>
              <a:rPr lang="en-US" sz="1600" baseline="30000" dirty="0" err="1"/>
              <a:t>d</a:t>
            </a:r>
            <a:r>
              <a:rPr lang="en-US" sz="1600" dirty="0" err="1"/>
              <a:t>n+k</a:t>
            </a:r>
            <a:r>
              <a:rPr lang="en-US" sz="1600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With </a:t>
            </a:r>
            <a:r>
              <a:rPr lang="en-US" sz="1600" dirty="0"/>
              <a:t>fractional cascading: O(log⁡</a:t>
            </a:r>
            <a:r>
              <a:rPr lang="en-US" sz="1600" baseline="30000" dirty="0"/>
              <a:t>d−1</a:t>
            </a:r>
            <a:r>
              <a:rPr lang="en-US" sz="1600" dirty="0"/>
              <a:t>n+k).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Space</a:t>
            </a:r>
            <a:r>
              <a:rPr lang="en-US" sz="1600" b="1" dirty="0"/>
              <a:t>: </a:t>
            </a:r>
            <a:r>
              <a:rPr lang="en-US" sz="1600" dirty="0"/>
              <a:t>O(nlog⁡</a:t>
            </a:r>
            <a:r>
              <a:rPr lang="en-US" sz="1600" baseline="30000" dirty="0"/>
              <a:t>d−1</a:t>
            </a:r>
            <a:r>
              <a:rPr lang="en-US" sz="1600" dirty="0"/>
              <a:t>n).</a:t>
            </a:r>
          </a:p>
          <a:p>
            <a:endParaRPr lang="en-US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75137"/>
              </p:ext>
            </p:extLst>
          </p:nvPr>
        </p:nvGraphicFramePr>
        <p:xfrm>
          <a:off x="181494" y="2852018"/>
          <a:ext cx="11198630" cy="2103120"/>
        </p:xfrm>
        <a:graphic>
          <a:graphicData uri="http://schemas.openxmlformats.org/drawingml/2006/table">
            <a:tbl>
              <a:tblPr/>
              <a:tblGrid>
                <a:gridCol w="1971502"/>
                <a:gridCol w="2626822"/>
                <a:gridCol w="1770611"/>
                <a:gridCol w="1388226"/>
                <a:gridCol w="344146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Structure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Query Time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Update Support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Space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Best Use Case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1D Range Tree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log⁡n+k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Static/Dynamic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Interval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2D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O(log⁡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n+k)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Static/Dynamic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O(nlog⁡n)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Rectangular queries in plane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KD-tree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Avg O(log⁡n+k), worst 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Nearest </a:t>
                      </a:r>
                      <a:r>
                        <a:rPr lang="en-IN" dirty="0" err="1"/>
                        <a:t>neighbor</a:t>
                      </a:r>
                      <a:r>
                        <a:rPr lang="en-IN" dirty="0"/>
                        <a:t> + range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Multi-Dimensional Range Tree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</a:t>
                      </a:r>
                      <a:r>
                        <a:rPr lang="en-IN" dirty="0" err="1"/>
                        <a:t>log</a:t>
                      </a:r>
                      <a:r>
                        <a:rPr lang="en-IN" baseline="30000" dirty="0" err="1"/>
                        <a:t>⁡d</a:t>
                      </a:r>
                      <a:r>
                        <a:rPr lang="en-IN" dirty="0" err="1"/>
                        <a:t>n+k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Static/Dynamic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O(nlog⁡</a:t>
                      </a:r>
                      <a:r>
                        <a:rPr lang="en-IN" baseline="30000" dirty="0"/>
                        <a:t>d−1</a:t>
                      </a:r>
                      <a:r>
                        <a:rPr lang="en-IN" dirty="0"/>
                        <a:t>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High-dimensional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35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Multi-dimensional searching: </a:t>
            </a:r>
            <a:r>
              <a:rPr lang="en-US" sz="1600" dirty="0"/>
              <a:t>Each dimension adds a level of recursion, making queries efficient across multiple attributes.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Trade-off</a:t>
            </a:r>
            <a:r>
              <a:rPr lang="en-US" sz="1600" b="1" dirty="0"/>
              <a:t>: </a:t>
            </a:r>
            <a:r>
              <a:rPr lang="en-US" sz="1600" dirty="0"/>
              <a:t>Higher dimensions increase space and query complexity, but still outperform naïve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Optimization</a:t>
            </a:r>
            <a:r>
              <a:rPr lang="en-US" sz="1600" b="1" dirty="0"/>
              <a:t>: </a:t>
            </a:r>
            <a:r>
              <a:rPr lang="en-US" sz="1600" dirty="0"/>
              <a:t>Fractional cascading reduces repeated binary searches, saving a logarithmic factor.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Applications</a:t>
            </a:r>
            <a:r>
              <a:rPr lang="en-US" sz="16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Databases</a:t>
            </a:r>
            <a:r>
              <a:rPr lang="en-US" sz="1600" b="1" dirty="0"/>
              <a:t>: </a:t>
            </a:r>
            <a:r>
              <a:rPr lang="en-US" sz="1600" dirty="0"/>
              <a:t>Multi-attribute queries (e.g., age, salary, location).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GIS </a:t>
            </a:r>
            <a:r>
              <a:rPr lang="en-US" sz="1600" b="1" dirty="0"/>
              <a:t>systems: </a:t>
            </a:r>
            <a:r>
              <a:rPr lang="en-US" sz="1600" dirty="0"/>
              <a:t>Spatial queries in 2D/3D.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 smtClean="0"/>
              <a:t>Computational </a:t>
            </a:r>
            <a:r>
              <a:rPr lang="en-US" sz="1600" b="1" dirty="0"/>
              <a:t>geometry: </a:t>
            </a:r>
            <a:r>
              <a:rPr lang="en-US" sz="1600" dirty="0"/>
              <a:t>Efficient point retrieval in multidimensional datasets.</a:t>
            </a:r>
          </a:p>
        </p:txBody>
      </p:sp>
    </p:spTree>
    <p:extLst>
      <p:ext uri="{BB962C8B-B14F-4D97-AF65-F5344CB8AC3E}">
        <p14:creationId xmlns:p14="http://schemas.microsoft.com/office/powerpoint/2010/main" val="401434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8" y="931025"/>
            <a:ext cx="4429743" cy="57349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490" y="931025"/>
            <a:ext cx="5182323" cy="569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5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0" y="1003810"/>
            <a:ext cx="6121295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7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sz="1600" b="1" dirty="0" smtClean="0"/>
              <a:t>Inputs</a:t>
            </a:r>
          </a:p>
          <a:p>
            <a:endParaRPr lang="en-IN" sz="1600" b="1" dirty="0"/>
          </a:p>
          <a:p>
            <a:r>
              <a:rPr lang="en-IN" sz="1600" b="1" dirty="0"/>
              <a:t>Points dataset: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IN" sz="1600" b="1" dirty="0" smtClean="0"/>
              <a:t>Query </a:t>
            </a:r>
            <a:r>
              <a:rPr lang="en-IN" sz="1600" b="1" dirty="0"/>
              <a:t>rectangle</a:t>
            </a:r>
            <a:r>
              <a:rPr lang="en-IN" sz="1600" b="1" dirty="0"/>
              <a:t>:</a:t>
            </a:r>
          </a:p>
          <a:p>
            <a:endParaRPr lang="en-IN" sz="1600" dirty="0"/>
          </a:p>
          <a:p>
            <a:r>
              <a:rPr lang="en-US" sz="1600" dirty="0" smtClean="0"/>
              <a:t>So </a:t>
            </a:r>
            <a:r>
              <a:rPr lang="en-US" sz="1600" dirty="0"/>
              <a:t>the query asks: How many points lie inside the rectangle bounded by x between 3 and 8 and y between 1 and 4</a:t>
            </a:r>
            <a:r>
              <a:rPr lang="en-US" sz="1600" dirty="0" smtClean="0"/>
              <a:t>?</a:t>
            </a:r>
          </a:p>
          <a:p>
            <a:endParaRPr lang="en-US" sz="1600" dirty="0"/>
          </a:p>
          <a:p>
            <a:r>
              <a:rPr lang="en-US" sz="1600" b="1" dirty="0" smtClean="0"/>
              <a:t>Processing</a:t>
            </a:r>
          </a:p>
          <a:p>
            <a:endParaRPr lang="en-US" sz="1600" b="1" dirty="0"/>
          </a:p>
          <a:p>
            <a:r>
              <a:rPr lang="en-US" sz="1600" b="1" dirty="0"/>
              <a:t>Filter by X (</a:t>
            </a:r>
            <a:r>
              <a:rPr lang="en-US" sz="1600" b="1" dirty="0" err="1"/>
              <a:t>filterX</a:t>
            </a:r>
            <a:r>
              <a:rPr lang="en-US" sz="1600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Iterates </a:t>
            </a:r>
            <a:r>
              <a:rPr lang="en-US" sz="1600" dirty="0"/>
              <a:t>through all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Keeps </a:t>
            </a:r>
            <a:r>
              <a:rPr lang="en-US" sz="1600" dirty="0"/>
              <a:t>only those with x between 3 and 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Result </a:t>
            </a:r>
            <a:r>
              <a:rPr lang="en-US" sz="1600" dirty="0"/>
              <a:t>after filtering: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557" y="1629707"/>
            <a:ext cx="2791215" cy="3143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309" y="2313044"/>
            <a:ext cx="1714739" cy="3620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80" y="4905879"/>
            <a:ext cx="1648055" cy="3238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03716" y="3745327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b="1" dirty="0"/>
              <a:t>Filter by Y (query):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From </a:t>
            </a:r>
            <a:r>
              <a:rPr lang="en-IN" sz="1600" dirty="0"/>
              <a:t>the filtered list, check if y is between 1 and 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Count </a:t>
            </a:r>
            <a:r>
              <a:rPr lang="en-IN" sz="1600" dirty="0"/>
              <a:t>how many points satisfy this condition.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Results</a:t>
            </a:r>
            <a:r>
              <a:rPr lang="en-IN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(</a:t>
            </a:r>
            <a:r>
              <a:rPr lang="en-IN" sz="1600" dirty="0"/>
              <a:t>5,4) ✅ y=4 is within [1,4]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(</a:t>
            </a:r>
            <a:r>
              <a:rPr lang="en-IN" sz="1600" dirty="0"/>
              <a:t>7,1) ✅ y=1 is within [1,4]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(</a:t>
            </a:r>
            <a:r>
              <a:rPr lang="en-IN" sz="1600" dirty="0"/>
              <a:t>4,2) ✅ y=2 is within [1,4]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→ </a:t>
            </a:r>
            <a:r>
              <a:rPr lang="en-IN" sz="1600" dirty="0"/>
              <a:t>All three points qualify.</a:t>
            </a:r>
          </a:p>
        </p:txBody>
      </p:sp>
    </p:spTree>
    <p:extLst>
      <p:ext uri="{BB962C8B-B14F-4D97-AF65-F5344CB8AC3E}">
        <p14:creationId xmlns:p14="http://schemas.microsoft.com/office/powerpoint/2010/main" val="100379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03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2. Non-Primitive – Non Linear Data Structures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4981" y="60220"/>
            <a:ext cx="1321073" cy="4219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82138"/>
            <a:ext cx="12192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Range Query </a:t>
            </a:r>
            <a:r>
              <a:rPr lang="en-US" b="1" dirty="0">
                <a:solidFill>
                  <a:srgbClr val="FF0000"/>
                </a:solidFill>
              </a:rPr>
              <a:t>Trees </a:t>
            </a:r>
            <a:r>
              <a:rPr lang="en-US" b="1" dirty="0" smtClean="0">
                <a:solidFill>
                  <a:srgbClr val="FF0000"/>
                </a:solidFill>
              </a:rPr>
              <a:t>– </a:t>
            </a:r>
            <a:r>
              <a:rPr lang="en-US" b="1" dirty="0" smtClean="0">
                <a:solidFill>
                  <a:srgbClr val="FF0000"/>
                </a:solidFill>
              </a:rPr>
              <a:t>Range Tree – Multi-Dimensional Searching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Outputs</a:t>
            </a:r>
          </a:p>
          <a:p>
            <a:endParaRPr lang="en-US" b="1" dirty="0"/>
          </a:p>
          <a:p>
            <a:r>
              <a:rPr lang="en-US" sz="1600" dirty="0"/>
              <a:t>Count of points inside rectangle = </a:t>
            </a:r>
            <a:r>
              <a:rPr lang="en-US" sz="1600" b="1" dirty="0"/>
              <a:t>3</a:t>
            </a:r>
            <a:r>
              <a:rPr lang="en-US" sz="1600" dirty="0"/>
              <a:t>.</a:t>
            </a:r>
          </a:p>
          <a:p>
            <a:r>
              <a:rPr lang="en-US" sz="1600" dirty="0"/>
              <a:t>Program prints</a:t>
            </a:r>
            <a:r>
              <a:rPr lang="en-US" sz="1600" dirty="0" smtClean="0"/>
              <a:t>:</a:t>
            </a:r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 smtClean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Input: </a:t>
            </a:r>
            <a:r>
              <a:rPr lang="en-US" sz="1600" dirty="0"/>
              <a:t>A set of 2D points + query rectangle.</a:t>
            </a:r>
          </a:p>
          <a:p>
            <a:r>
              <a:rPr lang="en-US" sz="1600" b="1" dirty="0" smtClean="0"/>
              <a:t>Processing</a:t>
            </a:r>
            <a:r>
              <a:rPr lang="en-US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Step </a:t>
            </a:r>
            <a:r>
              <a:rPr lang="en-US" sz="1600" dirty="0"/>
              <a:t>1: Filter points by x-range.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Step </a:t>
            </a:r>
            <a:r>
              <a:rPr lang="en-US" sz="1600" dirty="0"/>
              <a:t>2: Filter remaining points by y-range.</a:t>
            </a:r>
          </a:p>
          <a:p>
            <a:r>
              <a:rPr lang="en-US" sz="1600" b="1" dirty="0" smtClean="0"/>
              <a:t>Output</a:t>
            </a:r>
            <a:r>
              <a:rPr lang="en-US" sz="1600" b="1" dirty="0"/>
              <a:t>: </a:t>
            </a:r>
            <a:r>
              <a:rPr lang="en-US" sz="1600" dirty="0"/>
              <a:t>Number of points inside rectangle → 3.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22" y="2190917"/>
            <a:ext cx="1619476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8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2950</TotalTime>
  <Words>5112</Words>
  <Application>Microsoft Office PowerPoint</Application>
  <PresentationFormat>Widescreen</PresentationFormat>
  <Paragraphs>795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614</cp:revision>
  <dcterms:created xsi:type="dcterms:W3CDTF">2026-04-26T04:16:51Z</dcterms:created>
  <dcterms:modified xsi:type="dcterms:W3CDTF">2026-05-10T18:01:08Z</dcterms:modified>
</cp:coreProperties>
</file>